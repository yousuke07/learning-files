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14"/>
  </p:notesMasterIdLst>
  <p:sldIdLst>
    <p:sldId id="1156" r:id="rId4"/>
    <p:sldId id="1157" r:id="rId5"/>
    <p:sldId id="1158" r:id="rId6"/>
    <p:sldId id="1159" r:id="rId7"/>
    <p:sldId id="1160" r:id="rId8"/>
    <p:sldId id="1161" r:id="rId9"/>
    <p:sldId id="1162" r:id="rId10"/>
    <p:sldId id="1163" r:id="rId11"/>
    <p:sldId id="1164" r:id="rId12"/>
    <p:sldId id="1165" r:id="rId13"/>
    <p:sldId id="1166" r:id="rId15"/>
    <p:sldId id="1167" r:id="rId16"/>
    <p:sldId id="1168" r:id="rId17"/>
    <p:sldId id="1169" r:id="rId18"/>
    <p:sldId id="1170" r:id="rId19"/>
    <p:sldId id="1171" r:id="rId20"/>
    <p:sldId id="1172" r:id="rId21"/>
    <p:sldId id="1173" r:id="rId22"/>
    <p:sldId id="1174" r:id="rId23"/>
    <p:sldId id="1175" r:id="rId24"/>
    <p:sldId id="1176" r:id="rId25"/>
    <p:sldId id="1177" r:id="rId26"/>
    <p:sldId id="1038" r:id="rId27"/>
    <p:sldId id="1070" r:id="rId28"/>
    <p:sldId id="1069" r:id="rId29"/>
    <p:sldId id="1041" r:id="rId30"/>
    <p:sldId id="1042" r:id="rId31"/>
    <p:sldId id="1043" r:id="rId32"/>
    <p:sldId id="1047" r:id="rId33"/>
    <p:sldId id="1048" r:id="rId34"/>
    <p:sldId id="1049" r:id="rId35"/>
    <p:sldId id="1050" r:id="rId36"/>
    <p:sldId id="1045" r:id="rId37"/>
    <p:sldId id="1046" r:id="rId38"/>
    <p:sldId id="1071" r:id="rId39"/>
    <p:sldId id="1051" r:id="rId40"/>
    <p:sldId id="1052" r:id="rId41"/>
    <p:sldId id="1053" r:id="rId42"/>
    <p:sldId id="1054" r:id="rId43"/>
    <p:sldId id="1055" r:id="rId44"/>
    <p:sldId id="1134" r:id="rId45"/>
    <p:sldId id="1126" r:id="rId46"/>
    <p:sldId id="1127" r:id="rId47"/>
    <p:sldId id="1135" r:id="rId48"/>
    <p:sldId id="1058" r:id="rId49"/>
    <p:sldId id="1059" r:id="rId50"/>
    <p:sldId id="1060" r:id="rId51"/>
    <p:sldId id="1061" r:id="rId52"/>
    <p:sldId id="1146" r:id="rId53"/>
    <p:sldId id="1150" r:id="rId54"/>
    <p:sldId id="1136" r:id="rId55"/>
    <p:sldId id="1141" r:id="rId56"/>
    <p:sldId id="1140" r:id="rId57"/>
    <p:sldId id="1142" r:id="rId58"/>
    <p:sldId id="1139" r:id="rId59"/>
    <p:sldId id="1138" r:id="rId60"/>
    <p:sldId id="1073" r:id="rId61"/>
    <p:sldId id="1072" r:id="rId62"/>
    <p:sldId id="1062" r:id="rId63"/>
    <p:sldId id="1064" r:id="rId64"/>
    <p:sldId id="1065" r:id="rId65"/>
    <p:sldId id="1143" r:id="rId66"/>
    <p:sldId id="1148" r:id="rId67"/>
    <p:sldId id="1178" r:id="rId68"/>
    <p:sldId id="1040" r:id="rId69"/>
  </p:sldIdLst>
  <p:sldSz cx="9144000" cy="6858000" type="screen4x3"/>
  <p:notesSz cx="9872345"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XM" initials="L"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43" autoAdjust="0"/>
    <p:restoredTop sz="83426" autoAdjust="0"/>
  </p:normalViewPr>
  <p:slideViewPr>
    <p:cSldViewPr snapToGrid="0">
      <p:cViewPr varScale="1">
        <p:scale>
          <a:sx n="69" d="100"/>
          <a:sy n="69" d="100"/>
        </p:scale>
        <p:origin x="1296" y="58"/>
      </p:cViewPr>
      <p:guideLst/>
    </p:cSldViewPr>
  </p:slideViewPr>
  <p:notesTextViewPr>
    <p:cViewPr>
      <p:scale>
        <a:sx n="1" d="1"/>
        <a:sy n="1" d="1"/>
      </p:scale>
      <p:origin x="0" y="0"/>
    </p:cViewPr>
  </p:notesTextViewPr>
  <p:sorterViewPr>
    <p:cViewPr>
      <p:scale>
        <a:sx n="100" d="100"/>
        <a:sy n="100" d="100"/>
      </p:scale>
      <p:origin x="0" y="-270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commentAuthors" Target="commentAuthors.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notesMaster" Target="notesMasters/notes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278154"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92224" y="1"/>
            <a:ext cx="4278154" cy="341064"/>
          </a:xfrm>
          <a:prstGeom prst="rect">
            <a:avLst/>
          </a:prstGeom>
        </p:spPr>
        <p:txBody>
          <a:bodyPr vert="horz" lIns="91440" tIns="45720" rIns="91440" bIns="45720" rtlCol="0"/>
          <a:lstStyle>
            <a:lvl1pPr algn="r">
              <a:defRPr sz="1200"/>
            </a:lvl1pPr>
          </a:lstStyle>
          <a:p>
            <a:fld id="{C0C7403F-4B12-4B0A-BB9B-2276740906F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406775" y="849313"/>
            <a:ext cx="3059113"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87267" y="3271381"/>
            <a:ext cx="7898130" cy="267658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456612"/>
            <a:ext cx="4278154" cy="3410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92224" y="6456612"/>
            <a:ext cx="4278154" cy="341063"/>
          </a:xfrm>
          <a:prstGeom prst="rect">
            <a:avLst/>
          </a:prstGeom>
        </p:spPr>
        <p:txBody>
          <a:bodyPr vert="horz" lIns="91440" tIns="45720" rIns="91440" bIns="45720" rtlCol="0" anchor="b"/>
          <a:lstStyle>
            <a:lvl1pPr algn="r">
              <a:defRPr sz="1200"/>
            </a:lvl1pPr>
          </a:lstStyle>
          <a:p>
            <a:fld id="{9545CDCB-ADEE-45F3-92E7-2C749526FE5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06775" y="849313"/>
            <a:ext cx="3059113" cy="2293937"/>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84321F0-B407-4229-AA2D-FE32125363E6}" type="slidenum">
              <a:rPr kumimoji="0" lang="en-US" altLang="zh-CN"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en-US" altLang="zh-CN"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Rot="1" noChangeAspect="1" noChangeArrowheads="1" noTextEdit="1"/>
          </p:cNvSpPr>
          <p:nvPr>
            <p:ph type="sldImg"/>
          </p:nvPr>
        </p:nvSpPr>
        <p:spPr>
          <a:xfrm>
            <a:off x="3406775" y="849313"/>
            <a:ext cx="3059113" cy="2293937"/>
          </a:xfrm>
        </p:spPr>
      </p:sp>
      <p:sp>
        <p:nvSpPr>
          <p:cNvPr id="2498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accent2"/>
              </a:buClr>
              <a:buSzPct val="80000"/>
              <a:buFont typeface="Wingdings" panose="05000000000000000000" pitchFamily="2" charset="2"/>
              <a:buNone/>
            </a:pPr>
            <a:r>
              <a:rPr lang="zh-CN" altLang="en-US" sz="2000">
                <a:latin typeface="宋体" panose="02010600030101010101" pitchFamily="2" charset="-122"/>
              </a:rPr>
              <a:t>  </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24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803275" indent="-307975">
              <a:defRPr>
                <a:solidFill>
                  <a:schemeClr val="tx1"/>
                </a:solidFill>
                <a:latin typeface="Century Gothic" panose="020B0502020202020204" pitchFamily="34" charset="0"/>
              </a:defRPr>
            </a:lvl2pPr>
            <a:lvl3pPr marL="1236980" indent="-246380">
              <a:defRPr>
                <a:solidFill>
                  <a:schemeClr val="tx1"/>
                </a:solidFill>
                <a:latin typeface="Century Gothic" panose="020B0502020202020204" pitchFamily="34" charset="0"/>
              </a:defRPr>
            </a:lvl3pPr>
            <a:lvl4pPr marL="1732280" indent="-246380">
              <a:defRPr>
                <a:solidFill>
                  <a:schemeClr val="tx1"/>
                </a:solidFill>
                <a:latin typeface="Century Gothic" panose="020B0502020202020204" pitchFamily="34" charset="0"/>
              </a:defRPr>
            </a:lvl4pPr>
            <a:lvl5pPr marL="2227580" indent="-246380">
              <a:defRPr>
                <a:solidFill>
                  <a:schemeClr val="tx1"/>
                </a:solidFill>
                <a:latin typeface="Century Gothic" panose="020B0502020202020204" pitchFamily="34" charset="0"/>
              </a:defRPr>
            </a:lvl5pPr>
            <a:lvl6pPr marL="2684780" indent="-246380" defTabSz="457200" eaLnBrk="0" fontAlgn="base" hangingPunct="0">
              <a:spcBef>
                <a:spcPct val="0"/>
              </a:spcBef>
              <a:spcAft>
                <a:spcPct val="0"/>
              </a:spcAft>
              <a:defRPr>
                <a:solidFill>
                  <a:schemeClr val="tx1"/>
                </a:solidFill>
                <a:latin typeface="Century Gothic" panose="020B0502020202020204" pitchFamily="34" charset="0"/>
              </a:defRPr>
            </a:lvl6pPr>
            <a:lvl7pPr marL="3141980" indent="-246380" defTabSz="457200" eaLnBrk="0" fontAlgn="base" hangingPunct="0">
              <a:spcBef>
                <a:spcPct val="0"/>
              </a:spcBef>
              <a:spcAft>
                <a:spcPct val="0"/>
              </a:spcAft>
              <a:defRPr>
                <a:solidFill>
                  <a:schemeClr val="tx1"/>
                </a:solidFill>
                <a:latin typeface="Century Gothic" panose="020B0502020202020204" pitchFamily="34" charset="0"/>
              </a:defRPr>
            </a:lvl7pPr>
            <a:lvl8pPr marL="3599180" indent="-246380" defTabSz="457200" eaLnBrk="0" fontAlgn="base" hangingPunct="0">
              <a:spcBef>
                <a:spcPct val="0"/>
              </a:spcBef>
              <a:spcAft>
                <a:spcPct val="0"/>
              </a:spcAft>
              <a:defRPr>
                <a:solidFill>
                  <a:schemeClr val="tx1"/>
                </a:solidFill>
                <a:latin typeface="Century Gothic" panose="020B0502020202020204" pitchFamily="34" charset="0"/>
              </a:defRPr>
            </a:lvl8pPr>
            <a:lvl9pPr marL="4056380" indent="-246380" defTabSz="457200" eaLnBrk="0" fontAlgn="base" hangingPunct="0">
              <a:spcBef>
                <a:spcPct val="0"/>
              </a:spcBef>
              <a:spcAft>
                <a:spcPct val="0"/>
              </a:spcAft>
              <a:defRPr>
                <a:solidFill>
                  <a:schemeClr val="tx1"/>
                </a:solidFill>
                <a:latin typeface="Century Gothic" panose="020B0502020202020204" pitchFamily="34" charset="0"/>
              </a:defRPr>
            </a:lvl9pPr>
          </a:lstStyle>
          <a:p>
            <a:fld id="{BFC816D2-C097-4524-8226-46D301A5B1C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66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a:t>如何存储</a:t>
            </a:r>
            <a:endParaRPr lang="en-US" altLang="zh-CN" dirty="0"/>
          </a:p>
          <a:p>
            <a:r>
              <a:rPr lang="zh-CN" altLang="en-US" dirty="0"/>
              <a:t>如何检索</a:t>
            </a:r>
            <a:endParaRPr lang="en-US" altLang="zh-CN" dirty="0"/>
          </a:p>
          <a:p>
            <a:endParaRPr lang="zh-CN" altLang="en-US" dirty="0"/>
          </a:p>
        </p:txBody>
      </p:sp>
      <p:sp>
        <p:nvSpPr>
          <p:cNvPr id="266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803275" indent="-307975">
              <a:defRPr>
                <a:solidFill>
                  <a:schemeClr val="tx1"/>
                </a:solidFill>
                <a:latin typeface="Century Gothic" panose="020B0502020202020204" pitchFamily="34" charset="0"/>
              </a:defRPr>
            </a:lvl2pPr>
            <a:lvl3pPr marL="1236980" indent="-246380">
              <a:defRPr>
                <a:solidFill>
                  <a:schemeClr val="tx1"/>
                </a:solidFill>
                <a:latin typeface="Century Gothic" panose="020B0502020202020204" pitchFamily="34" charset="0"/>
              </a:defRPr>
            </a:lvl3pPr>
            <a:lvl4pPr marL="1732280" indent="-246380">
              <a:defRPr>
                <a:solidFill>
                  <a:schemeClr val="tx1"/>
                </a:solidFill>
                <a:latin typeface="Century Gothic" panose="020B0502020202020204" pitchFamily="34" charset="0"/>
              </a:defRPr>
            </a:lvl4pPr>
            <a:lvl5pPr marL="2227580" indent="-246380">
              <a:defRPr>
                <a:solidFill>
                  <a:schemeClr val="tx1"/>
                </a:solidFill>
                <a:latin typeface="Century Gothic" panose="020B0502020202020204" pitchFamily="34" charset="0"/>
              </a:defRPr>
            </a:lvl5pPr>
            <a:lvl6pPr marL="2684780" indent="-246380" defTabSz="457200" eaLnBrk="0" fontAlgn="base" hangingPunct="0">
              <a:spcBef>
                <a:spcPct val="0"/>
              </a:spcBef>
              <a:spcAft>
                <a:spcPct val="0"/>
              </a:spcAft>
              <a:defRPr>
                <a:solidFill>
                  <a:schemeClr val="tx1"/>
                </a:solidFill>
                <a:latin typeface="Century Gothic" panose="020B0502020202020204" pitchFamily="34" charset="0"/>
              </a:defRPr>
            </a:lvl6pPr>
            <a:lvl7pPr marL="3141980" indent="-246380" defTabSz="457200" eaLnBrk="0" fontAlgn="base" hangingPunct="0">
              <a:spcBef>
                <a:spcPct val="0"/>
              </a:spcBef>
              <a:spcAft>
                <a:spcPct val="0"/>
              </a:spcAft>
              <a:defRPr>
                <a:solidFill>
                  <a:schemeClr val="tx1"/>
                </a:solidFill>
                <a:latin typeface="Century Gothic" panose="020B0502020202020204" pitchFamily="34" charset="0"/>
              </a:defRPr>
            </a:lvl7pPr>
            <a:lvl8pPr marL="3599180" indent="-246380" defTabSz="457200" eaLnBrk="0" fontAlgn="base" hangingPunct="0">
              <a:spcBef>
                <a:spcPct val="0"/>
              </a:spcBef>
              <a:spcAft>
                <a:spcPct val="0"/>
              </a:spcAft>
              <a:defRPr>
                <a:solidFill>
                  <a:schemeClr val="tx1"/>
                </a:solidFill>
                <a:latin typeface="Century Gothic" panose="020B0502020202020204" pitchFamily="34" charset="0"/>
              </a:defRPr>
            </a:lvl8pPr>
            <a:lvl9pPr marL="4056380" indent="-246380" defTabSz="457200" eaLnBrk="0" fontAlgn="base" hangingPunct="0">
              <a:spcBef>
                <a:spcPct val="0"/>
              </a:spcBef>
              <a:spcAft>
                <a:spcPct val="0"/>
              </a:spcAft>
              <a:defRPr>
                <a:solidFill>
                  <a:schemeClr val="tx1"/>
                </a:solidFill>
                <a:latin typeface="Century Gothic" panose="020B0502020202020204" pitchFamily="34" charset="0"/>
              </a:defRPr>
            </a:lvl9pPr>
          </a:lstStyle>
          <a:p>
            <a:fld id="{AADA0970-E2B7-45B2-A98B-92DF32BD5A8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1747" name="备注占位符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257175" marR="0" indent="-257175" algn="just" defTabSz="914400" rtl="0" eaLnBrk="1" fontAlgn="auto" latinLnBrk="0" hangingPunct="1">
              <a:lnSpc>
                <a:spcPct val="110000"/>
              </a:lnSpc>
              <a:spcBef>
                <a:spcPts val="300"/>
              </a:spcBef>
              <a:spcAft>
                <a:spcPts val="0"/>
              </a:spcAft>
              <a:buClr>
                <a:srgbClr val="C00000"/>
              </a:buClr>
              <a:buSzTx/>
              <a:buFont typeface="Wingdings" panose="05000000000000000000" pitchFamily="2" charset="2"/>
              <a:buChar char="Ø"/>
              <a:defRPr/>
            </a:pPr>
            <a:r>
              <a:rPr lang="zh-CN" altLang="en-US" sz="2200" b="1" dirty="0" smtClean="0">
                <a:solidFill>
                  <a:srgbClr val="030DCF"/>
                </a:solidFill>
              </a:rPr>
              <a:t>硬件</a:t>
            </a:r>
            <a:endParaRPr lang="en-US" altLang="zh-CN" sz="2200" b="1" dirty="0" smtClean="0">
              <a:solidFill>
                <a:srgbClr val="030DCF"/>
              </a:solidFill>
              <a:latin typeface="+mn-ea"/>
            </a:endParaRPr>
          </a:p>
          <a:p>
            <a:pPr marL="257175" indent="-257175" algn="just">
              <a:lnSpc>
                <a:spcPct val="110000"/>
              </a:lnSpc>
              <a:spcBef>
                <a:spcPts val="300"/>
              </a:spcBef>
              <a:buClr>
                <a:srgbClr val="C00000"/>
              </a:buClr>
              <a:buFont typeface="Wingdings" panose="05000000000000000000" pitchFamily="2" charset="2"/>
              <a:buChar char="Ø"/>
              <a:defRPr/>
            </a:pPr>
            <a:r>
              <a:rPr lang="zh-CN" altLang="en-US" sz="2200" b="1" dirty="0" smtClean="0">
                <a:solidFill>
                  <a:srgbClr val="030DCF"/>
                </a:solidFill>
                <a:latin typeface="+mn-ea"/>
              </a:rPr>
              <a:t>数据库</a:t>
            </a:r>
            <a:r>
              <a:rPr lang="zh-CN" altLang="en-US" sz="2200" b="1" dirty="0" smtClean="0">
                <a:latin typeface="+mn-ea"/>
              </a:rPr>
              <a:t>是</a:t>
            </a:r>
            <a:r>
              <a:rPr kumimoji="1" lang="zh-CN" altLang="en-US" sz="2200" b="1" dirty="0" smtClean="0">
                <a:latin typeface="+mn-ea"/>
              </a:rPr>
              <a:t>长期存储在计算机内的、有组织的、可共享的大量数据集合。</a:t>
            </a:r>
            <a:endParaRPr lang="en-US" altLang="zh-CN" sz="2200" b="1" dirty="0" smtClean="0">
              <a:latin typeface="+mn-ea"/>
            </a:endParaRPr>
          </a:p>
          <a:p>
            <a:pPr marL="257175" indent="-257175" algn="just">
              <a:lnSpc>
                <a:spcPct val="110000"/>
              </a:lnSpc>
              <a:spcBef>
                <a:spcPts val="300"/>
              </a:spcBef>
              <a:buClr>
                <a:srgbClr val="C00000"/>
              </a:buClr>
              <a:buFont typeface="Wingdings" panose="05000000000000000000" pitchFamily="2" charset="2"/>
              <a:buChar char="Ø"/>
              <a:defRPr/>
            </a:pPr>
            <a:r>
              <a:rPr lang="zh-CN" altLang="en-US" sz="2200" b="1" dirty="0" smtClean="0">
                <a:solidFill>
                  <a:srgbClr val="030DCF"/>
                </a:solidFill>
              </a:rPr>
              <a:t>软件：</a:t>
            </a:r>
            <a:endParaRPr lang="en-US" altLang="zh-CN" sz="2200" b="1" dirty="0" smtClean="0">
              <a:solidFill>
                <a:srgbClr val="030DCF"/>
              </a:solidFill>
            </a:endParaRPr>
          </a:p>
          <a:p>
            <a:pPr marL="714375" lvl="1" indent="-257175" algn="just">
              <a:lnSpc>
                <a:spcPct val="110000"/>
              </a:lnSpc>
              <a:spcBef>
                <a:spcPts val="300"/>
              </a:spcBef>
              <a:buClr>
                <a:srgbClr val="C00000"/>
              </a:buClr>
              <a:buFont typeface="Wingdings" panose="05000000000000000000" pitchFamily="2" charset="2"/>
              <a:buChar char="Ø"/>
              <a:defRPr/>
            </a:pPr>
            <a:r>
              <a:rPr lang="zh-CN" altLang="en-US" b="1" dirty="0" smtClean="0">
                <a:solidFill>
                  <a:srgbClr val="030DCF"/>
                </a:solidFill>
              </a:rPr>
              <a:t>数据库管理系统</a:t>
            </a:r>
            <a:r>
              <a:rPr lang="zh-CN" altLang="en-US" b="1" dirty="0" smtClean="0"/>
              <a:t>是管理数据库的软件，实现数据库系统的各项功能。</a:t>
            </a:r>
            <a:endParaRPr lang="en-US" altLang="zh-CN" b="1" dirty="0" smtClean="0"/>
          </a:p>
          <a:p>
            <a:pPr marL="714375" lvl="1" indent="-257175" algn="just">
              <a:lnSpc>
                <a:spcPct val="110000"/>
              </a:lnSpc>
              <a:spcBef>
                <a:spcPts val="300"/>
              </a:spcBef>
              <a:buClr>
                <a:srgbClr val="C00000"/>
              </a:buClr>
              <a:buFont typeface="Wingdings" panose="05000000000000000000" pitchFamily="2" charset="2"/>
              <a:buChar char="Ø"/>
              <a:defRPr/>
            </a:pPr>
            <a:r>
              <a:rPr lang="zh-CN" altLang="en-US" b="1" dirty="0" smtClean="0">
                <a:solidFill>
                  <a:srgbClr val="030DCF"/>
                </a:solidFill>
              </a:rPr>
              <a:t>应用程序</a:t>
            </a:r>
            <a:r>
              <a:rPr lang="zh-CN" altLang="en-US" b="1" dirty="0" smtClean="0"/>
              <a:t>是指以数据库为基础的各种应用程序，应用程序必须通过</a:t>
            </a:r>
            <a:r>
              <a:rPr lang="en-US" altLang="zh-CN" b="1" dirty="0" smtClean="0"/>
              <a:t>DBMS</a:t>
            </a:r>
            <a:r>
              <a:rPr lang="zh-CN" altLang="en-US" b="1" dirty="0" smtClean="0"/>
              <a:t>访问数据库。</a:t>
            </a:r>
            <a:endParaRPr lang="en-US" altLang="zh-CN" b="1" dirty="0" smtClean="0"/>
          </a:p>
          <a:p>
            <a:pPr marL="257175" indent="-257175" algn="just">
              <a:lnSpc>
                <a:spcPct val="110000"/>
              </a:lnSpc>
              <a:spcBef>
                <a:spcPts val="300"/>
              </a:spcBef>
              <a:buClr>
                <a:srgbClr val="C00000"/>
              </a:buClr>
              <a:buFont typeface="Wingdings" panose="05000000000000000000" pitchFamily="2" charset="2"/>
              <a:buChar char="Ø"/>
              <a:defRPr/>
            </a:pPr>
            <a:r>
              <a:rPr lang="zh-CN" altLang="en-US" sz="2200" b="1" dirty="0" smtClean="0">
                <a:solidFill>
                  <a:srgbClr val="030DCF"/>
                </a:solidFill>
              </a:rPr>
              <a:t>用户：</a:t>
            </a:r>
            <a:endParaRPr lang="en-US" altLang="zh-CN" sz="2200" b="1" dirty="0" smtClean="0">
              <a:solidFill>
                <a:srgbClr val="030DCF"/>
              </a:solidFill>
            </a:endParaRPr>
          </a:p>
          <a:p>
            <a:pPr marL="714375" lvl="1" indent="-257175" algn="just">
              <a:lnSpc>
                <a:spcPct val="110000"/>
              </a:lnSpc>
              <a:spcBef>
                <a:spcPts val="300"/>
              </a:spcBef>
              <a:buClr>
                <a:srgbClr val="C00000"/>
              </a:buClr>
              <a:buFont typeface="Wingdings" panose="05000000000000000000" pitchFamily="2" charset="2"/>
              <a:buChar char="Ø"/>
              <a:defRPr/>
            </a:pPr>
            <a:r>
              <a:rPr lang="zh-CN" altLang="en-US" b="1" dirty="0" smtClean="0">
                <a:solidFill>
                  <a:srgbClr val="030DCF"/>
                </a:solidFill>
              </a:rPr>
              <a:t>数据库管理员</a:t>
            </a:r>
            <a:r>
              <a:rPr lang="zh-CN" altLang="en-US" b="1" dirty="0" smtClean="0"/>
              <a:t>是负责对数据库进行规划、设计、协调、维护和管理等工作的人员。</a:t>
            </a:r>
            <a:endParaRPr lang="en-US" altLang="zh-CN" b="1" dirty="0" smtClean="0"/>
          </a:p>
          <a:p>
            <a:pPr marL="714375" lvl="1" indent="-257175" algn="just">
              <a:lnSpc>
                <a:spcPct val="110000"/>
              </a:lnSpc>
              <a:spcBef>
                <a:spcPts val="300"/>
              </a:spcBef>
              <a:buClr>
                <a:srgbClr val="C00000"/>
              </a:buClr>
              <a:buFont typeface="Wingdings" panose="05000000000000000000" pitchFamily="2" charset="2"/>
              <a:buChar char="Ø"/>
              <a:defRPr/>
            </a:pPr>
            <a:r>
              <a:rPr lang="zh-CN" altLang="en-US" b="1" dirty="0" smtClean="0"/>
              <a:t>应用程序员、用户等。</a:t>
            </a:r>
            <a:endParaRPr lang="en-US" altLang="zh-CN" b="1" dirty="0" smtClean="0"/>
          </a:p>
          <a:p>
            <a:pPr>
              <a:defRPr/>
            </a:pPr>
            <a:endParaRPr lang="zh-CN" altLang="en-US" dirty="0"/>
          </a:p>
        </p:txBody>
      </p:sp>
      <p:sp>
        <p:nvSpPr>
          <p:cNvPr id="286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fld id="{0F4D4D65-9215-49EF-935F-3AC9EDEEB0B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smtClean="0"/>
              <a:t>对数据进行科学</a:t>
            </a:r>
            <a:r>
              <a:rPr lang="zh-CN" altLang="en-US" dirty="0"/>
              <a:t>的组织和存储数据</a:t>
            </a:r>
            <a:r>
              <a:rPr lang="zh-CN" altLang="en-US" dirty="0" smtClean="0"/>
              <a:t>，并且进行高效</a:t>
            </a:r>
            <a:r>
              <a:rPr lang="zh-CN" altLang="en-US" dirty="0"/>
              <a:t>的获取和维护数据。</a:t>
            </a:r>
            <a:endParaRPr lang="zh-CN" altLang="en-US" dirty="0"/>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fld id="{07E765A9-5CF0-42CE-A37B-1FB9E6AF395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545CDCB-ADEE-45F3-92E7-2C749526FE55}"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17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228600" indent="-228600">
              <a:buFontTx/>
              <a:buAutoNum type="arabicParenR"/>
              <a:defRPr/>
            </a:pPr>
            <a:r>
              <a:rPr lang="zh-CN" altLang="en-US" dirty="0"/>
              <a:t>数据库系统实现整体数据的结构化，这是数据库的主要特征之一，也是数据库系统与文件系统的本质区别。</a:t>
            </a:r>
            <a:endParaRPr lang="en-US" altLang="zh-CN" dirty="0"/>
          </a:p>
          <a:p>
            <a:pPr>
              <a:defRPr/>
            </a:pPr>
            <a:r>
              <a:rPr lang="zh-CN" altLang="en-US" dirty="0"/>
              <a:t>所谓“整体”结构化是指数据库中的数据不再仅仅针对某个应用，而是面向整个企业或组织；不仅数据内部是结构化的，而且整体是结构化的，数据之间是具有联系的</a:t>
            </a:r>
            <a:r>
              <a:rPr lang="zh-CN" altLang="en-US" dirty="0" smtClean="0"/>
              <a:t>。</a:t>
            </a:r>
            <a:endParaRPr lang="en-US" altLang="zh-CN" dirty="0" smtClean="0"/>
          </a:p>
          <a:p>
            <a:pPr>
              <a:defRPr/>
            </a:pPr>
            <a:endParaRPr lang="en-US" altLang="zh-CN" dirty="0"/>
          </a:p>
          <a:p>
            <a:pPr>
              <a:defRPr/>
            </a:pPr>
            <a:r>
              <a:rPr lang="en-US" altLang="zh-CN" dirty="0"/>
              <a:t>2</a:t>
            </a:r>
            <a:r>
              <a:rPr lang="zh-CN" altLang="en-US" dirty="0"/>
              <a:t>）数据库系统从整体角度看待数据和描述数据，因而数据可以被多个用户、多个应用共享使用。数据共享可以大大减少数据冗余，节约存储空间。数据共享还能够避免数据之间的不相容性和不一致性</a:t>
            </a:r>
            <a:r>
              <a:rPr lang="zh-CN" altLang="en-US" dirty="0" smtClean="0"/>
              <a:t>。</a:t>
            </a:r>
            <a:endParaRPr lang="en-US" altLang="zh-CN" dirty="0" smtClean="0"/>
          </a:p>
          <a:p>
            <a:pPr>
              <a:defRPr/>
            </a:pPr>
            <a:endParaRPr lang="en-US" altLang="zh-CN" dirty="0"/>
          </a:p>
          <a:p>
            <a:pPr>
              <a:defRPr/>
            </a:pPr>
            <a:r>
              <a:rPr lang="zh-CN" altLang="en-US" dirty="0"/>
              <a:t>同时由于数据是面向整体的，当应用需求发生改变和增加应用时，只要重新选取不同的子集或加上一部分数据便可以满足要求，所以数据库系统的弹性大，易于扩充</a:t>
            </a:r>
            <a:r>
              <a:rPr lang="zh-CN" altLang="en-US" dirty="0" smtClean="0"/>
              <a:t>。</a:t>
            </a:r>
            <a:endParaRPr lang="en-US" altLang="zh-CN" dirty="0" smtClean="0"/>
          </a:p>
          <a:p>
            <a:pPr>
              <a:defRPr/>
            </a:pPr>
            <a:endParaRPr lang="en-US" altLang="zh-CN" dirty="0"/>
          </a:p>
          <a:p>
            <a:pPr>
              <a:defRPr/>
            </a:pPr>
            <a:r>
              <a:rPr lang="en-US" altLang="zh-CN" dirty="0"/>
              <a:t>3</a:t>
            </a:r>
            <a:r>
              <a:rPr lang="zh-CN" altLang="en-US" dirty="0"/>
              <a:t>）数据独立性高包括数据的物理独立性和逻辑独立性。</a:t>
            </a:r>
            <a:endParaRPr lang="en-US" altLang="zh-CN" dirty="0"/>
          </a:p>
          <a:p>
            <a:pPr>
              <a:defRPr/>
            </a:pPr>
            <a:r>
              <a:rPr lang="zh-CN" altLang="en-US" dirty="0"/>
              <a:t>物理独立性：用户的应用程序与数据库中数据的物理存储是相互独立的。数据在数据库中怎样存储是由数据库管理系统管理的，用户程序不需要了解，这样当数据的物理存储结构改变时，应用程序不用变化。</a:t>
            </a:r>
            <a:endParaRPr lang="en-US" altLang="zh-CN" dirty="0"/>
          </a:p>
          <a:p>
            <a:pPr>
              <a:defRPr/>
            </a:pPr>
            <a:r>
              <a:rPr lang="zh-CN" altLang="en-US" dirty="0"/>
              <a:t>逻辑独立性：用户的应用程序与数据库的逻辑结构是相互独立的。</a:t>
            </a:r>
            <a:endParaRPr lang="en-US" altLang="zh-CN" dirty="0"/>
          </a:p>
          <a:p>
            <a:endParaRPr lang="zh-CN" altLang="en-US" dirty="0"/>
          </a:p>
        </p:txBody>
      </p:sp>
      <p:sp>
        <p:nvSpPr>
          <p:cNvPr id="317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fld id="{48545BA9-03A4-43E4-9469-1398A2536F1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37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337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fld id="{53EE8CB6-F3A4-4564-939B-F20AB1F260B8}"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lgn="just">
              <a:lnSpc>
                <a:spcPct val="110000"/>
              </a:lnSpc>
              <a:spcBef>
                <a:spcPts val="600"/>
              </a:spcBef>
              <a:spcAft>
                <a:spcPts val="600"/>
              </a:spcAft>
              <a:buClr>
                <a:srgbClr val="C00000"/>
              </a:buClr>
              <a:buFont typeface="Wingdings" panose="05000000000000000000" pitchFamily="2" charset="2"/>
              <a:buChar char="n"/>
            </a:pPr>
            <a:r>
              <a:rPr lang="zh-CN" altLang="en-US" sz="2400" b="1" dirty="0">
                <a:solidFill>
                  <a:srgbClr val="030DCF"/>
                </a:solidFill>
                <a:latin typeface="Century Gothic" panose="020B0502020202020204" pitchFamily="34" charset="0"/>
              </a:rPr>
              <a:t>数据模型</a:t>
            </a:r>
            <a:r>
              <a:rPr lang="zh-CN" altLang="en-US" sz="2400" b="1" dirty="0">
                <a:latin typeface="Century Gothic" panose="020B0502020202020204" pitchFamily="34" charset="0"/>
              </a:rPr>
              <a:t>是对现实世界数据特征的抽象</a:t>
            </a:r>
            <a:r>
              <a:rPr lang="zh-CN" altLang="en-US" sz="2400" dirty="0">
                <a:latin typeface="Century Gothic" panose="020B0502020202020204" pitchFamily="34" charset="0"/>
              </a:rPr>
              <a:t>，</a:t>
            </a:r>
            <a:r>
              <a:rPr lang="zh-CN" altLang="en-US" sz="2400" b="1" dirty="0">
                <a:latin typeface="Century Gothic" panose="020B0502020202020204" pitchFamily="34" charset="0"/>
              </a:rPr>
              <a:t>现有的数据库系统都是基于某种数据模型的。</a:t>
            </a:r>
            <a:endParaRPr lang="en-US" altLang="zh-CN" sz="2400" b="1" dirty="0">
              <a:latin typeface="Century Gothic" panose="020B0502020202020204" pitchFamily="34" charset="0"/>
            </a:endParaRPr>
          </a:p>
          <a:p>
            <a:pPr algn="just">
              <a:lnSpc>
                <a:spcPct val="110000"/>
              </a:lnSpc>
              <a:spcBef>
                <a:spcPts val="600"/>
              </a:spcBef>
              <a:spcAft>
                <a:spcPts val="600"/>
              </a:spcAft>
              <a:buClr>
                <a:srgbClr val="C00000"/>
              </a:buClr>
              <a:buFont typeface="Wingdings" panose="05000000000000000000" pitchFamily="2" charset="2"/>
              <a:buChar char="n"/>
            </a:pPr>
            <a:r>
              <a:rPr lang="zh-CN" altLang="en-US" sz="2400" b="1" dirty="0">
                <a:latin typeface="Century Gothic" panose="020B0502020202020204" pitchFamily="34" charset="0"/>
              </a:rPr>
              <a:t>如同在建筑设计和施工的不同阶段需要不同的图纸一样，在开发实施数据库应用系统中也需要使用不同的数据模型。</a:t>
            </a:r>
            <a:endParaRPr lang="en-US" altLang="zh-CN" sz="2400" b="1" dirty="0">
              <a:latin typeface="Century Gothic" panose="020B0502020202020204" pitchFamily="34" charset="0"/>
            </a:endParaRPr>
          </a:p>
          <a:p>
            <a:pPr algn="just">
              <a:lnSpc>
                <a:spcPct val="110000"/>
              </a:lnSpc>
              <a:spcBef>
                <a:spcPts val="600"/>
              </a:spcBef>
              <a:spcAft>
                <a:spcPts val="600"/>
              </a:spcAft>
              <a:buClr>
                <a:srgbClr val="C00000"/>
              </a:buClr>
              <a:buFont typeface="Wingdings" panose="05000000000000000000" pitchFamily="2" charset="2"/>
              <a:buChar char="n"/>
            </a:pPr>
            <a:r>
              <a:rPr lang="zh-CN" altLang="en-US" sz="2400" b="1" dirty="0">
                <a:latin typeface="Century Gothic" panose="020B0502020202020204" pitchFamily="34" charset="0"/>
              </a:rPr>
              <a:t>根据模型应用的不同目的，数据模型可以分为两大类：</a:t>
            </a:r>
            <a:endParaRPr lang="en-US" altLang="zh-CN" sz="2400" b="1" dirty="0">
              <a:latin typeface="Century Gothic" panose="020B0502020202020204" pitchFamily="34" charset="0"/>
            </a:endParaRPr>
          </a:p>
          <a:p>
            <a:pPr lvl="1" algn="just">
              <a:lnSpc>
                <a:spcPct val="110000"/>
              </a:lnSpc>
              <a:spcBef>
                <a:spcPts val="600"/>
              </a:spcBef>
              <a:spcAft>
                <a:spcPts val="600"/>
              </a:spcAft>
              <a:buClr>
                <a:srgbClr val="C00000"/>
              </a:buClr>
              <a:buFont typeface="Wingdings" panose="05000000000000000000" pitchFamily="2" charset="2"/>
              <a:buChar char="Ø"/>
            </a:pPr>
            <a:r>
              <a:rPr lang="zh-CN" altLang="en-US" sz="2200" b="1" dirty="0">
                <a:latin typeface="Century Gothic" panose="020B0502020202020204" pitchFamily="34" charset="0"/>
              </a:rPr>
              <a:t>概念模型：按用户的观点来对数据和信息建模；</a:t>
            </a:r>
            <a:endParaRPr lang="en-US" altLang="zh-CN" sz="2200" b="1" dirty="0">
              <a:latin typeface="Century Gothic" panose="020B0502020202020204" pitchFamily="34" charset="0"/>
            </a:endParaRPr>
          </a:p>
          <a:p>
            <a:pPr lvl="1" algn="just">
              <a:lnSpc>
                <a:spcPct val="110000"/>
              </a:lnSpc>
              <a:spcBef>
                <a:spcPts val="600"/>
              </a:spcBef>
              <a:spcAft>
                <a:spcPts val="600"/>
              </a:spcAft>
              <a:buClr>
                <a:srgbClr val="C00000"/>
              </a:buClr>
              <a:buFont typeface="Wingdings" panose="05000000000000000000" pitchFamily="2" charset="2"/>
              <a:buChar char="Ø"/>
            </a:pPr>
            <a:r>
              <a:rPr lang="zh-CN" altLang="en-US" sz="2200" b="1" dirty="0">
                <a:latin typeface="Century Gothic" panose="020B0502020202020204" pitchFamily="34" charset="0"/>
              </a:rPr>
              <a:t>逻辑模型：按计算机系统的观点对数据建模，主要用于数据库管理系统的实现。</a:t>
            </a:r>
            <a:endParaRPr lang="en-US" altLang="zh-CN" sz="2200" b="1" dirty="0">
              <a:latin typeface="Century Gothic" panose="020B0502020202020204" pitchFamily="34" charset="0"/>
            </a:endParaRPr>
          </a:p>
        </p:txBody>
      </p:sp>
      <p:sp>
        <p:nvSpPr>
          <p:cNvPr id="409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fld id="{10624D9C-50C0-4FE7-998C-E97B030BFA08}"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b="1" dirty="0">
                <a:latin typeface="Century Gothic" panose="020B0502020202020204" pitchFamily="34" charset="0"/>
              </a:rPr>
              <a:t>计算机科学用</a:t>
            </a:r>
            <a:r>
              <a:rPr lang="zh-CN" altLang="en-US" b="1" dirty="0">
                <a:solidFill>
                  <a:srgbClr val="C00000"/>
                </a:solidFill>
                <a:latin typeface="Century Gothic" panose="020B0502020202020204" pitchFamily="34" charset="0"/>
              </a:rPr>
              <a:t>实体</a:t>
            </a:r>
            <a:r>
              <a:rPr lang="zh-CN" altLang="en-US" b="1" dirty="0">
                <a:latin typeface="Century Gothic" panose="020B0502020202020204" pitchFamily="34" charset="0"/>
              </a:rPr>
              <a:t>这个概念来表示客观存在的</a:t>
            </a:r>
            <a:r>
              <a:rPr lang="zh-CN" altLang="en-US" b="1" dirty="0">
                <a:solidFill>
                  <a:srgbClr val="030DCF"/>
                </a:solidFill>
                <a:latin typeface="Century Gothic" panose="020B0502020202020204" pitchFamily="34" charset="0"/>
              </a:rPr>
              <a:t>事物</a:t>
            </a:r>
            <a:r>
              <a:rPr lang="zh-CN" altLang="en-US" b="1" dirty="0">
                <a:latin typeface="Century Gothic" panose="020B0502020202020204" pitchFamily="34" charset="0"/>
              </a:rPr>
              <a:t>。一般说来，一种事物都会有各种各样的</a:t>
            </a:r>
            <a:r>
              <a:rPr lang="zh-CN" altLang="en-US" b="1" dirty="0">
                <a:solidFill>
                  <a:srgbClr val="030DCF"/>
                </a:solidFill>
                <a:latin typeface="Century Gothic" panose="020B0502020202020204" pitchFamily="34" charset="0"/>
              </a:rPr>
              <a:t>特征</a:t>
            </a:r>
            <a:r>
              <a:rPr lang="zh-CN" altLang="en-US" b="1" dirty="0">
                <a:latin typeface="Century Gothic" panose="020B0502020202020204" pitchFamily="34" charset="0"/>
              </a:rPr>
              <a:t>，表示了事物不同方面的性质，我们从业务处理的需要出发，从事物的特征中选取出有限个特征作为</a:t>
            </a:r>
            <a:r>
              <a:rPr lang="zh-CN" altLang="en-US" b="1" dirty="0">
                <a:solidFill>
                  <a:srgbClr val="C00000"/>
                </a:solidFill>
                <a:latin typeface="Century Gothic" panose="020B0502020202020204" pitchFamily="34" charset="0"/>
              </a:rPr>
              <a:t>属性</a:t>
            </a:r>
            <a:r>
              <a:rPr lang="zh-CN" altLang="en-US" b="1" dirty="0">
                <a:latin typeface="Century Gothic" panose="020B0502020202020204" pitchFamily="34" charset="0"/>
              </a:rPr>
              <a:t>来刻画这个实体。</a:t>
            </a:r>
            <a:endParaRPr lang="zh-CN" altLang="en-US" b="1" dirty="0">
              <a:latin typeface="Century Gothic" panose="020B0502020202020204" pitchFamily="34" charset="0"/>
            </a:endParaRPr>
          </a:p>
        </p:txBody>
      </p:sp>
      <p:sp>
        <p:nvSpPr>
          <p:cNvPr id="430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803275" indent="-307975">
              <a:defRPr>
                <a:solidFill>
                  <a:schemeClr val="tx1"/>
                </a:solidFill>
                <a:latin typeface="Century Gothic" panose="020B0502020202020204" pitchFamily="34" charset="0"/>
              </a:defRPr>
            </a:lvl2pPr>
            <a:lvl3pPr marL="1236980" indent="-246380">
              <a:defRPr>
                <a:solidFill>
                  <a:schemeClr val="tx1"/>
                </a:solidFill>
                <a:latin typeface="Century Gothic" panose="020B0502020202020204" pitchFamily="34" charset="0"/>
              </a:defRPr>
            </a:lvl3pPr>
            <a:lvl4pPr marL="1732280" indent="-246380">
              <a:defRPr>
                <a:solidFill>
                  <a:schemeClr val="tx1"/>
                </a:solidFill>
                <a:latin typeface="Century Gothic" panose="020B0502020202020204" pitchFamily="34" charset="0"/>
              </a:defRPr>
            </a:lvl4pPr>
            <a:lvl5pPr marL="2227580" indent="-246380">
              <a:defRPr>
                <a:solidFill>
                  <a:schemeClr val="tx1"/>
                </a:solidFill>
                <a:latin typeface="Century Gothic" panose="020B0502020202020204" pitchFamily="34" charset="0"/>
              </a:defRPr>
            </a:lvl5pPr>
            <a:lvl6pPr marL="2684780" indent="-246380" defTabSz="457200" eaLnBrk="0" fontAlgn="base" hangingPunct="0">
              <a:spcBef>
                <a:spcPct val="0"/>
              </a:spcBef>
              <a:spcAft>
                <a:spcPct val="0"/>
              </a:spcAft>
              <a:defRPr>
                <a:solidFill>
                  <a:schemeClr val="tx1"/>
                </a:solidFill>
                <a:latin typeface="Century Gothic" panose="020B0502020202020204" pitchFamily="34" charset="0"/>
              </a:defRPr>
            </a:lvl6pPr>
            <a:lvl7pPr marL="3141980" indent="-246380" defTabSz="457200" eaLnBrk="0" fontAlgn="base" hangingPunct="0">
              <a:spcBef>
                <a:spcPct val="0"/>
              </a:spcBef>
              <a:spcAft>
                <a:spcPct val="0"/>
              </a:spcAft>
              <a:defRPr>
                <a:solidFill>
                  <a:schemeClr val="tx1"/>
                </a:solidFill>
                <a:latin typeface="Century Gothic" panose="020B0502020202020204" pitchFamily="34" charset="0"/>
              </a:defRPr>
            </a:lvl7pPr>
            <a:lvl8pPr marL="3599180" indent="-246380" defTabSz="457200" eaLnBrk="0" fontAlgn="base" hangingPunct="0">
              <a:spcBef>
                <a:spcPct val="0"/>
              </a:spcBef>
              <a:spcAft>
                <a:spcPct val="0"/>
              </a:spcAft>
              <a:defRPr>
                <a:solidFill>
                  <a:schemeClr val="tx1"/>
                </a:solidFill>
                <a:latin typeface="Century Gothic" panose="020B0502020202020204" pitchFamily="34" charset="0"/>
              </a:defRPr>
            </a:lvl8pPr>
            <a:lvl9pPr marL="4056380" indent="-246380" defTabSz="457200" eaLnBrk="0" fontAlgn="base" hangingPunct="0">
              <a:spcBef>
                <a:spcPct val="0"/>
              </a:spcBef>
              <a:spcAft>
                <a:spcPct val="0"/>
              </a:spcAft>
              <a:defRPr>
                <a:solidFill>
                  <a:schemeClr val="tx1"/>
                </a:solidFill>
                <a:latin typeface="Century Gothic" panose="020B0502020202020204" pitchFamily="34" charset="0"/>
              </a:defRPr>
            </a:lvl9pPr>
          </a:lstStyle>
          <a:p>
            <a:fld id="{F694BD03-65DF-49DD-AAFB-A5FCD9DA80C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b="1" dirty="0"/>
              <a:t>关系模型的数据结构</a:t>
            </a:r>
            <a:r>
              <a:rPr lang="zh-CN" altLang="en-US" dirty="0"/>
              <a:t>非常简单，只包含单一的数据结构</a:t>
            </a:r>
            <a:r>
              <a:rPr lang="en-US" altLang="zh-CN" dirty="0"/>
              <a:t>——</a:t>
            </a:r>
            <a:r>
              <a:rPr lang="zh-CN" altLang="en-US" dirty="0"/>
              <a:t>关系。</a:t>
            </a:r>
            <a:endParaRPr lang="zh-CN" altLang="en-US" dirty="0"/>
          </a:p>
          <a:p>
            <a:r>
              <a:rPr lang="zh-CN" altLang="en-US" dirty="0"/>
              <a:t>在用户看来，关系模型中数据的逻辑结构是一张扁平的二维表。</a:t>
            </a:r>
            <a:endParaRPr lang="zh-CN" altLang="en-US" dirty="0"/>
          </a:p>
          <a:p>
            <a:endParaRPr lang="zh-CN" altLang="en-US" dirty="0"/>
          </a:p>
        </p:txBody>
      </p:sp>
      <p:sp>
        <p:nvSpPr>
          <p:cNvPr id="481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fld id="{F24581C9-5F33-4412-9613-96DCFA37ACE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关系模型的数据结构</a:t>
            </a:r>
            <a:r>
              <a:rPr lang="zh-CN" altLang="en-US" dirty="0" smtClean="0"/>
              <a:t>非常简单，只包含单一的数据结构</a:t>
            </a:r>
            <a:r>
              <a:rPr lang="en-US" altLang="zh-CN" dirty="0" smtClean="0"/>
              <a:t>——</a:t>
            </a:r>
            <a:r>
              <a:rPr lang="zh-CN" altLang="en-US" dirty="0" smtClean="0"/>
              <a:t>关系。</a:t>
            </a:r>
            <a:endParaRPr lang="zh-CN" altLang="en-US" dirty="0" smtClean="0"/>
          </a:p>
          <a:p>
            <a:r>
              <a:rPr lang="zh-CN" altLang="en-US" dirty="0" smtClean="0"/>
              <a:t>在用户看来，关系模型中数据的逻辑结构是一张扁平的二维表。</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9545CDCB-ADEE-45F3-92E7-2C749526FE55}"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关系模型的数据结构</a:t>
            </a:r>
            <a:r>
              <a:rPr lang="zh-CN" altLang="en-US" dirty="0" smtClean="0"/>
              <a:t>非常简单，只包含单一的数据结构</a:t>
            </a:r>
            <a:r>
              <a:rPr lang="en-US" altLang="zh-CN" dirty="0" smtClean="0"/>
              <a:t>——</a:t>
            </a:r>
            <a:r>
              <a:rPr lang="zh-CN" altLang="en-US" dirty="0" smtClean="0"/>
              <a:t>关系。</a:t>
            </a:r>
            <a:endParaRPr lang="zh-CN" altLang="en-US" dirty="0" smtClean="0"/>
          </a:p>
          <a:p>
            <a:r>
              <a:rPr lang="zh-CN" altLang="en-US" dirty="0" smtClean="0"/>
              <a:t>在用户看来，关系模型中数据的逻辑结构是一张扁平的二维表。</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9545CDCB-ADEE-45F3-92E7-2C749526FE5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xfrm>
            <a:off x="3406775" y="849313"/>
            <a:ext cx="3059113" cy="2293937"/>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22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522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defRPr>
            </a:lvl1pPr>
            <a:lvl2pPr marL="803275" indent="-307975">
              <a:defRPr>
                <a:solidFill>
                  <a:schemeClr val="tx1"/>
                </a:solidFill>
                <a:latin typeface="Century Gothic" panose="020B0502020202020204" pitchFamily="34" charset="0"/>
              </a:defRPr>
            </a:lvl2pPr>
            <a:lvl3pPr marL="1236980" indent="-246380">
              <a:defRPr>
                <a:solidFill>
                  <a:schemeClr val="tx1"/>
                </a:solidFill>
                <a:latin typeface="Century Gothic" panose="020B0502020202020204" pitchFamily="34" charset="0"/>
              </a:defRPr>
            </a:lvl3pPr>
            <a:lvl4pPr marL="1732280" indent="-246380">
              <a:defRPr>
                <a:solidFill>
                  <a:schemeClr val="tx1"/>
                </a:solidFill>
                <a:latin typeface="Century Gothic" panose="020B0502020202020204" pitchFamily="34" charset="0"/>
              </a:defRPr>
            </a:lvl4pPr>
            <a:lvl5pPr marL="2227580" indent="-246380">
              <a:defRPr>
                <a:solidFill>
                  <a:schemeClr val="tx1"/>
                </a:solidFill>
                <a:latin typeface="Century Gothic" panose="020B0502020202020204" pitchFamily="34" charset="0"/>
              </a:defRPr>
            </a:lvl5pPr>
            <a:lvl6pPr marL="2684780" indent="-246380" defTabSz="457200" eaLnBrk="0" fontAlgn="base" hangingPunct="0">
              <a:spcBef>
                <a:spcPct val="0"/>
              </a:spcBef>
              <a:spcAft>
                <a:spcPct val="0"/>
              </a:spcAft>
              <a:defRPr>
                <a:solidFill>
                  <a:schemeClr val="tx1"/>
                </a:solidFill>
                <a:latin typeface="Century Gothic" panose="020B0502020202020204" pitchFamily="34" charset="0"/>
              </a:defRPr>
            </a:lvl6pPr>
            <a:lvl7pPr marL="3141980" indent="-246380" defTabSz="457200" eaLnBrk="0" fontAlgn="base" hangingPunct="0">
              <a:spcBef>
                <a:spcPct val="0"/>
              </a:spcBef>
              <a:spcAft>
                <a:spcPct val="0"/>
              </a:spcAft>
              <a:defRPr>
                <a:solidFill>
                  <a:schemeClr val="tx1"/>
                </a:solidFill>
                <a:latin typeface="Century Gothic" panose="020B0502020202020204" pitchFamily="34" charset="0"/>
              </a:defRPr>
            </a:lvl7pPr>
            <a:lvl8pPr marL="3599180" indent="-246380" defTabSz="457200" eaLnBrk="0" fontAlgn="base" hangingPunct="0">
              <a:spcBef>
                <a:spcPct val="0"/>
              </a:spcBef>
              <a:spcAft>
                <a:spcPct val="0"/>
              </a:spcAft>
              <a:defRPr>
                <a:solidFill>
                  <a:schemeClr val="tx1"/>
                </a:solidFill>
                <a:latin typeface="Century Gothic" panose="020B0502020202020204" pitchFamily="34" charset="0"/>
              </a:defRPr>
            </a:lvl8pPr>
            <a:lvl9pPr marL="4056380" indent="-246380" defTabSz="457200" eaLnBrk="0" fontAlgn="base" hangingPunct="0">
              <a:spcBef>
                <a:spcPct val="0"/>
              </a:spcBef>
              <a:spcAft>
                <a:spcPct val="0"/>
              </a:spcAft>
              <a:defRPr>
                <a:solidFill>
                  <a:schemeClr val="tx1"/>
                </a:solidFill>
                <a:latin typeface="Century Gothic" panose="020B0502020202020204" pitchFamily="34" charset="0"/>
              </a:defRPr>
            </a:lvl9pPr>
          </a:lstStyle>
          <a:p>
            <a:fld id="{103FB9D5-9A25-42A7-A2EC-E12CE5BD476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06775" y="849313"/>
            <a:ext cx="3059113" cy="2293937"/>
          </a:xfrm>
        </p:spPr>
      </p:sp>
      <p:sp>
        <p:nvSpPr>
          <p:cNvPr id="3" name="备注占位符 2"/>
          <p:cNvSpPr>
            <a:spLocks noGrp="1"/>
          </p:cNvSpPr>
          <p:nvPr>
            <p:ph type="body" idx="1"/>
          </p:nvPr>
        </p:nvSpPr>
        <p:spPr/>
        <p:txBody>
          <a:bodyPr/>
          <a:lstStyle/>
          <a:p>
            <a:r>
              <a:rPr lang="zh-CN" altLang="en-US" dirty="0"/>
              <a:t>定义：也称逻辑模式，是数据库中全体数据的逻辑结构和特征的描述，是所有用户的公共数据视图。</a:t>
            </a:r>
            <a:endParaRPr lang="zh-CN" altLang="en-US" dirty="0"/>
          </a:p>
          <a:p>
            <a:r>
              <a:rPr lang="zh-CN" altLang="en-US" dirty="0"/>
              <a:t>理解：  ① 一个数据库只有一个模式；  ② 是数据库数据在逻辑级上的视图；  ③ 数据库模式以某一种数据模型为基础；  ④ 定义模式时不仅要定义数据的逻辑结构（如数据记录由哪些数据项构成，数据项的名字、类型、取值范围等），而且要定义与数据有关的安全性、完整性要求，定义这些数据之间的联系。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9545CDCB-ADEE-45F3-92E7-2C749526FE55}"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06775" y="849313"/>
            <a:ext cx="3059113" cy="2293937"/>
          </a:xfrm>
        </p:spPr>
      </p:sp>
      <p:sp>
        <p:nvSpPr>
          <p:cNvPr id="3" name="备注占位符 2"/>
          <p:cNvSpPr>
            <a:spLocks noGrp="1"/>
          </p:cNvSpPr>
          <p:nvPr>
            <p:ph type="body" idx="1"/>
          </p:nvPr>
        </p:nvSpPr>
        <p:spPr/>
        <p:txBody>
          <a:bodyPr/>
          <a:lstStyle/>
          <a:p>
            <a:r>
              <a:rPr lang="zh-CN" altLang="en-US" dirty="0"/>
              <a:t>定义：也称逻辑模式，是数据库中全体数据的逻辑结构和特征的描述，是所有用户的公共数据视图。</a:t>
            </a:r>
            <a:endParaRPr lang="zh-CN" altLang="en-US" dirty="0"/>
          </a:p>
          <a:p>
            <a:r>
              <a:rPr lang="zh-CN" altLang="en-US" dirty="0"/>
              <a:t>理解：  ① 一个数据库只有一个模式；  ② 是数据库数据在逻辑级上的视图；  ③ 数据库模式以某一种数据模型为基础；  ④ 定义模式时不仅要定义数据的逻辑结构（如数据记录由哪些数据项构成，数据项的名字、类型、取值范围等），而且要定义与数据有关的安全性、完整性要求，定义这些数据之间的联系。  </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9545CDCB-ADEE-45F3-92E7-2C749526FE55}"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406775" y="849313"/>
            <a:ext cx="3059113" cy="2293937"/>
          </a:xfrm>
        </p:spPr>
      </p:sp>
      <p:sp>
        <p:nvSpPr>
          <p:cNvPr id="3" name="备注占位符 2"/>
          <p:cNvSpPr>
            <a:spLocks noGrp="1"/>
          </p:cNvSpPr>
          <p:nvPr>
            <p:ph type="body" idx="1"/>
          </p:nvPr>
        </p:nvSpPr>
        <p:spPr/>
        <p:txBody>
          <a:bodyPr/>
          <a:lstStyle/>
          <a:p>
            <a:pPr>
              <a:buFont typeface="Arial" panose="020B0604020202020204" pitchFamily="34" charset="0"/>
              <a:buChar char="•"/>
            </a:pPr>
            <a:r>
              <a:rPr lang="zh-CN" altLang="en-US" dirty="0"/>
              <a:t>对外键约束的几点说明： 一个表可以有多个外键，但是只能有一个主键。</a:t>
            </a:r>
            <a:endParaRPr lang="zh-CN" altLang="en-US" dirty="0"/>
          </a:p>
          <a:p>
            <a:pPr>
              <a:buFont typeface="Arial" panose="020B0604020202020204" pitchFamily="34" charset="0"/>
              <a:buChar char="•"/>
            </a:pPr>
            <a:r>
              <a:rPr lang="zh-CN" altLang="en-US" dirty="0"/>
              <a:t>外键约束用于防止破坏两个表之间的关联性，保证数据的完整性和一致性。</a:t>
            </a:r>
            <a:endParaRPr lang="zh-CN" altLang="en-US" dirty="0"/>
          </a:p>
          <a:p>
            <a:pPr>
              <a:buFont typeface="Arial" panose="020B0604020202020204" pitchFamily="34" charset="0"/>
              <a:buChar char="•"/>
            </a:pPr>
            <a:r>
              <a:rPr lang="zh-CN" altLang="en-US" dirty="0"/>
              <a:t>外键约束能够防止非法数据进入外键字段，因为它的值必须存在于它指向的主键中。</a:t>
            </a:r>
            <a:endParaRPr lang="zh-CN" altLang="en-US" dirty="0"/>
          </a:p>
          <a:p>
            <a:pPr>
              <a:buFont typeface="Arial" panose="020B0604020202020204" pitchFamily="34" charset="0"/>
              <a:buChar char="•"/>
            </a:pPr>
            <a:r>
              <a:rPr lang="zh-CN" altLang="en-US" dirty="0"/>
              <a:t>从表的外键类型，必须与主表的主键类型一致。</a:t>
            </a:r>
            <a:endParaRPr lang="zh-CN" altLang="en-US" dirty="0"/>
          </a:p>
          <a:p>
            <a:pPr>
              <a:buFont typeface="Arial" panose="020B0604020202020204" pitchFamily="34" charset="0"/>
              <a:buChar char="•"/>
            </a:pPr>
            <a:r>
              <a:rPr lang="zh-CN" altLang="en-US" dirty="0"/>
              <a:t>删除</a:t>
            </a:r>
            <a:r>
              <a:rPr lang="en-US" altLang="zh-CN" dirty="0"/>
              <a:t>/</a:t>
            </a:r>
            <a:r>
              <a:rPr lang="zh-CN" altLang="en-US" dirty="0"/>
              <a:t>更新主表记录时，可以选择同时删除</a:t>
            </a:r>
            <a:r>
              <a:rPr lang="en-US" altLang="zh-CN" dirty="0"/>
              <a:t>/</a:t>
            </a:r>
            <a:r>
              <a:rPr lang="zh-CN" altLang="en-US" dirty="0"/>
              <a:t>更新从表中的相关记录，也可以选择不删除</a:t>
            </a:r>
            <a:r>
              <a:rPr lang="en-US" altLang="zh-CN" dirty="0"/>
              <a:t>/</a:t>
            </a:r>
            <a:r>
              <a:rPr lang="zh-CN" altLang="en-US" dirty="0"/>
              <a:t>更新，您可以在定义外键时对此进行设置。</a:t>
            </a:r>
            <a:endParaRPr lang="zh-CN" altLang="en-US" dirty="0"/>
          </a:p>
          <a:p>
            <a:pPr>
              <a:buFont typeface="Arial" panose="020B0604020202020204" pitchFamily="34" charset="0"/>
              <a:buChar char="•"/>
            </a:pPr>
            <a:r>
              <a:rPr lang="zh-CN" altLang="en-US" dirty="0"/>
              <a:t>删除主表记录时，必须先删除从表中的关联记录，否则主表中的记录将无法删除。</a:t>
            </a:r>
            <a:endParaRPr lang="zh-CN" altLang="en-US" dirty="0"/>
          </a:p>
          <a:p>
            <a:pPr>
              <a:buFont typeface="Arial" panose="020B0604020202020204" pitchFamily="34" charset="0"/>
              <a:buChar char="•"/>
            </a:pPr>
            <a:r>
              <a:rPr lang="zh-CN" altLang="en-US" dirty="0"/>
              <a:t>删除主表时，必须先删除从表，否则主表将无法删除。</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545CDCB-ADEE-45F3-92E7-2C749526FE5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3375"/>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noProof="1"/>
              <a:t>单击以编辑母版副标题样式</a:t>
            </a:r>
            <a:endParaRPr lang="zh-CN" altLang="en-US" noProof="1"/>
          </a:p>
        </p:txBody>
      </p:sp>
      <p:sp>
        <p:nvSpPr>
          <p:cNvPr id="4"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4"/>
            <a:ext cx="7886700" cy="2852737"/>
          </a:xfrm>
        </p:spPr>
        <p:txBody>
          <a:bodyPr anchor="b"/>
          <a:lstStyle>
            <a:lvl1pPr>
              <a:defRPr sz="3375"/>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9"/>
            <a:ext cx="7886700" cy="150018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noProof="1"/>
              <a:t>编辑母版文本样式</a:t>
            </a:r>
            <a:endParaRPr lang="zh-CN" altLang="en-US" noProof="1"/>
          </a:p>
        </p:txBody>
      </p:sp>
      <p:sp>
        <p:nvSpPr>
          <p:cNvPr id="4"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457200" y="1600206"/>
            <a:ext cx="4032504" cy="4525963"/>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54296" y="1600206"/>
            <a:ext cx="4032504" cy="4525963"/>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6" name="页脚占位符 1028"/>
          <p:cNvSpPr>
            <a:spLocks noGrp="1"/>
          </p:cNvSpPr>
          <p:nvPr>
            <p:ph type="ftr" sz="quarter" idx="11"/>
          </p:nvPr>
        </p:nvSpPr>
        <p:spPr/>
        <p:txBody>
          <a:bodyPr/>
          <a:lstStyle>
            <a:lvl1pPr>
              <a:defRPr/>
            </a:lvl1pPr>
          </a:lstStyle>
          <a:p>
            <a:endParaRPr lang="zh-CN" altLang="en-US"/>
          </a:p>
        </p:txBody>
      </p:sp>
      <p:sp>
        <p:nvSpPr>
          <p:cNvPr id="7"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9"/>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4" y="1778438"/>
            <a:ext cx="3655181" cy="82391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7400" indent="0">
              <a:buNone/>
              <a:defRPr sz="1015"/>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4"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7400" indent="0">
              <a:buNone/>
              <a:defRPr sz="1015"/>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8" name="页脚占位符 1028"/>
          <p:cNvSpPr>
            <a:spLocks noGrp="1"/>
          </p:cNvSpPr>
          <p:nvPr>
            <p:ph type="ftr" sz="quarter" idx="11"/>
          </p:nvPr>
        </p:nvSpPr>
        <p:spPr/>
        <p:txBody>
          <a:bodyPr/>
          <a:lstStyle>
            <a:lvl1pPr>
              <a:defRPr/>
            </a:lvl1pPr>
          </a:lstStyle>
          <a:p>
            <a:endParaRPr lang="zh-CN" altLang="en-US"/>
          </a:p>
        </p:txBody>
      </p:sp>
      <p:sp>
        <p:nvSpPr>
          <p:cNvPr id="9"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4" name="页脚占位符 1028"/>
          <p:cNvSpPr>
            <a:spLocks noGrp="1"/>
          </p:cNvSpPr>
          <p:nvPr>
            <p:ph type="ftr" sz="quarter" idx="11"/>
          </p:nvPr>
        </p:nvSpPr>
        <p:spPr/>
        <p:txBody>
          <a:bodyPr/>
          <a:lstStyle>
            <a:lvl1pPr>
              <a:defRPr/>
            </a:lvl1pPr>
          </a:lstStyle>
          <a:p>
            <a:endParaRPr lang="zh-CN" altLang="en-US"/>
          </a:p>
        </p:txBody>
      </p:sp>
      <p:sp>
        <p:nvSpPr>
          <p:cNvPr id="5"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3" name="页脚占位符 1028"/>
          <p:cNvSpPr>
            <a:spLocks noGrp="1"/>
          </p:cNvSpPr>
          <p:nvPr>
            <p:ph type="ftr" sz="quarter" idx="11"/>
          </p:nvPr>
        </p:nvSpPr>
        <p:spPr/>
        <p:txBody>
          <a:bodyPr/>
          <a:lstStyle>
            <a:lvl1pPr>
              <a:defRPr/>
            </a:lvl1pPr>
          </a:lstStyle>
          <a:p>
            <a:endParaRPr lang="zh-CN" altLang="en-US"/>
          </a:p>
        </p:txBody>
      </p:sp>
      <p:sp>
        <p:nvSpPr>
          <p:cNvPr id="4"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1800"/>
            </a:lvl1p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a:xfrm>
            <a:off x="3887391" y="987431"/>
            <a:ext cx="4629150" cy="487362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noProof="1"/>
              <a:t>编辑母版文本样式</a:t>
            </a:r>
            <a:endParaRPr lang="zh-CN" altLang="en-US" noProof="1"/>
          </a:p>
        </p:txBody>
      </p:sp>
      <p:sp>
        <p:nvSpPr>
          <p:cNvPr id="5"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6" name="页脚占位符 1028"/>
          <p:cNvSpPr>
            <a:spLocks noGrp="1"/>
          </p:cNvSpPr>
          <p:nvPr>
            <p:ph type="ftr" sz="quarter" idx="11"/>
          </p:nvPr>
        </p:nvSpPr>
        <p:spPr/>
        <p:txBody>
          <a:bodyPr/>
          <a:lstStyle>
            <a:lvl1pPr>
              <a:defRPr/>
            </a:lvl1pPr>
          </a:lstStyle>
          <a:p>
            <a:endParaRPr lang="zh-CN" altLang="en-US"/>
          </a:p>
        </p:txBody>
      </p:sp>
      <p:sp>
        <p:nvSpPr>
          <p:cNvPr id="7"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18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zh-CN" altLang="en-US" noProof="1"/>
              <a:t>单击图标添加图片</a:t>
            </a:r>
            <a:endParaRPr lang="zh-CN" altLang="en-US" noProof="1"/>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7400" indent="0">
              <a:buNone/>
              <a:defRPr sz="790"/>
            </a:lvl9pPr>
          </a:lstStyle>
          <a:p>
            <a:pPr lvl="0"/>
            <a:r>
              <a:rPr lang="zh-CN" altLang="en-US" noProof="1"/>
              <a:t>编辑母版文本样式</a:t>
            </a:r>
            <a:endParaRPr lang="zh-CN" altLang="en-US" noProof="1"/>
          </a:p>
        </p:txBody>
      </p:sp>
      <p:sp>
        <p:nvSpPr>
          <p:cNvPr id="5"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6" name="页脚占位符 1028"/>
          <p:cNvSpPr>
            <a:spLocks noGrp="1"/>
          </p:cNvSpPr>
          <p:nvPr>
            <p:ph type="ftr" sz="quarter" idx="11"/>
          </p:nvPr>
        </p:nvSpPr>
        <p:spPr/>
        <p:txBody>
          <a:bodyPr/>
          <a:lstStyle>
            <a:lvl1pPr>
              <a:defRPr/>
            </a:lvl1pPr>
          </a:lstStyle>
          <a:p>
            <a:endParaRPr lang="zh-CN" altLang="en-US"/>
          </a:p>
        </p:txBody>
      </p:sp>
      <p:sp>
        <p:nvSpPr>
          <p:cNvPr id="7"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4"/>
            <a:ext cx="2057400" cy="585152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457200" y="274644"/>
            <a:ext cx="6052930" cy="5851525"/>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27"/>
          <p:cNvSpPr>
            <a:spLocks noGrp="1"/>
          </p:cNvSpPr>
          <p:nvPr>
            <p:ph type="dt" sz="half" idx="10"/>
          </p:nvPr>
        </p:nvSpPr>
        <p:spPr/>
        <p:txBody>
          <a:bodyPr/>
          <a:lstStyle>
            <a:lvl1pPr>
              <a:defRPr/>
            </a:lvl1pPr>
          </a:lstStyle>
          <a:p>
            <a:fld id="{1F60434F-5CA3-411A-B203-9669A41D231A}" type="datetimeFigureOut">
              <a:rPr lang="zh-CN" altLang="en-US" smtClean="0"/>
            </a:fld>
            <a:endParaRPr lang="zh-CN" altLang="en-US"/>
          </a:p>
        </p:txBody>
      </p:sp>
      <p:sp>
        <p:nvSpPr>
          <p:cNvPr id="5" name="页脚占位符 1028"/>
          <p:cNvSpPr>
            <a:spLocks noGrp="1"/>
          </p:cNvSpPr>
          <p:nvPr>
            <p:ph type="ftr" sz="quarter" idx="11"/>
          </p:nvPr>
        </p:nvSpPr>
        <p:spPr/>
        <p:txBody>
          <a:bodyPr/>
          <a:lstStyle>
            <a:lvl1pPr>
              <a:defRPr/>
            </a:lvl1pPr>
          </a:lstStyle>
          <a:p>
            <a:endParaRPr lang="zh-CN" altLang="en-US"/>
          </a:p>
        </p:txBody>
      </p:sp>
      <p:sp>
        <p:nvSpPr>
          <p:cNvPr id="6" name="灯片编号占位符 1029"/>
          <p:cNvSpPr>
            <a:spLocks noGrp="1"/>
          </p:cNvSpPr>
          <p:nvPr>
            <p:ph type="sldNum" sz="quarter" idx="12"/>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57200" y="1600206"/>
            <a:ext cx="4038600" cy="452596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hasCustomPrompt="1"/>
          </p:nvPr>
        </p:nvSpPr>
        <p:spPr>
          <a:xfrm>
            <a:off x="4648200" y="1600200"/>
            <a:ext cx="4038600" cy="21859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hasCustomPrompt="1"/>
          </p:nvPr>
        </p:nvSpPr>
        <p:spPr>
          <a:xfrm>
            <a:off x="4648200" y="3938596"/>
            <a:ext cx="4038600" cy="218757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6"/>
          <p:cNvSpPr>
            <a:spLocks noGrp="1" noChangeArrowheads="1"/>
          </p:cNvSpPr>
          <p:nvPr>
            <p:ph type="sldNum" sz="quarter" idx="10"/>
          </p:nvPr>
        </p:nvSpPr>
        <p:spPr/>
        <p:txBody>
          <a:bodyPr/>
          <a:lstStyle>
            <a:lvl1pPr>
              <a:defRPr/>
            </a:lvl1pPr>
          </a:lstStyle>
          <a:p>
            <a:fld id="{ECB0DBEA-6F4A-4FCA-94FE-B8AF1BFC44A5}" type="slidenum">
              <a:rPr lang="zh-CN" altLang="en-US" smtClean="0"/>
            </a:fld>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90525" y="1081090"/>
            <a:ext cx="8421688" cy="491013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页脚占位符 2"/>
          <p:cNvSpPr>
            <a:spLocks noGrp="1"/>
          </p:cNvSpPr>
          <p:nvPr>
            <p:ph type="ftr" sz="quarter" idx="10"/>
          </p:nvPr>
        </p:nvSpPr>
        <p:spPr>
          <a:xfrm>
            <a:off x="2568576" y="6119813"/>
            <a:ext cx="3908425" cy="476250"/>
          </a:xfrm>
        </p:spPr>
        <p:txBody>
          <a:bodyPr/>
          <a:lstStyle>
            <a:lvl1pPr>
              <a:defRPr/>
            </a:lvl1pPr>
          </a:lstStyle>
          <a:p>
            <a:pPr defTabSz="685800">
              <a:defRPr/>
            </a:pPr>
            <a:endParaRPr lang="en-US" altLang="zh-CN" sz="900" noProof="0">
              <a:solidFill>
                <a:prstClr val="black">
                  <a:tint val="75000"/>
                </a:prstClr>
              </a:solidFill>
              <a:latin typeface="等线" panose="02010600030101010101" pitchFamily="2" charset="-122"/>
              <a:ea typeface="等线" panose="02010600030101010101" pitchFamily="2" charset="-122"/>
            </a:endParaRPr>
          </a:p>
        </p:txBody>
      </p:sp>
      <p:sp>
        <p:nvSpPr>
          <p:cNvPr id="4" name="灯片编号占位符 3"/>
          <p:cNvSpPr>
            <a:spLocks noGrp="1"/>
          </p:cNvSpPr>
          <p:nvPr>
            <p:ph type="sldNum" sz="quarter" idx="11"/>
          </p:nvPr>
        </p:nvSpPr>
        <p:spPr>
          <a:xfrm>
            <a:off x="7239000" y="6400800"/>
            <a:ext cx="1905000" cy="457200"/>
          </a:xfrm>
        </p:spPr>
        <p:txBody>
          <a:bodyPr/>
          <a:lstStyle>
            <a:lvl1pPr>
              <a:defRPr/>
            </a:lvl1pPr>
          </a:lstStyle>
          <a:p>
            <a:pPr defTabSz="685800">
              <a:defRPr/>
            </a:pPr>
            <a:fld id="{43DC41DE-67A0-4BE5-ADCC-B383D7713867}" type="slidenum">
              <a:rPr lang="en-US" altLang="zh-CN" sz="900" smtClean="0">
                <a:solidFill>
                  <a:prstClr val="black">
                    <a:tint val="75000"/>
                  </a:prstClr>
                </a:solidFill>
                <a:latin typeface="等线" panose="02010600030101010101" pitchFamily="2" charset="-122"/>
                <a:ea typeface="等线" panose="02010600030101010101" pitchFamily="2" charset="-122"/>
              </a:rPr>
            </a:fld>
            <a:endParaRPr lang="en-US" altLang="zh-CN" sz="900">
              <a:solidFill>
                <a:prstClr val="black">
                  <a:tint val="75000"/>
                </a:prstClr>
              </a:solidFill>
              <a:latin typeface="等线" panose="02010600030101010101" pitchFamily="2" charset="-122"/>
              <a:ea typeface="等线" panose="02010600030101010101" pitchFamily="2" charset="-122"/>
            </a:endParaRPr>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3375"/>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noProof="1"/>
              <a:t>单击以编辑母版副标题样式</a:t>
            </a:r>
            <a:endParaRPr lang="zh-CN" altLang="en-US" noProof="1"/>
          </a:p>
        </p:txBody>
      </p:sp>
      <p:sp>
        <p:nvSpPr>
          <p:cNvPr id="4" name="日期占位符 1027"/>
          <p:cNvSpPr>
            <a:spLocks noGrp="1"/>
          </p:cNvSpPr>
          <p:nvPr>
            <p:ph type="dt" sz="half" idx="10"/>
          </p:nvPr>
        </p:nvSpPr>
        <p:spPr/>
        <p:txBody>
          <a:bodyPr/>
          <a:lstStyle>
            <a:lvl1pPr>
              <a:defRPr/>
            </a:lvl1pPr>
          </a:lstStyle>
          <a:p>
            <a:pPr>
              <a:defRPr/>
            </a:pPr>
            <a:endParaRPr lang="zh-CN" altLang="en-US"/>
          </a:p>
        </p:txBody>
      </p:sp>
      <p:sp>
        <p:nvSpPr>
          <p:cNvPr id="5" name="页脚占位符 1028"/>
          <p:cNvSpPr>
            <a:spLocks noGrp="1"/>
          </p:cNvSpPr>
          <p:nvPr>
            <p:ph type="ftr" sz="quarter" idx="11"/>
          </p:nvPr>
        </p:nvSpPr>
        <p:spPr/>
        <p:txBody>
          <a:bodyPr/>
          <a:lstStyle>
            <a:lvl1pPr>
              <a:defRPr/>
            </a:lvl1pPr>
          </a:lstStyle>
          <a:p>
            <a:pPr>
              <a:defRPr/>
            </a:pPr>
            <a:endParaRPr lang="zh-CN"/>
          </a:p>
        </p:txBody>
      </p:sp>
      <p:sp>
        <p:nvSpPr>
          <p:cNvPr id="6" name="灯片编号占位符 1029"/>
          <p:cNvSpPr>
            <a:spLocks noGrp="1"/>
          </p:cNvSpPr>
          <p:nvPr>
            <p:ph type="sldNum" sz="quarter" idx="12"/>
          </p:nvPr>
        </p:nvSpPr>
        <p:spPr/>
        <p:txBody>
          <a:bodyPr/>
          <a:lstStyle>
            <a:lvl1pPr>
              <a:defRPr/>
            </a:lvl1pPr>
          </a:lstStyle>
          <a:p>
            <a:pPr>
              <a:defRPr/>
            </a:pPr>
            <a:fld id="{D6C74B35-9B38-42A5-B4AA-A558EC51124B}" type="slidenum">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27"/>
          <p:cNvSpPr>
            <a:spLocks noGrp="1"/>
          </p:cNvSpPr>
          <p:nvPr>
            <p:ph type="dt" sz="half" idx="10"/>
          </p:nvPr>
        </p:nvSpPr>
        <p:spPr/>
        <p:txBody>
          <a:bodyPr/>
          <a:lstStyle>
            <a:lvl1pPr>
              <a:defRPr/>
            </a:lvl1pPr>
          </a:lstStyle>
          <a:p>
            <a:pPr>
              <a:defRPr/>
            </a:pPr>
            <a:endParaRPr lang="zh-CN" altLang="en-US"/>
          </a:p>
        </p:txBody>
      </p:sp>
      <p:sp>
        <p:nvSpPr>
          <p:cNvPr id="5" name="页脚占位符 1028"/>
          <p:cNvSpPr>
            <a:spLocks noGrp="1"/>
          </p:cNvSpPr>
          <p:nvPr>
            <p:ph type="ftr" sz="quarter" idx="11"/>
          </p:nvPr>
        </p:nvSpPr>
        <p:spPr/>
        <p:txBody>
          <a:bodyPr/>
          <a:lstStyle>
            <a:lvl1pPr>
              <a:defRPr/>
            </a:lvl1pPr>
          </a:lstStyle>
          <a:p>
            <a:pPr>
              <a:defRPr/>
            </a:pPr>
            <a:endParaRPr lang="zh-CN"/>
          </a:p>
        </p:txBody>
      </p:sp>
      <p:sp>
        <p:nvSpPr>
          <p:cNvPr id="6" name="灯片编号占位符 1029"/>
          <p:cNvSpPr>
            <a:spLocks noGrp="1"/>
          </p:cNvSpPr>
          <p:nvPr>
            <p:ph type="sldNum" sz="quarter" idx="12"/>
          </p:nvPr>
        </p:nvSpPr>
        <p:spPr/>
        <p:txBody>
          <a:bodyPr/>
          <a:lstStyle>
            <a:lvl1pPr>
              <a:defRPr/>
            </a:lvl1pPr>
          </a:lstStyle>
          <a:p>
            <a:pPr>
              <a:defRPr/>
            </a:pPr>
            <a:fld id="{3ED7EDA5-7006-44A9-8683-BF62FE1B75F5}" type="slidenum">
              <a:rPr lang="zh-CN" altLang="en-US"/>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4"/>
            <a:ext cx="7886700" cy="2852737"/>
          </a:xfrm>
        </p:spPr>
        <p:txBody>
          <a:bodyPr anchor="b"/>
          <a:lstStyle>
            <a:lvl1pPr>
              <a:defRPr sz="3375"/>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9"/>
            <a:ext cx="7886700" cy="150018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noProof="1"/>
              <a:t>编辑母版文本样式</a:t>
            </a:r>
            <a:endParaRPr lang="zh-CN" altLang="en-US" noProof="1"/>
          </a:p>
        </p:txBody>
      </p:sp>
      <p:sp>
        <p:nvSpPr>
          <p:cNvPr id="4" name="日期占位符 1027"/>
          <p:cNvSpPr>
            <a:spLocks noGrp="1"/>
          </p:cNvSpPr>
          <p:nvPr>
            <p:ph type="dt" sz="half" idx="10"/>
          </p:nvPr>
        </p:nvSpPr>
        <p:spPr/>
        <p:txBody>
          <a:bodyPr/>
          <a:lstStyle>
            <a:lvl1pPr>
              <a:defRPr/>
            </a:lvl1pPr>
          </a:lstStyle>
          <a:p>
            <a:pPr>
              <a:defRPr/>
            </a:pPr>
            <a:endParaRPr lang="zh-CN" altLang="en-US"/>
          </a:p>
        </p:txBody>
      </p:sp>
      <p:sp>
        <p:nvSpPr>
          <p:cNvPr id="5" name="页脚占位符 1028"/>
          <p:cNvSpPr>
            <a:spLocks noGrp="1"/>
          </p:cNvSpPr>
          <p:nvPr>
            <p:ph type="ftr" sz="quarter" idx="11"/>
          </p:nvPr>
        </p:nvSpPr>
        <p:spPr/>
        <p:txBody>
          <a:bodyPr/>
          <a:lstStyle>
            <a:lvl1pPr>
              <a:defRPr/>
            </a:lvl1pPr>
          </a:lstStyle>
          <a:p>
            <a:pPr>
              <a:defRPr/>
            </a:pPr>
            <a:endParaRPr lang="zh-CN"/>
          </a:p>
        </p:txBody>
      </p:sp>
      <p:sp>
        <p:nvSpPr>
          <p:cNvPr id="6" name="灯片编号占位符 1029"/>
          <p:cNvSpPr>
            <a:spLocks noGrp="1"/>
          </p:cNvSpPr>
          <p:nvPr>
            <p:ph type="sldNum" sz="quarter" idx="12"/>
          </p:nvPr>
        </p:nvSpPr>
        <p:spPr/>
        <p:txBody>
          <a:bodyPr/>
          <a:lstStyle>
            <a:lvl1pPr>
              <a:defRPr/>
            </a:lvl1pPr>
          </a:lstStyle>
          <a:p>
            <a:pPr>
              <a:defRPr/>
            </a:pPr>
            <a:fld id="{75B9E051-302E-4149-A4CC-467FB7E66D8B}" type="slidenum">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457200" y="1600206"/>
            <a:ext cx="4032504" cy="4525963"/>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54296" y="1600206"/>
            <a:ext cx="4032504" cy="4525963"/>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1027"/>
          <p:cNvSpPr>
            <a:spLocks noGrp="1"/>
          </p:cNvSpPr>
          <p:nvPr>
            <p:ph type="dt" sz="half" idx="10"/>
          </p:nvPr>
        </p:nvSpPr>
        <p:spPr/>
        <p:txBody>
          <a:bodyPr/>
          <a:lstStyle>
            <a:lvl1pPr>
              <a:defRPr/>
            </a:lvl1pPr>
          </a:lstStyle>
          <a:p>
            <a:pPr>
              <a:defRPr/>
            </a:pPr>
            <a:endParaRPr lang="zh-CN" altLang="en-US"/>
          </a:p>
        </p:txBody>
      </p:sp>
      <p:sp>
        <p:nvSpPr>
          <p:cNvPr id="6" name="页脚占位符 1028"/>
          <p:cNvSpPr>
            <a:spLocks noGrp="1"/>
          </p:cNvSpPr>
          <p:nvPr>
            <p:ph type="ftr" sz="quarter" idx="11"/>
          </p:nvPr>
        </p:nvSpPr>
        <p:spPr/>
        <p:txBody>
          <a:bodyPr/>
          <a:lstStyle>
            <a:lvl1pPr>
              <a:defRPr/>
            </a:lvl1pPr>
          </a:lstStyle>
          <a:p>
            <a:pPr>
              <a:defRPr/>
            </a:pPr>
            <a:endParaRPr lang="zh-CN"/>
          </a:p>
        </p:txBody>
      </p:sp>
      <p:sp>
        <p:nvSpPr>
          <p:cNvPr id="7" name="灯片编号占位符 1029"/>
          <p:cNvSpPr>
            <a:spLocks noGrp="1"/>
          </p:cNvSpPr>
          <p:nvPr>
            <p:ph type="sldNum" sz="quarter" idx="12"/>
          </p:nvPr>
        </p:nvSpPr>
        <p:spPr/>
        <p:txBody>
          <a:bodyPr/>
          <a:lstStyle>
            <a:lvl1pPr>
              <a:defRPr/>
            </a:lvl1pPr>
          </a:lstStyle>
          <a:p>
            <a:pPr>
              <a:defRPr/>
            </a:pPr>
            <a:fld id="{4EC37638-DBB0-4008-AD10-0B87ED8FF6C1}" type="slidenum">
              <a:rPr lang="zh-CN" altLang="en-US"/>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9"/>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4" y="1778438"/>
            <a:ext cx="3655181" cy="82391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7400" indent="0">
              <a:buNone/>
              <a:defRPr sz="1015"/>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4"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7400" indent="0">
              <a:buNone/>
              <a:defRPr sz="1015"/>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1027"/>
          <p:cNvSpPr>
            <a:spLocks noGrp="1"/>
          </p:cNvSpPr>
          <p:nvPr>
            <p:ph type="dt" sz="half" idx="10"/>
          </p:nvPr>
        </p:nvSpPr>
        <p:spPr/>
        <p:txBody>
          <a:bodyPr/>
          <a:lstStyle>
            <a:lvl1pPr>
              <a:defRPr/>
            </a:lvl1pPr>
          </a:lstStyle>
          <a:p>
            <a:pPr>
              <a:defRPr/>
            </a:pPr>
            <a:endParaRPr lang="zh-CN" altLang="en-US"/>
          </a:p>
        </p:txBody>
      </p:sp>
      <p:sp>
        <p:nvSpPr>
          <p:cNvPr id="8" name="页脚占位符 1028"/>
          <p:cNvSpPr>
            <a:spLocks noGrp="1"/>
          </p:cNvSpPr>
          <p:nvPr>
            <p:ph type="ftr" sz="quarter" idx="11"/>
          </p:nvPr>
        </p:nvSpPr>
        <p:spPr/>
        <p:txBody>
          <a:bodyPr/>
          <a:lstStyle>
            <a:lvl1pPr>
              <a:defRPr/>
            </a:lvl1pPr>
          </a:lstStyle>
          <a:p>
            <a:pPr>
              <a:defRPr/>
            </a:pPr>
            <a:endParaRPr lang="zh-CN"/>
          </a:p>
        </p:txBody>
      </p:sp>
      <p:sp>
        <p:nvSpPr>
          <p:cNvPr id="9" name="灯片编号占位符 1029"/>
          <p:cNvSpPr>
            <a:spLocks noGrp="1"/>
          </p:cNvSpPr>
          <p:nvPr>
            <p:ph type="sldNum" sz="quarter" idx="12"/>
          </p:nvPr>
        </p:nvSpPr>
        <p:spPr/>
        <p:txBody>
          <a:bodyPr/>
          <a:lstStyle>
            <a:lvl1pPr>
              <a:defRPr/>
            </a:lvl1pPr>
          </a:lstStyle>
          <a:p>
            <a:pPr>
              <a:defRPr/>
            </a:pPr>
            <a:fld id="{00740E90-4513-49F2-9A1D-5D26C8C8CD87}" type="slidenum">
              <a:rPr lang="zh-CN" altLang="en-US"/>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1027"/>
          <p:cNvSpPr>
            <a:spLocks noGrp="1"/>
          </p:cNvSpPr>
          <p:nvPr>
            <p:ph type="dt" sz="half" idx="10"/>
          </p:nvPr>
        </p:nvSpPr>
        <p:spPr/>
        <p:txBody>
          <a:bodyPr/>
          <a:lstStyle>
            <a:lvl1pPr>
              <a:defRPr/>
            </a:lvl1pPr>
          </a:lstStyle>
          <a:p>
            <a:pPr>
              <a:defRPr/>
            </a:pPr>
            <a:endParaRPr lang="zh-CN" altLang="en-US"/>
          </a:p>
        </p:txBody>
      </p:sp>
      <p:sp>
        <p:nvSpPr>
          <p:cNvPr id="4" name="页脚占位符 1028"/>
          <p:cNvSpPr>
            <a:spLocks noGrp="1"/>
          </p:cNvSpPr>
          <p:nvPr>
            <p:ph type="ftr" sz="quarter" idx="11"/>
          </p:nvPr>
        </p:nvSpPr>
        <p:spPr/>
        <p:txBody>
          <a:bodyPr/>
          <a:lstStyle>
            <a:lvl1pPr>
              <a:defRPr/>
            </a:lvl1pPr>
          </a:lstStyle>
          <a:p>
            <a:pPr>
              <a:defRPr/>
            </a:pPr>
            <a:endParaRPr lang="zh-CN"/>
          </a:p>
        </p:txBody>
      </p:sp>
      <p:sp>
        <p:nvSpPr>
          <p:cNvPr id="5" name="灯片编号占位符 1029"/>
          <p:cNvSpPr>
            <a:spLocks noGrp="1"/>
          </p:cNvSpPr>
          <p:nvPr>
            <p:ph type="sldNum" sz="quarter" idx="12"/>
          </p:nvPr>
        </p:nvSpPr>
        <p:spPr/>
        <p:txBody>
          <a:bodyPr/>
          <a:lstStyle>
            <a:lvl1pPr>
              <a:defRPr/>
            </a:lvl1pPr>
          </a:lstStyle>
          <a:p>
            <a:pPr>
              <a:defRPr/>
            </a:pPr>
            <a:fld id="{63C9C05F-9BC1-44D2-907B-45113D53D66B}" type="slidenum">
              <a:rPr lang="zh-CN" altLang="en-US"/>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27"/>
          <p:cNvSpPr>
            <a:spLocks noGrp="1"/>
          </p:cNvSpPr>
          <p:nvPr>
            <p:ph type="dt" sz="half" idx="10"/>
          </p:nvPr>
        </p:nvSpPr>
        <p:spPr/>
        <p:txBody>
          <a:bodyPr/>
          <a:lstStyle>
            <a:lvl1pPr>
              <a:defRPr/>
            </a:lvl1pPr>
          </a:lstStyle>
          <a:p>
            <a:pPr>
              <a:defRPr/>
            </a:pPr>
            <a:endParaRPr lang="zh-CN" altLang="en-US"/>
          </a:p>
        </p:txBody>
      </p:sp>
      <p:sp>
        <p:nvSpPr>
          <p:cNvPr id="3" name="页脚占位符 1028"/>
          <p:cNvSpPr>
            <a:spLocks noGrp="1"/>
          </p:cNvSpPr>
          <p:nvPr>
            <p:ph type="ftr" sz="quarter" idx="11"/>
          </p:nvPr>
        </p:nvSpPr>
        <p:spPr/>
        <p:txBody>
          <a:bodyPr/>
          <a:lstStyle>
            <a:lvl1pPr>
              <a:defRPr/>
            </a:lvl1pPr>
          </a:lstStyle>
          <a:p>
            <a:pPr>
              <a:defRPr/>
            </a:pPr>
            <a:endParaRPr lang="zh-CN"/>
          </a:p>
        </p:txBody>
      </p:sp>
      <p:sp>
        <p:nvSpPr>
          <p:cNvPr id="4" name="灯片编号占位符 1029"/>
          <p:cNvSpPr>
            <a:spLocks noGrp="1"/>
          </p:cNvSpPr>
          <p:nvPr>
            <p:ph type="sldNum" sz="quarter" idx="12"/>
          </p:nvPr>
        </p:nvSpPr>
        <p:spPr/>
        <p:txBody>
          <a:bodyPr/>
          <a:lstStyle>
            <a:lvl1pPr>
              <a:defRPr/>
            </a:lvl1pPr>
          </a:lstStyle>
          <a:p>
            <a:pPr>
              <a:defRPr/>
            </a:pPr>
            <a:fld id="{1DF6C925-DD83-4E21-AFF8-B78AEA0C2E75}" type="slidenum">
              <a:rPr lang="zh-CN" altLang="en-US"/>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1800"/>
            </a:lvl1p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a:xfrm>
            <a:off x="3887391" y="987431"/>
            <a:ext cx="4629150" cy="487362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hasCustomPrompt="1"/>
          </p:nvPr>
        </p:nvSpPr>
        <p:spPr>
          <a:xfrm>
            <a:off x="629841" y="2057400"/>
            <a:ext cx="2949178" cy="3811588"/>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noProof="1"/>
              <a:t>编辑母版文本样式</a:t>
            </a:r>
            <a:endParaRPr lang="zh-CN" altLang="en-US" noProof="1"/>
          </a:p>
        </p:txBody>
      </p:sp>
      <p:sp>
        <p:nvSpPr>
          <p:cNvPr id="5" name="日期占位符 1027"/>
          <p:cNvSpPr>
            <a:spLocks noGrp="1"/>
          </p:cNvSpPr>
          <p:nvPr>
            <p:ph type="dt" sz="half" idx="10"/>
          </p:nvPr>
        </p:nvSpPr>
        <p:spPr/>
        <p:txBody>
          <a:bodyPr/>
          <a:lstStyle>
            <a:lvl1pPr>
              <a:defRPr/>
            </a:lvl1pPr>
          </a:lstStyle>
          <a:p>
            <a:pPr>
              <a:defRPr/>
            </a:pPr>
            <a:endParaRPr lang="zh-CN" altLang="en-US"/>
          </a:p>
        </p:txBody>
      </p:sp>
      <p:sp>
        <p:nvSpPr>
          <p:cNvPr id="6" name="页脚占位符 1028"/>
          <p:cNvSpPr>
            <a:spLocks noGrp="1"/>
          </p:cNvSpPr>
          <p:nvPr>
            <p:ph type="ftr" sz="quarter" idx="11"/>
          </p:nvPr>
        </p:nvSpPr>
        <p:spPr/>
        <p:txBody>
          <a:bodyPr/>
          <a:lstStyle>
            <a:lvl1pPr>
              <a:defRPr/>
            </a:lvl1pPr>
          </a:lstStyle>
          <a:p>
            <a:pPr>
              <a:defRPr/>
            </a:pPr>
            <a:endParaRPr lang="zh-CN"/>
          </a:p>
        </p:txBody>
      </p:sp>
      <p:sp>
        <p:nvSpPr>
          <p:cNvPr id="7" name="灯片编号占位符 1029"/>
          <p:cNvSpPr>
            <a:spLocks noGrp="1"/>
          </p:cNvSpPr>
          <p:nvPr>
            <p:ph type="sldNum" sz="quarter" idx="12"/>
          </p:nvPr>
        </p:nvSpPr>
        <p:spPr/>
        <p:txBody>
          <a:bodyPr/>
          <a:lstStyle>
            <a:lvl1pPr>
              <a:defRPr/>
            </a:lvl1pPr>
          </a:lstStyle>
          <a:p>
            <a:pPr>
              <a:defRPr/>
            </a:pPr>
            <a:fld id="{84323767-FCA5-4C1D-967B-FFFCBD42EBE7}" type="slidenum">
              <a:rPr lang="zh-CN" altLang="en-US"/>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18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pPr lvl="0"/>
            <a:r>
              <a:rPr lang="zh-CN" altLang="en-US" noProof="1"/>
              <a:t>单击图标添加图片</a:t>
            </a:r>
            <a:endParaRPr lang="zh-CN" altLang="en-US" noProof="1"/>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7400" indent="0">
              <a:buNone/>
              <a:defRPr sz="790"/>
            </a:lvl9pPr>
          </a:lstStyle>
          <a:p>
            <a:pPr lvl="0"/>
            <a:r>
              <a:rPr lang="zh-CN" altLang="en-US" noProof="1"/>
              <a:t>编辑母版文本样式</a:t>
            </a:r>
            <a:endParaRPr lang="zh-CN" altLang="en-US" noProof="1"/>
          </a:p>
        </p:txBody>
      </p:sp>
      <p:sp>
        <p:nvSpPr>
          <p:cNvPr id="5" name="日期占位符 1027"/>
          <p:cNvSpPr>
            <a:spLocks noGrp="1"/>
          </p:cNvSpPr>
          <p:nvPr>
            <p:ph type="dt" sz="half" idx="10"/>
          </p:nvPr>
        </p:nvSpPr>
        <p:spPr/>
        <p:txBody>
          <a:bodyPr/>
          <a:lstStyle>
            <a:lvl1pPr>
              <a:defRPr/>
            </a:lvl1pPr>
          </a:lstStyle>
          <a:p>
            <a:pPr>
              <a:defRPr/>
            </a:pPr>
            <a:endParaRPr lang="zh-CN" altLang="en-US"/>
          </a:p>
        </p:txBody>
      </p:sp>
      <p:sp>
        <p:nvSpPr>
          <p:cNvPr id="6" name="页脚占位符 1028"/>
          <p:cNvSpPr>
            <a:spLocks noGrp="1"/>
          </p:cNvSpPr>
          <p:nvPr>
            <p:ph type="ftr" sz="quarter" idx="11"/>
          </p:nvPr>
        </p:nvSpPr>
        <p:spPr/>
        <p:txBody>
          <a:bodyPr/>
          <a:lstStyle>
            <a:lvl1pPr>
              <a:defRPr/>
            </a:lvl1pPr>
          </a:lstStyle>
          <a:p>
            <a:pPr>
              <a:defRPr/>
            </a:pPr>
            <a:endParaRPr lang="zh-CN"/>
          </a:p>
        </p:txBody>
      </p:sp>
      <p:sp>
        <p:nvSpPr>
          <p:cNvPr id="7" name="灯片编号占位符 1029"/>
          <p:cNvSpPr>
            <a:spLocks noGrp="1"/>
          </p:cNvSpPr>
          <p:nvPr>
            <p:ph type="sldNum" sz="quarter" idx="12"/>
          </p:nvPr>
        </p:nvSpPr>
        <p:spPr/>
        <p:txBody>
          <a:bodyPr/>
          <a:lstStyle>
            <a:lvl1pPr>
              <a:defRPr/>
            </a:lvl1pPr>
          </a:lstStyle>
          <a:p>
            <a:pPr>
              <a:defRPr/>
            </a:pPr>
            <a:fld id="{B1AB671C-F78C-4D55-B48D-65032CCCB4B6}" type="slidenum">
              <a:rPr lang="zh-CN" altLang="en-US"/>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27"/>
          <p:cNvSpPr>
            <a:spLocks noGrp="1"/>
          </p:cNvSpPr>
          <p:nvPr>
            <p:ph type="dt" sz="half" idx="10"/>
          </p:nvPr>
        </p:nvSpPr>
        <p:spPr/>
        <p:txBody>
          <a:bodyPr/>
          <a:lstStyle>
            <a:lvl1pPr>
              <a:defRPr/>
            </a:lvl1pPr>
          </a:lstStyle>
          <a:p>
            <a:pPr>
              <a:defRPr/>
            </a:pPr>
            <a:endParaRPr lang="zh-CN" altLang="en-US"/>
          </a:p>
        </p:txBody>
      </p:sp>
      <p:sp>
        <p:nvSpPr>
          <p:cNvPr id="5" name="页脚占位符 1028"/>
          <p:cNvSpPr>
            <a:spLocks noGrp="1"/>
          </p:cNvSpPr>
          <p:nvPr>
            <p:ph type="ftr" sz="quarter" idx="11"/>
          </p:nvPr>
        </p:nvSpPr>
        <p:spPr/>
        <p:txBody>
          <a:bodyPr/>
          <a:lstStyle>
            <a:lvl1pPr>
              <a:defRPr/>
            </a:lvl1pPr>
          </a:lstStyle>
          <a:p>
            <a:pPr>
              <a:defRPr/>
            </a:pPr>
            <a:endParaRPr lang="zh-CN"/>
          </a:p>
        </p:txBody>
      </p:sp>
      <p:sp>
        <p:nvSpPr>
          <p:cNvPr id="6" name="灯片编号占位符 1029"/>
          <p:cNvSpPr>
            <a:spLocks noGrp="1"/>
          </p:cNvSpPr>
          <p:nvPr>
            <p:ph type="sldNum" sz="quarter" idx="12"/>
          </p:nvPr>
        </p:nvSpPr>
        <p:spPr/>
        <p:txBody>
          <a:bodyPr/>
          <a:lstStyle>
            <a:lvl1pPr>
              <a:defRPr/>
            </a:lvl1pPr>
          </a:lstStyle>
          <a:p>
            <a:pPr>
              <a:defRPr/>
            </a:pPr>
            <a:fld id="{8DF44FC1-87E0-479C-8781-161C84489E91}" type="slidenum">
              <a:rPr lang="zh-CN" altLang="en-US"/>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4"/>
            <a:ext cx="2057400" cy="585152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457200" y="274644"/>
            <a:ext cx="6052930" cy="5851525"/>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27"/>
          <p:cNvSpPr>
            <a:spLocks noGrp="1"/>
          </p:cNvSpPr>
          <p:nvPr>
            <p:ph type="dt" sz="half" idx="10"/>
          </p:nvPr>
        </p:nvSpPr>
        <p:spPr/>
        <p:txBody>
          <a:bodyPr/>
          <a:lstStyle>
            <a:lvl1pPr>
              <a:defRPr/>
            </a:lvl1pPr>
          </a:lstStyle>
          <a:p>
            <a:pPr>
              <a:defRPr/>
            </a:pPr>
            <a:endParaRPr lang="zh-CN" altLang="en-US"/>
          </a:p>
        </p:txBody>
      </p:sp>
      <p:sp>
        <p:nvSpPr>
          <p:cNvPr id="5" name="页脚占位符 1028"/>
          <p:cNvSpPr>
            <a:spLocks noGrp="1"/>
          </p:cNvSpPr>
          <p:nvPr>
            <p:ph type="ftr" sz="quarter" idx="11"/>
          </p:nvPr>
        </p:nvSpPr>
        <p:spPr/>
        <p:txBody>
          <a:bodyPr/>
          <a:lstStyle>
            <a:lvl1pPr>
              <a:defRPr/>
            </a:lvl1pPr>
          </a:lstStyle>
          <a:p>
            <a:pPr>
              <a:defRPr/>
            </a:pPr>
            <a:endParaRPr lang="zh-CN"/>
          </a:p>
        </p:txBody>
      </p:sp>
      <p:sp>
        <p:nvSpPr>
          <p:cNvPr id="6" name="灯片编号占位符 1029"/>
          <p:cNvSpPr>
            <a:spLocks noGrp="1"/>
          </p:cNvSpPr>
          <p:nvPr>
            <p:ph type="sldNum" sz="quarter" idx="12"/>
          </p:nvPr>
        </p:nvSpPr>
        <p:spPr/>
        <p:txBody>
          <a:bodyPr/>
          <a:lstStyle>
            <a:lvl1pPr>
              <a:defRPr/>
            </a:lvl1pPr>
          </a:lstStyle>
          <a:p>
            <a:pPr>
              <a:defRPr/>
            </a:pPr>
            <a:fld id="{3C3F20A2-25FC-42F4-8BEF-8727FD4DA5A6}"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 1025"/>
          <p:cNvSpPr>
            <a:spLocks noGrp="1" noChangeArrowheads="1"/>
          </p:cNvSpPr>
          <p:nvPr>
            <p:ph type="title" idx="4294967295"/>
          </p:nvPr>
        </p:nvSpPr>
        <p:spPr bwMode="auto">
          <a:xfrm>
            <a:off x="914400" y="24419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1026"/>
          <p:cNvSpPr>
            <a:spLocks noGrp="1" noChangeArrowheads="1"/>
          </p:cNvSpPr>
          <p:nvPr>
            <p:ph type="body" idx="9"/>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miter/>
          </a:ln>
        </p:spPr>
        <p:txBody>
          <a:bodyPr/>
          <a:lstStyle>
            <a:lvl1pPr eaLnBrk="1" hangingPunct="1">
              <a:buFont typeface="Arial" panose="020B0604020202020204" pitchFamily="34" charset="0"/>
              <a:buNone/>
              <a:defRPr sz="1050" noProof="1"/>
            </a:lvl1pPr>
          </a:lstStyle>
          <a:p>
            <a:fld id="{1F60434F-5CA3-411A-B203-9669A41D231A}" type="datetimeFigureOut">
              <a:rPr lang="zh-CN" altLang="en-US" smtClean="0"/>
            </a:fld>
            <a:endParaRPr lang="zh-CN" altLang="en-US"/>
          </a:p>
        </p:txBody>
      </p:sp>
      <p:sp>
        <p:nvSpPr>
          <p:cNvPr id="1029" name="页脚占位符 1028"/>
          <p:cNvSpPr>
            <a:spLocks noGrp="1"/>
          </p:cNvSpPr>
          <p:nvPr>
            <p:ph type="ftr" sz="quarter" idx="3"/>
          </p:nvPr>
        </p:nvSpPr>
        <p:spPr>
          <a:xfrm>
            <a:off x="3124200" y="6245225"/>
            <a:ext cx="2895600" cy="476250"/>
          </a:xfrm>
          <a:prstGeom prst="rect">
            <a:avLst/>
          </a:prstGeom>
          <a:noFill/>
          <a:ln w="9525">
            <a:noFill/>
            <a:miter/>
          </a:ln>
        </p:spPr>
        <p:txBody>
          <a:bodyPr/>
          <a:lstStyle>
            <a:lvl1pPr algn="ctr" eaLnBrk="1" hangingPunct="1">
              <a:buFont typeface="Arial" panose="020B0604020202020204" pitchFamily="34" charset="0"/>
              <a:buNone/>
              <a:defRPr sz="1050" noProof="1"/>
            </a:lvl1pPr>
          </a:lstStyle>
          <a:p>
            <a:endParaRPr lang="zh-CN" altLang="en-US"/>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miter/>
          </a:ln>
        </p:spPr>
        <p:txBody>
          <a:bodyPr vert="horz" wrap="square" lIns="91440" tIns="45720" rIns="91440" bIns="45720" numCol="1" anchor="t" anchorCtr="0" compatLnSpc="1"/>
          <a:lstStyle>
            <a:lvl1pPr algn="r" eaLnBrk="1" hangingPunct="1">
              <a:buFont typeface="Arial" panose="020B0604020202020204" pitchFamily="34" charset="0"/>
              <a:buNone/>
              <a:defRPr sz="1050"/>
            </a:lvl1pPr>
          </a:lstStyle>
          <a:p>
            <a:fld id="{ECB0DBEA-6F4A-4FCA-94FE-B8AF1BFC44A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p:titleStyle>
    <p:body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530" lvl="1" indent="-214630" algn="l" rtl="0" eaLnBrk="1" fontAlgn="base" hangingPunct="1">
        <a:spcBef>
          <a:spcPct val="20000"/>
        </a:spcBef>
        <a:spcAft>
          <a:spcPct val="0"/>
        </a:spcAft>
        <a:buChar char="–"/>
        <a:defRPr sz="2100" kern="1200">
          <a:solidFill>
            <a:schemeClr val="tx1"/>
          </a:solidFill>
          <a:latin typeface="+mn-lt"/>
          <a:ea typeface="+mn-ea"/>
          <a:cs typeface="+mn-cs"/>
        </a:defRPr>
      </a:lvl2pPr>
      <a:lvl3pPr marL="857250" lvl="2"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lvl="3"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lvl="4"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lvl="5"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6pPr>
      <a:lvl7pPr marL="2228850" lvl="6"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7pPr>
      <a:lvl8pPr marL="2571750" lvl="7"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8pPr>
      <a:lvl9pPr marL="2914650" lvl="8"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6pPr>
      <a:lvl7pPr marL="2057400" lvl="6"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7pPr>
      <a:lvl8pPr marL="2400300" lvl="7"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8pPr>
      <a:lvl9pPr marL="2743200" lvl="8"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标题 1025"/>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051" name="文本占位符 1026"/>
          <p:cNvSpPr>
            <a:spLocks noGrp="1" noChangeArrowheads="1"/>
          </p:cNvSpPr>
          <p:nvPr>
            <p:ph type="body" idx="9"/>
          </p:nvPr>
        </p:nvSpPr>
        <p:spPr bwMode="auto">
          <a:xfrm>
            <a:off x="457200" y="1600204"/>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日期占位符 1027"/>
          <p:cNvSpPr>
            <a:spLocks noGrp="1"/>
          </p:cNvSpPr>
          <p:nvPr>
            <p:ph type="dt" sz="half" idx="2"/>
          </p:nvPr>
        </p:nvSpPr>
        <p:spPr>
          <a:xfrm>
            <a:off x="457200" y="6245225"/>
            <a:ext cx="2133600" cy="476250"/>
          </a:xfrm>
          <a:prstGeom prst="rect">
            <a:avLst/>
          </a:prstGeom>
          <a:noFill/>
          <a:ln w="9525">
            <a:noFill/>
            <a:miter/>
          </a:ln>
        </p:spPr>
        <p:txBody>
          <a:bodyPr/>
          <a:lstStyle>
            <a:lvl1pPr eaLnBrk="1" hangingPunct="1">
              <a:buFont typeface="Arial" panose="020B0604020202020204" pitchFamily="34" charset="0"/>
              <a:buNone/>
              <a:defRPr sz="1050" noProof="1"/>
            </a:lvl1pPr>
          </a:lstStyle>
          <a:p>
            <a:pPr>
              <a:defRPr/>
            </a:pPr>
            <a:endParaRPr lang="zh-CN" altLang="en-US"/>
          </a:p>
        </p:txBody>
      </p:sp>
      <p:sp>
        <p:nvSpPr>
          <p:cNvPr id="1029" name="页脚占位符 1028"/>
          <p:cNvSpPr>
            <a:spLocks noGrp="1"/>
          </p:cNvSpPr>
          <p:nvPr>
            <p:ph type="ftr" sz="quarter" idx="3"/>
          </p:nvPr>
        </p:nvSpPr>
        <p:spPr>
          <a:xfrm>
            <a:off x="3124200" y="6245225"/>
            <a:ext cx="2895600" cy="476250"/>
          </a:xfrm>
          <a:prstGeom prst="rect">
            <a:avLst/>
          </a:prstGeom>
          <a:noFill/>
          <a:ln w="9525">
            <a:noFill/>
            <a:miter/>
          </a:ln>
        </p:spPr>
        <p:txBody>
          <a:bodyPr/>
          <a:lstStyle>
            <a:lvl1pPr algn="ctr" eaLnBrk="1" hangingPunct="1">
              <a:buFont typeface="Arial" panose="020B0604020202020204" pitchFamily="34" charset="0"/>
              <a:buNone/>
              <a:defRPr sz="1050" noProof="1"/>
            </a:lvl1pPr>
          </a:lstStyle>
          <a:p>
            <a:pPr>
              <a:defRPr/>
            </a:pPr>
            <a:endParaRPr lang="zh-CN"/>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miter/>
          </a:ln>
        </p:spPr>
        <p:txBody>
          <a:bodyPr vert="horz" wrap="square" lIns="91440" tIns="45720" rIns="91440" bIns="45720" numCol="1" anchor="t" anchorCtr="0" compatLnSpc="1"/>
          <a:lstStyle>
            <a:lvl1pPr algn="r" eaLnBrk="1" hangingPunct="1">
              <a:buFont typeface="Arial" panose="020B0604020202020204" pitchFamily="34" charset="0"/>
              <a:buNone/>
              <a:defRPr sz="1050"/>
            </a:lvl1pPr>
          </a:lstStyle>
          <a:p>
            <a:pPr>
              <a:defRPr/>
            </a:pPr>
            <a:fld id="{DC7529A9-0495-43B5-B358-A1161AC9B9AB}"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p:titleStyle>
    <p:bodyStyle>
      <a:lvl1pPr marL="257175" indent="-257175" algn="l" rtl="0" eaLnBrk="1" fontAlgn="base" hangingPunct="1">
        <a:spcBef>
          <a:spcPct val="20000"/>
        </a:spcBef>
        <a:spcAft>
          <a:spcPct val="0"/>
        </a:spcAft>
        <a:buChar char="•"/>
        <a:defRPr sz="2400" kern="1200">
          <a:solidFill>
            <a:schemeClr val="tx1"/>
          </a:solidFill>
          <a:latin typeface="+mn-lt"/>
          <a:ea typeface="+mn-ea"/>
          <a:cs typeface="+mn-cs"/>
        </a:defRPr>
      </a:lvl1pPr>
      <a:lvl2pPr marL="557530" lvl="1" indent="-214630" algn="l" rtl="0" eaLnBrk="1" fontAlgn="base" hangingPunct="1">
        <a:spcBef>
          <a:spcPct val="20000"/>
        </a:spcBef>
        <a:spcAft>
          <a:spcPct val="0"/>
        </a:spcAft>
        <a:buChar char="–"/>
        <a:defRPr sz="2100" kern="1200">
          <a:solidFill>
            <a:schemeClr val="tx1"/>
          </a:solidFill>
          <a:latin typeface="+mn-lt"/>
          <a:ea typeface="+mn-ea"/>
          <a:cs typeface="+mn-cs"/>
        </a:defRPr>
      </a:lvl2pPr>
      <a:lvl3pPr marL="857250" lvl="2" indent="-171450" algn="l" rtl="0" eaLnBrk="1" fontAlgn="base" hangingPunct="1">
        <a:spcBef>
          <a:spcPct val="20000"/>
        </a:spcBef>
        <a:spcAft>
          <a:spcPct val="0"/>
        </a:spcAft>
        <a:buChar char="•"/>
        <a:defRPr sz="1800" kern="1200">
          <a:solidFill>
            <a:schemeClr val="tx1"/>
          </a:solidFill>
          <a:latin typeface="+mn-lt"/>
          <a:ea typeface="+mn-ea"/>
          <a:cs typeface="+mn-cs"/>
        </a:defRPr>
      </a:lvl3pPr>
      <a:lvl4pPr marL="1200150" lvl="3" indent="-171450" algn="l" rtl="0" eaLnBrk="1" fontAlgn="base" hangingPunct="1">
        <a:spcBef>
          <a:spcPct val="20000"/>
        </a:spcBef>
        <a:spcAft>
          <a:spcPct val="0"/>
        </a:spcAft>
        <a:buChar char="–"/>
        <a:defRPr sz="1500" kern="1200">
          <a:solidFill>
            <a:schemeClr val="tx1"/>
          </a:solidFill>
          <a:latin typeface="+mn-lt"/>
          <a:ea typeface="+mn-ea"/>
          <a:cs typeface="+mn-cs"/>
        </a:defRPr>
      </a:lvl4pPr>
      <a:lvl5pPr marL="1543050" lvl="4" indent="-171450" algn="l" rtl="0" eaLnBrk="1" fontAlgn="base" hangingPunct="1">
        <a:spcBef>
          <a:spcPct val="20000"/>
        </a:spcBef>
        <a:spcAft>
          <a:spcPct val="0"/>
        </a:spcAft>
        <a:buChar char="»"/>
        <a:defRPr sz="1500" kern="1200">
          <a:solidFill>
            <a:schemeClr val="tx1"/>
          </a:solidFill>
          <a:latin typeface="+mn-lt"/>
          <a:ea typeface="+mn-ea"/>
          <a:cs typeface="+mn-cs"/>
        </a:defRPr>
      </a:lvl5pPr>
      <a:lvl6pPr marL="1885950" lvl="5"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6pPr>
      <a:lvl7pPr marL="2228850" lvl="6"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7pPr>
      <a:lvl8pPr marL="2571750" lvl="7"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8pPr>
      <a:lvl9pPr marL="2914650" lvl="8" indent="-171450" algn="l" defTabSz="685800" eaLnBrk="1" fontAlgn="base" latinLnBrk="0" hangingPunct="1">
        <a:lnSpc>
          <a:spcPct val="100000"/>
        </a:lnSpc>
        <a:spcBef>
          <a:spcPct val="20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1pPr>
      <a:lvl2pPr marL="342900" lvl="1"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2pPr>
      <a:lvl3pPr marL="685800" lvl="2"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3pPr>
      <a:lvl4pPr marL="1028700" lvl="3"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4pPr>
      <a:lvl5pPr marL="1371600" lvl="4"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5pPr>
      <a:lvl6pPr marL="1714500" lvl="5"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6pPr>
      <a:lvl7pPr marL="2057400" lvl="6"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7pPr>
      <a:lvl8pPr marL="2400300" lvl="7"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8pPr>
      <a:lvl9pPr marL="2743200" lvl="8" indent="0" algn="l" defTabSz="685800" eaLnBrk="1" fontAlgn="base" latinLnBrk="0" hangingPunct="1">
        <a:lnSpc>
          <a:spcPct val="100000"/>
        </a:lnSpc>
        <a:spcBef>
          <a:spcPct val="0"/>
        </a:spcBef>
        <a:spcAft>
          <a:spcPct val="0"/>
        </a:spcAft>
        <a:buNone/>
        <a:defRPr sz="135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5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image" Target="../media/image17.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8.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785088" y="2898322"/>
            <a:ext cx="6109776" cy="902726"/>
            <a:chOff x="3076803" y="2743200"/>
            <a:chExt cx="5264151" cy="685800"/>
          </a:xfrm>
        </p:grpSpPr>
        <p:grpSp>
          <p:nvGrpSpPr>
            <p:cNvPr id="3" name="Group 6"/>
            <p:cNvGrpSpPr/>
            <p:nvPr/>
          </p:nvGrpSpPr>
          <p:grpSpPr bwMode="auto">
            <a:xfrm>
              <a:off x="3413353" y="2828925"/>
              <a:ext cx="4927601" cy="531813"/>
              <a:chOff x="1341" y="1723"/>
              <a:chExt cx="3104" cy="335"/>
            </a:xfrm>
          </p:grpSpPr>
          <p:sp>
            <p:nvSpPr>
              <p:cNvPr id="7" name="AutoShape 7"/>
              <p:cNvSpPr>
                <a:spLocks noChangeArrowheads="1"/>
              </p:cNvSpPr>
              <p:nvPr/>
            </p:nvSpPr>
            <p:spPr bwMode="ltGray">
              <a:xfrm>
                <a:off x="1341" y="1723"/>
                <a:ext cx="3104" cy="335"/>
              </a:xfrm>
              <a:prstGeom prst="roundRect">
                <a:avLst>
                  <a:gd name="adj" fmla="val 16667"/>
                </a:avLst>
              </a:prstGeom>
              <a:solidFill>
                <a:srgbClr val="FCA304"/>
              </a:solidFill>
              <a:ln w="28575" algn="ctr">
                <a:solidFill>
                  <a:srgbClr val="FFFFFF"/>
                </a:solidFill>
                <a:round/>
              </a:ln>
              <a:effectLst>
                <a:outerShdw dist="71842" dir="2700000" algn="ctr" rotWithShape="0">
                  <a:srgbClr val="808080">
                    <a:alpha val="50000"/>
                  </a:srgbClr>
                </a:outerShdw>
              </a:effectLst>
            </p:spPr>
            <p:txBody>
              <a:bodyPr wrap="none" anchor="ctr"/>
              <a:lstStyle/>
              <a:p>
                <a:pPr defTabSz="685800">
                  <a:defRPr/>
                </a:pPr>
                <a:endParaRPr lang="zh-CN" altLang="en-US" sz="3000" kern="0">
                  <a:solidFill>
                    <a:sysClr val="windowText" lastClr="000000"/>
                  </a:solidFill>
                  <a:latin typeface="等线" panose="02010600030101010101" pitchFamily="2" charset="-122"/>
                  <a:ea typeface="等线" panose="02010600030101010101" pitchFamily="2" charset="-122"/>
                </a:endParaRPr>
              </a:p>
            </p:txBody>
          </p:sp>
          <p:sp>
            <p:nvSpPr>
              <p:cNvPr id="8" name="AutoShape 8"/>
              <p:cNvSpPr>
                <a:spLocks noChangeArrowheads="1"/>
              </p:cNvSpPr>
              <p:nvPr/>
            </p:nvSpPr>
            <p:spPr bwMode="ltGray">
              <a:xfrm>
                <a:off x="1366" y="1735"/>
                <a:ext cx="3068" cy="148"/>
              </a:xfrm>
              <a:prstGeom prst="roundRect">
                <a:avLst>
                  <a:gd name="adj" fmla="val 31505"/>
                </a:avLst>
              </a:prstGeom>
              <a:gradFill rotWithShape="1">
                <a:gsLst>
                  <a:gs pos="0">
                    <a:srgbClr val="FFFFFF">
                      <a:alpha val="70000"/>
                    </a:srgbClr>
                  </a:gs>
                  <a:gs pos="100000">
                    <a:srgbClr val="FCA304">
                      <a:alpha val="70000"/>
                    </a:srgbClr>
                  </a:gs>
                </a:gsLst>
                <a:lin ang="5400000" scaled="1"/>
              </a:gradFill>
              <a:ln w="9525" algn="ctr">
                <a:noFill/>
                <a:round/>
              </a:ln>
              <a:effectLst/>
            </p:spPr>
            <p:txBody>
              <a:bodyPr wrap="none" anchor="ctr"/>
              <a:lstStyle/>
              <a:p>
                <a:pPr defTabSz="685800">
                  <a:defRPr/>
                </a:pPr>
                <a:endParaRPr lang="zh-CN" altLang="en-US" sz="3000" kern="0">
                  <a:solidFill>
                    <a:sysClr val="windowText" lastClr="000000"/>
                  </a:solidFill>
                  <a:latin typeface="等线" panose="02010600030101010101" pitchFamily="2" charset="-122"/>
                  <a:ea typeface="等线" panose="02010600030101010101" pitchFamily="2" charset="-122"/>
                </a:endParaRPr>
              </a:p>
            </p:txBody>
          </p:sp>
        </p:grpSp>
        <p:sp>
          <p:nvSpPr>
            <p:cNvPr id="4" name="Text Box 9"/>
            <p:cNvSpPr txBox="1">
              <a:spLocks noChangeArrowheads="1"/>
            </p:cNvSpPr>
            <p:nvPr/>
          </p:nvSpPr>
          <p:spPr bwMode="black">
            <a:xfrm>
              <a:off x="3860525" y="2901505"/>
              <a:ext cx="4114800" cy="420178"/>
            </a:xfrm>
            <a:prstGeom prst="rect">
              <a:avLst/>
            </a:prstGeom>
            <a:noFill/>
            <a:ln w="9525" algn="ctr">
              <a:noFill/>
              <a:miter lim="800000"/>
            </a:ln>
            <a:effectLst>
              <a:outerShdw dist="17961" dir="2700000" algn="ctr" rotWithShape="0">
                <a:srgbClr val="000000">
                  <a:alpha val="50000"/>
                </a:srgbClr>
              </a:outerShdw>
            </a:effectLst>
          </p:spPr>
          <p:txBody>
            <a:bodyPr>
              <a:spAutoFit/>
            </a:bodyPr>
            <a:lstStyle/>
            <a:p>
              <a:pPr algn="ctr" defTabSz="685800" eaLnBrk="0" hangingPunct="0">
                <a:defRPr/>
              </a:pPr>
              <a:r>
                <a:rPr lang="en-US" altLang="zh-CN" sz="3000" b="1" kern="0" dirty="0">
                  <a:solidFill>
                    <a:srgbClr val="FF0000"/>
                  </a:solidFill>
                  <a:latin typeface="黑体" panose="02010609060101010101" pitchFamily="49" charset="-122"/>
                  <a:ea typeface="黑体" panose="02010609060101010101" pitchFamily="49" charset="-122"/>
                </a:rPr>
                <a:t>3.12 </a:t>
              </a:r>
              <a:r>
                <a:rPr lang="zh-CN" altLang="en-US" sz="3000" b="1" kern="0" dirty="0">
                  <a:solidFill>
                    <a:srgbClr val="FF0000"/>
                  </a:solidFill>
                  <a:latin typeface="黑体" panose="02010609060101010101" pitchFamily="49" charset="-122"/>
                  <a:ea typeface="黑体" panose="02010609060101010101" pitchFamily="49" charset="-122"/>
                </a:rPr>
                <a:t>栈的存储与处理</a:t>
              </a:r>
              <a:endParaRPr lang="en-US" altLang="zh-CN" sz="3000" b="1" kern="0" dirty="0">
                <a:solidFill>
                  <a:srgbClr val="FF0000"/>
                </a:solidFill>
                <a:latin typeface="黑体" panose="02010609060101010101" pitchFamily="49" charset="-122"/>
                <a:ea typeface="黑体" panose="02010609060101010101" pitchFamily="49" charset="-122"/>
              </a:endParaRPr>
            </a:p>
          </p:txBody>
        </p:sp>
        <p:sp>
          <p:nvSpPr>
            <p:cNvPr id="5" name="AutoShape 18"/>
            <p:cNvSpPr>
              <a:spLocks noChangeArrowheads="1"/>
            </p:cNvSpPr>
            <p:nvPr/>
          </p:nvSpPr>
          <p:spPr bwMode="ltGray">
            <a:xfrm>
              <a:off x="3076803" y="2743200"/>
              <a:ext cx="685800" cy="685800"/>
            </a:xfrm>
            <a:prstGeom prst="diamond">
              <a:avLst/>
            </a:prstGeom>
            <a:solidFill>
              <a:srgbClr val="FCA304"/>
            </a:solidFill>
            <a:ln w="25400" algn="ctr">
              <a:solidFill>
                <a:srgbClr val="FFFFFF"/>
              </a:solidFill>
              <a:miter lim="800000"/>
            </a:ln>
            <a:effectLst>
              <a:outerShdw dist="76200" algn="ctr" rotWithShape="0">
                <a:srgbClr val="808080">
                  <a:alpha val="50000"/>
                </a:srgbClr>
              </a:outerShdw>
            </a:effectLst>
          </p:spPr>
          <p:txBody>
            <a:bodyPr wrap="none" anchor="ctr"/>
            <a:lstStyle/>
            <a:p>
              <a:pPr defTabSz="685800">
                <a:defRPr/>
              </a:pPr>
              <a:endParaRPr lang="zh-CN" altLang="en-US" sz="3000" kern="0">
                <a:solidFill>
                  <a:sysClr val="windowText" lastClr="000000"/>
                </a:solidFill>
                <a:latin typeface="等线" panose="02010600030101010101" pitchFamily="2" charset="-122"/>
                <a:ea typeface="等线" panose="02010600030101010101" pitchFamily="2" charset="-122"/>
              </a:endParaRPr>
            </a:p>
          </p:txBody>
        </p:sp>
        <p:sp>
          <p:nvSpPr>
            <p:cNvPr id="6" name="Text Box 19"/>
            <p:cNvSpPr txBox="1">
              <a:spLocks noChangeArrowheads="1"/>
            </p:cNvSpPr>
            <p:nvPr/>
          </p:nvSpPr>
          <p:spPr bwMode="black">
            <a:xfrm>
              <a:off x="3328215" y="2841625"/>
              <a:ext cx="159163" cy="420872"/>
            </a:xfrm>
            <a:prstGeom prst="rect">
              <a:avLst/>
            </a:prstGeom>
            <a:noFill/>
            <a:ln w="9525" algn="ctr">
              <a:noFill/>
              <a:miter lim="800000"/>
            </a:ln>
            <a:effectLst/>
          </p:spPr>
          <p:txBody>
            <a:bodyPr wrap="none">
              <a:spAutoFit/>
            </a:bodyPr>
            <a:lstStyle/>
            <a:p>
              <a:pPr algn="ctr" defTabSz="685800" eaLnBrk="0" hangingPunct="0">
                <a:defRPr/>
              </a:pPr>
              <a:endParaRPr lang="en-US" altLang="zh-CN" sz="3000" b="1" kern="0" dirty="0">
                <a:solidFill>
                  <a:srgbClr val="FFFFFF"/>
                </a:solidFill>
                <a:latin typeface="等线" panose="02010600030101010101" pitchFamily="2" charset="-122"/>
                <a:ea typeface="宋体" panose="02010600030101010101"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1"/>
          </p:nvPr>
        </p:nvSpPr>
        <p:spPr>
          <a:xfrm>
            <a:off x="602551" y="4476709"/>
            <a:ext cx="7000721" cy="461879"/>
          </a:xfrm>
        </p:spPr>
        <p:txBody>
          <a:bodyPr>
            <a:noAutofit/>
          </a:bodyPr>
          <a:lstStyle/>
          <a:p>
            <a:pPr>
              <a:buFont typeface="Wingdings" panose="05000000000000000000" pitchFamily="2" charset="2"/>
              <a:buNone/>
            </a:pPr>
            <a:r>
              <a:rPr lang="zh-CN" altLang="en-US" sz="2100" b="1" dirty="0"/>
              <a:t>栈是操作位置受限</a:t>
            </a:r>
            <a:r>
              <a:rPr lang="zh-CN" altLang="en-US" sz="2100" b="1" dirty="0">
                <a:solidFill>
                  <a:schemeClr val="accent2"/>
                </a:solidFill>
              </a:rPr>
              <a:t>：</a:t>
            </a:r>
            <a:r>
              <a:rPr kumimoji="1" lang="zh-CN" altLang="en-US" sz="2100" b="1" dirty="0">
                <a:latin typeface="黑体" panose="02010609060101010101" pitchFamily="49" charset="-122"/>
                <a:ea typeface="黑体" panose="02010609060101010101" pitchFamily="49" charset="-122"/>
              </a:rPr>
              <a:t>只能在栈顶进行插入和删除。</a:t>
            </a:r>
            <a:endParaRPr lang="zh-CN" altLang="en-US" sz="2100" dirty="0">
              <a:solidFill>
                <a:schemeClr val="accent2"/>
              </a:solidFill>
            </a:endParaRPr>
          </a:p>
        </p:txBody>
      </p:sp>
      <p:sp>
        <p:nvSpPr>
          <p:cNvPr id="9" name="AutoShape 23"/>
          <p:cNvSpPr>
            <a:spLocks noChangeArrowheads="1"/>
          </p:cNvSpPr>
          <p:nvPr/>
        </p:nvSpPr>
        <p:spPr bwMode="auto">
          <a:xfrm>
            <a:off x="340578" y="1716520"/>
            <a:ext cx="1488419" cy="515957"/>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defTabSz="685800">
              <a:buClr>
                <a:srgbClr val="0563C1"/>
              </a:buClr>
              <a:buSzPct val="75000"/>
              <a:defRPr/>
            </a:pPr>
            <a:r>
              <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栈的概念</a:t>
            </a:r>
            <a:endPar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10" name="Text Box 2"/>
          <p:cNvSpPr txBox="1">
            <a:spLocks noChangeArrowheads="1"/>
          </p:cNvSpPr>
          <p:nvPr/>
        </p:nvSpPr>
        <p:spPr bwMode="auto">
          <a:xfrm>
            <a:off x="602552" y="2446651"/>
            <a:ext cx="5901179" cy="1869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685800">
              <a:spcBef>
                <a:spcPct val="50000"/>
              </a:spcBef>
              <a:defRPr/>
            </a:pPr>
            <a:r>
              <a:rPr kumimoji="1" lang="zh-CN" altLang="en-US" sz="2100" b="1" dirty="0">
                <a:solidFill>
                  <a:prstClr val="black"/>
                </a:solidFill>
                <a:latin typeface="黑体" panose="02010609060101010101" pitchFamily="49" charset="-122"/>
                <a:ea typeface="黑体" panose="02010609060101010101" pitchFamily="49" charset="-122"/>
              </a:rPr>
              <a:t>设栈</a:t>
            </a:r>
            <a:r>
              <a:rPr kumimoji="1" lang="en-US" altLang="zh-CN" sz="2100" b="1" dirty="0">
                <a:solidFill>
                  <a:srgbClr val="FF3300"/>
                </a:solidFill>
                <a:latin typeface="黑体" panose="02010609060101010101" pitchFamily="49" charset="-122"/>
                <a:ea typeface="黑体" panose="02010609060101010101" pitchFamily="49" charset="-122"/>
              </a:rPr>
              <a:t>s=</a:t>
            </a:r>
            <a:r>
              <a:rPr kumimoji="1" lang="zh-CN" altLang="en-US" sz="2100" b="1" dirty="0">
                <a:solidFill>
                  <a:srgbClr val="FF3300"/>
                </a:solidFill>
                <a:latin typeface="黑体" panose="02010609060101010101" pitchFamily="49" charset="-122"/>
                <a:ea typeface="黑体" panose="02010609060101010101" pitchFamily="49" charset="-122"/>
              </a:rPr>
              <a:t>（</a:t>
            </a:r>
            <a:r>
              <a:rPr kumimoji="1" lang="en-US" altLang="zh-CN" sz="2100" b="1" dirty="0">
                <a:solidFill>
                  <a:srgbClr val="FF3300"/>
                </a:solidFill>
                <a:latin typeface="黑体" panose="02010609060101010101" pitchFamily="49" charset="-122"/>
                <a:ea typeface="黑体" panose="02010609060101010101" pitchFamily="49" charset="-122"/>
              </a:rPr>
              <a:t>a</a:t>
            </a:r>
            <a:r>
              <a:rPr kumimoji="1" lang="en-US" altLang="zh-CN" sz="2100" b="1" baseline="-30000" dirty="0">
                <a:solidFill>
                  <a:srgbClr val="FF3300"/>
                </a:solidFill>
                <a:latin typeface="黑体" panose="02010609060101010101" pitchFamily="49" charset="-122"/>
                <a:ea typeface="黑体" panose="02010609060101010101" pitchFamily="49" charset="-122"/>
              </a:rPr>
              <a:t>1</a:t>
            </a:r>
            <a:r>
              <a:rPr kumimoji="1" lang="zh-CN" altLang="en-US" sz="2100" b="1" dirty="0">
                <a:solidFill>
                  <a:srgbClr val="FF3300"/>
                </a:solidFill>
                <a:latin typeface="黑体" panose="02010609060101010101" pitchFamily="49" charset="-122"/>
                <a:ea typeface="黑体" panose="02010609060101010101" pitchFamily="49" charset="-122"/>
              </a:rPr>
              <a:t>，</a:t>
            </a:r>
            <a:r>
              <a:rPr kumimoji="1" lang="en-US" altLang="zh-CN" sz="2100" b="1" dirty="0">
                <a:solidFill>
                  <a:srgbClr val="FF3300"/>
                </a:solidFill>
                <a:latin typeface="黑体" panose="02010609060101010101" pitchFamily="49" charset="-122"/>
                <a:ea typeface="黑体" panose="02010609060101010101" pitchFamily="49" charset="-122"/>
              </a:rPr>
              <a:t>a</a:t>
            </a:r>
            <a:r>
              <a:rPr kumimoji="1" lang="en-US" altLang="zh-CN" sz="2100" b="1" baseline="-30000" dirty="0">
                <a:solidFill>
                  <a:srgbClr val="FF3300"/>
                </a:solidFill>
                <a:latin typeface="黑体" panose="02010609060101010101" pitchFamily="49" charset="-122"/>
                <a:ea typeface="黑体" panose="02010609060101010101" pitchFamily="49" charset="-122"/>
              </a:rPr>
              <a:t>2</a:t>
            </a:r>
            <a:r>
              <a:rPr kumimoji="1" lang="zh-CN" altLang="en-US" sz="2100" b="1" dirty="0">
                <a:solidFill>
                  <a:srgbClr val="FF3300"/>
                </a:solidFill>
                <a:latin typeface="黑体" panose="02010609060101010101" pitchFamily="49" charset="-122"/>
                <a:ea typeface="黑体" panose="02010609060101010101" pitchFamily="49" charset="-122"/>
              </a:rPr>
              <a:t>，</a:t>
            </a:r>
            <a:r>
              <a:rPr kumimoji="1" lang="en-US" altLang="zh-CN" sz="2100" b="1" dirty="0">
                <a:solidFill>
                  <a:srgbClr val="FF3300"/>
                </a:solidFill>
                <a:latin typeface="黑体" panose="02010609060101010101" pitchFamily="49" charset="-122"/>
                <a:ea typeface="黑体" panose="02010609060101010101" pitchFamily="49" charset="-122"/>
              </a:rPr>
              <a:t>. . . ,a</a:t>
            </a:r>
            <a:r>
              <a:rPr kumimoji="1" lang="en-US" altLang="zh-CN" sz="2100" b="1" baseline="-30000" dirty="0">
                <a:solidFill>
                  <a:srgbClr val="FF3300"/>
                </a:solidFill>
                <a:latin typeface="黑体" panose="02010609060101010101" pitchFamily="49" charset="-122"/>
                <a:ea typeface="黑体" panose="02010609060101010101" pitchFamily="49" charset="-122"/>
              </a:rPr>
              <a:t>i</a:t>
            </a:r>
            <a:r>
              <a:rPr kumimoji="1" lang="zh-CN" altLang="en-US" sz="2100" b="1" dirty="0">
                <a:solidFill>
                  <a:srgbClr val="FF3300"/>
                </a:solidFill>
                <a:latin typeface="黑体" panose="02010609060101010101" pitchFamily="49" charset="-122"/>
                <a:ea typeface="黑体" panose="02010609060101010101" pitchFamily="49" charset="-122"/>
              </a:rPr>
              <a:t>，</a:t>
            </a:r>
            <a:r>
              <a:rPr kumimoji="1" lang="en-US" altLang="zh-CN" sz="2100" b="1" dirty="0">
                <a:solidFill>
                  <a:srgbClr val="FF3300"/>
                </a:solidFill>
                <a:latin typeface="黑体" panose="02010609060101010101" pitchFamily="49" charset="-122"/>
                <a:ea typeface="黑体" panose="02010609060101010101" pitchFamily="49" charset="-122"/>
              </a:rPr>
              <a:t>. . . </a:t>
            </a:r>
            <a:r>
              <a:rPr kumimoji="1" lang="zh-CN" altLang="en-US" sz="2100" b="1" dirty="0">
                <a:solidFill>
                  <a:srgbClr val="FF3300"/>
                </a:solidFill>
                <a:latin typeface="黑体" panose="02010609060101010101" pitchFamily="49" charset="-122"/>
                <a:ea typeface="黑体" panose="02010609060101010101" pitchFamily="49" charset="-122"/>
              </a:rPr>
              <a:t>，</a:t>
            </a:r>
            <a:r>
              <a:rPr kumimoji="1" lang="en-US" altLang="zh-CN" sz="2100" b="1" dirty="0">
                <a:solidFill>
                  <a:srgbClr val="FF3300"/>
                </a:solidFill>
                <a:latin typeface="黑体" panose="02010609060101010101" pitchFamily="49" charset="-122"/>
                <a:ea typeface="黑体" panose="02010609060101010101" pitchFamily="49" charset="-122"/>
              </a:rPr>
              <a:t>a</a:t>
            </a:r>
            <a:r>
              <a:rPr kumimoji="1" lang="en-US" altLang="zh-CN" sz="2100" b="1" baseline="-30000" dirty="0">
                <a:solidFill>
                  <a:srgbClr val="FF3300"/>
                </a:solidFill>
                <a:latin typeface="黑体" panose="02010609060101010101" pitchFamily="49" charset="-122"/>
                <a:ea typeface="黑体" panose="02010609060101010101" pitchFamily="49" charset="-122"/>
              </a:rPr>
              <a:t>n</a:t>
            </a:r>
            <a:r>
              <a:rPr kumimoji="1" lang="zh-CN" altLang="en-US" sz="2100" b="1" dirty="0">
                <a:solidFill>
                  <a:srgbClr val="FF3300"/>
                </a:solidFill>
                <a:latin typeface="黑体" panose="02010609060101010101" pitchFamily="49" charset="-122"/>
                <a:ea typeface="黑体" panose="02010609060101010101" pitchFamily="49" charset="-122"/>
              </a:rPr>
              <a:t>）</a:t>
            </a:r>
            <a:r>
              <a:rPr kumimoji="1" lang="zh-CN" altLang="en-US" sz="2100" b="1" dirty="0">
                <a:solidFill>
                  <a:prstClr val="black"/>
                </a:solidFill>
                <a:latin typeface="黑体" panose="02010609060101010101" pitchFamily="49" charset="-122"/>
                <a:ea typeface="黑体" panose="02010609060101010101" pitchFamily="49" charset="-122"/>
              </a:rPr>
              <a:t>，</a:t>
            </a:r>
            <a:endParaRPr kumimoji="1" lang="zh-CN" altLang="en-US" sz="2100" b="1" dirty="0">
              <a:solidFill>
                <a:prstClr val="black"/>
              </a:solidFill>
              <a:latin typeface="黑体" panose="02010609060101010101" pitchFamily="49" charset="-122"/>
              <a:ea typeface="黑体" panose="02010609060101010101" pitchFamily="49" charset="-122"/>
            </a:endParaRPr>
          </a:p>
          <a:p>
            <a:pPr algn="just" defTabSz="685800">
              <a:spcBef>
                <a:spcPct val="50000"/>
              </a:spcBef>
              <a:defRPr/>
            </a:pPr>
            <a:r>
              <a:rPr kumimoji="1" lang="zh-CN" altLang="en-US" sz="2100" b="1" dirty="0">
                <a:solidFill>
                  <a:prstClr val="black"/>
                </a:solidFill>
                <a:latin typeface="黑体" panose="02010609060101010101" pitchFamily="49" charset="-122"/>
                <a:ea typeface="黑体" panose="02010609060101010101" pitchFamily="49" charset="-122"/>
              </a:rPr>
              <a:t>其中</a:t>
            </a:r>
            <a:r>
              <a:rPr kumimoji="1" lang="en-US" altLang="zh-CN" sz="2100" b="1" dirty="0">
                <a:solidFill>
                  <a:prstClr val="black"/>
                </a:solidFill>
                <a:latin typeface="黑体" panose="02010609060101010101" pitchFamily="49" charset="-122"/>
                <a:ea typeface="黑体" panose="02010609060101010101" pitchFamily="49" charset="-122"/>
              </a:rPr>
              <a:t>a</a:t>
            </a:r>
            <a:r>
              <a:rPr kumimoji="1" lang="en-US" altLang="zh-CN" sz="2100" b="1" baseline="-30000" dirty="0">
                <a:solidFill>
                  <a:prstClr val="black"/>
                </a:solidFill>
                <a:latin typeface="黑体" panose="02010609060101010101" pitchFamily="49" charset="-122"/>
                <a:ea typeface="黑体" panose="02010609060101010101" pitchFamily="49" charset="-122"/>
              </a:rPr>
              <a:t>1</a:t>
            </a:r>
            <a:r>
              <a:rPr kumimoji="1" lang="zh-CN" altLang="en-US" sz="2100" b="1" dirty="0">
                <a:solidFill>
                  <a:prstClr val="black"/>
                </a:solidFill>
                <a:latin typeface="黑体" panose="02010609060101010101" pitchFamily="49" charset="-122"/>
                <a:ea typeface="黑体" panose="02010609060101010101" pitchFamily="49" charset="-122"/>
              </a:rPr>
              <a:t>是栈底元素， </a:t>
            </a:r>
            <a:r>
              <a:rPr kumimoji="1" lang="en-US" altLang="zh-CN" sz="2100" b="1" dirty="0">
                <a:solidFill>
                  <a:prstClr val="black"/>
                </a:solidFill>
                <a:latin typeface="黑体" panose="02010609060101010101" pitchFamily="49" charset="-122"/>
                <a:ea typeface="黑体" panose="02010609060101010101" pitchFamily="49" charset="-122"/>
              </a:rPr>
              <a:t>a</a:t>
            </a:r>
            <a:r>
              <a:rPr kumimoji="1" lang="en-US" altLang="zh-CN" sz="2100" b="1" baseline="-30000" dirty="0">
                <a:solidFill>
                  <a:prstClr val="black"/>
                </a:solidFill>
                <a:latin typeface="黑体" panose="02010609060101010101" pitchFamily="49" charset="-122"/>
                <a:ea typeface="黑体" panose="02010609060101010101" pitchFamily="49" charset="-122"/>
              </a:rPr>
              <a:t>n</a:t>
            </a:r>
            <a:r>
              <a:rPr kumimoji="1" lang="zh-CN" altLang="en-US" sz="2100" b="1" dirty="0">
                <a:solidFill>
                  <a:prstClr val="black"/>
                </a:solidFill>
                <a:latin typeface="黑体" panose="02010609060101010101" pitchFamily="49" charset="-122"/>
                <a:ea typeface="黑体" panose="02010609060101010101" pitchFamily="49" charset="-122"/>
              </a:rPr>
              <a:t>是栈顶元素。</a:t>
            </a:r>
            <a:endParaRPr kumimoji="1" lang="zh-CN" altLang="en-US" sz="2100" b="1" dirty="0">
              <a:solidFill>
                <a:prstClr val="black"/>
              </a:solidFill>
              <a:latin typeface="黑体" panose="02010609060101010101" pitchFamily="49" charset="-122"/>
              <a:ea typeface="黑体" panose="02010609060101010101" pitchFamily="49" charset="-122"/>
            </a:endParaRPr>
          </a:p>
          <a:p>
            <a:pPr algn="just" defTabSz="685800">
              <a:spcBef>
                <a:spcPct val="50000"/>
              </a:spcBef>
              <a:defRPr/>
            </a:pPr>
            <a:r>
              <a:rPr kumimoji="1" lang="zh-CN" altLang="en-US" sz="2100" b="1" dirty="0">
                <a:solidFill>
                  <a:prstClr val="black"/>
                </a:solidFill>
                <a:latin typeface="黑体" panose="02010609060101010101" pitchFamily="49" charset="-122"/>
                <a:ea typeface="黑体" panose="02010609060101010101" pitchFamily="49" charset="-122"/>
              </a:rPr>
              <a:t>栈顶（</a:t>
            </a:r>
            <a:r>
              <a:rPr kumimoji="1" lang="en-US" altLang="zh-CN" sz="2100" b="1" dirty="0">
                <a:solidFill>
                  <a:prstClr val="black"/>
                </a:solidFill>
                <a:latin typeface="黑体" panose="02010609060101010101" pitchFamily="49" charset="-122"/>
                <a:ea typeface="黑体" panose="02010609060101010101" pitchFamily="49" charset="-122"/>
              </a:rPr>
              <a:t>top)</a:t>
            </a:r>
            <a:r>
              <a:rPr kumimoji="1" lang="zh-CN" altLang="en-US" sz="2100" b="1" dirty="0">
                <a:solidFill>
                  <a:prstClr val="black"/>
                </a:solidFill>
                <a:latin typeface="黑体" panose="02010609060101010101" pitchFamily="49" charset="-122"/>
                <a:ea typeface="黑体" panose="02010609060101010101" pitchFamily="49" charset="-122"/>
              </a:rPr>
              <a:t>：允许插入和删除的一端；</a:t>
            </a:r>
            <a:endParaRPr kumimoji="1" lang="zh-CN" altLang="en-US" sz="2100" b="1" dirty="0">
              <a:solidFill>
                <a:prstClr val="black"/>
              </a:solidFill>
              <a:latin typeface="黑体" panose="02010609060101010101" pitchFamily="49" charset="-122"/>
              <a:ea typeface="黑体" panose="02010609060101010101" pitchFamily="49" charset="-122"/>
            </a:endParaRPr>
          </a:p>
          <a:p>
            <a:pPr algn="just" defTabSz="685800">
              <a:spcBef>
                <a:spcPct val="50000"/>
              </a:spcBef>
              <a:defRPr/>
            </a:pPr>
            <a:r>
              <a:rPr kumimoji="1" lang="zh-CN" altLang="en-US" sz="2100" b="1" dirty="0">
                <a:solidFill>
                  <a:prstClr val="black"/>
                </a:solidFill>
                <a:latin typeface="黑体" panose="02010609060101010101" pitchFamily="49" charset="-122"/>
                <a:ea typeface="黑体" panose="02010609060101010101" pitchFamily="49" charset="-122"/>
              </a:rPr>
              <a:t>栈底（</a:t>
            </a:r>
            <a:r>
              <a:rPr kumimoji="1" lang="en-US" altLang="zh-CN" sz="2100" b="1" dirty="0">
                <a:solidFill>
                  <a:prstClr val="black"/>
                </a:solidFill>
                <a:latin typeface="黑体" panose="02010609060101010101" pitchFamily="49" charset="-122"/>
                <a:ea typeface="黑体" panose="02010609060101010101" pitchFamily="49" charset="-122"/>
              </a:rPr>
              <a:t>bottom):</a:t>
            </a:r>
            <a:r>
              <a:rPr kumimoji="1" lang="zh-CN" altLang="en-US" sz="2100" b="1" dirty="0">
                <a:solidFill>
                  <a:prstClr val="black"/>
                </a:solidFill>
                <a:latin typeface="黑体" panose="02010609060101010101" pitchFamily="49" charset="-122"/>
                <a:ea typeface="黑体" panose="02010609060101010101" pitchFamily="49" charset="-122"/>
              </a:rPr>
              <a:t>不允许插入和删除的一端。</a:t>
            </a:r>
            <a:endParaRPr kumimoji="1" lang="zh-CN" altLang="en-US" sz="2100" b="1" dirty="0">
              <a:solidFill>
                <a:prstClr val="black"/>
              </a:solidFill>
              <a:latin typeface="黑体" panose="02010609060101010101" pitchFamily="49" charset="-122"/>
              <a:ea typeface="黑体" panose="02010609060101010101" pitchFamily="49" charset="-122"/>
            </a:endParaRPr>
          </a:p>
        </p:txBody>
      </p:sp>
      <p:grpSp>
        <p:nvGrpSpPr>
          <p:cNvPr id="11" name="Group 3"/>
          <p:cNvGrpSpPr/>
          <p:nvPr/>
        </p:nvGrpSpPr>
        <p:grpSpPr bwMode="auto">
          <a:xfrm>
            <a:off x="6674585" y="2030741"/>
            <a:ext cx="2128838" cy="2499122"/>
            <a:chOff x="3636" y="1536"/>
            <a:chExt cx="1788" cy="2099"/>
          </a:xfrm>
        </p:grpSpPr>
        <p:sp>
          <p:nvSpPr>
            <p:cNvPr id="12" name="Rectangle 4"/>
            <p:cNvSpPr>
              <a:spLocks noChangeArrowheads="1"/>
            </p:cNvSpPr>
            <p:nvPr/>
          </p:nvSpPr>
          <p:spPr bwMode="auto">
            <a:xfrm>
              <a:off x="4464" y="3236"/>
              <a:ext cx="624" cy="35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defTabSz="685800">
                <a:buClr>
                  <a:srgbClr val="954F72"/>
                </a:buClr>
                <a:buNone/>
                <a:defRPr/>
              </a:pPr>
              <a:r>
                <a:rPr lang="en-US" altLang="zh-CN" sz="2100" b="1">
                  <a:solidFill>
                    <a:prstClr val="black"/>
                  </a:solidFill>
                </a:rPr>
                <a:t>   a</a:t>
              </a:r>
              <a:r>
                <a:rPr lang="en-US" altLang="zh-CN" sz="2100" b="1" baseline="-25000">
                  <a:solidFill>
                    <a:prstClr val="black"/>
                  </a:solidFill>
                </a:rPr>
                <a:t>1</a:t>
              </a:r>
              <a:endParaRPr lang="en-US" altLang="zh-CN" sz="2100" b="1" baseline="-25000">
                <a:solidFill>
                  <a:prstClr val="black"/>
                </a:solidFill>
              </a:endParaRPr>
            </a:p>
          </p:txBody>
        </p:sp>
        <p:sp>
          <p:nvSpPr>
            <p:cNvPr id="13" name="Rectangle 5"/>
            <p:cNvSpPr>
              <a:spLocks noChangeArrowheads="1"/>
            </p:cNvSpPr>
            <p:nvPr/>
          </p:nvSpPr>
          <p:spPr bwMode="auto">
            <a:xfrm>
              <a:off x="4464" y="2880"/>
              <a:ext cx="624" cy="35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defTabSz="685800">
                <a:buClr>
                  <a:srgbClr val="954F72"/>
                </a:buClr>
                <a:buNone/>
                <a:defRPr/>
              </a:pPr>
              <a:r>
                <a:rPr lang="en-US" altLang="zh-CN" sz="2100" b="1">
                  <a:solidFill>
                    <a:prstClr val="black"/>
                  </a:solidFill>
                </a:rPr>
                <a:t>   a</a:t>
              </a:r>
              <a:r>
                <a:rPr lang="en-US" altLang="zh-CN" sz="2100" b="1" baseline="-25000">
                  <a:solidFill>
                    <a:prstClr val="black"/>
                  </a:solidFill>
                </a:rPr>
                <a:t>2</a:t>
              </a:r>
              <a:endParaRPr lang="en-US" altLang="zh-CN" sz="2100" b="1" baseline="-25000">
                <a:solidFill>
                  <a:prstClr val="black"/>
                </a:solidFill>
              </a:endParaRPr>
            </a:p>
          </p:txBody>
        </p:sp>
        <p:sp>
          <p:nvSpPr>
            <p:cNvPr id="14" name="Rectangle 6"/>
            <p:cNvSpPr>
              <a:spLocks noChangeArrowheads="1"/>
            </p:cNvSpPr>
            <p:nvPr/>
          </p:nvSpPr>
          <p:spPr bwMode="auto">
            <a:xfrm>
              <a:off x="4464" y="2524"/>
              <a:ext cx="624" cy="35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defTabSz="685800">
                <a:buClr>
                  <a:srgbClr val="954F72"/>
                </a:buClr>
                <a:buNone/>
                <a:defRPr/>
              </a:pPr>
              <a:r>
                <a:rPr lang="en-US" altLang="zh-CN" sz="2100" b="1">
                  <a:solidFill>
                    <a:prstClr val="black"/>
                  </a:solidFill>
                </a:rPr>
                <a:t>  ….</a:t>
              </a:r>
              <a:endParaRPr lang="en-US" altLang="zh-CN" sz="2100" b="1">
                <a:solidFill>
                  <a:prstClr val="black"/>
                </a:solidFill>
              </a:endParaRPr>
            </a:p>
          </p:txBody>
        </p:sp>
        <p:sp>
          <p:nvSpPr>
            <p:cNvPr id="15" name="Rectangle 7"/>
            <p:cNvSpPr>
              <a:spLocks noChangeArrowheads="1"/>
            </p:cNvSpPr>
            <p:nvPr/>
          </p:nvSpPr>
          <p:spPr bwMode="auto">
            <a:xfrm>
              <a:off x="4464" y="2168"/>
              <a:ext cx="624" cy="35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defTabSz="685800">
                <a:buClr>
                  <a:srgbClr val="954F72"/>
                </a:buClr>
                <a:buNone/>
                <a:defRPr/>
              </a:pPr>
              <a:r>
                <a:rPr lang="en-US" altLang="zh-CN" sz="2100" b="1" dirty="0">
                  <a:solidFill>
                    <a:prstClr val="black"/>
                  </a:solidFill>
                </a:rPr>
                <a:t>   a</a:t>
              </a:r>
              <a:r>
                <a:rPr lang="en-US" altLang="zh-CN" sz="2100" b="1" baseline="-25000" dirty="0">
                  <a:solidFill>
                    <a:prstClr val="black"/>
                  </a:solidFill>
                </a:rPr>
                <a:t>n</a:t>
              </a:r>
              <a:endParaRPr lang="en-US" altLang="zh-CN" sz="2100" b="1" dirty="0">
                <a:solidFill>
                  <a:prstClr val="black"/>
                </a:solidFill>
              </a:endParaRPr>
            </a:p>
          </p:txBody>
        </p:sp>
        <p:sp>
          <p:nvSpPr>
            <p:cNvPr id="16" name="Line 8"/>
            <p:cNvSpPr>
              <a:spLocks noChangeShapeType="1"/>
            </p:cNvSpPr>
            <p:nvPr/>
          </p:nvSpPr>
          <p:spPr bwMode="auto">
            <a:xfrm>
              <a:off x="4464" y="2524"/>
              <a:ext cx="62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7" name="Line 9"/>
            <p:cNvSpPr>
              <a:spLocks noChangeShapeType="1"/>
            </p:cNvSpPr>
            <p:nvPr/>
          </p:nvSpPr>
          <p:spPr bwMode="auto">
            <a:xfrm>
              <a:off x="4464" y="2880"/>
              <a:ext cx="62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8" name="Line 10"/>
            <p:cNvSpPr>
              <a:spLocks noChangeShapeType="1"/>
            </p:cNvSpPr>
            <p:nvPr/>
          </p:nvSpPr>
          <p:spPr bwMode="auto">
            <a:xfrm>
              <a:off x="4464" y="3236"/>
              <a:ext cx="62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9" name="Line 11"/>
            <p:cNvSpPr>
              <a:spLocks noChangeShapeType="1"/>
            </p:cNvSpPr>
            <p:nvPr/>
          </p:nvSpPr>
          <p:spPr bwMode="auto">
            <a:xfrm>
              <a:off x="4464" y="3592"/>
              <a:ext cx="62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0" name="Line 12"/>
            <p:cNvSpPr>
              <a:spLocks noChangeShapeType="1"/>
            </p:cNvSpPr>
            <p:nvPr/>
          </p:nvSpPr>
          <p:spPr bwMode="auto">
            <a:xfrm>
              <a:off x="4464" y="2168"/>
              <a:ext cx="0" cy="1424"/>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1" name="Line 13"/>
            <p:cNvSpPr>
              <a:spLocks noChangeShapeType="1"/>
            </p:cNvSpPr>
            <p:nvPr/>
          </p:nvSpPr>
          <p:spPr bwMode="auto">
            <a:xfrm>
              <a:off x="5088" y="2168"/>
              <a:ext cx="0" cy="1424"/>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2" name="Text Box 14"/>
            <p:cNvSpPr txBox="1">
              <a:spLocks noChangeArrowheads="1"/>
            </p:cNvSpPr>
            <p:nvPr/>
          </p:nvSpPr>
          <p:spPr bwMode="auto">
            <a:xfrm>
              <a:off x="4080" y="1536"/>
              <a:ext cx="624"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kumimoji="1" lang="zh-CN" altLang="en-US" sz="2100" b="1" dirty="0">
                  <a:solidFill>
                    <a:srgbClr val="ED7D31"/>
                  </a:solidFill>
                  <a:latin typeface="" pitchFamily="18" charset="0"/>
                  <a:ea typeface="楷体_GB2312" pitchFamily="49" charset="-122"/>
                </a:rPr>
                <a:t>入栈</a:t>
              </a:r>
              <a:endParaRPr kumimoji="1" lang="zh-CN" altLang="en-US" sz="2100" b="1" dirty="0">
                <a:solidFill>
                  <a:srgbClr val="ED7D31"/>
                </a:solidFill>
                <a:latin typeface="" pitchFamily="18" charset="0"/>
                <a:ea typeface="楷体_GB2312" pitchFamily="49" charset="-122"/>
              </a:endParaRPr>
            </a:p>
          </p:txBody>
        </p:sp>
        <p:sp>
          <p:nvSpPr>
            <p:cNvPr id="23" name="Text Box 15"/>
            <p:cNvSpPr txBox="1">
              <a:spLocks noChangeArrowheads="1"/>
            </p:cNvSpPr>
            <p:nvPr/>
          </p:nvSpPr>
          <p:spPr bwMode="auto">
            <a:xfrm>
              <a:off x="4752" y="1536"/>
              <a:ext cx="672"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kumimoji="1" lang="zh-CN" altLang="en-US" sz="2100" b="1">
                  <a:solidFill>
                    <a:srgbClr val="ED7D31"/>
                  </a:solidFill>
                  <a:latin typeface="" pitchFamily="18" charset="0"/>
                  <a:ea typeface="楷体_GB2312" pitchFamily="49" charset="-122"/>
                </a:rPr>
                <a:t>出栈</a:t>
              </a:r>
              <a:endParaRPr kumimoji="1" lang="zh-CN" altLang="en-US" sz="2100" b="1">
                <a:solidFill>
                  <a:srgbClr val="ED7D31"/>
                </a:solidFill>
                <a:latin typeface="" pitchFamily="18" charset="0"/>
                <a:ea typeface="楷体_GB2312" pitchFamily="49" charset="-122"/>
              </a:endParaRPr>
            </a:p>
          </p:txBody>
        </p:sp>
        <p:cxnSp>
          <p:nvCxnSpPr>
            <p:cNvPr id="24" name="AutoShape 16"/>
            <p:cNvCxnSpPr>
              <a:cxnSpLocks noChangeShapeType="1"/>
            </p:cNvCxnSpPr>
            <p:nvPr/>
          </p:nvCxnSpPr>
          <p:spPr bwMode="auto">
            <a:xfrm rot="16200000">
              <a:off x="4906" y="1750"/>
              <a:ext cx="291" cy="504"/>
            </a:xfrm>
            <a:prstGeom prst="bentConnector2">
              <a:avLst/>
            </a:prstGeom>
            <a:noFill/>
            <a:ln w="28575">
              <a:solidFill>
                <a:srgbClr val="D60093"/>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Box 17"/>
            <p:cNvSpPr txBox="1">
              <a:spLocks noChangeArrowheads="1"/>
            </p:cNvSpPr>
            <p:nvPr/>
          </p:nvSpPr>
          <p:spPr bwMode="auto">
            <a:xfrm>
              <a:off x="3636" y="2214"/>
              <a:ext cx="672"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eaLnBrk="0" hangingPunct="0">
                <a:defRPr/>
              </a:pPr>
              <a:r>
                <a:rPr lang="zh-CN" altLang="en-US" sz="2100" b="1" dirty="0">
                  <a:solidFill>
                    <a:srgbClr val="ED7D31"/>
                  </a:solidFill>
                  <a:latin typeface="" pitchFamily="18" charset="0"/>
                  <a:ea typeface="楷体_GB2312" pitchFamily="49" charset="-122"/>
                </a:rPr>
                <a:t>栈顶</a:t>
              </a:r>
              <a:endParaRPr lang="zh-CN" altLang="en-US" sz="2100" b="1" dirty="0">
                <a:solidFill>
                  <a:srgbClr val="ED7D31"/>
                </a:solidFill>
                <a:latin typeface="" pitchFamily="18" charset="0"/>
                <a:ea typeface="楷体_GB2312" pitchFamily="49" charset="-122"/>
              </a:endParaRPr>
            </a:p>
          </p:txBody>
        </p:sp>
        <p:sp>
          <p:nvSpPr>
            <p:cNvPr id="26" name="Text Box 18"/>
            <p:cNvSpPr txBox="1">
              <a:spLocks noChangeArrowheads="1"/>
            </p:cNvSpPr>
            <p:nvPr/>
          </p:nvSpPr>
          <p:spPr bwMode="auto">
            <a:xfrm>
              <a:off x="3692" y="3286"/>
              <a:ext cx="768"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eaLnBrk="0" hangingPunct="0">
                <a:defRPr/>
              </a:pPr>
              <a:r>
                <a:rPr lang="zh-CN" altLang="en-US" sz="2100" b="1" dirty="0">
                  <a:solidFill>
                    <a:srgbClr val="ED7D31"/>
                  </a:solidFill>
                  <a:latin typeface="" pitchFamily="18" charset="0"/>
                  <a:ea typeface="楷体_GB2312" pitchFamily="49" charset="-122"/>
                </a:rPr>
                <a:t>栈底</a:t>
              </a:r>
              <a:endParaRPr lang="zh-CN" altLang="en-US" sz="2100" b="1" dirty="0">
                <a:solidFill>
                  <a:srgbClr val="ED7D31"/>
                </a:solidFill>
                <a:latin typeface="" pitchFamily="18" charset="0"/>
                <a:ea typeface="楷体_GB2312" pitchFamily="49" charset="-122"/>
              </a:endParaRPr>
            </a:p>
          </p:txBody>
        </p:sp>
        <p:sp>
          <p:nvSpPr>
            <p:cNvPr id="27" name="Line 19"/>
            <p:cNvSpPr>
              <a:spLocks noChangeShapeType="1"/>
            </p:cNvSpPr>
            <p:nvPr/>
          </p:nvSpPr>
          <p:spPr bwMode="auto">
            <a:xfrm>
              <a:off x="4176" y="2386"/>
              <a:ext cx="288"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8" name="Line 20"/>
            <p:cNvSpPr>
              <a:spLocks noChangeShapeType="1"/>
            </p:cNvSpPr>
            <p:nvPr/>
          </p:nvSpPr>
          <p:spPr bwMode="auto">
            <a:xfrm>
              <a:off x="4176" y="3442"/>
              <a:ext cx="288"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9" name="Line 21"/>
            <p:cNvSpPr>
              <a:spLocks noChangeShapeType="1"/>
            </p:cNvSpPr>
            <p:nvPr/>
          </p:nvSpPr>
          <p:spPr bwMode="auto">
            <a:xfrm>
              <a:off x="4416" y="1776"/>
              <a:ext cx="240" cy="384"/>
            </a:xfrm>
            <a:prstGeom prst="line">
              <a:avLst/>
            </a:prstGeom>
            <a:noFill/>
            <a:ln w="38100">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grpSp>
      <p:sp>
        <p:nvSpPr>
          <p:cNvPr id="2" name="矩形 1"/>
          <p:cNvSpPr/>
          <p:nvPr/>
        </p:nvSpPr>
        <p:spPr>
          <a:xfrm>
            <a:off x="602553" y="5070906"/>
            <a:ext cx="2594610" cy="414020"/>
          </a:xfrm>
          <a:prstGeom prst="rect">
            <a:avLst/>
          </a:prstGeom>
        </p:spPr>
        <p:txBody>
          <a:bodyPr wrap="none">
            <a:spAutoFit/>
          </a:bodyPr>
          <a:lstStyle/>
          <a:p>
            <a:pPr defTabSz="685800">
              <a:defRPr/>
            </a:pPr>
            <a:r>
              <a:rPr kumimoji="1" lang="zh-CN" altLang="en-US" sz="2100" b="1" dirty="0">
                <a:solidFill>
                  <a:srgbClr val="FF0000"/>
                </a:solidFill>
                <a:latin typeface="黑体" panose="02010609060101010101" pitchFamily="49" charset="-122"/>
                <a:ea typeface="黑体" panose="02010609060101010101" pitchFamily="49" charset="-122"/>
              </a:rPr>
              <a:t>栈也称为后进先出表</a:t>
            </a:r>
            <a:endParaRPr lang="zh-CN" altLang="en-US" sz="2100" dirty="0">
              <a:solidFill>
                <a:srgbClr val="FF0000"/>
              </a:solidFill>
              <a:latin typeface="等线" panose="02010600030101010101" pitchFamily="2" charset="-122"/>
              <a:ea typeface="等线" panose="02010600030101010101" pitchFamily="2" charset="-122"/>
            </a:endParaRPr>
          </a:p>
        </p:txBody>
      </p:sp>
      <p:sp>
        <p:nvSpPr>
          <p:cNvPr id="3" name="矩形 2"/>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3.7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15"/>
          <p:cNvGrpSpPr/>
          <p:nvPr/>
        </p:nvGrpSpPr>
        <p:grpSpPr bwMode="auto">
          <a:xfrm>
            <a:off x="4794349" y="4042419"/>
            <a:ext cx="2263379" cy="1738313"/>
            <a:chOff x="3475" y="912"/>
            <a:chExt cx="1901" cy="1460"/>
          </a:xfrm>
        </p:grpSpPr>
        <p:grpSp>
          <p:nvGrpSpPr>
            <p:cNvPr id="7" name="Group 16"/>
            <p:cNvGrpSpPr/>
            <p:nvPr/>
          </p:nvGrpSpPr>
          <p:grpSpPr bwMode="auto">
            <a:xfrm>
              <a:off x="4512" y="912"/>
              <a:ext cx="864" cy="1460"/>
              <a:chOff x="4512" y="912"/>
              <a:chExt cx="864" cy="1460"/>
            </a:xfrm>
          </p:grpSpPr>
          <p:sp>
            <p:nvSpPr>
              <p:cNvPr id="10" name="Rectangle 17"/>
              <p:cNvSpPr>
                <a:spLocks noChangeArrowheads="1"/>
              </p:cNvSpPr>
              <p:nvPr/>
            </p:nvSpPr>
            <p:spPr bwMode="auto">
              <a:xfrm>
                <a:off x="4512" y="2008"/>
                <a:ext cx="864" cy="364"/>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algn="ctr" defTabSz="685800">
                  <a:buClr>
                    <a:srgbClr val="954F72"/>
                  </a:buClr>
                  <a:buNone/>
                  <a:defRPr/>
                </a:pPr>
                <a:r>
                  <a:rPr lang="en-US" altLang="zh-CN" sz="2100" b="1" dirty="0">
                    <a:solidFill>
                      <a:prstClr val="black"/>
                    </a:solidFill>
                  </a:rPr>
                  <a:t>a</a:t>
                </a:r>
                <a:r>
                  <a:rPr lang="en-US" altLang="zh-CN" sz="2100" b="1" baseline="-25000" dirty="0">
                    <a:solidFill>
                      <a:prstClr val="black"/>
                    </a:solidFill>
                  </a:rPr>
                  <a:t>1</a:t>
                </a:r>
                <a:endParaRPr lang="en-US" altLang="zh-CN" sz="2100" b="1" baseline="-25000" dirty="0">
                  <a:solidFill>
                    <a:prstClr val="black"/>
                  </a:solidFill>
                </a:endParaRPr>
              </a:p>
            </p:txBody>
          </p:sp>
          <p:sp>
            <p:nvSpPr>
              <p:cNvPr id="11" name="Rectangle 18"/>
              <p:cNvSpPr>
                <a:spLocks noChangeArrowheads="1"/>
              </p:cNvSpPr>
              <p:nvPr/>
            </p:nvSpPr>
            <p:spPr bwMode="auto">
              <a:xfrm>
                <a:off x="4512" y="1644"/>
                <a:ext cx="864" cy="364"/>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algn="ctr" defTabSz="685800">
                  <a:buClr>
                    <a:srgbClr val="954F72"/>
                  </a:buClr>
                  <a:buNone/>
                  <a:tabLst>
                    <a:tab pos="876935" algn="l"/>
                  </a:tabLst>
                  <a:defRPr/>
                </a:pPr>
                <a:r>
                  <a:rPr lang="en-US" altLang="zh-CN" sz="2100" b="1" dirty="0">
                    <a:solidFill>
                      <a:prstClr val="black"/>
                    </a:solidFill>
                  </a:rPr>
                  <a:t>a</a:t>
                </a:r>
                <a:r>
                  <a:rPr lang="en-US" altLang="zh-CN" sz="2100" b="1" baseline="-25000" dirty="0">
                    <a:solidFill>
                      <a:prstClr val="black"/>
                    </a:solidFill>
                  </a:rPr>
                  <a:t>2</a:t>
                </a:r>
                <a:endParaRPr lang="en-US" altLang="zh-CN" sz="2100" b="1" dirty="0">
                  <a:solidFill>
                    <a:prstClr val="black"/>
                  </a:solidFill>
                </a:endParaRPr>
              </a:p>
            </p:txBody>
          </p:sp>
          <p:sp>
            <p:nvSpPr>
              <p:cNvPr id="12" name="Rectangle 19"/>
              <p:cNvSpPr>
                <a:spLocks noChangeArrowheads="1"/>
              </p:cNvSpPr>
              <p:nvPr/>
            </p:nvSpPr>
            <p:spPr bwMode="auto">
              <a:xfrm>
                <a:off x="4512" y="1278"/>
                <a:ext cx="864" cy="366"/>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defTabSz="685800">
                  <a:buClr>
                    <a:srgbClr val="954F72"/>
                  </a:buClr>
                  <a:buNone/>
                  <a:defRPr/>
                </a:pPr>
                <a:endParaRPr lang="zh-CN" altLang="zh-CN" sz="2100">
                  <a:solidFill>
                    <a:prstClr val="black"/>
                  </a:solidFill>
                </a:endParaRPr>
              </a:p>
            </p:txBody>
          </p:sp>
          <p:sp>
            <p:nvSpPr>
              <p:cNvPr id="13" name="Rectangle 20"/>
              <p:cNvSpPr>
                <a:spLocks noChangeArrowheads="1"/>
              </p:cNvSpPr>
              <p:nvPr/>
            </p:nvSpPr>
            <p:spPr bwMode="auto">
              <a:xfrm>
                <a:off x="4512" y="912"/>
                <a:ext cx="864" cy="366"/>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defTabSz="685800">
                  <a:buClr>
                    <a:srgbClr val="954F72"/>
                  </a:buClr>
                  <a:buNone/>
                  <a:defRPr/>
                </a:pPr>
                <a:endParaRPr lang="zh-CN" altLang="zh-CN" sz="2100">
                  <a:solidFill>
                    <a:prstClr val="black"/>
                  </a:solidFill>
                </a:endParaRPr>
              </a:p>
            </p:txBody>
          </p:sp>
          <p:sp>
            <p:nvSpPr>
              <p:cNvPr id="14" name="Line 21"/>
              <p:cNvSpPr>
                <a:spLocks noChangeShapeType="1"/>
              </p:cNvSpPr>
              <p:nvPr/>
            </p:nvSpPr>
            <p:spPr bwMode="auto">
              <a:xfrm>
                <a:off x="4512" y="912"/>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5" name="Line 22"/>
              <p:cNvSpPr>
                <a:spLocks noChangeShapeType="1"/>
              </p:cNvSpPr>
              <p:nvPr/>
            </p:nvSpPr>
            <p:spPr bwMode="auto">
              <a:xfrm>
                <a:off x="4512" y="1278"/>
                <a:ext cx="86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6" name="Line 23"/>
              <p:cNvSpPr>
                <a:spLocks noChangeShapeType="1"/>
              </p:cNvSpPr>
              <p:nvPr/>
            </p:nvSpPr>
            <p:spPr bwMode="auto">
              <a:xfrm>
                <a:off x="4512" y="1644"/>
                <a:ext cx="86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7" name="Line 24"/>
              <p:cNvSpPr>
                <a:spLocks noChangeShapeType="1"/>
              </p:cNvSpPr>
              <p:nvPr/>
            </p:nvSpPr>
            <p:spPr bwMode="auto">
              <a:xfrm>
                <a:off x="4512" y="2008"/>
                <a:ext cx="86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8" name="Line 25"/>
              <p:cNvSpPr>
                <a:spLocks noChangeShapeType="1"/>
              </p:cNvSpPr>
              <p:nvPr/>
            </p:nvSpPr>
            <p:spPr bwMode="auto">
              <a:xfrm>
                <a:off x="4512" y="2372"/>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9" name="Line 26"/>
              <p:cNvSpPr>
                <a:spLocks noChangeShapeType="1"/>
              </p:cNvSpPr>
              <p:nvPr/>
            </p:nvSpPr>
            <p:spPr bwMode="auto">
              <a:xfrm>
                <a:off x="4512" y="912"/>
                <a:ext cx="0" cy="14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0" name="Line 27"/>
              <p:cNvSpPr>
                <a:spLocks noChangeShapeType="1"/>
              </p:cNvSpPr>
              <p:nvPr/>
            </p:nvSpPr>
            <p:spPr bwMode="auto">
              <a:xfrm>
                <a:off x="5376" y="912"/>
                <a:ext cx="0" cy="14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grpSp>
        <p:sp>
          <p:nvSpPr>
            <p:cNvPr id="8" name="Line 28"/>
            <p:cNvSpPr>
              <a:spLocks noChangeShapeType="1"/>
            </p:cNvSpPr>
            <p:nvPr/>
          </p:nvSpPr>
          <p:spPr bwMode="auto">
            <a:xfrm>
              <a:off x="4032" y="1536"/>
              <a:ext cx="480" cy="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9" name="Text Box 29"/>
            <p:cNvSpPr txBox="1">
              <a:spLocks noChangeArrowheads="1"/>
            </p:cNvSpPr>
            <p:nvPr/>
          </p:nvSpPr>
          <p:spPr bwMode="auto">
            <a:xfrm>
              <a:off x="3475" y="1353"/>
              <a:ext cx="756"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defTabSz="685800" eaLnBrk="0" hangingPunct="0">
                <a:spcBef>
                  <a:spcPct val="50000"/>
                </a:spcBef>
                <a:defRPr/>
              </a:pPr>
              <a:r>
                <a:rPr lang="en-US" altLang="zh-CN" sz="2100" b="1">
                  <a:solidFill>
                    <a:prstClr val="black"/>
                  </a:solidFill>
                  <a:latin typeface="" pitchFamily="18" charset="0"/>
                  <a:ea typeface="等线" panose="02010600030101010101" pitchFamily="2" charset="-122"/>
                </a:rPr>
                <a:t> top</a:t>
              </a:r>
              <a:endParaRPr lang="en-US" altLang="zh-CN" sz="2100" b="1">
                <a:solidFill>
                  <a:prstClr val="black"/>
                </a:solidFill>
                <a:latin typeface="" pitchFamily="18" charset="0"/>
                <a:ea typeface="等线" panose="02010600030101010101" pitchFamily="2" charset="-122"/>
              </a:endParaRPr>
            </a:p>
          </p:txBody>
        </p:sp>
      </p:grpSp>
      <p:sp>
        <p:nvSpPr>
          <p:cNvPr id="23" name="AutoShape 23"/>
          <p:cNvSpPr>
            <a:spLocks noChangeArrowheads="1"/>
          </p:cNvSpPr>
          <p:nvPr/>
        </p:nvSpPr>
        <p:spPr bwMode="auto">
          <a:xfrm>
            <a:off x="169664" y="1638396"/>
            <a:ext cx="2206117" cy="515957"/>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defTabSz="685800">
              <a:buClr>
                <a:srgbClr val="0563C1"/>
              </a:buClr>
              <a:buSzPct val="75000"/>
              <a:defRPr/>
            </a:pPr>
            <a:r>
              <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栈的顺序存储</a:t>
            </a:r>
            <a:endPar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22" name="Text Box 30"/>
          <p:cNvSpPr txBox="1">
            <a:spLocks noChangeArrowheads="1"/>
          </p:cNvSpPr>
          <p:nvPr/>
        </p:nvSpPr>
        <p:spPr bwMode="auto">
          <a:xfrm>
            <a:off x="169664" y="2188053"/>
            <a:ext cx="8734616" cy="1546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gn="just"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顺序栈用一组连续的存储单元存放自栈底到栈顶的数据元素。</a:t>
            </a:r>
            <a:endParaRPr lang="en-US" altLang="zh-CN" sz="2100" b="1" dirty="0">
              <a:solidFill>
                <a:prstClr val="black"/>
              </a:solidFill>
              <a:latin typeface="黑体" panose="02010609060101010101" pitchFamily="49" charset="-122"/>
              <a:ea typeface="黑体" panose="02010609060101010101" pitchFamily="49" charset="-122"/>
            </a:endParaRPr>
          </a:p>
          <a:p>
            <a:pPr marL="0" indent="0" algn="just"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一般用一维数组表示，设置简单变量</a:t>
            </a:r>
            <a:r>
              <a:rPr lang="en-US" altLang="zh-CN" sz="2100" b="1" dirty="0">
                <a:solidFill>
                  <a:prstClr val="black"/>
                </a:solidFill>
                <a:latin typeface="黑体" panose="02010609060101010101" pitchFamily="49" charset="-122"/>
                <a:ea typeface="黑体" panose="02010609060101010101" pitchFamily="49" charset="-122"/>
              </a:rPr>
              <a:t>top</a:t>
            </a:r>
            <a:r>
              <a:rPr lang="zh-CN" altLang="en-US" sz="2100" b="1" dirty="0">
                <a:solidFill>
                  <a:prstClr val="black"/>
                </a:solidFill>
                <a:latin typeface="黑体" panose="02010609060101010101" pitchFamily="49" charset="-122"/>
                <a:ea typeface="黑体" panose="02010609060101010101" pitchFamily="49" charset="-122"/>
              </a:rPr>
              <a:t>指示栈顶位置，</a:t>
            </a:r>
            <a:r>
              <a:rPr kumimoji="0" lang="zh-CN" altLang="en-US" sz="2100" b="1" dirty="0">
                <a:solidFill>
                  <a:prstClr val="black"/>
                </a:solidFill>
                <a:latin typeface="黑体" panose="02010609060101010101" pitchFamily="49" charset="-122"/>
                <a:ea typeface="黑体" panose="02010609060101010101" pitchFamily="49" charset="-122"/>
              </a:rPr>
              <a:t>称为</a:t>
            </a:r>
            <a:r>
              <a:rPr kumimoji="0" lang="zh-CN" altLang="en-US" sz="2100" b="1" dirty="0">
                <a:solidFill>
                  <a:srgbClr val="954F72"/>
                </a:solidFill>
                <a:latin typeface="黑体" panose="02010609060101010101" pitchFamily="49" charset="-122"/>
                <a:ea typeface="黑体" panose="02010609060101010101" pitchFamily="49" charset="-122"/>
              </a:rPr>
              <a:t>栈顶指针</a:t>
            </a:r>
            <a:r>
              <a:rPr kumimoji="0" lang="zh-CN" altLang="en-US" sz="2100" b="1" dirty="0">
                <a:solidFill>
                  <a:prstClr val="black"/>
                </a:solidFill>
                <a:latin typeface="黑体" panose="02010609060101010101" pitchFamily="49" charset="-122"/>
                <a:ea typeface="黑体" panose="02010609060101010101" pitchFamily="49" charset="-122"/>
              </a:rPr>
              <a:t>，</a:t>
            </a:r>
            <a:r>
              <a:rPr kumimoji="0" lang="zh-CN" altLang="en-US" sz="2100" b="1" dirty="0">
                <a:solidFill>
                  <a:srgbClr val="FF3300"/>
                </a:solidFill>
                <a:latin typeface="黑体" panose="02010609060101010101" pitchFamily="49" charset="-122"/>
                <a:ea typeface="黑体" panose="02010609060101010101" pitchFamily="49" charset="-122"/>
              </a:rPr>
              <a:t>它始终指向待插入元素的位置。即：栈顶元素在</a:t>
            </a:r>
            <a:r>
              <a:rPr kumimoji="0" lang="en-US" altLang="zh-CN" sz="2100" b="1" dirty="0">
                <a:solidFill>
                  <a:srgbClr val="FF3300"/>
                </a:solidFill>
                <a:latin typeface="黑体" panose="02010609060101010101" pitchFamily="49" charset="-122"/>
                <a:ea typeface="黑体" panose="02010609060101010101" pitchFamily="49" charset="-122"/>
              </a:rPr>
              <a:t>top-1</a:t>
            </a:r>
            <a:r>
              <a:rPr kumimoji="0" lang="zh-CN" altLang="en-US" sz="2100" b="1" dirty="0">
                <a:solidFill>
                  <a:srgbClr val="FF3300"/>
                </a:solidFill>
                <a:latin typeface="黑体" panose="02010609060101010101" pitchFamily="49" charset="-122"/>
                <a:ea typeface="黑体" panose="02010609060101010101" pitchFamily="49" charset="-122"/>
              </a:rPr>
              <a:t>处。</a:t>
            </a:r>
            <a:endParaRPr lang="zh-CN" altLang="en-US" sz="2100" b="1" dirty="0">
              <a:solidFill>
                <a:srgbClr val="ED7D31"/>
              </a:solidFill>
              <a:latin typeface="黑体" panose="02010609060101010101" pitchFamily="49" charset="-122"/>
              <a:ea typeface="黑体" panose="02010609060101010101" pitchFamily="49" charset="-122"/>
            </a:endParaRPr>
          </a:p>
        </p:txBody>
      </p:sp>
      <p:grpSp>
        <p:nvGrpSpPr>
          <p:cNvPr id="24" name="Group 15"/>
          <p:cNvGrpSpPr/>
          <p:nvPr/>
        </p:nvGrpSpPr>
        <p:grpSpPr bwMode="auto">
          <a:xfrm>
            <a:off x="1780805" y="4042419"/>
            <a:ext cx="2426494" cy="1739503"/>
            <a:chOff x="3338" y="912"/>
            <a:chExt cx="2038" cy="1461"/>
          </a:xfrm>
        </p:grpSpPr>
        <p:grpSp>
          <p:nvGrpSpPr>
            <p:cNvPr id="25" name="Group 16"/>
            <p:cNvGrpSpPr/>
            <p:nvPr/>
          </p:nvGrpSpPr>
          <p:grpSpPr bwMode="auto">
            <a:xfrm>
              <a:off x="4512" y="912"/>
              <a:ext cx="864" cy="1460"/>
              <a:chOff x="4512" y="912"/>
              <a:chExt cx="864" cy="1460"/>
            </a:xfrm>
          </p:grpSpPr>
          <p:sp>
            <p:nvSpPr>
              <p:cNvPr id="28" name="Rectangle 17"/>
              <p:cNvSpPr>
                <a:spLocks noChangeArrowheads="1"/>
              </p:cNvSpPr>
              <p:nvPr/>
            </p:nvSpPr>
            <p:spPr bwMode="auto">
              <a:xfrm>
                <a:off x="4512" y="2008"/>
                <a:ext cx="864" cy="364"/>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algn="ctr" defTabSz="685800">
                  <a:buClr>
                    <a:srgbClr val="954F72"/>
                  </a:buClr>
                  <a:buNone/>
                  <a:defRPr/>
                </a:pPr>
                <a:endParaRPr lang="en-US" altLang="zh-CN" sz="2100" b="1" baseline="-25000" dirty="0">
                  <a:solidFill>
                    <a:prstClr val="black"/>
                  </a:solidFill>
                </a:endParaRPr>
              </a:p>
            </p:txBody>
          </p:sp>
          <p:sp>
            <p:nvSpPr>
              <p:cNvPr id="29" name="Rectangle 18"/>
              <p:cNvSpPr>
                <a:spLocks noChangeArrowheads="1"/>
              </p:cNvSpPr>
              <p:nvPr/>
            </p:nvSpPr>
            <p:spPr bwMode="auto">
              <a:xfrm>
                <a:off x="4512" y="1644"/>
                <a:ext cx="864" cy="364"/>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algn="ctr" defTabSz="685800">
                  <a:buClr>
                    <a:srgbClr val="954F72"/>
                  </a:buClr>
                  <a:buNone/>
                  <a:tabLst>
                    <a:tab pos="876935" algn="l"/>
                  </a:tabLst>
                  <a:defRPr/>
                </a:pPr>
                <a:endParaRPr lang="en-US" altLang="zh-CN" sz="2100" b="1" dirty="0">
                  <a:solidFill>
                    <a:prstClr val="black"/>
                  </a:solidFill>
                </a:endParaRPr>
              </a:p>
            </p:txBody>
          </p:sp>
          <p:sp>
            <p:nvSpPr>
              <p:cNvPr id="30" name="Rectangle 19"/>
              <p:cNvSpPr>
                <a:spLocks noChangeArrowheads="1"/>
              </p:cNvSpPr>
              <p:nvPr/>
            </p:nvSpPr>
            <p:spPr bwMode="auto">
              <a:xfrm>
                <a:off x="4512" y="1278"/>
                <a:ext cx="864" cy="366"/>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defTabSz="685800">
                  <a:buClr>
                    <a:srgbClr val="954F72"/>
                  </a:buClr>
                  <a:buNone/>
                  <a:defRPr/>
                </a:pPr>
                <a:endParaRPr lang="zh-CN" altLang="zh-CN" sz="2100">
                  <a:solidFill>
                    <a:prstClr val="black"/>
                  </a:solidFill>
                </a:endParaRPr>
              </a:p>
            </p:txBody>
          </p:sp>
          <p:sp>
            <p:nvSpPr>
              <p:cNvPr id="31" name="Rectangle 20"/>
              <p:cNvSpPr>
                <a:spLocks noChangeArrowheads="1"/>
              </p:cNvSpPr>
              <p:nvPr/>
            </p:nvSpPr>
            <p:spPr bwMode="auto">
              <a:xfrm>
                <a:off x="4512" y="912"/>
                <a:ext cx="864" cy="366"/>
              </a:xfrm>
              <a:prstGeom prst="rect">
                <a:avLst/>
              </a:prstGeom>
              <a:solidFill>
                <a:srgbClr val="66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1pPr>
                <a:lvl2pPr>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2pPr>
                <a:lvl3pPr>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3pPr>
                <a:lvl4pPr>
                  <a:spcBef>
                    <a:spcPct val="20000"/>
                  </a:spcBef>
                  <a:buClr>
                    <a:schemeClr val="accent2"/>
                  </a:buClr>
                  <a:buSzPct val="55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4pPr>
                <a:lvl5pPr>
                  <a:spcBef>
                    <a:spcPct val="20000"/>
                  </a:spcBef>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5pPr>
                <a:lvl6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6pPr>
                <a:lvl7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7pPr>
                <a:lvl8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8pPr>
                <a:lvl9pPr fontAlgn="base">
                  <a:spcBef>
                    <a:spcPct val="20000"/>
                  </a:spcBef>
                  <a:spcAft>
                    <a:spcPct val="0"/>
                  </a:spcAft>
                  <a:buClr>
                    <a:schemeClr val="accent1"/>
                  </a:buClr>
                  <a:buSzPct val="50000"/>
                  <a:buFont typeface="Wingdings" panose="05000000000000000000" pitchFamily="2" charset="2"/>
                  <a:buChar char="n"/>
                  <a:defRPr>
                    <a:solidFill>
                      <a:schemeClr val="tx1"/>
                    </a:solidFill>
                    <a:latin typeface="Times New Roman" panose="02020603050405020304" pitchFamily="18" charset="0"/>
                    <a:ea typeface="黑体" panose="02010609060101010101" pitchFamily="49" charset="-122"/>
                  </a:defRPr>
                </a:lvl9pPr>
              </a:lstStyle>
              <a:p>
                <a:pPr defTabSz="685800">
                  <a:buClr>
                    <a:srgbClr val="954F72"/>
                  </a:buClr>
                  <a:buNone/>
                  <a:defRPr/>
                </a:pPr>
                <a:endParaRPr lang="zh-CN" altLang="zh-CN" sz="2100">
                  <a:solidFill>
                    <a:prstClr val="black"/>
                  </a:solidFill>
                </a:endParaRPr>
              </a:p>
            </p:txBody>
          </p:sp>
          <p:sp>
            <p:nvSpPr>
              <p:cNvPr id="32" name="Line 21"/>
              <p:cNvSpPr>
                <a:spLocks noChangeShapeType="1"/>
              </p:cNvSpPr>
              <p:nvPr/>
            </p:nvSpPr>
            <p:spPr bwMode="auto">
              <a:xfrm>
                <a:off x="4512" y="912"/>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33" name="Line 22"/>
              <p:cNvSpPr>
                <a:spLocks noChangeShapeType="1"/>
              </p:cNvSpPr>
              <p:nvPr/>
            </p:nvSpPr>
            <p:spPr bwMode="auto">
              <a:xfrm>
                <a:off x="4512" y="1278"/>
                <a:ext cx="86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34" name="Line 23"/>
              <p:cNvSpPr>
                <a:spLocks noChangeShapeType="1"/>
              </p:cNvSpPr>
              <p:nvPr/>
            </p:nvSpPr>
            <p:spPr bwMode="auto">
              <a:xfrm>
                <a:off x="4512" y="1644"/>
                <a:ext cx="86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35" name="Line 24"/>
              <p:cNvSpPr>
                <a:spLocks noChangeShapeType="1"/>
              </p:cNvSpPr>
              <p:nvPr/>
            </p:nvSpPr>
            <p:spPr bwMode="auto">
              <a:xfrm>
                <a:off x="4512" y="2008"/>
                <a:ext cx="86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36" name="Line 25"/>
              <p:cNvSpPr>
                <a:spLocks noChangeShapeType="1"/>
              </p:cNvSpPr>
              <p:nvPr/>
            </p:nvSpPr>
            <p:spPr bwMode="auto">
              <a:xfrm>
                <a:off x="4512" y="2372"/>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37" name="Line 26"/>
              <p:cNvSpPr>
                <a:spLocks noChangeShapeType="1"/>
              </p:cNvSpPr>
              <p:nvPr/>
            </p:nvSpPr>
            <p:spPr bwMode="auto">
              <a:xfrm>
                <a:off x="4512" y="912"/>
                <a:ext cx="0" cy="14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38" name="Line 27"/>
              <p:cNvSpPr>
                <a:spLocks noChangeShapeType="1"/>
              </p:cNvSpPr>
              <p:nvPr/>
            </p:nvSpPr>
            <p:spPr bwMode="auto">
              <a:xfrm>
                <a:off x="5376" y="912"/>
                <a:ext cx="0" cy="14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grpSp>
        <p:sp>
          <p:nvSpPr>
            <p:cNvPr id="26" name="Line 28"/>
            <p:cNvSpPr>
              <a:spLocks noChangeShapeType="1"/>
            </p:cNvSpPr>
            <p:nvPr/>
          </p:nvSpPr>
          <p:spPr bwMode="auto">
            <a:xfrm>
              <a:off x="4032" y="2190"/>
              <a:ext cx="480" cy="0"/>
            </a:xfrm>
            <a:prstGeom prst="line">
              <a:avLst/>
            </a:prstGeom>
            <a:noFill/>
            <a:ln w="381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7" name="Text Box 29"/>
            <p:cNvSpPr txBox="1">
              <a:spLocks noChangeArrowheads="1"/>
            </p:cNvSpPr>
            <p:nvPr/>
          </p:nvSpPr>
          <p:spPr bwMode="auto">
            <a:xfrm>
              <a:off x="3338" y="2025"/>
              <a:ext cx="723"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defTabSz="685800" eaLnBrk="0" hangingPunct="0">
                <a:spcBef>
                  <a:spcPct val="50000"/>
                </a:spcBef>
                <a:defRPr/>
              </a:pPr>
              <a:r>
                <a:rPr lang="en-US" altLang="zh-CN" sz="2100" b="1" dirty="0">
                  <a:solidFill>
                    <a:prstClr val="black"/>
                  </a:solidFill>
                  <a:latin typeface="" pitchFamily="18" charset="0"/>
                  <a:ea typeface="等线" panose="02010600030101010101" pitchFamily="2" charset="-122"/>
                </a:rPr>
                <a:t> top</a:t>
              </a:r>
              <a:endParaRPr lang="en-US" altLang="zh-CN" sz="2100" b="1" dirty="0">
                <a:solidFill>
                  <a:prstClr val="black"/>
                </a:solidFill>
                <a:latin typeface="" pitchFamily="18" charset="0"/>
                <a:ea typeface="等线" panose="02010600030101010101" pitchFamily="2" charset="-122"/>
              </a:endParaRPr>
            </a:p>
          </p:txBody>
        </p:sp>
      </p:grpSp>
      <p:sp>
        <p:nvSpPr>
          <p:cNvPr id="39" name="Text Box 30"/>
          <p:cNvSpPr txBox="1">
            <a:spLocks noChangeArrowheads="1"/>
          </p:cNvSpPr>
          <p:nvPr/>
        </p:nvSpPr>
        <p:spPr bwMode="auto">
          <a:xfrm>
            <a:off x="884532" y="4440742"/>
            <a:ext cx="2063596"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gn="just"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空栈：</a:t>
            </a:r>
            <a:r>
              <a:rPr kumimoji="0" lang="en-US" altLang="zh-CN" sz="2100" b="1" dirty="0">
                <a:solidFill>
                  <a:srgbClr val="FF3300"/>
                </a:solidFill>
                <a:latin typeface="黑体" panose="02010609060101010101" pitchFamily="49" charset="-122"/>
                <a:ea typeface="黑体" panose="02010609060101010101" pitchFamily="49" charset="-122"/>
              </a:rPr>
              <a:t>top==0</a:t>
            </a:r>
            <a:endParaRPr lang="zh-CN" altLang="en-US" sz="2100" b="1" dirty="0">
              <a:solidFill>
                <a:srgbClr val="ED7D31"/>
              </a:solidFill>
              <a:latin typeface="黑体" panose="02010609060101010101" pitchFamily="49" charset="-122"/>
              <a:ea typeface="黑体" panose="02010609060101010101" pitchFamily="49" charset="-122"/>
            </a:endParaRPr>
          </a:p>
        </p:txBody>
      </p:sp>
      <p:graphicFrame>
        <p:nvGraphicFramePr>
          <p:cNvPr id="3" name="表格 2"/>
          <p:cNvGraphicFramePr>
            <a:graphicFrameLocks noGrp="1"/>
          </p:cNvGraphicFramePr>
          <p:nvPr/>
        </p:nvGraphicFramePr>
        <p:xfrm>
          <a:off x="4158311" y="4032978"/>
          <a:ext cx="378661" cy="1788576"/>
        </p:xfrm>
        <a:graphic>
          <a:graphicData uri="http://schemas.openxmlformats.org/drawingml/2006/table">
            <a:tbl>
              <a:tblPr firstRow="1" bandRow="1">
                <a:tableStyleId>{2D5ABB26-0587-4C30-8999-92F81FD0307C}</a:tableStyleId>
              </a:tblPr>
              <a:tblGrid>
                <a:gridCol w="378661"/>
              </a:tblGrid>
              <a:tr h="447144">
                <a:tc>
                  <a:txBody>
                    <a:bodyPr/>
                    <a:lstStyle/>
                    <a:p>
                      <a:pPr algn="ctr"/>
                      <a:r>
                        <a:rPr lang="en-US" altLang="zh-CN" sz="2100" dirty="0"/>
                        <a:t>3</a:t>
                      </a:r>
                      <a:endParaRPr lang="zh-CN" altLang="en-US" sz="2100" b="1" dirty="0">
                        <a:solidFill>
                          <a:srgbClr val="FF0000"/>
                        </a:solidFill>
                      </a:endParaRPr>
                    </a:p>
                  </a:txBody>
                  <a:tcPr marL="68580" marR="68580" marT="34290" marB="34290"/>
                </a:tc>
              </a:tr>
              <a:tr h="447144">
                <a:tc>
                  <a:txBody>
                    <a:bodyPr/>
                    <a:lstStyle/>
                    <a:p>
                      <a:pPr algn="ctr"/>
                      <a:r>
                        <a:rPr lang="en-US" altLang="zh-CN" sz="2100" dirty="0"/>
                        <a:t>2</a:t>
                      </a:r>
                      <a:endParaRPr lang="zh-CN" altLang="en-US" sz="2100" b="1" dirty="0">
                        <a:solidFill>
                          <a:srgbClr val="FF0000"/>
                        </a:solidFill>
                      </a:endParaRPr>
                    </a:p>
                  </a:txBody>
                  <a:tcPr marL="68580" marR="68580" marT="34290" marB="34290"/>
                </a:tc>
              </a:tr>
              <a:tr h="447144">
                <a:tc>
                  <a:txBody>
                    <a:bodyPr/>
                    <a:lstStyle/>
                    <a:p>
                      <a:pPr algn="ctr"/>
                      <a:r>
                        <a:rPr lang="en-US" altLang="zh-CN" sz="2100" dirty="0"/>
                        <a:t>1</a:t>
                      </a:r>
                      <a:endParaRPr lang="zh-CN" altLang="en-US" sz="2100" b="1" dirty="0">
                        <a:solidFill>
                          <a:srgbClr val="FF0000"/>
                        </a:solidFill>
                      </a:endParaRPr>
                    </a:p>
                  </a:txBody>
                  <a:tcPr marL="68580" marR="68580" marT="34290" marB="34290"/>
                </a:tc>
              </a:tr>
              <a:tr h="447144">
                <a:tc>
                  <a:txBody>
                    <a:bodyPr/>
                    <a:lstStyle/>
                    <a:p>
                      <a:pPr algn="ctr"/>
                      <a:r>
                        <a:rPr lang="en-US" altLang="zh-CN" sz="2100" dirty="0"/>
                        <a:t>0</a:t>
                      </a:r>
                      <a:endParaRPr lang="zh-CN" altLang="en-US" sz="2100" b="1" dirty="0">
                        <a:solidFill>
                          <a:srgbClr val="FF0000"/>
                        </a:solidFill>
                      </a:endParaRPr>
                    </a:p>
                  </a:txBody>
                  <a:tcPr marL="68580" marR="68580" marT="34290" marB="34290"/>
                </a:tc>
              </a:tr>
            </a:tbl>
          </a:graphicData>
        </a:graphic>
      </p:graphicFrame>
      <p:graphicFrame>
        <p:nvGraphicFramePr>
          <p:cNvPr id="40" name="表格 39"/>
          <p:cNvGraphicFramePr>
            <a:graphicFrameLocks noGrp="1"/>
          </p:cNvGraphicFramePr>
          <p:nvPr/>
        </p:nvGraphicFramePr>
        <p:xfrm>
          <a:off x="7057727" y="4017287"/>
          <a:ext cx="378661" cy="1788576"/>
        </p:xfrm>
        <a:graphic>
          <a:graphicData uri="http://schemas.openxmlformats.org/drawingml/2006/table">
            <a:tbl>
              <a:tblPr firstRow="1" bandRow="1">
                <a:tableStyleId>{2D5ABB26-0587-4C30-8999-92F81FD0307C}</a:tableStyleId>
              </a:tblPr>
              <a:tblGrid>
                <a:gridCol w="378661"/>
              </a:tblGrid>
              <a:tr h="447144">
                <a:tc>
                  <a:txBody>
                    <a:bodyPr/>
                    <a:lstStyle/>
                    <a:p>
                      <a:pPr algn="ctr"/>
                      <a:r>
                        <a:rPr lang="en-US" altLang="zh-CN" sz="2100" dirty="0"/>
                        <a:t>3</a:t>
                      </a:r>
                      <a:endParaRPr lang="zh-CN" altLang="en-US" sz="2100" b="1" dirty="0">
                        <a:solidFill>
                          <a:srgbClr val="FF0000"/>
                        </a:solidFill>
                      </a:endParaRPr>
                    </a:p>
                  </a:txBody>
                  <a:tcPr marL="68580" marR="68580" marT="34290" marB="34290"/>
                </a:tc>
              </a:tr>
              <a:tr h="447144">
                <a:tc>
                  <a:txBody>
                    <a:bodyPr/>
                    <a:lstStyle/>
                    <a:p>
                      <a:pPr algn="ctr"/>
                      <a:r>
                        <a:rPr lang="en-US" altLang="zh-CN" sz="2100" dirty="0"/>
                        <a:t>2</a:t>
                      </a:r>
                      <a:endParaRPr lang="zh-CN" altLang="en-US" sz="2100" b="1" dirty="0">
                        <a:solidFill>
                          <a:srgbClr val="FF0000"/>
                        </a:solidFill>
                      </a:endParaRPr>
                    </a:p>
                  </a:txBody>
                  <a:tcPr marL="68580" marR="68580" marT="34290" marB="34290"/>
                </a:tc>
              </a:tr>
              <a:tr h="447144">
                <a:tc>
                  <a:txBody>
                    <a:bodyPr/>
                    <a:lstStyle/>
                    <a:p>
                      <a:pPr algn="ctr"/>
                      <a:r>
                        <a:rPr lang="en-US" altLang="zh-CN" sz="2100" dirty="0"/>
                        <a:t>1</a:t>
                      </a:r>
                      <a:endParaRPr lang="zh-CN" altLang="en-US" sz="2100" b="1" dirty="0">
                        <a:solidFill>
                          <a:srgbClr val="FF0000"/>
                        </a:solidFill>
                      </a:endParaRPr>
                    </a:p>
                  </a:txBody>
                  <a:tcPr marL="68580" marR="68580" marT="34290" marB="34290"/>
                </a:tc>
              </a:tr>
              <a:tr h="447144">
                <a:tc>
                  <a:txBody>
                    <a:bodyPr/>
                    <a:lstStyle/>
                    <a:p>
                      <a:pPr algn="ctr"/>
                      <a:r>
                        <a:rPr lang="en-US" altLang="zh-CN" sz="2100" dirty="0"/>
                        <a:t>0</a:t>
                      </a:r>
                      <a:endParaRPr lang="zh-CN" altLang="en-US" sz="2100" b="1" dirty="0">
                        <a:solidFill>
                          <a:srgbClr val="FF0000"/>
                        </a:solidFill>
                      </a:endParaRPr>
                    </a:p>
                  </a:txBody>
                  <a:tcPr marL="68580" marR="68580" marT="34290" marB="34290"/>
                </a:tc>
              </a:tr>
            </a:tbl>
          </a:graphicData>
        </a:graphic>
      </p:graphicFrame>
      <p:sp>
        <p:nvSpPr>
          <p:cNvPr id="41" name="矩形 40"/>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3.7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2198916" y="2148114"/>
          <a:ext cx="623207" cy="3770991"/>
        </p:xfrm>
        <a:graphic>
          <a:graphicData uri="http://schemas.openxmlformats.org/drawingml/2006/table">
            <a:tbl>
              <a:tblPr firstRow="1" bandRow="1">
                <a:tableStyleId>{5940675A-B579-460E-94D1-54222C63F5DA}</a:tableStyleId>
              </a:tblPr>
              <a:tblGrid>
                <a:gridCol w="623207"/>
              </a:tblGrid>
              <a:tr h="538713">
                <a:tc>
                  <a:txBody>
                    <a:bodyPr/>
                    <a:lstStyle/>
                    <a:p>
                      <a:endParaRPr lang="zh-CN" altLang="en-US" sz="1000" dirty="0"/>
                    </a:p>
                  </a:txBody>
                  <a:tcPr marL="68580" marR="68580" marT="34290" marB="34290"/>
                </a:tc>
              </a:tr>
              <a:tr h="538713">
                <a:tc>
                  <a:txBody>
                    <a:bodyPr/>
                    <a:lstStyle/>
                    <a:p>
                      <a:endParaRPr lang="zh-CN" altLang="en-US" sz="1000"/>
                    </a:p>
                  </a:txBody>
                  <a:tcPr marL="68580" marR="68580" marT="34290" marB="34290"/>
                </a:tc>
              </a:tr>
              <a:tr h="538713">
                <a:tc>
                  <a:txBody>
                    <a:bodyPr/>
                    <a:lstStyle/>
                    <a:p>
                      <a:endParaRPr lang="zh-CN" altLang="en-US" sz="1000"/>
                    </a:p>
                  </a:txBody>
                  <a:tcPr marL="68580" marR="68580" marT="34290" marB="34290"/>
                </a:tc>
              </a:tr>
              <a:tr h="538713">
                <a:tc>
                  <a:txBody>
                    <a:bodyPr/>
                    <a:lstStyle/>
                    <a:p>
                      <a:endParaRPr lang="zh-CN" altLang="en-US" sz="1000"/>
                    </a:p>
                  </a:txBody>
                  <a:tcPr marL="68580" marR="68580" marT="34290" marB="34290"/>
                </a:tc>
              </a:tr>
              <a:tr h="538713">
                <a:tc>
                  <a:txBody>
                    <a:bodyPr/>
                    <a:lstStyle/>
                    <a:p>
                      <a:endParaRPr lang="zh-CN" altLang="en-US" sz="1000"/>
                    </a:p>
                  </a:txBody>
                  <a:tcPr marL="68580" marR="68580" marT="34290" marB="34290"/>
                </a:tc>
              </a:tr>
              <a:tr h="538713">
                <a:tc>
                  <a:txBody>
                    <a:bodyPr/>
                    <a:lstStyle/>
                    <a:p>
                      <a:endParaRPr lang="zh-CN" altLang="en-US" sz="1000"/>
                    </a:p>
                  </a:txBody>
                  <a:tcPr marL="68580" marR="68580" marT="34290" marB="34290"/>
                </a:tc>
              </a:tr>
              <a:tr h="538713">
                <a:tc>
                  <a:txBody>
                    <a:bodyPr/>
                    <a:lstStyle/>
                    <a:p>
                      <a:endParaRPr lang="zh-CN" altLang="en-US" sz="1000" dirty="0"/>
                    </a:p>
                  </a:txBody>
                  <a:tcPr marL="68580" marR="68580" marT="34290" marB="34290"/>
                </a:tc>
              </a:tr>
            </a:tbl>
          </a:graphicData>
        </a:graphic>
      </p:graphicFrame>
      <p:graphicFrame>
        <p:nvGraphicFramePr>
          <p:cNvPr id="3" name="表格 2"/>
          <p:cNvGraphicFramePr>
            <a:graphicFrameLocks noGrp="1"/>
          </p:cNvGraphicFramePr>
          <p:nvPr/>
        </p:nvGraphicFramePr>
        <p:xfrm>
          <a:off x="2860903" y="2172608"/>
          <a:ext cx="334736" cy="3770991"/>
        </p:xfrm>
        <a:graphic>
          <a:graphicData uri="http://schemas.openxmlformats.org/drawingml/2006/table">
            <a:tbl>
              <a:tblPr firstRow="1" bandRow="1">
                <a:tableStyleId>{2D5ABB26-0587-4C30-8999-92F81FD0307C}</a:tableStyleId>
              </a:tblPr>
              <a:tblGrid>
                <a:gridCol w="334736"/>
              </a:tblGrid>
              <a:tr h="538713">
                <a:tc>
                  <a:txBody>
                    <a:bodyPr/>
                    <a:lstStyle/>
                    <a:p>
                      <a:pPr algn="ctr"/>
                      <a:r>
                        <a:rPr lang="en-US" altLang="zh-CN" sz="2100" dirty="0"/>
                        <a:t>6</a:t>
                      </a:r>
                      <a:endParaRPr lang="zh-CN" altLang="en-US" sz="2100" dirty="0"/>
                    </a:p>
                  </a:txBody>
                  <a:tcPr marL="68580" marR="68580" marT="34290" marB="34290"/>
                </a:tc>
              </a:tr>
              <a:tr h="538713">
                <a:tc>
                  <a:txBody>
                    <a:bodyPr/>
                    <a:lstStyle/>
                    <a:p>
                      <a:pPr algn="ctr"/>
                      <a:r>
                        <a:rPr lang="en-US" altLang="zh-CN" sz="2100" dirty="0"/>
                        <a:t>5</a:t>
                      </a:r>
                      <a:endParaRPr lang="zh-CN" altLang="en-US" sz="2100" dirty="0"/>
                    </a:p>
                  </a:txBody>
                  <a:tcPr marL="68580" marR="68580" marT="34290" marB="34290"/>
                </a:tc>
              </a:tr>
              <a:tr h="538713">
                <a:tc>
                  <a:txBody>
                    <a:bodyPr/>
                    <a:lstStyle/>
                    <a:p>
                      <a:pPr algn="ctr"/>
                      <a:r>
                        <a:rPr lang="en-US" altLang="zh-CN" sz="2100" dirty="0"/>
                        <a:t>4</a:t>
                      </a:r>
                      <a:endParaRPr lang="zh-CN" altLang="en-US" sz="2100" dirty="0"/>
                    </a:p>
                  </a:txBody>
                  <a:tcPr marL="68580" marR="68580" marT="34290" marB="34290"/>
                </a:tc>
              </a:tr>
              <a:tr h="538713">
                <a:tc>
                  <a:txBody>
                    <a:bodyPr/>
                    <a:lstStyle/>
                    <a:p>
                      <a:pPr algn="ctr"/>
                      <a:r>
                        <a:rPr lang="en-US" altLang="zh-CN" sz="2100" dirty="0"/>
                        <a:t>3</a:t>
                      </a:r>
                      <a:endParaRPr lang="zh-CN" altLang="en-US" sz="2100" dirty="0"/>
                    </a:p>
                  </a:txBody>
                  <a:tcPr marL="68580" marR="68580" marT="34290" marB="34290"/>
                </a:tc>
              </a:tr>
              <a:tr h="538713">
                <a:tc>
                  <a:txBody>
                    <a:bodyPr/>
                    <a:lstStyle/>
                    <a:p>
                      <a:pPr algn="ctr"/>
                      <a:r>
                        <a:rPr lang="en-US" altLang="zh-CN" sz="2100" dirty="0"/>
                        <a:t>2</a:t>
                      </a:r>
                      <a:endParaRPr lang="zh-CN" altLang="en-US" sz="2100" dirty="0"/>
                    </a:p>
                  </a:txBody>
                  <a:tcPr marL="68580" marR="68580" marT="34290" marB="34290"/>
                </a:tc>
              </a:tr>
              <a:tr h="538713">
                <a:tc>
                  <a:txBody>
                    <a:bodyPr/>
                    <a:lstStyle/>
                    <a:p>
                      <a:pPr algn="ctr"/>
                      <a:r>
                        <a:rPr lang="en-US" altLang="zh-CN" sz="2100" dirty="0"/>
                        <a:t>1</a:t>
                      </a:r>
                      <a:endParaRPr lang="zh-CN" altLang="en-US" sz="2100" dirty="0"/>
                    </a:p>
                  </a:txBody>
                  <a:tcPr marL="68580" marR="68580" marT="34290" marB="34290"/>
                </a:tc>
              </a:tr>
              <a:tr h="538713">
                <a:tc>
                  <a:txBody>
                    <a:bodyPr/>
                    <a:lstStyle/>
                    <a:p>
                      <a:pPr algn="ctr"/>
                      <a:r>
                        <a:rPr lang="en-US" altLang="zh-CN" sz="2100" dirty="0"/>
                        <a:t>0</a:t>
                      </a:r>
                      <a:endParaRPr lang="zh-CN" altLang="en-US" sz="2100" dirty="0"/>
                    </a:p>
                  </a:txBody>
                  <a:tcPr marL="68580" marR="68580" marT="34290" marB="34290"/>
                </a:tc>
              </a:tr>
            </a:tbl>
          </a:graphicData>
        </a:graphic>
      </p:graphicFrame>
      <p:sp>
        <p:nvSpPr>
          <p:cNvPr id="4" name="AutoShape 4"/>
          <p:cNvSpPr>
            <a:spLocks noChangeArrowheads="1"/>
          </p:cNvSpPr>
          <p:nvPr/>
        </p:nvSpPr>
        <p:spPr bwMode="gray">
          <a:xfrm>
            <a:off x="86933" y="1686716"/>
            <a:ext cx="1080561" cy="498256"/>
          </a:xfrm>
          <a:prstGeom prst="roundRect">
            <a:avLst>
              <a:gd name="adj" fmla="val 50000"/>
            </a:avLst>
          </a:prstGeom>
          <a:gradFill rotWithShape="1">
            <a:gsLst>
              <a:gs pos="0">
                <a:schemeClr val="accent1">
                  <a:gamma/>
                  <a:shade val="45490"/>
                  <a:invGamma/>
                </a:schemeClr>
              </a:gs>
              <a:gs pos="50000">
                <a:schemeClr val="accent1"/>
              </a:gs>
              <a:gs pos="100000">
                <a:schemeClr val="accent1">
                  <a:gamma/>
                  <a:shade val="45490"/>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defTabSz="685800" eaLnBrk="0" hangingPunct="0">
              <a:defRPr/>
            </a:pPr>
            <a:r>
              <a:rPr lang="zh-CN" altLang="en-US" b="1" dirty="0">
                <a:solidFill>
                  <a:prstClr val="white"/>
                </a:solidFill>
                <a:effectLst>
                  <a:outerShdw blurRad="38100" dist="38100" dir="2700000" algn="tl">
                    <a:srgbClr val="000000"/>
                  </a:outerShdw>
                </a:effectLst>
                <a:latin typeface="Verdana" panose="020B0604030504040204" pitchFamily="34" charset="0"/>
                <a:ea typeface="仿宋_GB2312" pitchFamily="49" charset="-122"/>
              </a:rPr>
              <a:t>入栈</a:t>
            </a:r>
            <a:endParaRPr lang="en-US" altLang="zh-CN" dirty="0">
              <a:solidFill>
                <a:prstClr val="white"/>
              </a:solidFill>
              <a:effectLst>
                <a:outerShdw blurRad="38100" dist="38100" dir="2700000" algn="tl">
                  <a:srgbClr val="000000"/>
                </a:outerShdw>
              </a:effectLst>
              <a:latin typeface="Verdana" panose="020B0604030504040204" pitchFamily="34" charset="0"/>
              <a:ea typeface="宋体" panose="02010600030101010101" pitchFamily="2" charset="-122"/>
            </a:endParaRPr>
          </a:p>
        </p:txBody>
      </p:sp>
      <p:sp>
        <p:nvSpPr>
          <p:cNvPr id="5" name="Text Box 17"/>
          <p:cNvSpPr txBox="1">
            <a:spLocks noChangeArrowheads="1"/>
          </p:cNvSpPr>
          <p:nvPr/>
        </p:nvSpPr>
        <p:spPr bwMode="auto">
          <a:xfrm>
            <a:off x="1112520" y="5448300"/>
            <a:ext cx="1029335"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defRPr/>
            </a:pPr>
            <a:r>
              <a:rPr lang="en-US" altLang="zh-CN" sz="2100" b="1" dirty="0">
                <a:solidFill>
                  <a:srgbClr val="ED7D31"/>
                </a:solidFill>
                <a:latin typeface="" pitchFamily="18" charset="0"/>
                <a:ea typeface="楷体_GB2312" pitchFamily="49" charset="-122"/>
              </a:rPr>
              <a:t>top=0</a:t>
            </a:r>
            <a:endParaRPr lang="zh-CN" altLang="en-US" sz="2100" b="1" dirty="0">
              <a:solidFill>
                <a:srgbClr val="ED7D31"/>
              </a:solidFill>
              <a:latin typeface="" pitchFamily="18" charset="0"/>
              <a:ea typeface="楷体_GB2312" pitchFamily="49" charset="-122"/>
            </a:endParaRPr>
          </a:p>
        </p:txBody>
      </p:sp>
      <p:sp>
        <p:nvSpPr>
          <p:cNvPr id="6" name="Text Box 17"/>
          <p:cNvSpPr txBox="1">
            <a:spLocks noChangeArrowheads="1"/>
          </p:cNvSpPr>
          <p:nvPr/>
        </p:nvSpPr>
        <p:spPr bwMode="auto">
          <a:xfrm>
            <a:off x="1167493" y="4098925"/>
            <a:ext cx="97427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defRPr/>
            </a:pPr>
            <a:r>
              <a:rPr lang="zh-CN" altLang="en-US" sz="2100" b="1" dirty="0">
                <a:solidFill>
                  <a:srgbClr val="ED7D31"/>
                </a:solidFill>
                <a:latin typeface="" pitchFamily="18" charset="0"/>
                <a:ea typeface="楷体_GB2312" pitchFamily="49" charset="-122"/>
              </a:rPr>
              <a:t>空栈</a:t>
            </a:r>
            <a:endParaRPr lang="zh-CN" altLang="en-US" sz="2100" b="1" dirty="0">
              <a:solidFill>
                <a:srgbClr val="ED7D31"/>
              </a:solidFill>
              <a:latin typeface="" pitchFamily="18" charset="0"/>
              <a:ea typeface="楷体_GB2312" pitchFamily="49" charset="-122"/>
            </a:endParaRPr>
          </a:p>
        </p:txBody>
      </p:sp>
      <p:sp>
        <p:nvSpPr>
          <p:cNvPr id="7" name="Text Box 17"/>
          <p:cNvSpPr txBox="1">
            <a:spLocks noChangeArrowheads="1"/>
          </p:cNvSpPr>
          <p:nvPr/>
        </p:nvSpPr>
        <p:spPr bwMode="auto">
          <a:xfrm>
            <a:off x="238125" y="2350770"/>
            <a:ext cx="2020570" cy="106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lnSpc>
                <a:spcPct val="150000"/>
              </a:lnSpc>
              <a:defRPr/>
            </a:pPr>
            <a:r>
              <a:rPr lang="en-US" altLang="zh-CN" sz="2100" b="1" dirty="0">
                <a:solidFill>
                  <a:srgbClr val="FF0000"/>
                </a:solidFill>
                <a:latin typeface="" pitchFamily="18" charset="0"/>
                <a:ea typeface="楷体_GB2312" pitchFamily="49" charset="-122"/>
              </a:rPr>
              <a:t>int a[7],top;</a:t>
            </a:r>
            <a:endParaRPr lang="en-US" altLang="zh-CN" sz="2100" b="1" dirty="0">
              <a:solidFill>
                <a:srgbClr val="FF0000"/>
              </a:solidFill>
              <a:latin typeface="" pitchFamily="18" charset="0"/>
              <a:ea typeface="楷体_GB2312" pitchFamily="49" charset="-122"/>
            </a:endParaRPr>
          </a:p>
          <a:p>
            <a:pPr defTabSz="685800" eaLnBrk="0" hangingPunct="0">
              <a:lnSpc>
                <a:spcPct val="150000"/>
              </a:lnSpc>
              <a:defRPr/>
            </a:pPr>
            <a:r>
              <a:rPr lang="en-US" altLang="zh-CN" sz="2100" b="1" dirty="0">
                <a:solidFill>
                  <a:srgbClr val="FF0000"/>
                </a:solidFill>
                <a:latin typeface="" pitchFamily="18" charset="0"/>
                <a:ea typeface="楷体_GB2312" pitchFamily="49" charset="-122"/>
              </a:rPr>
              <a:t>top=0;</a:t>
            </a:r>
            <a:endParaRPr lang="zh-CN" altLang="en-US" sz="2100" b="1" dirty="0">
              <a:solidFill>
                <a:srgbClr val="FF0000"/>
              </a:solidFill>
              <a:latin typeface="" pitchFamily="18" charset="0"/>
              <a:ea typeface="楷体_GB2312" pitchFamily="49" charset="-122"/>
            </a:endParaRPr>
          </a:p>
        </p:txBody>
      </p:sp>
      <p:sp>
        <p:nvSpPr>
          <p:cNvPr id="8" name="Text Box 17"/>
          <p:cNvSpPr txBox="1">
            <a:spLocks noChangeArrowheads="1"/>
          </p:cNvSpPr>
          <p:nvPr/>
        </p:nvSpPr>
        <p:spPr bwMode="auto">
          <a:xfrm>
            <a:off x="3616099" y="2067927"/>
            <a:ext cx="323169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lnSpc>
                <a:spcPct val="150000"/>
              </a:lnSpc>
              <a:defRPr/>
            </a:pPr>
            <a:r>
              <a:rPr lang="en-US" altLang="zh-CN" sz="2400" b="1" dirty="0">
                <a:solidFill>
                  <a:srgbClr val="0000FF"/>
                </a:solidFill>
                <a:latin typeface="" pitchFamily="18" charset="0"/>
                <a:ea typeface="楷体_GB2312" pitchFamily="49" charset="-122"/>
              </a:rPr>
              <a:t>a[top]=m;    top=top+1;</a:t>
            </a:r>
            <a:endParaRPr lang="zh-CN" altLang="en-US" sz="2400" b="1" dirty="0">
              <a:solidFill>
                <a:srgbClr val="0000FF"/>
              </a:solidFill>
              <a:latin typeface="" pitchFamily="18" charset="0"/>
              <a:ea typeface="楷体_GB2312" pitchFamily="49" charset="-122"/>
            </a:endParaRPr>
          </a:p>
        </p:txBody>
      </p:sp>
      <p:graphicFrame>
        <p:nvGraphicFramePr>
          <p:cNvPr id="9" name="表格 8"/>
          <p:cNvGraphicFramePr>
            <a:graphicFrameLocks noGrp="1"/>
          </p:cNvGraphicFramePr>
          <p:nvPr/>
        </p:nvGraphicFramePr>
        <p:xfrm>
          <a:off x="7353300" y="2069763"/>
          <a:ext cx="623207" cy="3770991"/>
        </p:xfrm>
        <a:graphic>
          <a:graphicData uri="http://schemas.openxmlformats.org/drawingml/2006/table">
            <a:tbl>
              <a:tblPr firstRow="1" bandRow="1">
                <a:tableStyleId>{5940675A-B579-460E-94D1-54222C63F5DA}</a:tableStyleId>
              </a:tblPr>
              <a:tblGrid>
                <a:gridCol w="623207"/>
              </a:tblGrid>
              <a:tr h="538713">
                <a:tc>
                  <a:txBody>
                    <a:bodyPr/>
                    <a:lstStyle/>
                    <a:p>
                      <a:pPr algn="ctr"/>
                      <a:endParaRPr lang="zh-CN" altLang="en-US" sz="2100" dirty="0"/>
                    </a:p>
                  </a:txBody>
                  <a:tcPr marL="68580" marR="68580" marT="34290" marB="34290"/>
                </a:tc>
              </a:tr>
              <a:tr h="538713">
                <a:tc>
                  <a:txBody>
                    <a:bodyPr/>
                    <a:lstStyle/>
                    <a:p>
                      <a:pPr algn="ctr"/>
                      <a:endParaRPr lang="zh-CN" altLang="en-US" sz="2100"/>
                    </a:p>
                  </a:txBody>
                  <a:tcPr marL="68580" marR="68580" marT="34290" marB="34290"/>
                </a:tc>
              </a:tr>
              <a:tr h="538713">
                <a:tc>
                  <a:txBody>
                    <a:bodyPr/>
                    <a:lstStyle/>
                    <a:p>
                      <a:pPr algn="ctr"/>
                      <a:endParaRPr lang="zh-CN" altLang="en-US" sz="2100"/>
                    </a:p>
                  </a:txBody>
                  <a:tcPr marL="68580" marR="68580" marT="34290" marB="34290"/>
                </a:tc>
              </a:tr>
              <a:tr h="538713">
                <a:tc>
                  <a:txBody>
                    <a:bodyPr/>
                    <a:lstStyle/>
                    <a:p>
                      <a:pPr algn="ctr"/>
                      <a:endParaRPr lang="zh-CN" altLang="en-US" sz="2100"/>
                    </a:p>
                  </a:txBody>
                  <a:tcPr marL="68580" marR="68580" marT="34290" marB="34290"/>
                </a:tc>
              </a:tr>
              <a:tr h="538713">
                <a:tc>
                  <a:txBody>
                    <a:bodyPr/>
                    <a:lstStyle/>
                    <a:p>
                      <a:pPr algn="ctr"/>
                      <a:endParaRPr lang="zh-CN" altLang="en-US" sz="2100"/>
                    </a:p>
                  </a:txBody>
                  <a:tcPr marL="68580" marR="68580" marT="34290" marB="34290"/>
                </a:tc>
              </a:tr>
              <a:tr h="538713">
                <a:tc>
                  <a:txBody>
                    <a:bodyPr/>
                    <a:lstStyle/>
                    <a:p>
                      <a:pPr algn="ctr"/>
                      <a:endParaRPr lang="zh-CN" altLang="en-US" sz="2100"/>
                    </a:p>
                  </a:txBody>
                  <a:tcPr marL="68580" marR="68580" marT="34290" marB="34290"/>
                </a:tc>
              </a:tr>
              <a:tr h="538713">
                <a:tc>
                  <a:txBody>
                    <a:bodyPr/>
                    <a:lstStyle/>
                    <a:p>
                      <a:pPr algn="ctr"/>
                      <a:r>
                        <a:rPr lang="en-US" altLang="zh-CN" sz="2100" dirty="0"/>
                        <a:t>10</a:t>
                      </a:r>
                      <a:endParaRPr lang="zh-CN" altLang="en-US" sz="2100" dirty="0"/>
                    </a:p>
                  </a:txBody>
                  <a:tcPr marL="68580" marR="68580" marT="34290" marB="34290"/>
                </a:tc>
              </a:tr>
            </a:tbl>
          </a:graphicData>
        </a:graphic>
      </p:graphicFrame>
      <p:graphicFrame>
        <p:nvGraphicFramePr>
          <p:cNvPr id="10" name="表格 9"/>
          <p:cNvGraphicFramePr>
            <a:graphicFrameLocks noGrp="1"/>
          </p:cNvGraphicFramePr>
          <p:nvPr/>
        </p:nvGraphicFramePr>
        <p:xfrm>
          <a:off x="8015287" y="2094257"/>
          <a:ext cx="334736" cy="3770991"/>
        </p:xfrm>
        <a:graphic>
          <a:graphicData uri="http://schemas.openxmlformats.org/drawingml/2006/table">
            <a:tbl>
              <a:tblPr firstRow="1" bandRow="1">
                <a:tableStyleId>{2D5ABB26-0587-4C30-8999-92F81FD0307C}</a:tableStyleId>
              </a:tblPr>
              <a:tblGrid>
                <a:gridCol w="334736"/>
              </a:tblGrid>
              <a:tr h="538713">
                <a:tc>
                  <a:txBody>
                    <a:bodyPr/>
                    <a:lstStyle/>
                    <a:p>
                      <a:pPr algn="ctr"/>
                      <a:r>
                        <a:rPr lang="en-US" altLang="zh-CN" sz="2100" dirty="0"/>
                        <a:t>6</a:t>
                      </a:r>
                      <a:endParaRPr lang="zh-CN" altLang="en-US" sz="2100" dirty="0"/>
                    </a:p>
                  </a:txBody>
                  <a:tcPr marL="68580" marR="68580" marT="34290" marB="34290"/>
                </a:tc>
              </a:tr>
              <a:tr h="538713">
                <a:tc>
                  <a:txBody>
                    <a:bodyPr/>
                    <a:lstStyle/>
                    <a:p>
                      <a:pPr algn="ctr"/>
                      <a:r>
                        <a:rPr lang="en-US" altLang="zh-CN" sz="2100" dirty="0"/>
                        <a:t>5</a:t>
                      </a:r>
                      <a:endParaRPr lang="zh-CN" altLang="en-US" sz="2100" dirty="0"/>
                    </a:p>
                  </a:txBody>
                  <a:tcPr marL="68580" marR="68580" marT="34290" marB="34290"/>
                </a:tc>
              </a:tr>
              <a:tr h="538713">
                <a:tc>
                  <a:txBody>
                    <a:bodyPr/>
                    <a:lstStyle/>
                    <a:p>
                      <a:pPr algn="ctr"/>
                      <a:r>
                        <a:rPr lang="en-US" altLang="zh-CN" sz="2100" dirty="0"/>
                        <a:t>4</a:t>
                      </a:r>
                      <a:endParaRPr lang="zh-CN" altLang="en-US" sz="2100" dirty="0"/>
                    </a:p>
                  </a:txBody>
                  <a:tcPr marL="68580" marR="68580" marT="34290" marB="34290"/>
                </a:tc>
              </a:tr>
              <a:tr h="538713">
                <a:tc>
                  <a:txBody>
                    <a:bodyPr/>
                    <a:lstStyle/>
                    <a:p>
                      <a:pPr algn="ctr"/>
                      <a:r>
                        <a:rPr lang="en-US" altLang="zh-CN" sz="2100" dirty="0"/>
                        <a:t>3</a:t>
                      </a:r>
                      <a:endParaRPr lang="zh-CN" altLang="en-US" sz="2100" dirty="0"/>
                    </a:p>
                  </a:txBody>
                  <a:tcPr marL="68580" marR="68580" marT="34290" marB="34290"/>
                </a:tc>
              </a:tr>
              <a:tr h="538713">
                <a:tc>
                  <a:txBody>
                    <a:bodyPr/>
                    <a:lstStyle/>
                    <a:p>
                      <a:pPr algn="ctr"/>
                      <a:r>
                        <a:rPr lang="en-US" altLang="zh-CN" sz="2100" dirty="0"/>
                        <a:t>2</a:t>
                      </a:r>
                      <a:endParaRPr lang="zh-CN" altLang="en-US" sz="2100" dirty="0"/>
                    </a:p>
                  </a:txBody>
                  <a:tcPr marL="68580" marR="68580" marT="34290" marB="34290"/>
                </a:tc>
              </a:tr>
              <a:tr h="538713">
                <a:tc>
                  <a:txBody>
                    <a:bodyPr/>
                    <a:lstStyle/>
                    <a:p>
                      <a:pPr algn="ctr"/>
                      <a:r>
                        <a:rPr lang="en-US" altLang="zh-CN" sz="2100" dirty="0"/>
                        <a:t>1</a:t>
                      </a:r>
                      <a:endParaRPr lang="zh-CN" altLang="en-US" sz="2100" dirty="0"/>
                    </a:p>
                  </a:txBody>
                  <a:tcPr marL="68580" marR="68580" marT="34290" marB="34290"/>
                </a:tc>
              </a:tr>
              <a:tr h="538713">
                <a:tc>
                  <a:txBody>
                    <a:bodyPr/>
                    <a:lstStyle/>
                    <a:p>
                      <a:pPr algn="ctr"/>
                      <a:r>
                        <a:rPr lang="en-US" altLang="zh-CN" sz="2100" dirty="0"/>
                        <a:t>0</a:t>
                      </a:r>
                      <a:endParaRPr lang="zh-CN" altLang="en-US" sz="2100" dirty="0"/>
                    </a:p>
                  </a:txBody>
                  <a:tcPr marL="68580" marR="68580" marT="34290" marB="34290"/>
                </a:tc>
              </a:tr>
            </a:tbl>
          </a:graphicData>
        </a:graphic>
      </p:graphicFrame>
      <p:sp>
        <p:nvSpPr>
          <p:cNvPr id="11" name="Text Box 17"/>
          <p:cNvSpPr txBox="1">
            <a:spLocks noChangeArrowheads="1"/>
          </p:cNvSpPr>
          <p:nvPr/>
        </p:nvSpPr>
        <p:spPr bwMode="auto">
          <a:xfrm>
            <a:off x="6343650" y="4857115"/>
            <a:ext cx="1031240"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defRPr/>
            </a:pPr>
            <a:r>
              <a:rPr lang="en-US" altLang="zh-CN" sz="2100" b="1" dirty="0">
                <a:solidFill>
                  <a:srgbClr val="ED7D31"/>
                </a:solidFill>
                <a:latin typeface="" pitchFamily="18" charset="0"/>
                <a:ea typeface="楷体_GB2312" pitchFamily="49" charset="-122"/>
              </a:rPr>
              <a:t>top=1</a:t>
            </a:r>
            <a:endParaRPr lang="zh-CN" altLang="en-US" sz="2100" b="1" dirty="0">
              <a:solidFill>
                <a:srgbClr val="ED7D31"/>
              </a:solidFill>
              <a:latin typeface="" pitchFamily="18" charset="0"/>
              <a:ea typeface="楷体_GB2312" pitchFamily="49" charset="-122"/>
            </a:endParaRPr>
          </a:p>
        </p:txBody>
      </p:sp>
      <p:sp>
        <p:nvSpPr>
          <p:cNvPr id="13" name="Text Box 17"/>
          <p:cNvSpPr txBox="1">
            <a:spLocks noChangeArrowheads="1"/>
          </p:cNvSpPr>
          <p:nvPr/>
        </p:nvSpPr>
        <p:spPr bwMode="auto">
          <a:xfrm>
            <a:off x="6304873" y="3967621"/>
            <a:ext cx="1273631"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defRPr/>
            </a:pPr>
            <a:r>
              <a:rPr lang="en-US" altLang="zh-CN" sz="2100" b="1" dirty="0">
                <a:solidFill>
                  <a:srgbClr val="ED7D31"/>
                </a:solidFill>
                <a:latin typeface="" pitchFamily="18" charset="0"/>
                <a:ea typeface="楷体_GB2312" pitchFamily="49" charset="-122"/>
              </a:rPr>
              <a:t>10</a:t>
            </a:r>
            <a:r>
              <a:rPr lang="zh-CN" altLang="en-US" sz="2100" b="1" dirty="0">
                <a:solidFill>
                  <a:srgbClr val="ED7D31"/>
                </a:solidFill>
                <a:latin typeface="" pitchFamily="18" charset="0"/>
                <a:ea typeface="楷体_GB2312" pitchFamily="49" charset="-122"/>
              </a:rPr>
              <a:t>入栈</a:t>
            </a:r>
            <a:endParaRPr lang="zh-CN" altLang="en-US" sz="2100" b="1" dirty="0">
              <a:solidFill>
                <a:srgbClr val="ED7D31"/>
              </a:solidFill>
              <a:latin typeface="" pitchFamily="18" charset="0"/>
              <a:ea typeface="楷体_GB2312" pitchFamily="49" charset="-122"/>
            </a:endParaRPr>
          </a:p>
        </p:txBody>
      </p:sp>
      <p:sp>
        <p:nvSpPr>
          <p:cNvPr id="14" name="矩形 13"/>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3.7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2198916" y="2148114"/>
          <a:ext cx="623207" cy="3770991"/>
        </p:xfrm>
        <a:graphic>
          <a:graphicData uri="http://schemas.openxmlformats.org/drawingml/2006/table">
            <a:tbl>
              <a:tblPr firstRow="1" bandRow="1">
                <a:tableStyleId>{5940675A-B579-460E-94D1-54222C63F5DA}</a:tableStyleId>
              </a:tblPr>
              <a:tblGrid>
                <a:gridCol w="623207"/>
              </a:tblGrid>
              <a:tr h="538713">
                <a:tc>
                  <a:txBody>
                    <a:bodyPr/>
                    <a:lstStyle/>
                    <a:p>
                      <a:pPr algn="ctr"/>
                      <a:endParaRPr lang="zh-CN" altLang="en-US" sz="2100" dirty="0"/>
                    </a:p>
                  </a:txBody>
                  <a:tcPr marL="68580" marR="68580" marT="34290" marB="34290"/>
                </a:tc>
              </a:tr>
              <a:tr h="538713">
                <a:tc>
                  <a:txBody>
                    <a:bodyPr/>
                    <a:lstStyle/>
                    <a:p>
                      <a:pPr algn="ctr"/>
                      <a:r>
                        <a:rPr lang="en-US" altLang="zh-CN" sz="2100" dirty="0"/>
                        <a:t>9</a:t>
                      </a:r>
                      <a:endParaRPr lang="zh-CN" altLang="en-US" sz="2100" dirty="0"/>
                    </a:p>
                  </a:txBody>
                  <a:tcPr marL="68580" marR="68580" marT="34290" marB="34290"/>
                </a:tc>
              </a:tr>
              <a:tr h="538713">
                <a:tc>
                  <a:txBody>
                    <a:bodyPr/>
                    <a:lstStyle/>
                    <a:p>
                      <a:pPr algn="ctr"/>
                      <a:r>
                        <a:rPr lang="en-US" altLang="zh-CN" sz="2100" dirty="0"/>
                        <a:t>78</a:t>
                      </a:r>
                      <a:endParaRPr lang="zh-CN" altLang="en-US" sz="2100" dirty="0"/>
                    </a:p>
                  </a:txBody>
                  <a:tcPr marL="68580" marR="68580" marT="34290" marB="34290"/>
                </a:tc>
              </a:tr>
              <a:tr h="538713">
                <a:tc>
                  <a:txBody>
                    <a:bodyPr/>
                    <a:lstStyle/>
                    <a:p>
                      <a:pPr algn="ctr"/>
                      <a:r>
                        <a:rPr lang="en-US" altLang="zh-CN" sz="2100" dirty="0"/>
                        <a:t>56</a:t>
                      </a:r>
                      <a:endParaRPr lang="zh-CN" altLang="en-US" sz="2100" dirty="0"/>
                    </a:p>
                  </a:txBody>
                  <a:tcPr marL="68580" marR="68580" marT="34290" marB="34290"/>
                </a:tc>
              </a:tr>
              <a:tr h="538713">
                <a:tc>
                  <a:txBody>
                    <a:bodyPr/>
                    <a:lstStyle/>
                    <a:p>
                      <a:pPr algn="ctr"/>
                      <a:r>
                        <a:rPr lang="en-US" altLang="zh-CN" sz="2100" dirty="0"/>
                        <a:t>34</a:t>
                      </a:r>
                      <a:endParaRPr lang="zh-CN" altLang="en-US" sz="2100" dirty="0"/>
                    </a:p>
                  </a:txBody>
                  <a:tcPr marL="68580" marR="68580" marT="34290" marB="34290"/>
                </a:tc>
              </a:tr>
              <a:tr h="538713">
                <a:tc>
                  <a:txBody>
                    <a:bodyPr/>
                    <a:lstStyle/>
                    <a:p>
                      <a:pPr algn="ctr"/>
                      <a:r>
                        <a:rPr lang="en-US" altLang="zh-CN" sz="2100" dirty="0"/>
                        <a:t>20</a:t>
                      </a:r>
                      <a:endParaRPr lang="zh-CN" altLang="en-US" sz="2100" dirty="0"/>
                    </a:p>
                  </a:txBody>
                  <a:tcPr marL="68580" marR="68580" marT="34290" marB="34290"/>
                </a:tc>
              </a:tr>
              <a:tr h="538713">
                <a:tc>
                  <a:txBody>
                    <a:bodyPr/>
                    <a:lstStyle/>
                    <a:p>
                      <a:pPr algn="ctr"/>
                      <a:r>
                        <a:rPr lang="en-US" altLang="zh-CN" sz="2100" dirty="0"/>
                        <a:t>10</a:t>
                      </a:r>
                      <a:endParaRPr lang="zh-CN" altLang="en-US" sz="2100" dirty="0"/>
                    </a:p>
                  </a:txBody>
                  <a:tcPr marL="68580" marR="68580" marT="34290" marB="34290"/>
                </a:tc>
              </a:tr>
            </a:tbl>
          </a:graphicData>
        </a:graphic>
      </p:graphicFrame>
      <p:graphicFrame>
        <p:nvGraphicFramePr>
          <p:cNvPr id="3" name="表格 2"/>
          <p:cNvGraphicFramePr>
            <a:graphicFrameLocks noGrp="1"/>
          </p:cNvGraphicFramePr>
          <p:nvPr/>
        </p:nvGraphicFramePr>
        <p:xfrm>
          <a:off x="2860903" y="2172608"/>
          <a:ext cx="334736" cy="3770991"/>
        </p:xfrm>
        <a:graphic>
          <a:graphicData uri="http://schemas.openxmlformats.org/drawingml/2006/table">
            <a:tbl>
              <a:tblPr firstRow="1" bandRow="1">
                <a:tableStyleId>{2D5ABB26-0587-4C30-8999-92F81FD0307C}</a:tableStyleId>
              </a:tblPr>
              <a:tblGrid>
                <a:gridCol w="334736"/>
              </a:tblGrid>
              <a:tr h="538713">
                <a:tc>
                  <a:txBody>
                    <a:bodyPr/>
                    <a:lstStyle/>
                    <a:p>
                      <a:pPr algn="ctr"/>
                      <a:r>
                        <a:rPr lang="en-US" altLang="zh-CN" sz="2100" dirty="0"/>
                        <a:t>6</a:t>
                      </a:r>
                      <a:endParaRPr lang="zh-CN" altLang="en-US" sz="2100" dirty="0"/>
                    </a:p>
                  </a:txBody>
                  <a:tcPr marL="68580" marR="68580" marT="34290" marB="34290"/>
                </a:tc>
              </a:tr>
              <a:tr h="538713">
                <a:tc>
                  <a:txBody>
                    <a:bodyPr/>
                    <a:lstStyle/>
                    <a:p>
                      <a:pPr algn="ctr"/>
                      <a:r>
                        <a:rPr lang="en-US" altLang="zh-CN" sz="2100" dirty="0"/>
                        <a:t>5</a:t>
                      </a:r>
                      <a:endParaRPr lang="zh-CN" altLang="en-US" sz="2100" dirty="0"/>
                    </a:p>
                  </a:txBody>
                  <a:tcPr marL="68580" marR="68580" marT="34290" marB="34290"/>
                </a:tc>
              </a:tr>
              <a:tr h="538713">
                <a:tc>
                  <a:txBody>
                    <a:bodyPr/>
                    <a:lstStyle/>
                    <a:p>
                      <a:pPr algn="ctr"/>
                      <a:r>
                        <a:rPr lang="en-US" altLang="zh-CN" sz="2100" dirty="0"/>
                        <a:t>4</a:t>
                      </a:r>
                      <a:endParaRPr lang="zh-CN" altLang="en-US" sz="2100" dirty="0"/>
                    </a:p>
                  </a:txBody>
                  <a:tcPr marL="68580" marR="68580" marT="34290" marB="34290"/>
                </a:tc>
              </a:tr>
              <a:tr h="538713">
                <a:tc>
                  <a:txBody>
                    <a:bodyPr/>
                    <a:lstStyle/>
                    <a:p>
                      <a:pPr algn="ctr"/>
                      <a:r>
                        <a:rPr lang="en-US" altLang="zh-CN" sz="2100" dirty="0"/>
                        <a:t>3</a:t>
                      </a:r>
                      <a:endParaRPr lang="zh-CN" altLang="en-US" sz="2100" dirty="0"/>
                    </a:p>
                  </a:txBody>
                  <a:tcPr marL="68580" marR="68580" marT="34290" marB="34290"/>
                </a:tc>
              </a:tr>
              <a:tr h="538713">
                <a:tc>
                  <a:txBody>
                    <a:bodyPr/>
                    <a:lstStyle/>
                    <a:p>
                      <a:pPr algn="ctr"/>
                      <a:r>
                        <a:rPr lang="en-US" altLang="zh-CN" sz="2100" dirty="0"/>
                        <a:t>2</a:t>
                      </a:r>
                      <a:endParaRPr lang="zh-CN" altLang="en-US" sz="2100" dirty="0"/>
                    </a:p>
                  </a:txBody>
                  <a:tcPr marL="68580" marR="68580" marT="34290" marB="34290"/>
                </a:tc>
              </a:tr>
              <a:tr h="538713">
                <a:tc>
                  <a:txBody>
                    <a:bodyPr/>
                    <a:lstStyle/>
                    <a:p>
                      <a:pPr algn="ctr"/>
                      <a:r>
                        <a:rPr lang="en-US" altLang="zh-CN" sz="2100" dirty="0"/>
                        <a:t>1</a:t>
                      </a:r>
                      <a:endParaRPr lang="zh-CN" altLang="en-US" sz="2100" dirty="0"/>
                    </a:p>
                  </a:txBody>
                  <a:tcPr marL="68580" marR="68580" marT="34290" marB="34290"/>
                </a:tc>
              </a:tr>
              <a:tr h="538713">
                <a:tc>
                  <a:txBody>
                    <a:bodyPr/>
                    <a:lstStyle/>
                    <a:p>
                      <a:pPr algn="ctr"/>
                      <a:r>
                        <a:rPr lang="en-US" altLang="zh-CN" sz="2100" dirty="0"/>
                        <a:t>0</a:t>
                      </a:r>
                      <a:endParaRPr lang="zh-CN" altLang="en-US" sz="2100" dirty="0"/>
                    </a:p>
                  </a:txBody>
                  <a:tcPr marL="68580" marR="68580" marT="34290" marB="34290"/>
                </a:tc>
              </a:tr>
            </a:tbl>
          </a:graphicData>
        </a:graphic>
      </p:graphicFrame>
      <p:sp>
        <p:nvSpPr>
          <p:cNvPr id="5" name="Text Box 17"/>
          <p:cNvSpPr txBox="1">
            <a:spLocks noChangeArrowheads="1"/>
          </p:cNvSpPr>
          <p:nvPr/>
        </p:nvSpPr>
        <p:spPr bwMode="auto">
          <a:xfrm>
            <a:off x="1235528" y="2191696"/>
            <a:ext cx="97427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defRPr/>
            </a:pPr>
            <a:r>
              <a:rPr lang="en-US" altLang="zh-CN" sz="2100" b="1" dirty="0">
                <a:solidFill>
                  <a:srgbClr val="ED7D31"/>
                </a:solidFill>
                <a:latin typeface="" pitchFamily="18" charset="0"/>
                <a:ea typeface="楷体_GB2312" pitchFamily="49" charset="-122"/>
              </a:rPr>
              <a:t>top=6</a:t>
            </a:r>
            <a:endParaRPr lang="zh-CN" altLang="en-US" sz="2100" b="1" dirty="0">
              <a:solidFill>
                <a:srgbClr val="ED7D31"/>
              </a:solidFill>
              <a:latin typeface="" pitchFamily="18" charset="0"/>
              <a:ea typeface="楷体_GB2312" pitchFamily="49" charset="-122"/>
            </a:endParaRPr>
          </a:p>
        </p:txBody>
      </p:sp>
      <p:sp>
        <p:nvSpPr>
          <p:cNvPr id="7" name="Text Box 17"/>
          <p:cNvSpPr txBox="1">
            <a:spLocks noChangeArrowheads="1"/>
          </p:cNvSpPr>
          <p:nvPr/>
        </p:nvSpPr>
        <p:spPr bwMode="auto">
          <a:xfrm>
            <a:off x="151211" y="1444645"/>
            <a:ext cx="3142908"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lnSpc>
                <a:spcPct val="150000"/>
              </a:lnSpc>
              <a:defRPr/>
            </a:pPr>
            <a:r>
              <a:rPr lang="en-US" altLang="zh-CN" sz="2100" b="1" dirty="0">
                <a:solidFill>
                  <a:srgbClr val="FF0000"/>
                </a:solidFill>
                <a:latin typeface="" pitchFamily="18" charset="0"/>
                <a:ea typeface="楷体_GB2312" pitchFamily="49" charset="-122"/>
              </a:rPr>
              <a:t>10,20,34,56,78,9</a:t>
            </a:r>
            <a:r>
              <a:rPr lang="zh-CN" altLang="en-US" sz="2100" b="1" dirty="0">
                <a:solidFill>
                  <a:srgbClr val="FF0000"/>
                </a:solidFill>
                <a:latin typeface="" pitchFamily="18" charset="0"/>
                <a:ea typeface="楷体_GB2312" pitchFamily="49" charset="-122"/>
              </a:rPr>
              <a:t>入栈</a:t>
            </a:r>
            <a:endParaRPr lang="zh-CN" altLang="en-US" sz="2100" b="1" dirty="0">
              <a:solidFill>
                <a:srgbClr val="FF0000"/>
              </a:solidFill>
              <a:latin typeface="" pitchFamily="18" charset="0"/>
              <a:ea typeface="楷体_GB2312" pitchFamily="49" charset="-122"/>
            </a:endParaRPr>
          </a:p>
        </p:txBody>
      </p:sp>
      <p:graphicFrame>
        <p:nvGraphicFramePr>
          <p:cNvPr id="14" name="表格 13"/>
          <p:cNvGraphicFramePr>
            <a:graphicFrameLocks noGrp="1"/>
          </p:cNvGraphicFramePr>
          <p:nvPr/>
        </p:nvGraphicFramePr>
        <p:xfrm>
          <a:off x="5276854" y="2104532"/>
          <a:ext cx="623207" cy="3770991"/>
        </p:xfrm>
        <a:graphic>
          <a:graphicData uri="http://schemas.openxmlformats.org/drawingml/2006/table">
            <a:tbl>
              <a:tblPr firstRow="1" bandRow="1">
                <a:tableStyleId>{5940675A-B579-460E-94D1-54222C63F5DA}</a:tableStyleId>
              </a:tblPr>
              <a:tblGrid>
                <a:gridCol w="623207"/>
              </a:tblGrid>
              <a:tr h="538713">
                <a:tc>
                  <a:txBody>
                    <a:bodyPr/>
                    <a:lstStyle/>
                    <a:p>
                      <a:pPr algn="ctr"/>
                      <a:r>
                        <a:rPr lang="en-US" altLang="zh-CN" sz="2100" dirty="0"/>
                        <a:t>26</a:t>
                      </a:r>
                      <a:endParaRPr lang="zh-CN" altLang="en-US" sz="2100" dirty="0"/>
                    </a:p>
                  </a:txBody>
                  <a:tcPr marL="68580" marR="68580" marT="34290" marB="34290"/>
                </a:tc>
              </a:tr>
              <a:tr h="538713">
                <a:tc>
                  <a:txBody>
                    <a:bodyPr/>
                    <a:lstStyle/>
                    <a:p>
                      <a:pPr algn="ctr"/>
                      <a:r>
                        <a:rPr lang="en-US" altLang="zh-CN" sz="2100" dirty="0"/>
                        <a:t>9</a:t>
                      </a:r>
                      <a:endParaRPr lang="zh-CN" altLang="en-US" sz="2100" dirty="0"/>
                    </a:p>
                  </a:txBody>
                  <a:tcPr marL="68580" marR="68580" marT="34290" marB="34290"/>
                </a:tc>
              </a:tr>
              <a:tr h="538713">
                <a:tc>
                  <a:txBody>
                    <a:bodyPr/>
                    <a:lstStyle/>
                    <a:p>
                      <a:pPr algn="ctr"/>
                      <a:r>
                        <a:rPr lang="en-US" altLang="zh-CN" sz="2100" dirty="0"/>
                        <a:t>78</a:t>
                      </a:r>
                      <a:endParaRPr lang="zh-CN" altLang="en-US" sz="2100" dirty="0"/>
                    </a:p>
                  </a:txBody>
                  <a:tcPr marL="68580" marR="68580" marT="34290" marB="34290"/>
                </a:tc>
              </a:tr>
              <a:tr h="538713">
                <a:tc>
                  <a:txBody>
                    <a:bodyPr/>
                    <a:lstStyle/>
                    <a:p>
                      <a:pPr algn="ctr"/>
                      <a:r>
                        <a:rPr lang="en-US" altLang="zh-CN" sz="2100" dirty="0"/>
                        <a:t>56</a:t>
                      </a:r>
                      <a:endParaRPr lang="zh-CN" altLang="en-US" sz="2100" dirty="0"/>
                    </a:p>
                  </a:txBody>
                  <a:tcPr marL="68580" marR="68580" marT="34290" marB="34290"/>
                </a:tc>
              </a:tr>
              <a:tr h="538713">
                <a:tc>
                  <a:txBody>
                    <a:bodyPr/>
                    <a:lstStyle/>
                    <a:p>
                      <a:pPr algn="ctr"/>
                      <a:r>
                        <a:rPr lang="en-US" altLang="zh-CN" sz="2100" dirty="0"/>
                        <a:t>34</a:t>
                      </a:r>
                      <a:endParaRPr lang="zh-CN" altLang="en-US" sz="2100" dirty="0"/>
                    </a:p>
                  </a:txBody>
                  <a:tcPr marL="68580" marR="68580" marT="34290" marB="34290"/>
                </a:tc>
              </a:tr>
              <a:tr h="538713">
                <a:tc>
                  <a:txBody>
                    <a:bodyPr/>
                    <a:lstStyle/>
                    <a:p>
                      <a:pPr algn="ctr"/>
                      <a:r>
                        <a:rPr lang="en-US" altLang="zh-CN" sz="2100" dirty="0"/>
                        <a:t>20</a:t>
                      </a:r>
                      <a:endParaRPr lang="zh-CN" altLang="en-US" sz="2100" dirty="0"/>
                    </a:p>
                  </a:txBody>
                  <a:tcPr marL="68580" marR="68580" marT="34290" marB="34290"/>
                </a:tc>
              </a:tr>
              <a:tr h="538713">
                <a:tc>
                  <a:txBody>
                    <a:bodyPr/>
                    <a:lstStyle/>
                    <a:p>
                      <a:pPr algn="ctr"/>
                      <a:r>
                        <a:rPr lang="en-US" altLang="zh-CN" sz="2100" dirty="0"/>
                        <a:t>10</a:t>
                      </a:r>
                      <a:endParaRPr lang="zh-CN" altLang="en-US" sz="2100" dirty="0"/>
                    </a:p>
                  </a:txBody>
                  <a:tcPr marL="68580" marR="68580" marT="34290" marB="34290"/>
                </a:tc>
              </a:tr>
            </a:tbl>
          </a:graphicData>
        </a:graphic>
      </p:graphicFrame>
      <p:graphicFrame>
        <p:nvGraphicFramePr>
          <p:cNvPr id="15" name="表格 14"/>
          <p:cNvGraphicFramePr>
            <a:graphicFrameLocks noGrp="1"/>
          </p:cNvGraphicFramePr>
          <p:nvPr/>
        </p:nvGraphicFramePr>
        <p:xfrm>
          <a:off x="5938841" y="2129026"/>
          <a:ext cx="334736" cy="3770991"/>
        </p:xfrm>
        <a:graphic>
          <a:graphicData uri="http://schemas.openxmlformats.org/drawingml/2006/table">
            <a:tbl>
              <a:tblPr firstRow="1" bandRow="1">
                <a:tableStyleId>{2D5ABB26-0587-4C30-8999-92F81FD0307C}</a:tableStyleId>
              </a:tblPr>
              <a:tblGrid>
                <a:gridCol w="334736"/>
              </a:tblGrid>
              <a:tr h="538713">
                <a:tc>
                  <a:txBody>
                    <a:bodyPr/>
                    <a:lstStyle/>
                    <a:p>
                      <a:pPr algn="ctr"/>
                      <a:r>
                        <a:rPr lang="en-US" altLang="zh-CN" sz="2100" dirty="0"/>
                        <a:t>6</a:t>
                      </a:r>
                      <a:endParaRPr lang="zh-CN" altLang="en-US" sz="2100" dirty="0"/>
                    </a:p>
                  </a:txBody>
                  <a:tcPr marL="68580" marR="68580" marT="34290" marB="34290"/>
                </a:tc>
              </a:tr>
              <a:tr h="538713">
                <a:tc>
                  <a:txBody>
                    <a:bodyPr/>
                    <a:lstStyle/>
                    <a:p>
                      <a:pPr algn="ctr"/>
                      <a:r>
                        <a:rPr lang="en-US" altLang="zh-CN" sz="2100" dirty="0"/>
                        <a:t>5</a:t>
                      </a:r>
                      <a:endParaRPr lang="zh-CN" altLang="en-US" sz="2100" dirty="0"/>
                    </a:p>
                  </a:txBody>
                  <a:tcPr marL="68580" marR="68580" marT="34290" marB="34290"/>
                </a:tc>
              </a:tr>
              <a:tr h="538713">
                <a:tc>
                  <a:txBody>
                    <a:bodyPr/>
                    <a:lstStyle/>
                    <a:p>
                      <a:pPr algn="ctr"/>
                      <a:r>
                        <a:rPr lang="en-US" altLang="zh-CN" sz="2100" dirty="0"/>
                        <a:t>4</a:t>
                      </a:r>
                      <a:endParaRPr lang="zh-CN" altLang="en-US" sz="2100" dirty="0"/>
                    </a:p>
                  </a:txBody>
                  <a:tcPr marL="68580" marR="68580" marT="34290" marB="34290"/>
                </a:tc>
              </a:tr>
              <a:tr h="538713">
                <a:tc>
                  <a:txBody>
                    <a:bodyPr/>
                    <a:lstStyle/>
                    <a:p>
                      <a:pPr algn="ctr"/>
                      <a:r>
                        <a:rPr lang="en-US" altLang="zh-CN" sz="2100" dirty="0"/>
                        <a:t>3</a:t>
                      </a:r>
                      <a:endParaRPr lang="zh-CN" altLang="en-US" sz="2100" dirty="0"/>
                    </a:p>
                  </a:txBody>
                  <a:tcPr marL="68580" marR="68580" marT="34290" marB="34290"/>
                </a:tc>
              </a:tr>
              <a:tr h="538713">
                <a:tc>
                  <a:txBody>
                    <a:bodyPr/>
                    <a:lstStyle/>
                    <a:p>
                      <a:pPr algn="ctr"/>
                      <a:r>
                        <a:rPr lang="en-US" altLang="zh-CN" sz="2100" dirty="0"/>
                        <a:t>2</a:t>
                      </a:r>
                      <a:endParaRPr lang="zh-CN" altLang="en-US" sz="2100" dirty="0"/>
                    </a:p>
                  </a:txBody>
                  <a:tcPr marL="68580" marR="68580" marT="34290" marB="34290"/>
                </a:tc>
              </a:tr>
              <a:tr h="538713">
                <a:tc>
                  <a:txBody>
                    <a:bodyPr/>
                    <a:lstStyle/>
                    <a:p>
                      <a:pPr algn="ctr"/>
                      <a:r>
                        <a:rPr lang="en-US" altLang="zh-CN" sz="2100" dirty="0"/>
                        <a:t>1</a:t>
                      </a:r>
                      <a:endParaRPr lang="zh-CN" altLang="en-US" sz="2100" dirty="0"/>
                    </a:p>
                  </a:txBody>
                  <a:tcPr marL="68580" marR="68580" marT="34290" marB="34290"/>
                </a:tc>
              </a:tr>
              <a:tr h="538713">
                <a:tc>
                  <a:txBody>
                    <a:bodyPr/>
                    <a:lstStyle/>
                    <a:p>
                      <a:pPr algn="ctr"/>
                      <a:r>
                        <a:rPr lang="en-US" altLang="zh-CN" sz="2100" dirty="0"/>
                        <a:t>0</a:t>
                      </a:r>
                      <a:endParaRPr lang="zh-CN" altLang="en-US" sz="2100" dirty="0"/>
                    </a:p>
                  </a:txBody>
                  <a:tcPr marL="68580" marR="68580" marT="34290" marB="34290"/>
                </a:tc>
              </a:tr>
            </a:tbl>
          </a:graphicData>
        </a:graphic>
      </p:graphicFrame>
      <p:sp>
        <p:nvSpPr>
          <p:cNvPr id="16" name="Text Box 17"/>
          <p:cNvSpPr txBox="1">
            <a:spLocks noChangeArrowheads="1"/>
          </p:cNvSpPr>
          <p:nvPr/>
        </p:nvSpPr>
        <p:spPr bwMode="auto">
          <a:xfrm>
            <a:off x="4333331" y="1704969"/>
            <a:ext cx="974273"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defRPr/>
            </a:pPr>
            <a:r>
              <a:rPr lang="en-US" altLang="zh-CN" sz="2100" b="1" dirty="0">
                <a:solidFill>
                  <a:srgbClr val="ED7D31"/>
                </a:solidFill>
                <a:latin typeface="" pitchFamily="18" charset="0"/>
                <a:ea typeface="楷体_GB2312" pitchFamily="49" charset="-122"/>
              </a:rPr>
              <a:t>top=7</a:t>
            </a:r>
            <a:endParaRPr lang="zh-CN" altLang="en-US" sz="2100" b="1" dirty="0">
              <a:solidFill>
                <a:srgbClr val="ED7D31"/>
              </a:solidFill>
              <a:latin typeface="" pitchFamily="18" charset="0"/>
              <a:ea typeface="楷体_GB2312" pitchFamily="49" charset="-122"/>
            </a:endParaRPr>
          </a:p>
        </p:txBody>
      </p:sp>
      <p:sp>
        <p:nvSpPr>
          <p:cNvPr id="17" name="Text Box 17"/>
          <p:cNvSpPr txBox="1">
            <a:spLocks noChangeArrowheads="1"/>
          </p:cNvSpPr>
          <p:nvPr/>
        </p:nvSpPr>
        <p:spPr bwMode="auto">
          <a:xfrm>
            <a:off x="6627905" y="2097384"/>
            <a:ext cx="1353372"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lnSpc>
                <a:spcPct val="150000"/>
              </a:lnSpc>
              <a:defRPr/>
            </a:pPr>
            <a:r>
              <a:rPr lang="en-US" altLang="zh-CN" sz="2100" b="1" dirty="0">
                <a:solidFill>
                  <a:srgbClr val="FF0000"/>
                </a:solidFill>
                <a:latin typeface="" pitchFamily="18" charset="0"/>
                <a:ea typeface="楷体_GB2312" pitchFamily="49" charset="-122"/>
              </a:rPr>
              <a:t>26</a:t>
            </a:r>
            <a:r>
              <a:rPr lang="zh-CN" altLang="en-US" sz="2100" b="1" dirty="0">
                <a:solidFill>
                  <a:srgbClr val="FF0000"/>
                </a:solidFill>
                <a:latin typeface="" pitchFamily="18" charset="0"/>
                <a:ea typeface="楷体_GB2312" pitchFamily="49" charset="-122"/>
              </a:rPr>
              <a:t>入栈</a:t>
            </a:r>
            <a:endParaRPr lang="zh-CN" altLang="en-US" sz="2100" b="1" dirty="0">
              <a:solidFill>
                <a:srgbClr val="FF0000"/>
              </a:solidFill>
              <a:latin typeface="" pitchFamily="18" charset="0"/>
              <a:ea typeface="楷体_GB2312" pitchFamily="49" charset="-122"/>
            </a:endParaRPr>
          </a:p>
        </p:txBody>
      </p:sp>
      <p:sp>
        <p:nvSpPr>
          <p:cNvPr id="18" name="Text Box 17"/>
          <p:cNvSpPr txBox="1">
            <a:spLocks noChangeArrowheads="1"/>
          </p:cNvSpPr>
          <p:nvPr/>
        </p:nvSpPr>
        <p:spPr bwMode="auto">
          <a:xfrm>
            <a:off x="6627904" y="2777774"/>
            <a:ext cx="2516095" cy="525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lnSpc>
                <a:spcPct val="150000"/>
              </a:lnSpc>
              <a:defRPr/>
            </a:pPr>
            <a:r>
              <a:rPr lang="zh-CN" altLang="en-US" sz="2100" b="1" dirty="0">
                <a:solidFill>
                  <a:srgbClr val="FF0000"/>
                </a:solidFill>
                <a:latin typeface="" pitchFamily="18" charset="0"/>
                <a:ea typeface="楷体_GB2312" pitchFamily="49" charset="-122"/>
              </a:rPr>
              <a:t>满栈</a:t>
            </a:r>
            <a:r>
              <a:rPr lang="en-US" altLang="zh-CN" sz="2100" b="1" dirty="0">
                <a:solidFill>
                  <a:srgbClr val="FF0000"/>
                </a:solidFill>
                <a:latin typeface="" pitchFamily="18" charset="0"/>
                <a:ea typeface="楷体_GB2312" pitchFamily="49" charset="-122"/>
              </a:rPr>
              <a:t>top=length</a:t>
            </a:r>
            <a:endParaRPr lang="zh-CN" altLang="en-US" sz="2100" b="1" dirty="0">
              <a:solidFill>
                <a:srgbClr val="FF0000"/>
              </a:solidFill>
              <a:latin typeface="" pitchFamily="18" charset="0"/>
              <a:ea typeface="楷体_GB2312" pitchFamily="49" charset="-122"/>
            </a:endParaRPr>
          </a:p>
        </p:txBody>
      </p:sp>
      <p:sp>
        <p:nvSpPr>
          <p:cNvPr id="19" name="Text Box 17"/>
          <p:cNvSpPr txBox="1">
            <a:spLocks noChangeArrowheads="1"/>
          </p:cNvSpPr>
          <p:nvPr/>
        </p:nvSpPr>
        <p:spPr bwMode="auto">
          <a:xfrm>
            <a:off x="6627906" y="3298422"/>
            <a:ext cx="2287495"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lnSpc>
                <a:spcPct val="150000"/>
              </a:lnSpc>
              <a:defRPr/>
            </a:pPr>
            <a:r>
              <a:rPr lang="zh-CN" altLang="en-US" sz="2100" b="1" dirty="0">
                <a:solidFill>
                  <a:srgbClr val="FF0000"/>
                </a:solidFill>
                <a:latin typeface="" pitchFamily="18" charset="0"/>
                <a:ea typeface="楷体_GB2312" pitchFamily="49" charset="-122"/>
              </a:rPr>
              <a:t>再入栈，则溢出</a:t>
            </a:r>
            <a:endParaRPr lang="zh-CN" altLang="en-US" sz="2100" b="1" dirty="0">
              <a:solidFill>
                <a:srgbClr val="FF0000"/>
              </a:solidFill>
              <a:latin typeface="" pitchFamily="18" charset="0"/>
              <a:ea typeface="楷体_GB2312" pitchFamily="49" charset="-122"/>
            </a:endParaRPr>
          </a:p>
        </p:txBody>
      </p:sp>
      <p:sp>
        <p:nvSpPr>
          <p:cNvPr id="12" name="矩形 11"/>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3.8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gray">
          <a:xfrm>
            <a:off x="86933" y="1686716"/>
            <a:ext cx="1080561" cy="498256"/>
          </a:xfrm>
          <a:prstGeom prst="roundRect">
            <a:avLst>
              <a:gd name="adj" fmla="val 50000"/>
            </a:avLst>
          </a:prstGeom>
          <a:gradFill rotWithShape="1">
            <a:gsLst>
              <a:gs pos="0">
                <a:schemeClr val="accent1">
                  <a:gamma/>
                  <a:shade val="45490"/>
                  <a:invGamma/>
                </a:schemeClr>
              </a:gs>
              <a:gs pos="50000">
                <a:schemeClr val="accent1"/>
              </a:gs>
              <a:gs pos="100000">
                <a:schemeClr val="accent1">
                  <a:gamma/>
                  <a:shade val="45490"/>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defTabSz="685800" eaLnBrk="0" hangingPunct="0">
              <a:defRPr/>
            </a:pPr>
            <a:r>
              <a:rPr lang="zh-CN" altLang="en-US" b="1" dirty="0">
                <a:solidFill>
                  <a:prstClr val="white"/>
                </a:solidFill>
                <a:effectLst>
                  <a:outerShdw blurRad="38100" dist="38100" dir="2700000" algn="tl">
                    <a:srgbClr val="000000"/>
                  </a:outerShdw>
                </a:effectLst>
                <a:latin typeface="Verdana" panose="020B0604030504040204" pitchFamily="34" charset="0"/>
                <a:ea typeface="仿宋_GB2312" pitchFamily="49" charset="-122"/>
              </a:rPr>
              <a:t>出栈</a:t>
            </a:r>
            <a:endParaRPr lang="en-US" altLang="zh-CN" dirty="0">
              <a:solidFill>
                <a:prstClr val="white"/>
              </a:solidFill>
              <a:effectLst>
                <a:outerShdw blurRad="38100" dist="38100" dir="2700000" algn="tl">
                  <a:srgbClr val="000000"/>
                </a:outerShdw>
              </a:effectLst>
              <a:latin typeface="Verdana" panose="020B0604030504040204" pitchFamily="34" charset="0"/>
              <a:ea typeface="宋体" panose="02010600030101010101" pitchFamily="2" charset="-122"/>
            </a:endParaRPr>
          </a:p>
        </p:txBody>
      </p:sp>
      <p:sp>
        <p:nvSpPr>
          <p:cNvPr id="8" name="Text Box 17"/>
          <p:cNvSpPr txBox="1">
            <a:spLocks noChangeArrowheads="1"/>
          </p:cNvSpPr>
          <p:nvPr/>
        </p:nvSpPr>
        <p:spPr bwMode="auto">
          <a:xfrm>
            <a:off x="3412213" y="1737919"/>
            <a:ext cx="32316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lnSpc>
                <a:spcPct val="150000"/>
              </a:lnSpc>
              <a:defRPr/>
            </a:pPr>
            <a:r>
              <a:rPr lang="en-US" altLang="zh-CN" sz="2400" b="1" dirty="0">
                <a:solidFill>
                  <a:srgbClr val="0000FF"/>
                </a:solidFill>
                <a:latin typeface="" pitchFamily="18" charset="0"/>
                <a:ea typeface="楷体_GB2312" pitchFamily="49" charset="-122"/>
              </a:rPr>
              <a:t>top=top-1; m=a[top]; </a:t>
            </a:r>
            <a:endParaRPr lang="zh-CN" altLang="en-US" sz="2400" b="1" dirty="0">
              <a:solidFill>
                <a:srgbClr val="0000FF"/>
              </a:solidFill>
              <a:latin typeface="" pitchFamily="18" charset="0"/>
              <a:ea typeface="楷体_GB2312" pitchFamily="49" charset="-122"/>
            </a:endParaRPr>
          </a:p>
        </p:txBody>
      </p:sp>
      <p:graphicFrame>
        <p:nvGraphicFramePr>
          <p:cNvPr id="14" name="表格 13"/>
          <p:cNvGraphicFramePr>
            <a:graphicFrameLocks noGrp="1"/>
          </p:cNvGraphicFramePr>
          <p:nvPr/>
        </p:nvGraphicFramePr>
        <p:xfrm>
          <a:off x="2138975" y="2028077"/>
          <a:ext cx="623207" cy="3770991"/>
        </p:xfrm>
        <a:graphic>
          <a:graphicData uri="http://schemas.openxmlformats.org/drawingml/2006/table">
            <a:tbl>
              <a:tblPr firstRow="1" bandRow="1">
                <a:tableStyleId>{5940675A-B579-460E-94D1-54222C63F5DA}</a:tableStyleId>
              </a:tblPr>
              <a:tblGrid>
                <a:gridCol w="623207"/>
              </a:tblGrid>
              <a:tr h="538713">
                <a:tc>
                  <a:txBody>
                    <a:bodyPr/>
                    <a:lstStyle/>
                    <a:p>
                      <a:pPr algn="ctr"/>
                      <a:r>
                        <a:rPr lang="en-US" altLang="zh-CN" sz="2100" dirty="0"/>
                        <a:t>26</a:t>
                      </a:r>
                      <a:endParaRPr lang="zh-CN" altLang="en-US" sz="2100" dirty="0"/>
                    </a:p>
                  </a:txBody>
                  <a:tcPr marL="68580" marR="68580" marT="34290" marB="34290"/>
                </a:tc>
              </a:tr>
              <a:tr h="538713">
                <a:tc>
                  <a:txBody>
                    <a:bodyPr/>
                    <a:lstStyle/>
                    <a:p>
                      <a:pPr algn="ctr"/>
                      <a:r>
                        <a:rPr lang="en-US" altLang="zh-CN" sz="2100" dirty="0"/>
                        <a:t>9</a:t>
                      </a:r>
                      <a:endParaRPr lang="zh-CN" altLang="en-US" sz="2100" dirty="0"/>
                    </a:p>
                  </a:txBody>
                  <a:tcPr marL="68580" marR="68580" marT="34290" marB="34290"/>
                </a:tc>
              </a:tr>
              <a:tr h="538713">
                <a:tc>
                  <a:txBody>
                    <a:bodyPr/>
                    <a:lstStyle/>
                    <a:p>
                      <a:pPr algn="ctr"/>
                      <a:r>
                        <a:rPr lang="en-US" altLang="zh-CN" sz="2100" dirty="0"/>
                        <a:t>78</a:t>
                      </a:r>
                      <a:endParaRPr lang="zh-CN" altLang="en-US" sz="2100" dirty="0"/>
                    </a:p>
                  </a:txBody>
                  <a:tcPr marL="68580" marR="68580" marT="34290" marB="34290"/>
                </a:tc>
              </a:tr>
              <a:tr h="538713">
                <a:tc>
                  <a:txBody>
                    <a:bodyPr/>
                    <a:lstStyle/>
                    <a:p>
                      <a:pPr algn="ctr"/>
                      <a:r>
                        <a:rPr lang="en-US" altLang="zh-CN" sz="2100" dirty="0"/>
                        <a:t>56</a:t>
                      </a:r>
                      <a:endParaRPr lang="zh-CN" altLang="en-US" sz="2100" dirty="0"/>
                    </a:p>
                  </a:txBody>
                  <a:tcPr marL="68580" marR="68580" marT="34290" marB="34290"/>
                </a:tc>
              </a:tr>
              <a:tr h="538713">
                <a:tc>
                  <a:txBody>
                    <a:bodyPr/>
                    <a:lstStyle/>
                    <a:p>
                      <a:pPr algn="ctr"/>
                      <a:r>
                        <a:rPr lang="en-US" altLang="zh-CN" sz="2100" dirty="0"/>
                        <a:t>34</a:t>
                      </a:r>
                      <a:endParaRPr lang="zh-CN" altLang="en-US" sz="2100" dirty="0"/>
                    </a:p>
                  </a:txBody>
                  <a:tcPr marL="68580" marR="68580" marT="34290" marB="34290"/>
                </a:tc>
              </a:tr>
              <a:tr h="538713">
                <a:tc>
                  <a:txBody>
                    <a:bodyPr/>
                    <a:lstStyle/>
                    <a:p>
                      <a:pPr algn="ctr"/>
                      <a:r>
                        <a:rPr lang="en-US" altLang="zh-CN" sz="2100" dirty="0"/>
                        <a:t>20</a:t>
                      </a:r>
                      <a:endParaRPr lang="zh-CN" altLang="en-US" sz="2100" dirty="0"/>
                    </a:p>
                  </a:txBody>
                  <a:tcPr marL="68580" marR="68580" marT="34290" marB="34290"/>
                </a:tc>
              </a:tr>
              <a:tr h="538713">
                <a:tc>
                  <a:txBody>
                    <a:bodyPr/>
                    <a:lstStyle/>
                    <a:p>
                      <a:pPr algn="ctr"/>
                      <a:r>
                        <a:rPr lang="en-US" altLang="zh-CN" sz="2100" dirty="0"/>
                        <a:t>10</a:t>
                      </a:r>
                      <a:endParaRPr lang="zh-CN" altLang="en-US" sz="2100" dirty="0"/>
                    </a:p>
                  </a:txBody>
                  <a:tcPr marL="68580" marR="68580" marT="34290" marB="34290"/>
                </a:tc>
              </a:tr>
            </a:tbl>
          </a:graphicData>
        </a:graphic>
      </p:graphicFrame>
      <p:graphicFrame>
        <p:nvGraphicFramePr>
          <p:cNvPr id="15" name="表格 14"/>
          <p:cNvGraphicFramePr>
            <a:graphicFrameLocks noGrp="1"/>
          </p:cNvGraphicFramePr>
          <p:nvPr/>
        </p:nvGraphicFramePr>
        <p:xfrm>
          <a:off x="2800962" y="2052571"/>
          <a:ext cx="334736" cy="3770991"/>
        </p:xfrm>
        <a:graphic>
          <a:graphicData uri="http://schemas.openxmlformats.org/drawingml/2006/table">
            <a:tbl>
              <a:tblPr firstRow="1" bandRow="1">
                <a:tableStyleId>{2D5ABB26-0587-4C30-8999-92F81FD0307C}</a:tableStyleId>
              </a:tblPr>
              <a:tblGrid>
                <a:gridCol w="334736"/>
              </a:tblGrid>
              <a:tr h="538713">
                <a:tc>
                  <a:txBody>
                    <a:bodyPr/>
                    <a:lstStyle/>
                    <a:p>
                      <a:pPr algn="ctr"/>
                      <a:r>
                        <a:rPr lang="en-US" altLang="zh-CN" sz="2100" dirty="0"/>
                        <a:t>6</a:t>
                      </a:r>
                      <a:endParaRPr lang="zh-CN" altLang="en-US" sz="2100" dirty="0"/>
                    </a:p>
                  </a:txBody>
                  <a:tcPr marL="68580" marR="68580" marT="34290" marB="34290"/>
                </a:tc>
              </a:tr>
              <a:tr h="538713">
                <a:tc>
                  <a:txBody>
                    <a:bodyPr/>
                    <a:lstStyle/>
                    <a:p>
                      <a:pPr algn="ctr"/>
                      <a:r>
                        <a:rPr lang="en-US" altLang="zh-CN" sz="2100" dirty="0"/>
                        <a:t>5</a:t>
                      </a:r>
                      <a:endParaRPr lang="zh-CN" altLang="en-US" sz="2100" dirty="0"/>
                    </a:p>
                  </a:txBody>
                  <a:tcPr marL="68580" marR="68580" marT="34290" marB="34290"/>
                </a:tc>
              </a:tr>
              <a:tr h="538713">
                <a:tc>
                  <a:txBody>
                    <a:bodyPr/>
                    <a:lstStyle/>
                    <a:p>
                      <a:pPr algn="ctr"/>
                      <a:r>
                        <a:rPr lang="en-US" altLang="zh-CN" sz="2100" dirty="0"/>
                        <a:t>4</a:t>
                      </a:r>
                      <a:endParaRPr lang="zh-CN" altLang="en-US" sz="2100" dirty="0"/>
                    </a:p>
                  </a:txBody>
                  <a:tcPr marL="68580" marR="68580" marT="34290" marB="34290"/>
                </a:tc>
              </a:tr>
              <a:tr h="538713">
                <a:tc>
                  <a:txBody>
                    <a:bodyPr/>
                    <a:lstStyle/>
                    <a:p>
                      <a:pPr algn="ctr"/>
                      <a:r>
                        <a:rPr lang="en-US" altLang="zh-CN" sz="2100" dirty="0"/>
                        <a:t>3</a:t>
                      </a:r>
                      <a:endParaRPr lang="zh-CN" altLang="en-US" sz="2100" dirty="0"/>
                    </a:p>
                  </a:txBody>
                  <a:tcPr marL="68580" marR="68580" marT="34290" marB="34290"/>
                </a:tc>
              </a:tr>
              <a:tr h="538713">
                <a:tc>
                  <a:txBody>
                    <a:bodyPr/>
                    <a:lstStyle/>
                    <a:p>
                      <a:pPr algn="ctr"/>
                      <a:r>
                        <a:rPr lang="en-US" altLang="zh-CN" sz="2100" dirty="0"/>
                        <a:t>2</a:t>
                      </a:r>
                      <a:endParaRPr lang="zh-CN" altLang="en-US" sz="2100" dirty="0"/>
                    </a:p>
                  </a:txBody>
                  <a:tcPr marL="68580" marR="68580" marT="34290" marB="34290"/>
                </a:tc>
              </a:tr>
              <a:tr h="538713">
                <a:tc>
                  <a:txBody>
                    <a:bodyPr/>
                    <a:lstStyle/>
                    <a:p>
                      <a:pPr algn="ctr"/>
                      <a:r>
                        <a:rPr lang="en-US" altLang="zh-CN" sz="2100" dirty="0"/>
                        <a:t>1</a:t>
                      </a:r>
                      <a:endParaRPr lang="zh-CN" altLang="en-US" sz="2100" dirty="0"/>
                    </a:p>
                  </a:txBody>
                  <a:tcPr marL="68580" marR="68580" marT="34290" marB="34290"/>
                </a:tc>
              </a:tr>
              <a:tr h="538713">
                <a:tc>
                  <a:txBody>
                    <a:bodyPr/>
                    <a:lstStyle/>
                    <a:p>
                      <a:pPr algn="ctr"/>
                      <a:r>
                        <a:rPr lang="en-US" altLang="zh-CN" sz="2100" dirty="0"/>
                        <a:t>0</a:t>
                      </a:r>
                      <a:endParaRPr lang="zh-CN" altLang="en-US" sz="2100" dirty="0"/>
                    </a:p>
                  </a:txBody>
                  <a:tcPr marL="68580" marR="68580" marT="34290" marB="34290"/>
                </a:tc>
              </a:tr>
            </a:tbl>
          </a:graphicData>
        </a:graphic>
      </p:graphicFrame>
      <p:sp>
        <p:nvSpPr>
          <p:cNvPr id="16" name="Text Box 17"/>
          <p:cNvSpPr txBox="1">
            <a:spLocks noChangeArrowheads="1"/>
          </p:cNvSpPr>
          <p:nvPr/>
        </p:nvSpPr>
        <p:spPr bwMode="auto">
          <a:xfrm>
            <a:off x="1195705" y="1628775"/>
            <a:ext cx="1159510"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defRPr/>
            </a:pPr>
            <a:r>
              <a:rPr lang="en-US" altLang="zh-CN" sz="2100" b="1" dirty="0">
                <a:solidFill>
                  <a:srgbClr val="ED7D31"/>
                </a:solidFill>
                <a:latin typeface="" pitchFamily="18" charset="0"/>
                <a:ea typeface="楷体_GB2312" pitchFamily="49" charset="-122"/>
              </a:rPr>
              <a:t>top=7</a:t>
            </a:r>
            <a:endParaRPr lang="zh-CN" altLang="en-US" sz="2100" b="1" dirty="0">
              <a:solidFill>
                <a:srgbClr val="ED7D31"/>
              </a:solidFill>
              <a:latin typeface="" pitchFamily="18" charset="0"/>
              <a:ea typeface="楷体_GB2312" pitchFamily="49" charset="-122"/>
            </a:endParaRPr>
          </a:p>
        </p:txBody>
      </p:sp>
      <p:graphicFrame>
        <p:nvGraphicFramePr>
          <p:cNvPr id="17" name="表格 16"/>
          <p:cNvGraphicFramePr>
            <a:graphicFrameLocks noGrp="1"/>
          </p:cNvGraphicFramePr>
          <p:nvPr/>
        </p:nvGraphicFramePr>
        <p:xfrm>
          <a:off x="7376811" y="2035226"/>
          <a:ext cx="623207" cy="3770991"/>
        </p:xfrm>
        <a:graphic>
          <a:graphicData uri="http://schemas.openxmlformats.org/drawingml/2006/table">
            <a:tbl>
              <a:tblPr firstRow="1" bandRow="1">
                <a:tableStyleId>{5940675A-B579-460E-94D1-54222C63F5DA}</a:tableStyleId>
              </a:tblPr>
              <a:tblGrid>
                <a:gridCol w="623207"/>
              </a:tblGrid>
              <a:tr h="538713">
                <a:tc>
                  <a:txBody>
                    <a:bodyPr/>
                    <a:lstStyle/>
                    <a:p>
                      <a:pPr algn="ctr"/>
                      <a:r>
                        <a:rPr lang="en-US" altLang="zh-CN" sz="2100" dirty="0"/>
                        <a:t>26</a:t>
                      </a:r>
                      <a:endParaRPr lang="zh-CN" altLang="en-US" sz="2100" dirty="0"/>
                    </a:p>
                  </a:txBody>
                  <a:tcPr marL="68580" marR="68580" marT="34290" marB="34290"/>
                </a:tc>
              </a:tr>
              <a:tr h="538713">
                <a:tc>
                  <a:txBody>
                    <a:bodyPr/>
                    <a:lstStyle/>
                    <a:p>
                      <a:pPr algn="ctr"/>
                      <a:r>
                        <a:rPr lang="en-US" altLang="zh-CN" sz="2100" dirty="0"/>
                        <a:t>9</a:t>
                      </a:r>
                      <a:endParaRPr lang="zh-CN" altLang="en-US" sz="2100" dirty="0"/>
                    </a:p>
                  </a:txBody>
                  <a:tcPr marL="68580" marR="68580" marT="34290" marB="34290"/>
                </a:tc>
              </a:tr>
              <a:tr h="538713">
                <a:tc>
                  <a:txBody>
                    <a:bodyPr/>
                    <a:lstStyle/>
                    <a:p>
                      <a:pPr algn="ctr"/>
                      <a:r>
                        <a:rPr lang="en-US" altLang="zh-CN" sz="2100" dirty="0"/>
                        <a:t>78</a:t>
                      </a:r>
                      <a:endParaRPr lang="zh-CN" altLang="en-US" sz="2100" dirty="0"/>
                    </a:p>
                  </a:txBody>
                  <a:tcPr marL="68580" marR="68580" marT="34290" marB="34290"/>
                </a:tc>
              </a:tr>
              <a:tr h="538713">
                <a:tc>
                  <a:txBody>
                    <a:bodyPr/>
                    <a:lstStyle/>
                    <a:p>
                      <a:pPr algn="ctr"/>
                      <a:r>
                        <a:rPr lang="en-US" altLang="zh-CN" sz="2100" dirty="0"/>
                        <a:t>56</a:t>
                      </a:r>
                      <a:endParaRPr lang="zh-CN" altLang="en-US" sz="2100" dirty="0"/>
                    </a:p>
                  </a:txBody>
                  <a:tcPr marL="68580" marR="68580" marT="34290" marB="34290"/>
                </a:tc>
              </a:tr>
              <a:tr h="538713">
                <a:tc>
                  <a:txBody>
                    <a:bodyPr/>
                    <a:lstStyle/>
                    <a:p>
                      <a:pPr algn="ctr"/>
                      <a:r>
                        <a:rPr lang="en-US" altLang="zh-CN" sz="2100" dirty="0"/>
                        <a:t>34</a:t>
                      </a:r>
                      <a:endParaRPr lang="zh-CN" altLang="en-US" sz="2100" dirty="0"/>
                    </a:p>
                  </a:txBody>
                  <a:tcPr marL="68580" marR="68580" marT="34290" marB="34290"/>
                </a:tc>
              </a:tr>
              <a:tr h="538713">
                <a:tc>
                  <a:txBody>
                    <a:bodyPr/>
                    <a:lstStyle/>
                    <a:p>
                      <a:pPr algn="ctr"/>
                      <a:r>
                        <a:rPr lang="en-US" altLang="zh-CN" sz="2100" dirty="0"/>
                        <a:t>20</a:t>
                      </a:r>
                      <a:endParaRPr lang="zh-CN" altLang="en-US" sz="2100" dirty="0"/>
                    </a:p>
                  </a:txBody>
                  <a:tcPr marL="68580" marR="68580" marT="34290" marB="34290"/>
                </a:tc>
              </a:tr>
              <a:tr h="538713">
                <a:tc>
                  <a:txBody>
                    <a:bodyPr/>
                    <a:lstStyle/>
                    <a:p>
                      <a:pPr algn="ctr"/>
                      <a:r>
                        <a:rPr lang="en-US" altLang="zh-CN" sz="2100" dirty="0"/>
                        <a:t>10</a:t>
                      </a:r>
                      <a:endParaRPr lang="zh-CN" altLang="en-US" sz="2100" dirty="0"/>
                    </a:p>
                  </a:txBody>
                  <a:tcPr marL="68580" marR="68580" marT="34290" marB="34290"/>
                </a:tc>
              </a:tr>
            </a:tbl>
          </a:graphicData>
        </a:graphic>
      </p:graphicFrame>
      <p:graphicFrame>
        <p:nvGraphicFramePr>
          <p:cNvPr id="18" name="表格 17"/>
          <p:cNvGraphicFramePr>
            <a:graphicFrameLocks noGrp="1"/>
          </p:cNvGraphicFramePr>
          <p:nvPr/>
        </p:nvGraphicFramePr>
        <p:xfrm>
          <a:off x="8038798" y="2059719"/>
          <a:ext cx="334736" cy="3770991"/>
        </p:xfrm>
        <a:graphic>
          <a:graphicData uri="http://schemas.openxmlformats.org/drawingml/2006/table">
            <a:tbl>
              <a:tblPr firstRow="1" bandRow="1">
                <a:tableStyleId>{2D5ABB26-0587-4C30-8999-92F81FD0307C}</a:tableStyleId>
              </a:tblPr>
              <a:tblGrid>
                <a:gridCol w="334736"/>
              </a:tblGrid>
              <a:tr h="538713">
                <a:tc>
                  <a:txBody>
                    <a:bodyPr/>
                    <a:lstStyle/>
                    <a:p>
                      <a:pPr algn="ctr"/>
                      <a:r>
                        <a:rPr lang="en-US" altLang="zh-CN" sz="2100" dirty="0"/>
                        <a:t>6</a:t>
                      </a:r>
                      <a:endParaRPr lang="zh-CN" altLang="en-US" sz="2100" dirty="0"/>
                    </a:p>
                  </a:txBody>
                  <a:tcPr marL="68580" marR="68580" marT="34290" marB="34290"/>
                </a:tc>
              </a:tr>
              <a:tr h="538713">
                <a:tc>
                  <a:txBody>
                    <a:bodyPr/>
                    <a:lstStyle/>
                    <a:p>
                      <a:pPr algn="ctr"/>
                      <a:r>
                        <a:rPr lang="en-US" altLang="zh-CN" sz="2100" dirty="0"/>
                        <a:t>5</a:t>
                      </a:r>
                      <a:endParaRPr lang="zh-CN" altLang="en-US" sz="2100" dirty="0"/>
                    </a:p>
                  </a:txBody>
                  <a:tcPr marL="68580" marR="68580" marT="34290" marB="34290"/>
                </a:tc>
              </a:tr>
              <a:tr h="538713">
                <a:tc>
                  <a:txBody>
                    <a:bodyPr/>
                    <a:lstStyle/>
                    <a:p>
                      <a:pPr algn="ctr"/>
                      <a:r>
                        <a:rPr lang="en-US" altLang="zh-CN" sz="2100" dirty="0"/>
                        <a:t>4</a:t>
                      </a:r>
                      <a:endParaRPr lang="zh-CN" altLang="en-US" sz="2100" dirty="0"/>
                    </a:p>
                  </a:txBody>
                  <a:tcPr marL="68580" marR="68580" marT="34290" marB="34290"/>
                </a:tc>
              </a:tr>
              <a:tr h="538713">
                <a:tc>
                  <a:txBody>
                    <a:bodyPr/>
                    <a:lstStyle/>
                    <a:p>
                      <a:pPr algn="ctr"/>
                      <a:r>
                        <a:rPr lang="en-US" altLang="zh-CN" sz="2100" dirty="0"/>
                        <a:t>3</a:t>
                      </a:r>
                      <a:endParaRPr lang="zh-CN" altLang="en-US" sz="2100" dirty="0"/>
                    </a:p>
                  </a:txBody>
                  <a:tcPr marL="68580" marR="68580" marT="34290" marB="34290"/>
                </a:tc>
              </a:tr>
              <a:tr h="538713">
                <a:tc>
                  <a:txBody>
                    <a:bodyPr/>
                    <a:lstStyle/>
                    <a:p>
                      <a:pPr algn="ctr"/>
                      <a:r>
                        <a:rPr lang="en-US" altLang="zh-CN" sz="2100" dirty="0"/>
                        <a:t>2</a:t>
                      </a:r>
                      <a:endParaRPr lang="zh-CN" altLang="en-US" sz="2100" dirty="0"/>
                    </a:p>
                  </a:txBody>
                  <a:tcPr marL="68580" marR="68580" marT="34290" marB="34290"/>
                </a:tc>
              </a:tr>
              <a:tr h="538713">
                <a:tc>
                  <a:txBody>
                    <a:bodyPr/>
                    <a:lstStyle/>
                    <a:p>
                      <a:pPr algn="ctr"/>
                      <a:r>
                        <a:rPr lang="en-US" altLang="zh-CN" sz="2100" dirty="0"/>
                        <a:t>1</a:t>
                      </a:r>
                      <a:endParaRPr lang="zh-CN" altLang="en-US" sz="2100" dirty="0"/>
                    </a:p>
                  </a:txBody>
                  <a:tcPr marL="68580" marR="68580" marT="34290" marB="34290"/>
                </a:tc>
              </a:tr>
              <a:tr h="538713">
                <a:tc>
                  <a:txBody>
                    <a:bodyPr/>
                    <a:lstStyle/>
                    <a:p>
                      <a:pPr algn="ctr"/>
                      <a:r>
                        <a:rPr lang="en-US" altLang="zh-CN" sz="2100" dirty="0"/>
                        <a:t>0</a:t>
                      </a:r>
                      <a:endParaRPr lang="zh-CN" altLang="en-US" sz="2100" dirty="0"/>
                    </a:p>
                  </a:txBody>
                  <a:tcPr marL="68580" marR="68580" marT="34290" marB="34290"/>
                </a:tc>
              </a:tr>
            </a:tbl>
          </a:graphicData>
        </a:graphic>
      </p:graphicFrame>
      <p:sp>
        <p:nvSpPr>
          <p:cNvPr id="19" name="Text Box 17"/>
          <p:cNvSpPr txBox="1">
            <a:spLocks noChangeArrowheads="1"/>
          </p:cNvSpPr>
          <p:nvPr/>
        </p:nvSpPr>
        <p:spPr bwMode="auto">
          <a:xfrm>
            <a:off x="6280785" y="2626995"/>
            <a:ext cx="1096010"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defRPr/>
            </a:pPr>
            <a:r>
              <a:rPr lang="en-US" altLang="zh-CN" sz="2100" b="1" dirty="0">
                <a:solidFill>
                  <a:srgbClr val="ED7D31"/>
                </a:solidFill>
                <a:latin typeface="" pitchFamily="18" charset="0"/>
                <a:ea typeface="楷体_GB2312" pitchFamily="49" charset="-122"/>
              </a:rPr>
              <a:t>top=5</a:t>
            </a:r>
            <a:endParaRPr lang="zh-CN" altLang="en-US" sz="2100" b="1" dirty="0">
              <a:solidFill>
                <a:srgbClr val="ED7D31"/>
              </a:solidFill>
              <a:latin typeface="" pitchFamily="18" charset="0"/>
              <a:ea typeface="楷体_GB2312" pitchFamily="49" charset="-122"/>
            </a:endParaRPr>
          </a:p>
        </p:txBody>
      </p:sp>
      <p:sp>
        <p:nvSpPr>
          <p:cNvPr id="20" name="Text Box 17"/>
          <p:cNvSpPr txBox="1">
            <a:spLocks noChangeArrowheads="1"/>
          </p:cNvSpPr>
          <p:nvPr/>
        </p:nvSpPr>
        <p:spPr bwMode="auto">
          <a:xfrm>
            <a:off x="5751321" y="3059660"/>
            <a:ext cx="15729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eaLnBrk="0" hangingPunct="0">
              <a:lnSpc>
                <a:spcPct val="150000"/>
              </a:lnSpc>
              <a:defRPr/>
            </a:pPr>
            <a:r>
              <a:rPr lang="en-US" altLang="zh-CN" sz="2400" b="1" dirty="0">
                <a:solidFill>
                  <a:srgbClr val="0000FF"/>
                </a:solidFill>
                <a:latin typeface="" pitchFamily="18" charset="0"/>
                <a:ea typeface="楷体_GB2312" pitchFamily="49" charset="-122"/>
              </a:rPr>
              <a:t>26</a:t>
            </a:r>
            <a:r>
              <a:rPr lang="zh-CN" altLang="en-US" sz="2400" b="1" dirty="0">
                <a:solidFill>
                  <a:srgbClr val="0000FF"/>
                </a:solidFill>
                <a:latin typeface="" pitchFamily="18" charset="0"/>
                <a:ea typeface="楷体_GB2312" pitchFamily="49" charset="-122"/>
              </a:rPr>
              <a:t>、</a:t>
            </a:r>
            <a:r>
              <a:rPr lang="en-US" altLang="zh-CN" sz="2400" b="1" dirty="0">
                <a:solidFill>
                  <a:srgbClr val="0000FF"/>
                </a:solidFill>
                <a:latin typeface="" pitchFamily="18" charset="0"/>
                <a:ea typeface="楷体_GB2312" pitchFamily="49" charset="-122"/>
              </a:rPr>
              <a:t>9</a:t>
            </a:r>
            <a:r>
              <a:rPr lang="zh-CN" altLang="en-US" sz="2400" b="1" dirty="0">
                <a:solidFill>
                  <a:srgbClr val="0000FF"/>
                </a:solidFill>
                <a:latin typeface="" pitchFamily="18" charset="0"/>
                <a:ea typeface="楷体_GB2312" pitchFamily="49" charset="-122"/>
              </a:rPr>
              <a:t>出栈</a:t>
            </a:r>
            <a:endParaRPr lang="zh-CN" altLang="en-US" sz="2400" b="1" dirty="0">
              <a:solidFill>
                <a:srgbClr val="0000FF"/>
              </a:solidFill>
              <a:latin typeface="" pitchFamily="18" charset="0"/>
              <a:ea typeface="楷体_GB2312" pitchFamily="49" charset="-122"/>
            </a:endParaRPr>
          </a:p>
        </p:txBody>
      </p:sp>
      <p:sp>
        <p:nvSpPr>
          <p:cNvPr id="11" name="矩形 10"/>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3.8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702129" y="2054155"/>
            <a:ext cx="7984672" cy="475836"/>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a:lnSpc>
                <a:spcPct val="130000"/>
              </a:lnSpc>
              <a:defRPr/>
            </a:pPr>
            <a:r>
              <a:rPr lang="zh-CN" altLang="en-US" sz="2100" b="1" dirty="0">
                <a:solidFill>
                  <a:prstClr val="black"/>
                </a:solidFill>
                <a:latin typeface="Tahoma" panose="020B0604030504040204" pitchFamily="34" charset="0"/>
                <a:ea typeface="等线" panose="02010600030101010101" pitchFamily="2" charset="-122"/>
              </a:rPr>
              <a:t>若有</a:t>
            </a:r>
            <a:r>
              <a:rPr lang="en-US" altLang="zh-CN" sz="2100" b="1" dirty="0">
                <a:solidFill>
                  <a:prstClr val="black"/>
                </a:solidFill>
                <a:latin typeface="Tahoma" panose="020B0604030504040204" pitchFamily="34" charset="0"/>
                <a:ea typeface="等线" panose="02010600030101010101" pitchFamily="2" charset="-122"/>
              </a:rPr>
              <a:t>A,B,C</a:t>
            </a:r>
            <a:r>
              <a:rPr lang="zh-CN" altLang="en-US" sz="2100" b="1" dirty="0">
                <a:solidFill>
                  <a:prstClr val="black"/>
                </a:solidFill>
                <a:latin typeface="Tahoma" panose="020B0604030504040204" pitchFamily="34" charset="0"/>
                <a:ea typeface="等线" panose="02010600030101010101" pitchFamily="2" charset="-122"/>
              </a:rPr>
              <a:t>三个元素进栈的顺序是</a:t>
            </a:r>
            <a:r>
              <a:rPr lang="en-US" altLang="zh-CN" sz="2100" b="1" dirty="0">
                <a:solidFill>
                  <a:prstClr val="black"/>
                </a:solidFill>
                <a:latin typeface="Tahoma" panose="020B0604030504040204" pitchFamily="34" charset="0"/>
                <a:ea typeface="等线" panose="02010600030101010101" pitchFamily="2" charset="-122"/>
              </a:rPr>
              <a:t>A,B,C</a:t>
            </a:r>
            <a:r>
              <a:rPr lang="zh-CN" altLang="en-US" sz="2100" b="1" dirty="0">
                <a:solidFill>
                  <a:prstClr val="black"/>
                </a:solidFill>
                <a:latin typeface="Tahoma" panose="020B0604030504040204" pitchFamily="34" charset="0"/>
                <a:ea typeface="等线" panose="02010600030101010101" pitchFamily="2" charset="-122"/>
              </a:rPr>
              <a:t>，则可能的出栈序列有：</a:t>
            </a:r>
            <a:endParaRPr lang="zh-CN" altLang="en-US" sz="2100" b="1" dirty="0">
              <a:solidFill>
                <a:prstClr val="black"/>
              </a:solidFill>
              <a:latin typeface="Tahoma" panose="020B0604030504040204" pitchFamily="34" charset="0"/>
              <a:ea typeface="等线" panose="02010600030101010101" pitchFamily="2" charset="-122"/>
            </a:endParaRPr>
          </a:p>
        </p:txBody>
      </p:sp>
      <p:sp>
        <p:nvSpPr>
          <p:cNvPr id="3" name="Text Box 3"/>
          <p:cNvSpPr txBox="1">
            <a:spLocks noChangeArrowheads="1"/>
          </p:cNvSpPr>
          <p:nvPr/>
        </p:nvSpPr>
        <p:spPr bwMode="auto">
          <a:xfrm>
            <a:off x="5843248" y="3847400"/>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CBA</a:t>
            </a:r>
            <a:endParaRPr lang="en-US" altLang="zh-CN" sz="2100" b="1" dirty="0">
              <a:solidFill>
                <a:prstClr val="black"/>
              </a:solidFill>
              <a:latin typeface="Tahoma" panose="020B0604030504040204" pitchFamily="34" charset="0"/>
              <a:ea typeface="等线" panose="02010600030101010101" pitchFamily="2" charset="-122"/>
            </a:endParaRPr>
          </a:p>
        </p:txBody>
      </p:sp>
      <p:sp>
        <p:nvSpPr>
          <p:cNvPr id="4" name="Text Box 4"/>
          <p:cNvSpPr txBox="1">
            <a:spLocks noChangeArrowheads="1"/>
          </p:cNvSpPr>
          <p:nvPr/>
        </p:nvSpPr>
        <p:spPr bwMode="auto">
          <a:xfrm>
            <a:off x="2657135" y="3847400"/>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ACB</a:t>
            </a:r>
            <a:endParaRPr lang="en-US" altLang="zh-CN" sz="2100" b="1" dirty="0">
              <a:solidFill>
                <a:prstClr val="black"/>
              </a:solidFill>
              <a:latin typeface="Tahoma" panose="020B0604030504040204" pitchFamily="34" charset="0"/>
              <a:ea typeface="等线" panose="02010600030101010101" pitchFamily="2" charset="-122"/>
            </a:endParaRPr>
          </a:p>
        </p:txBody>
      </p:sp>
      <p:sp>
        <p:nvSpPr>
          <p:cNvPr id="5" name="Text Box 5"/>
          <p:cNvSpPr txBox="1">
            <a:spLocks noChangeArrowheads="1"/>
          </p:cNvSpPr>
          <p:nvPr/>
        </p:nvSpPr>
        <p:spPr bwMode="auto">
          <a:xfrm>
            <a:off x="2657135" y="3036585"/>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ABC</a:t>
            </a:r>
            <a:endParaRPr lang="en-US" altLang="zh-CN" sz="2100" b="1" dirty="0">
              <a:solidFill>
                <a:prstClr val="black"/>
              </a:solidFill>
              <a:latin typeface="Tahoma" panose="020B0604030504040204" pitchFamily="34" charset="0"/>
              <a:ea typeface="等线" panose="02010600030101010101" pitchFamily="2" charset="-122"/>
            </a:endParaRPr>
          </a:p>
        </p:txBody>
      </p:sp>
      <p:sp>
        <p:nvSpPr>
          <p:cNvPr id="7" name="Text Box 7"/>
          <p:cNvSpPr txBox="1">
            <a:spLocks noChangeArrowheads="1"/>
          </p:cNvSpPr>
          <p:nvPr/>
        </p:nvSpPr>
        <p:spPr bwMode="auto">
          <a:xfrm>
            <a:off x="4277575" y="3036585"/>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BAC</a:t>
            </a:r>
            <a:endParaRPr lang="en-US" altLang="zh-CN" sz="2100" b="1" dirty="0">
              <a:solidFill>
                <a:prstClr val="black"/>
              </a:solidFill>
              <a:latin typeface="Tahoma" panose="020B0604030504040204" pitchFamily="34" charset="0"/>
              <a:ea typeface="等线" panose="02010600030101010101" pitchFamily="2" charset="-122"/>
            </a:endParaRPr>
          </a:p>
        </p:txBody>
      </p:sp>
      <p:sp>
        <p:nvSpPr>
          <p:cNvPr id="8" name="Text Box 8"/>
          <p:cNvSpPr txBox="1">
            <a:spLocks noChangeArrowheads="1"/>
          </p:cNvSpPr>
          <p:nvPr/>
        </p:nvSpPr>
        <p:spPr bwMode="auto">
          <a:xfrm>
            <a:off x="4277575" y="3847400"/>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a:solidFill>
                  <a:prstClr val="black"/>
                </a:solidFill>
                <a:latin typeface="Tahoma" panose="020B0604030504040204" pitchFamily="34" charset="0"/>
                <a:ea typeface="等线" panose="02010600030101010101" pitchFamily="2" charset="-122"/>
              </a:rPr>
              <a:t>BCA</a:t>
            </a:r>
            <a:endParaRPr lang="en-US" altLang="zh-CN" sz="2100" b="1">
              <a:solidFill>
                <a:prstClr val="black"/>
              </a:solidFill>
              <a:latin typeface="Tahoma" panose="020B0604030504040204" pitchFamily="34" charset="0"/>
              <a:ea typeface="等线" panose="02010600030101010101" pitchFamily="2" charset="-122"/>
            </a:endParaRPr>
          </a:p>
        </p:txBody>
      </p:sp>
      <p:sp>
        <p:nvSpPr>
          <p:cNvPr id="9" name="Line 9"/>
          <p:cNvSpPr>
            <a:spLocks noChangeShapeType="1"/>
          </p:cNvSpPr>
          <p:nvPr/>
        </p:nvSpPr>
        <p:spPr bwMode="auto">
          <a:xfrm>
            <a:off x="2673464" y="3415204"/>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0" name="Line 10"/>
          <p:cNvSpPr>
            <a:spLocks noChangeShapeType="1"/>
          </p:cNvSpPr>
          <p:nvPr/>
        </p:nvSpPr>
        <p:spPr bwMode="auto">
          <a:xfrm>
            <a:off x="2681628" y="4171250"/>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1" name="Line 11"/>
          <p:cNvSpPr>
            <a:spLocks noChangeShapeType="1"/>
          </p:cNvSpPr>
          <p:nvPr/>
        </p:nvSpPr>
        <p:spPr bwMode="auto">
          <a:xfrm>
            <a:off x="4310234" y="4171250"/>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2" name="Line 12"/>
          <p:cNvSpPr>
            <a:spLocks noChangeShapeType="1"/>
          </p:cNvSpPr>
          <p:nvPr/>
        </p:nvSpPr>
        <p:spPr bwMode="auto">
          <a:xfrm>
            <a:off x="5913155" y="4171250"/>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3" name="Line 13"/>
          <p:cNvSpPr>
            <a:spLocks noChangeShapeType="1"/>
          </p:cNvSpPr>
          <p:nvPr/>
        </p:nvSpPr>
        <p:spPr bwMode="auto">
          <a:xfrm>
            <a:off x="4300878" y="3415204"/>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4" name="Text Box 2"/>
          <p:cNvSpPr txBox="1">
            <a:spLocks noChangeArrowheads="1"/>
          </p:cNvSpPr>
          <p:nvPr/>
        </p:nvSpPr>
        <p:spPr bwMode="auto">
          <a:xfrm>
            <a:off x="2671424" y="4871495"/>
            <a:ext cx="3801152" cy="572464"/>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a:lnSpc>
                <a:spcPct val="130000"/>
              </a:lnSpc>
              <a:defRPr/>
            </a:pPr>
            <a:r>
              <a:rPr lang="zh-CN" altLang="en-US" sz="2400" b="1" dirty="0">
                <a:solidFill>
                  <a:srgbClr val="0000FF"/>
                </a:solidFill>
                <a:latin typeface="Tahoma" panose="020B0604030504040204" pitchFamily="34" charset="0"/>
                <a:ea typeface="等线" panose="02010600030101010101" pitchFamily="2" charset="-122"/>
              </a:rPr>
              <a:t>入栈、出栈可能交叉进行</a:t>
            </a:r>
            <a:endParaRPr lang="zh-CN" altLang="en-US" sz="2400" b="1" dirty="0">
              <a:solidFill>
                <a:srgbClr val="0000FF"/>
              </a:solidFill>
              <a:latin typeface="Tahoma" panose="020B0604030504040204" pitchFamily="34" charset="0"/>
              <a:ea typeface="等线" panose="02010600030101010101" pitchFamily="2" charset="-122"/>
            </a:endParaRPr>
          </a:p>
        </p:txBody>
      </p:sp>
      <p:sp>
        <p:nvSpPr>
          <p:cNvPr id="15" name="矩形 14"/>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3.8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sp>
        <p:nvSpPr>
          <p:cNvPr id="6" name="矩形 5"/>
          <p:cNvSpPr/>
          <p:nvPr/>
        </p:nvSpPr>
        <p:spPr>
          <a:xfrm>
            <a:off x="7228356" y="3847400"/>
            <a:ext cx="885179"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pPr>
            <a:r>
              <a:rPr lang="en-US" altLang="zh-CN" sz="2100" b="1" dirty="0">
                <a:solidFill>
                  <a:prstClr val="black"/>
                </a:solidFill>
                <a:latin typeface="Tahoma" panose="020B0604030504040204" pitchFamily="34" charset="0"/>
                <a:ea typeface="等线" panose="02010600030101010101" pitchFamily="2" charset="-122"/>
              </a:rPr>
              <a:t>CAB</a:t>
            </a:r>
            <a:endParaRPr lang="zh-CN" altLang="en-US" sz="2100" b="1" dirty="0">
              <a:solidFill>
                <a:prstClr val="black"/>
              </a:solidFill>
              <a:latin typeface="Tahoma" panose="020B0604030504040204" pitchFamily="34" charset="0"/>
              <a:ea typeface="等线" panose="02010600030101010101" pitchFamily="2" charset="-122"/>
            </a:endParaRPr>
          </a:p>
        </p:txBody>
      </p:sp>
      <p:sp>
        <p:nvSpPr>
          <p:cNvPr id="16" name="乘号 15"/>
          <p:cNvSpPr/>
          <p:nvPr/>
        </p:nvSpPr>
        <p:spPr>
          <a:xfrm>
            <a:off x="7913721" y="3894740"/>
            <a:ext cx="399627" cy="3208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936171" y="5590663"/>
            <a:ext cx="7672735" cy="706755"/>
          </a:xfrm>
          <a:prstGeom prst="rect">
            <a:avLst/>
          </a:prstGeom>
          <a:noFill/>
        </p:spPr>
        <p:txBody>
          <a:bodyPr wrap="square">
            <a:spAutoFit/>
          </a:bodyPr>
          <a:lstStyle/>
          <a:p>
            <a:r>
              <a:rPr lang="zh-CN" altLang="en-US" sz="2000" b="1" dirty="0">
                <a:effectLst/>
                <a:latin typeface="宋体" panose="02010600030101010101" pitchFamily="2" charset="-122"/>
                <a:ea typeface="宋体" panose="02010600030101010101" pitchFamily="2" charset="-122"/>
              </a:rPr>
              <a:t>出栈序列中的每一个元素，</a:t>
            </a:r>
            <a:r>
              <a:rPr lang="zh-CN" altLang="en-US" sz="2000" b="1" dirty="0">
                <a:solidFill>
                  <a:srgbClr val="C00000"/>
                </a:solidFill>
                <a:effectLst/>
                <a:latin typeface="宋体" panose="02010600030101010101" pitchFamily="2" charset="-122"/>
                <a:ea typeface="宋体" panose="02010600030101010101" pitchFamily="2" charset="-122"/>
              </a:rPr>
              <a:t>在它后面的（相对于</a:t>
            </a:r>
            <a:r>
              <a:rPr lang="zh-CN" altLang="en-US" sz="2000" b="1" dirty="0">
                <a:solidFill>
                  <a:srgbClr val="C00000"/>
                </a:solidFill>
                <a:effectLst/>
                <a:latin typeface="宋体" panose="02010600030101010101" pitchFamily="2" charset="-122"/>
                <a:ea typeface="宋体" panose="02010600030101010101" pitchFamily="2" charset="-122"/>
              </a:rPr>
              <a:t>出栈）</a:t>
            </a:r>
            <a:r>
              <a:rPr lang="zh-CN" altLang="en-US" sz="2000" b="1" dirty="0">
                <a:solidFill>
                  <a:srgbClr val="C00000"/>
                </a:solidFill>
                <a:latin typeface="宋体" panose="02010600030101010101" pitchFamily="2" charset="-122"/>
                <a:ea typeface="宋体" panose="02010600030101010101" pitchFamily="2" charset="-122"/>
              </a:rPr>
              <a:t>、</a:t>
            </a:r>
            <a:r>
              <a:rPr lang="zh-CN" altLang="en-US" sz="2000" b="1" dirty="0">
                <a:solidFill>
                  <a:srgbClr val="C00000"/>
                </a:solidFill>
                <a:effectLst/>
                <a:latin typeface="宋体" panose="02010600030101010101" pitchFamily="2" charset="-122"/>
                <a:ea typeface="宋体" panose="02010600030101010101" pitchFamily="2" charset="-122"/>
              </a:rPr>
              <a:t>比其早入栈的元素</a:t>
            </a:r>
            <a:r>
              <a:rPr lang="zh-CN" altLang="en-US" sz="2000" b="1" dirty="0">
                <a:effectLst/>
                <a:latin typeface="宋体" panose="02010600030101010101" pitchFamily="2" charset="-122"/>
                <a:ea typeface="宋体" panose="02010600030101010101" pitchFamily="2" charset="-122"/>
              </a:rPr>
              <a:t>，一定是按</a:t>
            </a:r>
            <a:r>
              <a:rPr lang="zh-CN" altLang="en-US" sz="2000" b="1" dirty="0">
                <a:solidFill>
                  <a:srgbClr val="C00000"/>
                </a:solidFill>
                <a:effectLst/>
                <a:latin typeface="宋体" panose="02010600030101010101" pitchFamily="2" charset="-122"/>
                <a:ea typeface="宋体" panose="02010600030101010101" pitchFamily="2" charset="-122"/>
              </a:rPr>
              <a:t>入栈逆序</a:t>
            </a:r>
            <a:r>
              <a:rPr lang="zh-CN" altLang="en-US" sz="2000" b="1" dirty="0">
                <a:effectLst/>
                <a:latin typeface="宋体" panose="02010600030101010101" pitchFamily="2" charset="-122"/>
                <a:ea typeface="宋体" panose="02010600030101010101" pitchFamily="2" charset="-122"/>
              </a:rPr>
              <a:t>顺序排列的。</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702129" y="2054155"/>
            <a:ext cx="7984672" cy="475836"/>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a:lnSpc>
                <a:spcPct val="130000"/>
              </a:lnSpc>
              <a:defRPr/>
            </a:pPr>
            <a:r>
              <a:rPr lang="zh-CN" altLang="en-US" sz="2100" b="1" dirty="0">
                <a:solidFill>
                  <a:prstClr val="black"/>
                </a:solidFill>
                <a:latin typeface="Tahoma" panose="020B0604030504040204" pitchFamily="34" charset="0"/>
                <a:ea typeface="等线" panose="02010600030101010101" pitchFamily="2" charset="-122"/>
              </a:rPr>
              <a:t>若有</a:t>
            </a:r>
            <a:r>
              <a:rPr lang="en-US" altLang="zh-CN" sz="2100" b="1" dirty="0">
                <a:solidFill>
                  <a:prstClr val="black"/>
                </a:solidFill>
                <a:latin typeface="Tahoma" panose="020B0604030504040204" pitchFamily="34" charset="0"/>
                <a:ea typeface="等线" panose="02010600030101010101" pitchFamily="2" charset="-122"/>
              </a:rPr>
              <a:t>A,B,C</a:t>
            </a:r>
            <a:r>
              <a:rPr lang="zh-CN" altLang="en-US" sz="2100" b="1" dirty="0">
                <a:solidFill>
                  <a:prstClr val="black"/>
                </a:solidFill>
                <a:latin typeface="Tahoma" panose="020B0604030504040204" pitchFamily="34" charset="0"/>
                <a:ea typeface="等线" panose="02010600030101010101" pitchFamily="2" charset="-122"/>
              </a:rPr>
              <a:t>三个元素进栈的顺序是</a:t>
            </a:r>
            <a:r>
              <a:rPr lang="en-US" altLang="zh-CN" sz="2100" b="1" dirty="0">
                <a:solidFill>
                  <a:prstClr val="black"/>
                </a:solidFill>
                <a:latin typeface="Tahoma" panose="020B0604030504040204" pitchFamily="34" charset="0"/>
                <a:ea typeface="等线" panose="02010600030101010101" pitchFamily="2" charset="-122"/>
              </a:rPr>
              <a:t>C</a:t>
            </a:r>
            <a:r>
              <a:rPr lang="zh-CN" altLang="en-US" sz="2100" b="1" dirty="0">
                <a:solidFill>
                  <a:prstClr val="black"/>
                </a:solidFill>
                <a:latin typeface="Tahoma" panose="020B0604030504040204" pitchFamily="34" charset="0"/>
                <a:ea typeface="等线" panose="02010600030101010101" pitchFamily="2" charset="-122"/>
              </a:rPr>
              <a:t>，</a:t>
            </a:r>
            <a:r>
              <a:rPr lang="en-US" altLang="zh-CN" sz="2100" b="1" dirty="0">
                <a:solidFill>
                  <a:prstClr val="black"/>
                </a:solidFill>
                <a:latin typeface="Tahoma" panose="020B0604030504040204" pitchFamily="34" charset="0"/>
                <a:ea typeface="等线" panose="02010600030101010101" pitchFamily="2" charset="-122"/>
              </a:rPr>
              <a:t>B</a:t>
            </a:r>
            <a:r>
              <a:rPr lang="zh-CN" altLang="en-US" sz="2100" b="1" dirty="0">
                <a:solidFill>
                  <a:prstClr val="black"/>
                </a:solidFill>
                <a:latin typeface="Tahoma" panose="020B0604030504040204" pitchFamily="34" charset="0"/>
                <a:ea typeface="等线" panose="02010600030101010101" pitchFamily="2" charset="-122"/>
              </a:rPr>
              <a:t>，</a:t>
            </a:r>
            <a:r>
              <a:rPr lang="en-US" altLang="zh-CN" sz="2100" b="1" dirty="0">
                <a:solidFill>
                  <a:prstClr val="black"/>
                </a:solidFill>
                <a:latin typeface="Tahoma" panose="020B0604030504040204" pitchFamily="34" charset="0"/>
                <a:ea typeface="等线" panose="02010600030101010101" pitchFamily="2" charset="-122"/>
              </a:rPr>
              <a:t>A</a:t>
            </a:r>
            <a:r>
              <a:rPr lang="zh-CN" altLang="en-US" sz="2100" b="1" dirty="0">
                <a:solidFill>
                  <a:prstClr val="black"/>
                </a:solidFill>
                <a:latin typeface="Tahoma" panose="020B0604030504040204" pitchFamily="34" charset="0"/>
                <a:ea typeface="等线" panose="02010600030101010101" pitchFamily="2" charset="-122"/>
              </a:rPr>
              <a:t>，则可能的出栈序列有：</a:t>
            </a:r>
            <a:endParaRPr lang="zh-CN" altLang="en-US" sz="2100" b="1" dirty="0">
              <a:solidFill>
                <a:prstClr val="black"/>
              </a:solidFill>
              <a:latin typeface="Tahoma" panose="020B0604030504040204" pitchFamily="34" charset="0"/>
              <a:ea typeface="等线" panose="02010600030101010101" pitchFamily="2" charset="-122"/>
            </a:endParaRPr>
          </a:p>
        </p:txBody>
      </p:sp>
      <p:sp>
        <p:nvSpPr>
          <p:cNvPr id="5" name="Text Box 5"/>
          <p:cNvSpPr txBox="1">
            <a:spLocks noChangeArrowheads="1"/>
          </p:cNvSpPr>
          <p:nvPr/>
        </p:nvSpPr>
        <p:spPr bwMode="auto">
          <a:xfrm>
            <a:off x="2657135" y="3036585"/>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CBA</a:t>
            </a:r>
            <a:endParaRPr lang="en-US" altLang="zh-CN" sz="2100" b="1" dirty="0">
              <a:solidFill>
                <a:prstClr val="black"/>
              </a:solidFill>
              <a:latin typeface="Tahoma" panose="020B0604030504040204" pitchFamily="34" charset="0"/>
              <a:ea typeface="等线" panose="02010600030101010101" pitchFamily="2" charset="-122"/>
            </a:endParaRPr>
          </a:p>
        </p:txBody>
      </p:sp>
      <p:sp>
        <p:nvSpPr>
          <p:cNvPr id="7" name="Text Box 7"/>
          <p:cNvSpPr txBox="1">
            <a:spLocks noChangeArrowheads="1"/>
          </p:cNvSpPr>
          <p:nvPr/>
        </p:nvSpPr>
        <p:spPr bwMode="auto">
          <a:xfrm>
            <a:off x="4277575" y="3036585"/>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ABC</a:t>
            </a:r>
            <a:endParaRPr lang="en-US" altLang="zh-CN" sz="2100" b="1" dirty="0">
              <a:solidFill>
                <a:prstClr val="black"/>
              </a:solidFill>
              <a:latin typeface="Tahoma" panose="020B0604030504040204" pitchFamily="34" charset="0"/>
              <a:ea typeface="等线" panose="02010600030101010101" pitchFamily="2" charset="-122"/>
            </a:endParaRPr>
          </a:p>
        </p:txBody>
      </p:sp>
      <p:sp>
        <p:nvSpPr>
          <p:cNvPr id="8" name="Text Box 8"/>
          <p:cNvSpPr txBox="1">
            <a:spLocks noChangeArrowheads="1"/>
          </p:cNvSpPr>
          <p:nvPr/>
        </p:nvSpPr>
        <p:spPr bwMode="auto">
          <a:xfrm>
            <a:off x="4277575" y="3847400"/>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BCA</a:t>
            </a:r>
            <a:endParaRPr lang="en-US" altLang="zh-CN" sz="2100" b="1" dirty="0">
              <a:solidFill>
                <a:prstClr val="black"/>
              </a:solidFill>
              <a:latin typeface="Tahoma" panose="020B0604030504040204" pitchFamily="34" charset="0"/>
              <a:ea typeface="等线" panose="02010600030101010101" pitchFamily="2" charset="-122"/>
            </a:endParaRPr>
          </a:p>
        </p:txBody>
      </p:sp>
      <p:sp>
        <p:nvSpPr>
          <p:cNvPr id="9" name="Line 9"/>
          <p:cNvSpPr>
            <a:spLocks noChangeShapeType="1"/>
          </p:cNvSpPr>
          <p:nvPr/>
        </p:nvSpPr>
        <p:spPr bwMode="auto">
          <a:xfrm>
            <a:off x="2673464" y="3415204"/>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0" name="Line 10"/>
          <p:cNvSpPr>
            <a:spLocks noChangeShapeType="1"/>
          </p:cNvSpPr>
          <p:nvPr/>
        </p:nvSpPr>
        <p:spPr bwMode="auto">
          <a:xfrm>
            <a:off x="2681628" y="4171250"/>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1" name="Line 11"/>
          <p:cNvSpPr>
            <a:spLocks noChangeShapeType="1"/>
          </p:cNvSpPr>
          <p:nvPr/>
        </p:nvSpPr>
        <p:spPr bwMode="auto">
          <a:xfrm>
            <a:off x="4310234" y="4171250"/>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2" name="Line 12"/>
          <p:cNvSpPr>
            <a:spLocks noChangeShapeType="1"/>
          </p:cNvSpPr>
          <p:nvPr/>
        </p:nvSpPr>
        <p:spPr bwMode="auto">
          <a:xfrm>
            <a:off x="5913155" y="4171250"/>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3" name="Line 13"/>
          <p:cNvSpPr>
            <a:spLocks noChangeShapeType="1"/>
          </p:cNvSpPr>
          <p:nvPr/>
        </p:nvSpPr>
        <p:spPr bwMode="auto">
          <a:xfrm>
            <a:off x="4300878" y="3415204"/>
            <a:ext cx="540544" cy="0"/>
          </a:xfrm>
          <a:prstGeom prst="line">
            <a:avLst/>
          </a:prstGeom>
          <a:noFill/>
          <a:ln w="57150">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4" name="Text Box 2"/>
          <p:cNvSpPr txBox="1">
            <a:spLocks noChangeArrowheads="1"/>
          </p:cNvSpPr>
          <p:nvPr/>
        </p:nvSpPr>
        <p:spPr bwMode="auto">
          <a:xfrm>
            <a:off x="2671424" y="4871495"/>
            <a:ext cx="3801152" cy="572464"/>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a:lnSpc>
                <a:spcPct val="130000"/>
              </a:lnSpc>
              <a:defRPr/>
            </a:pPr>
            <a:r>
              <a:rPr lang="zh-CN" altLang="en-US" sz="2400" b="1" dirty="0">
                <a:solidFill>
                  <a:srgbClr val="0000FF"/>
                </a:solidFill>
                <a:latin typeface="Tahoma" panose="020B0604030504040204" pitchFamily="34" charset="0"/>
                <a:ea typeface="等线" panose="02010600030101010101" pitchFamily="2" charset="-122"/>
              </a:rPr>
              <a:t>入栈、出栈可能交叉进行</a:t>
            </a:r>
            <a:endParaRPr lang="zh-CN" altLang="en-US" sz="2400" b="1" dirty="0">
              <a:solidFill>
                <a:srgbClr val="0000FF"/>
              </a:solidFill>
              <a:latin typeface="Tahoma" panose="020B0604030504040204" pitchFamily="34" charset="0"/>
              <a:ea typeface="等线" panose="02010600030101010101" pitchFamily="2" charset="-122"/>
            </a:endParaRPr>
          </a:p>
        </p:txBody>
      </p:sp>
      <p:sp>
        <p:nvSpPr>
          <p:cNvPr id="15" name="矩形 14"/>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3.8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sp>
        <p:nvSpPr>
          <p:cNvPr id="6" name="矩形 5"/>
          <p:cNvSpPr/>
          <p:nvPr/>
        </p:nvSpPr>
        <p:spPr>
          <a:xfrm>
            <a:off x="7228356" y="3847400"/>
            <a:ext cx="885179"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ACB</a:t>
            </a:r>
            <a:endParaRPr lang="en-US" altLang="zh-CN" sz="2100" b="1" dirty="0">
              <a:solidFill>
                <a:prstClr val="black"/>
              </a:solidFill>
              <a:latin typeface="Tahoma" panose="020B0604030504040204" pitchFamily="34" charset="0"/>
              <a:ea typeface="等线" panose="02010600030101010101" pitchFamily="2" charset="-122"/>
            </a:endParaRPr>
          </a:p>
        </p:txBody>
      </p:sp>
      <p:sp>
        <p:nvSpPr>
          <p:cNvPr id="16" name="乘号 15"/>
          <p:cNvSpPr/>
          <p:nvPr/>
        </p:nvSpPr>
        <p:spPr>
          <a:xfrm>
            <a:off x="7913721" y="3894740"/>
            <a:ext cx="399627" cy="32081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936171" y="5590663"/>
            <a:ext cx="7672735" cy="706755"/>
          </a:xfrm>
          <a:prstGeom prst="rect">
            <a:avLst/>
          </a:prstGeom>
          <a:noFill/>
        </p:spPr>
        <p:txBody>
          <a:bodyPr wrap="square">
            <a:spAutoFit/>
          </a:bodyPr>
          <a:lstStyle/>
          <a:p>
            <a:r>
              <a:rPr lang="zh-CN" altLang="en-US" sz="2000" b="1" dirty="0">
                <a:effectLst/>
                <a:latin typeface="宋体" panose="02010600030101010101" pitchFamily="2" charset="-122"/>
                <a:ea typeface="宋体" panose="02010600030101010101" pitchFamily="2" charset="-122"/>
              </a:rPr>
              <a:t>出栈序列中的每一个元素，</a:t>
            </a:r>
            <a:r>
              <a:rPr lang="zh-CN" altLang="en-US" sz="2000" b="1" dirty="0">
                <a:solidFill>
                  <a:srgbClr val="C00000"/>
                </a:solidFill>
                <a:effectLst/>
                <a:latin typeface="宋体" panose="02010600030101010101" pitchFamily="2" charset="-122"/>
                <a:ea typeface="宋体" panose="02010600030101010101" pitchFamily="2" charset="-122"/>
              </a:rPr>
              <a:t>在它后面的</a:t>
            </a:r>
            <a:r>
              <a:rPr lang="zh-CN" altLang="en-US" sz="2000" b="1" dirty="0">
                <a:solidFill>
                  <a:srgbClr val="C00000"/>
                </a:solidFill>
                <a:effectLst/>
                <a:latin typeface="宋体" panose="02010600030101010101" pitchFamily="2" charset="-122"/>
                <a:ea typeface="宋体" panose="02010600030101010101" pitchFamily="2" charset="-122"/>
                <a:sym typeface="+mn-ea"/>
              </a:rPr>
              <a:t>（相对于出栈）</a:t>
            </a:r>
            <a:r>
              <a:rPr lang="zh-CN" altLang="en-US" sz="2000" b="1" dirty="0">
                <a:solidFill>
                  <a:srgbClr val="C00000"/>
                </a:solidFill>
                <a:latin typeface="宋体" panose="02010600030101010101" pitchFamily="2" charset="-122"/>
                <a:ea typeface="宋体" panose="02010600030101010101" pitchFamily="2" charset="-122"/>
              </a:rPr>
              <a:t>、</a:t>
            </a:r>
            <a:r>
              <a:rPr lang="zh-CN" altLang="en-US" sz="2000" b="1" dirty="0">
                <a:solidFill>
                  <a:srgbClr val="C00000"/>
                </a:solidFill>
                <a:effectLst/>
                <a:latin typeface="宋体" panose="02010600030101010101" pitchFamily="2" charset="-122"/>
                <a:ea typeface="宋体" panose="02010600030101010101" pitchFamily="2" charset="-122"/>
              </a:rPr>
              <a:t>比其早入栈的元素</a:t>
            </a:r>
            <a:r>
              <a:rPr lang="zh-CN" altLang="en-US" sz="2000" b="1" dirty="0">
                <a:effectLst/>
                <a:latin typeface="宋体" panose="02010600030101010101" pitchFamily="2" charset="-122"/>
                <a:ea typeface="宋体" panose="02010600030101010101" pitchFamily="2" charset="-122"/>
              </a:rPr>
              <a:t>，一定是按</a:t>
            </a:r>
            <a:r>
              <a:rPr lang="zh-CN" altLang="en-US" sz="2000" b="1" dirty="0">
                <a:solidFill>
                  <a:srgbClr val="C00000"/>
                </a:solidFill>
                <a:effectLst/>
                <a:latin typeface="宋体" panose="02010600030101010101" pitchFamily="2" charset="-122"/>
                <a:ea typeface="宋体" panose="02010600030101010101" pitchFamily="2" charset="-122"/>
              </a:rPr>
              <a:t>入栈逆序</a:t>
            </a:r>
            <a:r>
              <a:rPr lang="zh-CN" altLang="en-US" sz="2000" b="1" dirty="0">
                <a:effectLst/>
                <a:latin typeface="宋体" panose="02010600030101010101" pitchFamily="2" charset="-122"/>
                <a:ea typeface="宋体" panose="02010600030101010101" pitchFamily="2" charset="-122"/>
              </a:rPr>
              <a:t>顺序排列的。</a:t>
            </a:r>
            <a:endParaRPr lang="zh-CN" altLang="en-US" sz="2000" b="1" dirty="0">
              <a:latin typeface="宋体" panose="02010600030101010101" pitchFamily="2" charset="-122"/>
              <a:ea typeface="宋体" panose="02010600030101010101" pitchFamily="2" charset="-122"/>
            </a:endParaRPr>
          </a:p>
        </p:txBody>
      </p:sp>
      <p:sp>
        <p:nvSpPr>
          <p:cNvPr id="17" name="Text Box 3"/>
          <p:cNvSpPr txBox="1">
            <a:spLocks noChangeArrowheads="1"/>
          </p:cNvSpPr>
          <p:nvPr/>
        </p:nvSpPr>
        <p:spPr bwMode="auto">
          <a:xfrm>
            <a:off x="2615803" y="3792115"/>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CAB</a:t>
            </a:r>
            <a:endParaRPr lang="en-US" altLang="zh-CN" sz="2100" b="1" dirty="0">
              <a:solidFill>
                <a:prstClr val="black"/>
              </a:solidFill>
              <a:latin typeface="Tahoma" panose="020B0604030504040204" pitchFamily="34" charset="0"/>
              <a:ea typeface="等线" panose="02010600030101010101" pitchFamily="2" charset="-122"/>
            </a:endParaRPr>
          </a:p>
        </p:txBody>
      </p:sp>
      <p:sp>
        <p:nvSpPr>
          <p:cNvPr id="19" name="Text Box 8"/>
          <p:cNvSpPr txBox="1">
            <a:spLocks noChangeArrowheads="1"/>
          </p:cNvSpPr>
          <p:nvPr/>
        </p:nvSpPr>
        <p:spPr bwMode="auto">
          <a:xfrm>
            <a:off x="5817319" y="3800060"/>
            <a:ext cx="756047" cy="415498"/>
          </a:xfrm>
          <a:prstGeom prst="rect">
            <a:avLst/>
          </a:prstGeom>
          <a:noFill/>
          <a:ln>
            <a:noFill/>
          </a:ln>
          <a:effectLst/>
          <a:extLst>
            <a:ext uri="{909E8E84-426E-40DD-AFC4-6F175D3DCCD1}">
              <a14:hiddenFill xmlns:a14="http://schemas.microsoft.com/office/drawing/2010/main">
                <a:gradFill rotWithShape="0">
                  <a:gsLst>
                    <a:gs pos="0">
                      <a:schemeClr val="bg1"/>
                    </a:gs>
                    <a:gs pos="50000">
                      <a:schemeClr val="accent1"/>
                    </a:gs>
                    <a:gs pos="100000">
                      <a:schemeClr val="bg1"/>
                    </a:gs>
                  </a:gsLst>
                  <a:lin ang="0" scaled="1"/>
                </a:gra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lang="en-US" altLang="zh-CN" sz="2100" b="1" dirty="0">
                <a:solidFill>
                  <a:prstClr val="black"/>
                </a:solidFill>
                <a:latin typeface="Tahoma" panose="020B0604030504040204" pitchFamily="34" charset="0"/>
                <a:ea typeface="等线" panose="02010600030101010101" pitchFamily="2" charset="-122"/>
              </a:rPr>
              <a:t>BAC</a:t>
            </a:r>
            <a:endParaRPr lang="en-US" altLang="zh-CN" sz="2100" b="1" dirty="0">
              <a:solidFill>
                <a:prstClr val="black"/>
              </a:solidFill>
              <a:latin typeface="Tahoma" panose="020B0604030504040204" pitchFamily="34" charset="0"/>
              <a:ea typeface="等线"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9" name="Rectangle 7"/>
          <p:cNvSpPr>
            <a:spLocks noChangeArrowheads="1"/>
          </p:cNvSpPr>
          <p:nvPr/>
        </p:nvSpPr>
        <p:spPr bwMode="auto">
          <a:xfrm>
            <a:off x="2197895" y="2400300"/>
            <a:ext cx="5089922" cy="415498"/>
          </a:xfrm>
          <a:prstGeom prst="rect">
            <a:avLst/>
          </a:prstGeom>
          <a:noFill/>
          <a:ln w="9525">
            <a:noFill/>
            <a:miter lim="800000"/>
          </a:ln>
          <a:effectLst/>
        </p:spPr>
        <p:txBody>
          <a:bodyP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325640" name="Rectangle 8"/>
          <p:cNvSpPr>
            <a:spLocks noChangeArrowheads="1"/>
          </p:cNvSpPr>
          <p:nvPr/>
        </p:nvSpPr>
        <p:spPr bwMode="auto">
          <a:xfrm>
            <a:off x="1314450" y="2400300"/>
            <a:ext cx="6515100" cy="547688"/>
          </a:xfrm>
          <a:prstGeom prst="rect">
            <a:avLst/>
          </a:prstGeom>
          <a:noFill/>
          <a:ln w="9525">
            <a:noFill/>
            <a:miter lim="800000"/>
          </a:ln>
          <a:effectLst/>
        </p:spPr>
        <p:txBody>
          <a:bodyPr/>
          <a:lstStyle/>
          <a:p>
            <a:pPr algn="ctr" defTabSz="685800">
              <a:defRPr/>
            </a:pPr>
            <a:br>
              <a:rPr lang="en-US" altLang="zh-CN" sz="2100">
                <a:solidFill>
                  <a:prstClr val="black"/>
                </a:solidFill>
                <a:latin typeface="Times New Roman" panose="02020603050405020304" pitchFamily="18" charset="0"/>
                <a:ea typeface="等线" panose="02010600030101010101" pitchFamily="2" charset="-122"/>
              </a:rPr>
            </a:br>
            <a:r>
              <a:rPr lang="en-US" altLang="zh-CN" sz="2100">
                <a:solidFill>
                  <a:prstClr val="black"/>
                </a:solidFill>
                <a:latin typeface="Times New Roman" panose="02020603050405020304" pitchFamily="18" charset="0"/>
                <a:ea typeface="等线" panose="02010600030101010101" pitchFamily="2" charset="-122"/>
              </a:rPr>
              <a:t>      </a:t>
            </a:r>
            <a:endParaRPr lang="en-US" altLang="zh-CN" sz="2100">
              <a:solidFill>
                <a:prstClr val="black"/>
              </a:solidFill>
              <a:latin typeface="Times New Roman" panose="02020603050405020304" pitchFamily="18" charset="0"/>
              <a:ea typeface="等线" panose="02010600030101010101" pitchFamily="2" charset="-122"/>
            </a:endParaRPr>
          </a:p>
          <a:p>
            <a:pPr algn="ctr" defTabSz="685800">
              <a:defRPr/>
            </a:pPr>
            <a:endParaRPr lang="en-US" altLang="zh-CN" sz="2100">
              <a:solidFill>
                <a:prstClr val="black"/>
              </a:solidFill>
              <a:latin typeface="Times New Roman" panose="02020603050405020304" pitchFamily="18" charset="0"/>
              <a:ea typeface="等线" panose="02010600030101010101" pitchFamily="2" charset="-122"/>
            </a:endParaRPr>
          </a:p>
        </p:txBody>
      </p:sp>
      <p:sp>
        <p:nvSpPr>
          <p:cNvPr id="325641" name="Rectangle 9"/>
          <p:cNvSpPr>
            <a:spLocks noChangeArrowheads="1"/>
          </p:cNvSpPr>
          <p:nvPr/>
        </p:nvSpPr>
        <p:spPr bwMode="auto">
          <a:xfrm>
            <a:off x="780534" y="2213818"/>
            <a:ext cx="7811532" cy="1061829"/>
          </a:xfrm>
          <a:prstGeom prst="rect">
            <a:avLst/>
          </a:prstGeom>
          <a:noFill/>
          <a:ln w="9525">
            <a:noFill/>
            <a:miter lim="800000"/>
          </a:ln>
          <a:effectLst/>
        </p:spPr>
        <p:txBody>
          <a:bodyPr wrap="square">
            <a:spAutoFit/>
          </a:bodyPr>
          <a:lstStyle/>
          <a:p>
            <a:pPr defTabSz="685800">
              <a:lnSpc>
                <a:spcPct val="150000"/>
              </a:lnSpc>
              <a:buClr>
                <a:srgbClr val="0563C1"/>
              </a:buClr>
              <a:buSzPct val="70000"/>
              <a:defRPr/>
            </a:pPr>
            <a:r>
              <a:rPr lang="zh-CN" altLang="en-US" sz="2100" b="1" dirty="0">
                <a:solidFill>
                  <a:srgbClr val="4472C4"/>
                </a:solidFill>
                <a:latin typeface="宋体" panose="02010600030101010101" pitchFamily="2" charset="-122"/>
                <a:ea typeface="宋体" panose="02010600030101010101" pitchFamily="2" charset="-122"/>
              </a:rPr>
              <a:t>栈结构具有的后进先出的固有特性，致使栈成为程序设计中常用的工具。</a:t>
            </a:r>
            <a:endParaRPr lang="zh-CN" altLang="en-US" sz="2100" b="1" dirty="0">
              <a:solidFill>
                <a:srgbClr val="4472C4"/>
              </a:solidFill>
              <a:latin typeface="宋体" panose="02010600030101010101" pitchFamily="2" charset="-122"/>
              <a:ea typeface="宋体" panose="02010600030101010101" pitchFamily="2" charset="-122"/>
            </a:endParaRPr>
          </a:p>
        </p:txBody>
      </p:sp>
      <p:sp>
        <p:nvSpPr>
          <p:cNvPr id="12" name="Rectangle 3"/>
          <p:cNvSpPr txBox="1">
            <a:spLocks noChangeArrowheads="1"/>
          </p:cNvSpPr>
          <p:nvPr/>
        </p:nvSpPr>
        <p:spPr>
          <a:xfrm>
            <a:off x="665560" y="4113260"/>
            <a:ext cx="3064670" cy="498256"/>
          </a:xfrm>
          <a:prstGeom prst="rect">
            <a:avLst/>
          </a:prstGeom>
        </p:spPr>
        <p:txBody>
          <a:bodyPr/>
          <a:lstStyle/>
          <a:p>
            <a:pPr marL="257175" indent="-257175" algn="ctr" defTabSz="685800" fontAlgn="base">
              <a:lnSpc>
                <a:spcPct val="120000"/>
              </a:lnSpc>
              <a:spcBef>
                <a:spcPct val="0"/>
              </a:spcBef>
              <a:spcAft>
                <a:spcPct val="0"/>
              </a:spcAft>
              <a:buClr>
                <a:srgbClr val="0563C1"/>
              </a:buClr>
              <a:buSzPct val="70000"/>
              <a:defRPr/>
            </a:pPr>
            <a:r>
              <a:rPr lang="en-US" altLang="zh-CN" sz="2100" b="1" dirty="0">
                <a:solidFill>
                  <a:prstClr val="black"/>
                </a:solidFill>
                <a:latin typeface="宋体" panose="02010600030101010101" pitchFamily="2" charset="-122"/>
                <a:ea typeface="宋体" panose="02010600030101010101" pitchFamily="2" charset="-122"/>
              </a:rPr>
              <a:t>ABCD-----DCBA</a:t>
            </a:r>
            <a:endParaRPr lang="en-US" altLang="zh-CN" sz="2100" b="1" dirty="0">
              <a:solidFill>
                <a:prstClr val="black"/>
              </a:solidFill>
              <a:latin typeface="宋体" panose="02010600030101010101" pitchFamily="2" charset="-122"/>
              <a:ea typeface="宋体" panose="02010600030101010101" pitchFamily="2" charset="-122"/>
            </a:endParaRPr>
          </a:p>
          <a:p>
            <a:pPr marL="257175" indent="-257175" algn="ctr" defTabSz="685800" fontAlgn="base">
              <a:lnSpc>
                <a:spcPct val="120000"/>
              </a:lnSpc>
              <a:spcBef>
                <a:spcPct val="0"/>
              </a:spcBef>
              <a:spcAft>
                <a:spcPct val="0"/>
              </a:spcAft>
              <a:buClr>
                <a:srgbClr val="0563C1"/>
              </a:buClr>
              <a:buSzPct val="70000"/>
              <a:defRPr/>
            </a:pPr>
            <a:endParaRPr lang="zh-CN" altLang="en-US" sz="2100" b="1" dirty="0">
              <a:solidFill>
                <a:srgbClr val="4472C4"/>
              </a:solidFill>
              <a:latin typeface="宋体" panose="02010600030101010101" pitchFamily="2" charset="-122"/>
              <a:ea typeface="宋体" panose="02010600030101010101" pitchFamily="2" charset="-122"/>
            </a:endParaRPr>
          </a:p>
        </p:txBody>
      </p:sp>
      <p:grpSp>
        <p:nvGrpSpPr>
          <p:cNvPr id="13" name="Group 4"/>
          <p:cNvGrpSpPr/>
          <p:nvPr/>
        </p:nvGrpSpPr>
        <p:grpSpPr bwMode="auto">
          <a:xfrm>
            <a:off x="5157631" y="2919745"/>
            <a:ext cx="971550" cy="1681163"/>
            <a:chOff x="4152" y="2160"/>
            <a:chExt cx="1224" cy="1796"/>
          </a:xfrm>
        </p:grpSpPr>
        <p:sp>
          <p:nvSpPr>
            <p:cNvPr id="14" name="Rectangle 5"/>
            <p:cNvSpPr>
              <a:spLocks noChangeArrowheads="1"/>
            </p:cNvSpPr>
            <p:nvPr/>
          </p:nvSpPr>
          <p:spPr bwMode="auto">
            <a:xfrm>
              <a:off x="4152" y="3601"/>
              <a:ext cx="1224" cy="355"/>
            </a:xfrm>
            <a:prstGeom prst="rect">
              <a:avLst/>
            </a:prstGeom>
            <a:noFill/>
            <a:ln w="28575">
              <a:noFill/>
              <a:miter lim="800000"/>
            </a:ln>
            <a:effectLst/>
          </p:spPr>
          <p:txBody>
            <a:bodyPr lIns="13500" tIns="8100" rIns="13500" bIns="8100"/>
            <a:lstStyle/>
            <a:p>
              <a:pPr algn="ctr" defTabSz="846455">
                <a:spcBef>
                  <a:spcPct val="20000"/>
                </a:spcBef>
                <a:defRPr/>
              </a:pPr>
              <a:r>
                <a:rPr lang="en-US" altLang="zh-CN" sz="2100" b="1" dirty="0">
                  <a:solidFill>
                    <a:srgbClr val="ED7D31"/>
                  </a:solidFill>
                  <a:latin typeface="宋体" panose="02010600030101010101" pitchFamily="2" charset="-122"/>
                  <a:ea typeface="宋体" panose="02010600030101010101" pitchFamily="2" charset="-122"/>
                </a:rPr>
                <a:t>A</a:t>
              </a:r>
              <a:endParaRPr lang="zh-CN" altLang="en-US" sz="2100" b="1" dirty="0">
                <a:solidFill>
                  <a:srgbClr val="ED7D31"/>
                </a:solidFill>
                <a:latin typeface="宋体" panose="02010600030101010101" pitchFamily="2" charset="-122"/>
                <a:ea typeface="宋体" panose="02010600030101010101" pitchFamily="2" charset="-122"/>
              </a:endParaRPr>
            </a:p>
          </p:txBody>
        </p:sp>
        <p:sp>
          <p:nvSpPr>
            <p:cNvPr id="15" name="Rectangle 6"/>
            <p:cNvSpPr>
              <a:spLocks noChangeArrowheads="1"/>
            </p:cNvSpPr>
            <p:nvPr/>
          </p:nvSpPr>
          <p:spPr bwMode="auto">
            <a:xfrm>
              <a:off x="4152" y="3246"/>
              <a:ext cx="1224" cy="355"/>
            </a:xfrm>
            <a:prstGeom prst="rect">
              <a:avLst/>
            </a:prstGeom>
            <a:noFill/>
            <a:ln w="28575">
              <a:noFill/>
              <a:miter lim="800000"/>
            </a:ln>
            <a:effectLst/>
          </p:spPr>
          <p:txBody>
            <a:bodyPr lIns="13500" tIns="8100" rIns="13500" bIns="8100"/>
            <a:lstStyle/>
            <a:p>
              <a:pPr algn="ctr" defTabSz="846455">
                <a:spcBef>
                  <a:spcPct val="20000"/>
                </a:spcBef>
                <a:defRPr/>
              </a:pPr>
              <a:r>
                <a:rPr lang="en-US" altLang="zh-CN" sz="2100" b="1" dirty="0">
                  <a:solidFill>
                    <a:prstClr val="black"/>
                  </a:solidFill>
                  <a:latin typeface="宋体" panose="02010600030101010101" pitchFamily="2" charset="-122"/>
                  <a:ea typeface="宋体" panose="02010600030101010101" pitchFamily="2" charset="-122"/>
                </a:rPr>
                <a:t>B</a:t>
              </a:r>
              <a:endParaRPr lang="zh-CN" altLang="en-US" sz="2100" b="1" dirty="0">
                <a:solidFill>
                  <a:prstClr val="black"/>
                </a:solidFill>
                <a:latin typeface="宋体" panose="02010600030101010101" pitchFamily="2" charset="-122"/>
                <a:ea typeface="宋体" panose="02010600030101010101" pitchFamily="2" charset="-122"/>
              </a:endParaRPr>
            </a:p>
          </p:txBody>
        </p:sp>
        <p:sp>
          <p:nvSpPr>
            <p:cNvPr id="16" name="Rectangle 7"/>
            <p:cNvSpPr>
              <a:spLocks noChangeArrowheads="1"/>
            </p:cNvSpPr>
            <p:nvPr/>
          </p:nvSpPr>
          <p:spPr bwMode="auto">
            <a:xfrm>
              <a:off x="4152" y="2891"/>
              <a:ext cx="1224" cy="355"/>
            </a:xfrm>
            <a:prstGeom prst="rect">
              <a:avLst/>
            </a:prstGeom>
            <a:noFill/>
            <a:ln w="28575">
              <a:noFill/>
              <a:miter lim="800000"/>
            </a:ln>
            <a:effectLst/>
          </p:spPr>
          <p:txBody>
            <a:bodyPr lIns="13500" tIns="8100" rIns="13500" bIns="8100"/>
            <a:lstStyle/>
            <a:p>
              <a:pPr algn="ctr" defTabSz="846455">
                <a:spcBef>
                  <a:spcPct val="20000"/>
                </a:spcBef>
                <a:defRPr/>
              </a:pPr>
              <a:r>
                <a:rPr lang="en-US" altLang="zh-CN" sz="2100" b="1" dirty="0">
                  <a:solidFill>
                    <a:srgbClr val="ED7D31"/>
                  </a:solidFill>
                  <a:latin typeface="宋体" panose="02010600030101010101" pitchFamily="2" charset="-122"/>
                  <a:ea typeface="宋体" panose="02010600030101010101" pitchFamily="2" charset="-122"/>
                </a:rPr>
                <a:t>C</a:t>
              </a:r>
              <a:endParaRPr lang="zh-CN" altLang="en-US" sz="2100" b="1" dirty="0">
                <a:solidFill>
                  <a:srgbClr val="ED7D31"/>
                </a:solidFill>
                <a:latin typeface="宋体" panose="02010600030101010101" pitchFamily="2" charset="-122"/>
                <a:ea typeface="宋体" panose="02010600030101010101" pitchFamily="2" charset="-122"/>
              </a:endParaRPr>
            </a:p>
          </p:txBody>
        </p:sp>
        <p:sp>
          <p:nvSpPr>
            <p:cNvPr id="17" name="Rectangle 8"/>
            <p:cNvSpPr>
              <a:spLocks noChangeArrowheads="1"/>
            </p:cNvSpPr>
            <p:nvPr/>
          </p:nvSpPr>
          <p:spPr bwMode="auto">
            <a:xfrm>
              <a:off x="4152" y="2536"/>
              <a:ext cx="1224" cy="355"/>
            </a:xfrm>
            <a:prstGeom prst="rect">
              <a:avLst/>
            </a:prstGeom>
            <a:noFill/>
            <a:ln w="28575">
              <a:noFill/>
              <a:miter lim="800000"/>
            </a:ln>
            <a:effectLst/>
          </p:spPr>
          <p:txBody>
            <a:bodyPr lIns="13500" tIns="8100" rIns="13500" bIns="8100"/>
            <a:lstStyle/>
            <a:p>
              <a:pPr algn="ctr" defTabSz="846455">
                <a:spcBef>
                  <a:spcPct val="20000"/>
                </a:spcBef>
                <a:defRPr/>
              </a:pPr>
              <a:r>
                <a:rPr lang="en-US" altLang="zh-CN" sz="2100" b="1" dirty="0">
                  <a:solidFill>
                    <a:srgbClr val="ED7D31"/>
                  </a:solidFill>
                  <a:latin typeface="宋体" panose="02010600030101010101" pitchFamily="2" charset="-122"/>
                  <a:ea typeface="宋体" panose="02010600030101010101" pitchFamily="2" charset="-122"/>
                </a:rPr>
                <a:t>D</a:t>
              </a:r>
              <a:endParaRPr lang="zh-CN" altLang="en-US" sz="2100" b="1" dirty="0">
                <a:solidFill>
                  <a:srgbClr val="ED7D31"/>
                </a:solidFill>
                <a:latin typeface="宋体" panose="02010600030101010101" pitchFamily="2" charset="-122"/>
                <a:ea typeface="宋体" panose="02010600030101010101" pitchFamily="2" charset="-122"/>
              </a:endParaRPr>
            </a:p>
          </p:txBody>
        </p:sp>
        <p:sp>
          <p:nvSpPr>
            <p:cNvPr id="18" name="Line 9"/>
            <p:cNvSpPr>
              <a:spLocks noChangeShapeType="1"/>
            </p:cNvSpPr>
            <p:nvPr/>
          </p:nvSpPr>
          <p:spPr bwMode="auto">
            <a:xfrm>
              <a:off x="4152" y="2536"/>
              <a:ext cx="1224" cy="0"/>
            </a:xfrm>
            <a:prstGeom prst="line">
              <a:avLst/>
            </a:prstGeom>
            <a:noFill/>
            <a:ln w="28575" cap="sq">
              <a:noFill/>
              <a:round/>
            </a:ln>
            <a:effectLst/>
          </p:spPr>
          <p:txBody>
            <a:bodyPr lIns="13500" tIns="8100" rIns="13500" bIns="8100" anchor="ct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9" name="Line 10"/>
            <p:cNvSpPr>
              <a:spLocks noChangeShapeType="1"/>
            </p:cNvSpPr>
            <p:nvPr/>
          </p:nvSpPr>
          <p:spPr bwMode="auto">
            <a:xfrm>
              <a:off x="4152" y="2891"/>
              <a:ext cx="1224" cy="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0" name="Line 11"/>
            <p:cNvSpPr>
              <a:spLocks noChangeShapeType="1"/>
            </p:cNvSpPr>
            <p:nvPr/>
          </p:nvSpPr>
          <p:spPr bwMode="auto">
            <a:xfrm>
              <a:off x="4152" y="3246"/>
              <a:ext cx="1224" cy="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1" name="Line 12"/>
            <p:cNvSpPr>
              <a:spLocks noChangeShapeType="1"/>
            </p:cNvSpPr>
            <p:nvPr/>
          </p:nvSpPr>
          <p:spPr bwMode="auto">
            <a:xfrm>
              <a:off x="4152" y="3601"/>
              <a:ext cx="1224" cy="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2" name="Line 13"/>
            <p:cNvSpPr>
              <a:spLocks noChangeShapeType="1"/>
            </p:cNvSpPr>
            <p:nvPr/>
          </p:nvSpPr>
          <p:spPr bwMode="auto">
            <a:xfrm>
              <a:off x="4152" y="3956"/>
              <a:ext cx="1224" cy="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3" name="Line 14"/>
            <p:cNvSpPr>
              <a:spLocks noChangeShapeType="1"/>
            </p:cNvSpPr>
            <p:nvPr/>
          </p:nvSpPr>
          <p:spPr bwMode="auto">
            <a:xfrm>
              <a:off x="4152" y="2536"/>
              <a:ext cx="0" cy="142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4" name="Line 15"/>
            <p:cNvSpPr>
              <a:spLocks noChangeShapeType="1"/>
            </p:cNvSpPr>
            <p:nvPr/>
          </p:nvSpPr>
          <p:spPr bwMode="auto">
            <a:xfrm>
              <a:off x="5376" y="2536"/>
              <a:ext cx="0" cy="142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5" name="Line 16"/>
            <p:cNvSpPr>
              <a:spLocks noChangeShapeType="1"/>
            </p:cNvSpPr>
            <p:nvPr/>
          </p:nvSpPr>
          <p:spPr bwMode="auto">
            <a:xfrm>
              <a:off x="4248" y="2160"/>
              <a:ext cx="264" cy="444"/>
            </a:xfrm>
            <a:prstGeom prst="line">
              <a:avLst/>
            </a:prstGeom>
            <a:noFill/>
            <a:ln w="38100">
              <a:solidFill>
                <a:schemeClr val="tx1"/>
              </a:solidFill>
              <a:round/>
              <a:tailEnd type="triangle" w="med" len="med"/>
            </a:ln>
            <a:effectLst/>
          </p:spPr>
          <p:txBody>
            <a:bodyPr lIns="13500" tIns="8100" rIns="13500" bIns="8100" anchor="ct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26" name="Line 17"/>
            <p:cNvSpPr>
              <a:spLocks noChangeShapeType="1"/>
            </p:cNvSpPr>
            <p:nvPr/>
          </p:nvSpPr>
          <p:spPr bwMode="auto">
            <a:xfrm flipV="1">
              <a:off x="4980" y="2160"/>
              <a:ext cx="300" cy="432"/>
            </a:xfrm>
            <a:prstGeom prst="line">
              <a:avLst/>
            </a:prstGeom>
            <a:noFill/>
            <a:ln w="38100">
              <a:solidFill>
                <a:schemeClr val="tx1"/>
              </a:solidFill>
              <a:round/>
              <a:tailEnd type="triangle" w="med" len="med"/>
            </a:ln>
            <a:effectLst/>
          </p:spPr>
          <p:txBody>
            <a:bodyPr lIns="13500" tIns="8100" rIns="13500" bIns="8100" anchor="ctr">
              <a:spAutoFit/>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grpSp>
      <p:sp>
        <p:nvSpPr>
          <p:cNvPr id="27" name="AutoShape 23"/>
          <p:cNvSpPr>
            <a:spLocks noChangeArrowheads="1"/>
          </p:cNvSpPr>
          <p:nvPr/>
        </p:nvSpPr>
        <p:spPr bwMode="auto">
          <a:xfrm>
            <a:off x="273928" y="1648566"/>
            <a:ext cx="1923967" cy="515957"/>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defTabSz="685800">
              <a:buClr>
                <a:srgbClr val="0563C1"/>
              </a:buClr>
              <a:buSzPct val="75000"/>
              <a:defRPr/>
            </a:pPr>
            <a:r>
              <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栈的应用</a:t>
            </a:r>
            <a:endPar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28" name="AutoShape 4"/>
          <p:cNvSpPr>
            <a:spLocks noChangeArrowheads="1"/>
          </p:cNvSpPr>
          <p:nvPr/>
        </p:nvSpPr>
        <p:spPr bwMode="gray">
          <a:xfrm>
            <a:off x="553641" y="3363305"/>
            <a:ext cx="2013472" cy="498256"/>
          </a:xfrm>
          <a:prstGeom prst="roundRect">
            <a:avLst>
              <a:gd name="adj" fmla="val 50000"/>
            </a:avLst>
          </a:prstGeom>
          <a:gradFill rotWithShape="1">
            <a:gsLst>
              <a:gs pos="0">
                <a:schemeClr val="accent1">
                  <a:gamma/>
                  <a:shade val="45490"/>
                  <a:invGamma/>
                </a:schemeClr>
              </a:gs>
              <a:gs pos="50000">
                <a:schemeClr val="accent1"/>
              </a:gs>
              <a:gs pos="100000">
                <a:schemeClr val="accent1">
                  <a:gamma/>
                  <a:shade val="45490"/>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defTabSz="685800" eaLnBrk="0" hangingPunct="0">
              <a:defRPr/>
            </a:pPr>
            <a:r>
              <a:rPr lang="zh-CN" altLang="en-US" sz="2100" b="1" dirty="0">
                <a:solidFill>
                  <a:prstClr val="white"/>
                </a:solidFill>
                <a:effectLst>
                  <a:outerShdw blurRad="38100" dist="38100" dir="2700000" algn="tl">
                    <a:srgbClr val="000000"/>
                  </a:outerShdw>
                </a:effectLst>
                <a:latin typeface="Verdana" panose="020B0604030504040204" pitchFamily="34" charset="0"/>
                <a:ea typeface="仿宋_GB2312" pitchFamily="49" charset="-122"/>
              </a:rPr>
              <a:t>内容逆置</a:t>
            </a:r>
            <a:endParaRPr lang="en-US" altLang="zh-CN" sz="2100" dirty="0">
              <a:solidFill>
                <a:prstClr val="white"/>
              </a:solidFill>
              <a:effectLst>
                <a:outerShdw blurRad="38100" dist="38100" dir="2700000" algn="tl">
                  <a:srgbClr val="000000"/>
                </a:outerShdw>
              </a:effectLst>
              <a:latin typeface="Verdana" panose="020B0604030504040204" pitchFamily="34" charset="0"/>
              <a:ea typeface="宋体" panose="02010600030101010101" pitchFamily="2" charset="-122"/>
            </a:endParaRPr>
          </a:p>
        </p:txBody>
      </p:sp>
      <p:sp>
        <p:nvSpPr>
          <p:cNvPr id="29" name="矩形 28"/>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3.8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60" name="Rectangle 4"/>
          <p:cNvSpPr>
            <a:spLocks noChangeArrowheads="1"/>
          </p:cNvSpPr>
          <p:nvPr/>
        </p:nvSpPr>
        <p:spPr bwMode="auto">
          <a:xfrm>
            <a:off x="1371600" y="3002756"/>
            <a:ext cx="6629400" cy="415498"/>
          </a:xfrm>
          <a:prstGeom prst="rect">
            <a:avLst/>
          </a:prstGeom>
          <a:noFill/>
          <a:ln w="9525">
            <a:noFill/>
            <a:miter lim="800000"/>
          </a:ln>
          <a:effectLst/>
        </p:spPr>
        <p:txBody>
          <a:bodyPr>
            <a:spAutoFit/>
          </a:bodyPr>
          <a:lstStyle/>
          <a:p>
            <a:pPr defTabSz="685800">
              <a:spcBef>
                <a:spcPct val="20000"/>
              </a:spcBef>
              <a:defRPr/>
            </a:pPr>
            <a:endParaRPr lang="zh-CN" altLang="zh-CN" sz="2100" b="1">
              <a:solidFill>
                <a:srgbClr val="954F72"/>
              </a:solidFill>
              <a:latin typeface="黑体" panose="02010609060101010101" pitchFamily="49" charset="-122"/>
              <a:ea typeface="黑体" panose="02010609060101010101" pitchFamily="49" charset="-122"/>
            </a:endParaRPr>
          </a:p>
        </p:txBody>
      </p:sp>
      <p:sp>
        <p:nvSpPr>
          <p:cNvPr id="326661" name="Rectangle 5"/>
          <p:cNvSpPr>
            <a:spLocks noChangeArrowheads="1"/>
          </p:cNvSpPr>
          <p:nvPr/>
        </p:nvSpPr>
        <p:spPr bwMode="auto">
          <a:xfrm>
            <a:off x="2197895" y="3077766"/>
            <a:ext cx="5089922" cy="415498"/>
          </a:xfrm>
          <a:prstGeom prst="rect">
            <a:avLst/>
          </a:prstGeom>
          <a:noFill/>
          <a:ln w="9525">
            <a:noFill/>
            <a:miter lim="800000"/>
          </a:ln>
          <a:effectLst/>
        </p:spPr>
        <p:txBody>
          <a:bodyP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326662" name="Rectangle 6"/>
          <p:cNvSpPr>
            <a:spLocks noChangeArrowheads="1"/>
          </p:cNvSpPr>
          <p:nvPr/>
        </p:nvSpPr>
        <p:spPr bwMode="auto">
          <a:xfrm>
            <a:off x="2197895" y="2400300"/>
            <a:ext cx="5089922" cy="415498"/>
          </a:xfrm>
          <a:prstGeom prst="rect">
            <a:avLst/>
          </a:prstGeom>
          <a:noFill/>
          <a:ln w="9525">
            <a:noFill/>
            <a:miter lim="800000"/>
          </a:ln>
          <a:effectLst/>
        </p:spPr>
        <p:txBody>
          <a:bodyP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326666" name="Rectangle 10"/>
          <p:cNvSpPr>
            <a:spLocks noChangeArrowheads="1"/>
          </p:cNvSpPr>
          <p:nvPr/>
        </p:nvSpPr>
        <p:spPr bwMode="auto">
          <a:xfrm>
            <a:off x="184423" y="2528208"/>
            <a:ext cx="4320776" cy="415498"/>
          </a:xfrm>
          <a:prstGeom prst="rect">
            <a:avLst/>
          </a:prstGeom>
          <a:noFill/>
          <a:ln w="9525">
            <a:noFill/>
            <a:miter lim="800000"/>
          </a:ln>
          <a:effectLst/>
        </p:spPr>
        <p:txBody>
          <a:bodyPr wrap="square">
            <a:spAutoFit/>
          </a:bodyPr>
          <a:lstStyle/>
          <a:p>
            <a:pPr defTabSz="685800">
              <a:buClr>
                <a:srgbClr val="0563C1"/>
              </a:buClr>
              <a:buSzPct val="70000"/>
              <a:defRPr/>
            </a:pPr>
            <a:r>
              <a:rPr lang="zh-CN" altLang="en-US" sz="2100" b="1" dirty="0">
                <a:solidFill>
                  <a:prstClr val="black"/>
                </a:solidFill>
                <a:latin typeface="Times New Roman" panose="02020603050405020304" pitchFamily="18" charset="0"/>
                <a:ea typeface="黑体" panose="02010609060101010101" pitchFamily="49" charset="-122"/>
              </a:rPr>
              <a:t>　 原理：</a:t>
            </a:r>
            <a:r>
              <a:rPr lang="en-US" altLang="zh-CN" sz="2100" b="1" dirty="0">
                <a:solidFill>
                  <a:prstClr val="black"/>
                </a:solidFill>
                <a:latin typeface="Times New Roman" panose="02020603050405020304" pitchFamily="18" charset="0"/>
                <a:ea typeface="黑体" panose="02010609060101010101" pitchFamily="49" charset="-122"/>
              </a:rPr>
              <a:t>N=(N div d)*d+ N mod d</a:t>
            </a:r>
            <a:endParaRPr lang="en-US" altLang="zh-CN" sz="2100" b="1" dirty="0">
              <a:solidFill>
                <a:prstClr val="black"/>
              </a:solidFill>
              <a:latin typeface="Times New Roman" panose="02020603050405020304" pitchFamily="18" charset="0"/>
              <a:ea typeface="黑体" panose="02010609060101010101" pitchFamily="49" charset="-122"/>
            </a:endParaRPr>
          </a:p>
        </p:txBody>
      </p:sp>
      <p:sp>
        <p:nvSpPr>
          <p:cNvPr id="15" name="Rectangle 4"/>
          <p:cNvSpPr>
            <a:spLocks noChangeArrowheads="1"/>
          </p:cNvSpPr>
          <p:nvPr/>
        </p:nvSpPr>
        <p:spPr bwMode="auto">
          <a:xfrm>
            <a:off x="5302555" y="1828343"/>
            <a:ext cx="3733072" cy="2236943"/>
          </a:xfrm>
          <a:prstGeom prst="rect">
            <a:avLst/>
          </a:prstGeom>
          <a:solidFill>
            <a:srgbClr val="00B050">
              <a:alpha val="46000"/>
            </a:srgbClr>
          </a:solidFill>
          <a:ln w="9525">
            <a:solidFill>
              <a:srgbClr val="FFCCCC"/>
            </a:solidFill>
            <a:miter lim="800000"/>
          </a:ln>
          <a:effectLst/>
        </p:spPr>
        <p:txBody>
          <a:bodyPr/>
          <a:lstStyle/>
          <a:p>
            <a:pPr marL="318135" indent="-318135" defTabSz="846455">
              <a:lnSpc>
                <a:spcPct val="120000"/>
              </a:lnSpc>
              <a:spcBef>
                <a:spcPct val="20000"/>
              </a:spcBef>
              <a:buClr>
                <a:srgbClr val="FF0000"/>
              </a:buClr>
              <a:buSzPct val="80000"/>
              <a:defRPr/>
            </a:pPr>
            <a:r>
              <a:rPr lang="en-US" altLang="zh-CN" sz="2100" b="1" dirty="0">
                <a:solidFill>
                  <a:srgbClr val="ED7D31"/>
                </a:solidFill>
                <a:latin typeface="等线" panose="02010600030101010101" pitchFamily="2" charset="-122"/>
                <a:ea typeface="宋体" panose="02010600030101010101" pitchFamily="2" charset="-122"/>
              </a:rPr>
              <a:t>  </a:t>
            </a:r>
            <a:r>
              <a:rPr lang="en-US" altLang="zh-CN" sz="2100" b="1" dirty="0">
                <a:solidFill>
                  <a:prstClr val="black"/>
                </a:solidFill>
                <a:latin typeface="等线" panose="02010600030101010101" pitchFamily="2" charset="-122"/>
                <a:ea typeface="等线" panose="02010600030101010101" pitchFamily="2" charset="-122"/>
              </a:rPr>
              <a:t>N</a:t>
            </a:r>
            <a:r>
              <a:rPr lang="en-US" altLang="zh-CN" sz="2100" b="1" dirty="0">
                <a:solidFill>
                  <a:prstClr val="black"/>
                </a:solidFill>
                <a:latin typeface="等线" panose="02010600030101010101" pitchFamily="2" charset="-122"/>
                <a:ea typeface="宋体" panose="02010600030101010101" pitchFamily="2" charset="-122"/>
              </a:rPr>
              <a:t>           </a:t>
            </a:r>
            <a:r>
              <a:rPr lang="en-US" altLang="zh-CN" sz="2100" b="1" dirty="0" err="1">
                <a:solidFill>
                  <a:prstClr val="black"/>
                </a:solidFill>
                <a:latin typeface="等线" panose="02010600030101010101" pitchFamily="2" charset="-122"/>
                <a:ea typeface="等线" panose="02010600030101010101" pitchFamily="2" charset="-122"/>
              </a:rPr>
              <a:t>N</a:t>
            </a:r>
            <a:r>
              <a:rPr lang="en-US" altLang="zh-CN" sz="2100" b="1" dirty="0">
                <a:solidFill>
                  <a:prstClr val="black"/>
                </a:solidFill>
                <a:latin typeface="等线" panose="02010600030101010101" pitchFamily="2" charset="-122"/>
                <a:ea typeface="宋体" panose="02010600030101010101" pitchFamily="2" charset="-122"/>
              </a:rPr>
              <a:t> div 2    N mod 2</a:t>
            </a:r>
            <a:endParaRPr lang="en-US" altLang="zh-CN" sz="2100" b="1" dirty="0">
              <a:solidFill>
                <a:prstClr val="black"/>
              </a:solidFill>
              <a:latin typeface="等线" panose="02010600030101010101" pitchFamily="2" charset="-122"/>
              <a:ea typeface="宋体" panose="02010600030101010101" pitchFamily="2" charset="-122"/>
            </a:endParaRPr>
          </a:p>
          <a:p>
            <a:pPr marL="318135" indent="-318135" defTabSz="846455">
              <a:lnSpc>
                <a:spcPct val="120000"/>
              </a:lnSpc>
              <a:spcBef>
                <a:spcPct val="20000"/>
              </a:spcBef>
              <a:buClr>
                <a:srgbClr val="FF0000"/>
              </a:buClr>
              <a:buSzPct val="80000"/>
              <a:defRPr/>
            </a:pPr>
            <a:r>
              <a:rPr lang="en-US" altLang="zh-CN" sz="2100" b="1" dirty="0">
                <a:solidFill>
                  <a:prstClr val="black"/>
                </a:solidFill>
                <a:latin typeface="等线" panose="02010600030101010101" pitchFamily="2" charset="-122"/>
                <a:ea typeface="宋体" panose="02010600030101010101" pitchFamily="2" charset="-122"/>
              </a:rPr>
              <a:t>  11               5             1</a:t>
            </a:r>
            <a:endParaRPr lang="en-US" altLang="zh-CN" sz="2100" b="1" dirty="0">
              <a:solidFill>
                <a:prstClr val="black"/>
              </a:solidFill>
              <a:latin typeface="等线" panose="02010600030101010101" pitchFamily="2" charset="-122"/>
              <a:ea typeface="宋体" panose="02010600030101010101" pitchFamily="2" charset="-122"/>
            </a:endParaRPr>
          </a:p>
          <a:p>
            <a:pPr marL="318135" indent="-318135" defTabSz="846455">
              <a:lnSpc>
                <a:spcPct val="120000"/>
              </a:lnSpc>
              <a:spcBef>
                <a:spcPct val="20000"/>
              </a:spcBef>
              <a:buClr>
                <a:srgbClr val="FF0000"/>
              </a:buClr>
              <a:buSzPct val="80000"/>
              <a:defRPr/>
            </a:pPr>
            <a:r>
              <a:rPr lang="en-US" altLang="zh-CN" sz="2100" b="1" dirty="0">
                <a:solidFill>
                  <a:prstClr val="black"/>
                </a:solidFill>
                <a:latin typeface="等线" panose="02010600030101010101" pitchFamily="2" charset="-122"/>
                <a:ea typeface="宋体" panose="02010600030101010101" pitchFamily="2" charset="-122"/>
              </a:rPr>
              <a:t>  5                 2             1</a:t>
            </a:r>
            <a:endParaRPr lang="en-US" altLang="zh-CN" sz="2100" b="1" dirty="0">
              <a:solidFill>
                <a:prstClr val="black"/>
              </a:solidFill>
              <a:latin typeface="等线" panose="02010600030101010101" pitchFamily="2" charset="-122"/>
              <a:ea typeface="宋体" panose="02010600030101010101" pitchFamily="2" charset="-122"/>
            </a:endParaRPr>
          </a:p>
          <a:p>
            <a:pPr marL="318135" indent="-318135" defTabSz="846455">
              <a:lnSpc>
                <a:spcPct val="120000"/>
              </a:lnSpc>
              <a:spcBef>
                <a:spcPct val="20000"/>
              </a:spcBef>
              <a:buClr>
                <a:srgbClr val="FF0000"/>
              </a:buClr>
              <a:buSzPct val="80000"/>
              <a:defRPr/>
            </a:pPr>
            <a:r>
              <a:rPr lang="en-US" altLang="zh-CN" sz="2100" b="1" dirty="0">
                <a:solidFill>
                  <a:prstClr val="black"/>
                </a:solidFill>
                <a:latin typeface="等线" panose="02010600030101010101" pitchFamily="2" charset="-122"/>
                <a:ea typeface="宋体" panose="02010600030101010101" pitchFamily="2" charset="-122"/>
              </a:rPr>
              <a:t>  2                 1             0</a:t>
            </a:r>
            <a:endParaRPr lang="en-US" altLang="zh-CN" sz="2100" b="1" dirty="0">
              <a:solidFill>
                <a:prstClr val="black"/>
              </a:solidFill>
              <a:latin typeface="等线" panose="02010600030101010101" pitchFamily="2" charset="-122"/>
              <a:ea typeface="宋体" panose="02010600030101010101" pitchFamily="2" charset="-122"/>
            </a:endParaRPr>
          </a:p>
          <a:p>
            <a:pPr marL="318135" indent="-318135" defTabSz="846455">
              <a:lnSpc>
                <a:spcPct val="120000"/>
              </a:lnSpc>
              <a:spcBef>
                <a:spcPct val="20000"/>
              </a:spcBef>
              <a:buClr>
                <a:srgbClr val="FF0000"/>
              </a:buClr>
              <a:buSzPct val="80000"/>
              <a:defRPr/>
            </a:pPr>
            <a:r>
              <a:rPr lang="en-US" altLang="zh-CN" sz="2100" b="1" dirty="0">
                <a:solidFill>
                  <a:prstClr val="black"/>
                </a:solidFill>
                <a:latin typeface="等线" panose="02010600030101010101" pitchFamily="2" charset="-122"/>
                <a:ea typeface="宋体" panose="02010600030101010101" pitchFamily="2" charset="-122"/>
              </a:rPr>
              <a:t>  1                 0             1</a:t>
            </a:r>
            <a:endParaRPr lang="en-US" altLang="zh-CN" sz="2100" b="1" dirty="0">
              <a:solidFill>
                <a:prstClr val="black"/>
              </a:solidFill>
              <a:latin typeface="等线" panose="02010600030101010101" pitchFamily="2" charset="-122"/>
              <a:ea typeface="宋体" panose="02010600030101010101" pitchFamily="2" charset="-122"/>
            </a:endParaRPr>
          </a:p>
        </p:txBody>
      </p:sp>
      <p:grpSp>
        <p:nvGrpSpPr>
          <p:cNvPr id="16" name="Group 5"/>
          <p:cNvGrpSpPr/>
          <p:nvPr/>
        </p:nvGrpSpPr>
        <p:grpSpPr bwMode="auto">
          <a:xfrm>
            <a:off x="6635641" y="4183786"/>
            <a:ext cx="936812" cy="1531595"/>
            <a:chOff x="3928" y="2237"/>
            <a:chExt cx="1672" cy="1719"/>
          </a:xfrm>
        </p:grpSpPr>
        <p:sp>
          <p:nvSpPr>
            <p:cNvPr id="17" name="Rectangle 6"/>
            <p:cNvSpPr>
              <a:spLocks noChangeArrowheads="1"/>
            </p:cNvSpPr>
            <p:nvPr/>
          </p:nvSpPr>
          <p:spPr bwMode="auto">
            <a:xfrm>
              <a:off x="4152" y="3601"/>
              <a:ext cx="1224" cy="355"/>
            </a:xfrm>
            <a:prstGeom prst="rect">
              <a:avLst/>
            </a:prstGeom>
            <a:noFill/>
            <a:ln w="28575">
              <a:noFill/>
              <a:miter lim="800000"/>
            </a:ln>
            <a:effectLst/>
          </p:spPr>
          <p:txBody>
            <a:bodyPr lIns="13500" tIns="8100" rIns="13500" bIns="8100"/>
            <a:lstStyle/>
            <a:p>
              <a:pPr algn="ctr" defTabSz="846455">
                <a:spcBef>
                  <a:spcPct val="20000"/>
                </a:spcBef>
                <a:defRPr/>
              </a:pPr>
              <a:r>
                <a:rPr lang="en-US" altLang="zh-CN" sz="2100" b="1" dirty="0">
                  <a:solidFill>
                    <a:srgbClr val="ED7D31"/>
                  </a:solidFill>
                  <a:latin typeface="等线" panose="02010600030101010101" pitchFamily="2" charset="-122"/>
                  <a:ea typeface="宋体" panose="02010600030101010101" pitchFamily="2" charset="-122"/>
                </a:rPr>
                <a:t>1</a:t>
              </a:r>
              <a:endParaRPr lang="en-US" altLang="zh-CN" sz="2100" b="1" dirty="0">
                <a:solidFill>
                  <a:srgbClr val="ED7D31"/>
                </a:solidFill>
                <a:latin typeface="等线" panose="02010600030101010101" pitchFamily="2" charset="-122"/>
                <a:ea typeface="宋体" panose="02010600030101010101" pitchFamily="2" charset="-122"/>
              </a:endParaRPr>
            </a:p>
          </p:txBody>
        </p:sp>
        <p:sp>
          <p:nvSpPr>
            <p:cNvPr id="18" name="Rectangle 7"/>
            <p:cNvSpPr>
              <a:spLocks noChangeArrowheads="1"/>
            </p:cNvSpPr>
            <p:nvPr/>
          </p:nvSpPr>
          <p:spPr bwMode="auto">
            <a:xfrm>
              <a:off x="4152" y="3246"/>
              <a:ext cx="1224" cy="355"/>
            </a:xfrm>
            <a:prstGeom prst="rect">
              <a:avLst/>
            </a:prstGeom>
            <a:noFill/>
            <a:ln w="28575">
              <a:noFill/>
              <a:miter lim="800000"/>
            </a:ln>
            <a:effectLst/>
          </p:spPr>
          <p:txBody>
            <a:bodyPr lIns="13500" tIns="8100" rIns="13500" bIns="8100"/>
            <a:lstStyle/>
            <a:p>
              <a:pPr algn="ctr" defTabSz="846455">
                <a:spcBef>
                  <a:spcPct val="20000"/>
                </a:spcBef>
                <a:defRPr/>
              </a:pPr>
              <a:r>
                <a:rPr lang="en-US" altLang="zh-CN" sz="2100" b="1" dirty="0">
                  <a:solidFill>
                    <a:srgbClr val="ED7D31"/>
                  </a:solidFill>
                  <a:latin typeface="等线" panose="02010600030101010101" pitchFamily="2" charset="-122"/>
                  <a:ea typeface="宋体" panose="02010600030101010101" pitchFamily="2" charset="-122"/>
                </a:rPr>
                <a:t>1</a:t>
              </a:r>
              <a:endParaRPr lang="en-US" altLang="zh-CN" sz="2100" b="1" dirty="0">
                <a:solidFill>
                  <a:srgbClr val="ED7D31"/>
                </a:solidFill>
                <a:latin typeface="等线" panose="02010600030101010101" pitchFamily="2" charset="-122"/>
                <a:ea typeface="宋体" panose="02010600030101010101" pitchFamily="2" charset="-122"/>
              </a:endParaRPr>
            </a:p>
          </p:txBody>
        </p:sp>
        <p:sp>
          <p:nvSpPr>
            <p:cNvPr id="19" name="Rectangle 8"/>
            <p:cNvSpPr>
              <a:spLocks noChangeArrowheads="1"/>
            </p:cNvSpPr>
            <p:nvPr/>
          </p:nvSpPr>
          <p:spPr bwMode="auto">
            <a:xfrm>
              <a:off x="4152" y="2891"/>
              <a:ext cx="1224" cy="355"/>
            </a:xfrm>
            <a:prstGeom prst="rect">
              <a:avLst/>
            </a:prstGeom>
            <a:noFill/>
            <a:ln w="28575">
              <a:noFill/>
              <a:miter lim="800000"/>
            </a:ln>
            <a:effectLst/>
          </p:spPr>
          <p:txBody>
            <a:bodyPr lIns="13500" tIns="8100" rIns="13500" bIns="8100"/>
            <a:lstStyle/>
            <a:p>
              <a:pPr algn="ctr" defTabSz="846455">
                <a:spcBef>
                  <a:spcPct val="20000"/>
                </a:spcBef>
                <a:defRPr/>
              </a:pPr>
              <a:r>
                <a:rPr lang="en-US" altLang="zh-CN" sz="2100" b="1" dirty="0">
                  <a:solidFill>
                    <a:srgbClr val="ED7D31"/>
                  </a:solidFill>
                  <a:latin typeface="等线" panose="02010600030101010101" pitchFamily="2" charset="-122"/>
                  <a:ea typeface="宋体" panose="02010600030101010101" pitchFamily="2" charset="-122"/>
                </a:rPr>
                <a:t>0</a:t>
              </a:r>
              <a:endParaRPr lang="en-US" altLang="zh-CN" sz="2100" b="1" dirty="0">
                <a:solidFill>
                  <a:srgbClr val="ED7D31"/>
                </a:solidFill>
                <a:latin typeface="等线" panose="02010600030101010101" pitchFamily="2" charset="-122"/>
                <a:ea typeface="宋体" panose="02010600030101010101" pitchFamily="2" charset="-122"/>
              </a:endParaRPr>
            </a:p>
          </p:txBody>
        </p:sp>
        <p:sp>
          <p:nvSpPr>
            <p:cNvPr id="20" name="Rectangle 9"/>
            <p:cNvSpPr>
              <a:spLocks noChangeArrowheads="1"/>
            </p:cNvSpPr>
            <p:nvPr/>
          </p:nvSpPr>
          <p:spPr bwMode="auto">
            <a:xfrm>
              <a:off x="4152" y="2536"/>
              <a:ext cx="1224" cy="355"/>
            </a:xfrm>
            <a:prstGeom prst="rect">
              <a:avLst/>
            </a:prstGeom>
            <a:noFill/>
            <a:ln w="28575">
              <a:noFill/>
              <a:miter lim="800000"/>
            </a:ln>
            <a:effectLst/>
          </p:spPr>
          <p:txBody>
            <a:bodyPr lIns="13500" tIns="8100" rIns="13500" bIns="8100"/>
            <a:lstStyle/>
            <a:p>
              <a:pPr algn="ctr" defTabSz="846455">
                <a:spcBef>
                  <a:spcPct val="20000"/>
                </a:spcBef>
                <a:defRPr/>
              </a:pPr>
              <a:r>
                <a:rPr lang="en-US" altLang="zh-CN" sz="2100" b="1" dirty="0">
                  <a:solidFill>
                    <a:srgbClr val="ED7D31"/>
                  </a:solidFill>
                  <a:latin typeface="等线" panose="02010600030101010101" pitchFamily="2" charset="-122"/>
                  <a:ea typeface="宋体" panose="02010600030101010101" pitchFamily="2" charset="-122"/>
                </a:rPr>
                <a:t>1</a:t>
              </a:r>
              <a:endParaRPr lang="en-US" altLang="zh-CN" sz="2100" b="1" dirty="0">
                <a:solidFill>
                  <a:srgbClr val="ED7D31"/>
                </a:solidFill>
                <a:latin typeface="等线" panose="02010600030101010101" pitchFamily="2" charset="-122"/>
                <a:ea typeface="宋体" panose="02010600030101010101" pitchFamily="2" charset="-122"/>
              </a:endParaRPr>
            </a:p>
          </p:txBody>
        </p:sp>
        <p:sp>
          <p:nvSpPr>
            <p:cNvPr id="21" name="Line 10"/>
            <p:cNvSpPr>
              <a:spLocks noChangeShapeType="1"/>
            </p:cNvSpPr>
            <p:nvPr/>
          </p:nvSpPr>
          <p:spPr bwMode="auto">
            <a:xfrm>
              <a:off x="4152" y="2536"/>
              <a:ext cx="1224" cy="0"/>
            </a:xfrm>
            <a:prstGeom prst="line">
              <a:avLst/>
            </a:prstGeom>
            <a:noFill/>
            <a:ln w="28575" cap="sq">
              <a:noFill/>
              <a:round/>
            </a:ln>
            <a:effectLst/>
          </p:spPr>
          <p:txBody>
            <a:bodyPr lIns="13500" tIns="8100" rIns="13500" bIns="8100" anchor="ct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22" name="Line 11"/>
            <p:cNvSpPr>
              <a:spLocks noChangeShapeType="1"/>
            </p:cNvSpPr>
            <p:nvPr/>
          </p:nvSpPr>
          <p:spPr bwMode="auto">
            <a:xfrm>
              <a:off x="4152" y="2891"/>
              <a:ext cx="1224" cy="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23" name="Line 12"/>
            <p:cNvSpPr>
              <a:spLocks noChangeShapeType="1"/>
            </p:cNvSpPr>
            <p:nvPr/>
          </p:nvSpPr>
          <p:spPr bwMode="auto">
            <a:xfrm>
              <a:off x="4152" y="3246"/>
              <a:ext cx="1224" cy="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24" name="Line 13"/>
            <p:cNvSpPr>
              <a:spLocks noChangeShapeType="1"/>
            </p:cNvSpPr>
            <p:nvPr/>
          </p:nvSpPr>
          <p:spPr bwMode="auto">
            <a:xfrm>
              <a:off x="4152" y="3601"/>
              <a:ext cx="1224" cy="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25" name="Line 14"/>
            <p:cNvSpPr>
              <a:spLocks noChangeShapeType="1"/>
            </p:cNvSpPr>
            <p:nvPr/>
          </p:nvSpPr>
          <p:spPr bwMode="auto">
            <a:xfrm>
              <a:off x="4152" y="3956"/>
              <a:ext cx="1224" cy="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26" name="Line 15"/>
            <p:cNvSpPr>
              <a:spLocks noChangeShapeType="1"/>
            </p:cNvSpPr>
            <p:nvPr/>
          </p:nvSpPr>
          <p:spPr bwMode="auto">
            <a:xfrm>
              <a:off x="4152" y="2536"/>
              <a:ext cx="0" cy="142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27" name="Line 16"/>
            <p:cNvSpPr>
              <a:spLocks noChangeShapeType="1"/>
            </p:cNvSpPr>
            <p:nvPr/>
          </p:nvSpPr>
          <p:spPr bwMode="auto">
            <a:xfrm>
              <a:off x="5376" y="2536"/>
              <a:ext cx="0" cy="1420"/>
            </a:xfrm>
            <a:prstGeom prst="line">
              <a:avLst/>
            </a:prstGeom>
            <a:noFill/>
            <a:ln w="38100">
              <a:solidFill>
                <a:schemeClr val="tx1"/>
              </a:solidFill>
              <a:round/>
            </a:ln>
            <a:effectLst/>
          </p:spPr>
          <p:txBody>
            <a:bodyPr lIns="13500" tIns="8100" rIns="13500" bIns="8100" anchor="ct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28" name="Line 17"/>
            <p:cNvSpPr>
              <a:spLocks noChangeShapeType="1"/>
            </p:cNvSpPr>
            <p:nvPr/>
          </p:nvSpPr>
          <p:spPr bwMode="auto">
            <a:xfrm>
              <a:off x="3928" y="2249"/>
              <a:ext cx="584" cy="355"/>
            </a:xfrm>
            <a:prstGeom prst="line">
              <a:avLst/>
            </a:prstGeom>
            <a:noFill/>
            <a:ln w="38100">
              <a:solidFill>
                <a:schemeClr val="tx1"/>
              </a:solidFill>
              <a:round/>
              <a:tailEnd type="triangle" w="med" len="med"/>
            </a:ln>
            <a:effectLst/>
          </p:spPr>
          <p:txBody>
            <a:bodyPr wrap="square" lIns="13500" tIns="8100" rIns="13500" bIns="8100" anchor="ct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sp>
          <p:nvSpPr>
            <p:cNvPr id="29" name="Line 18"/>
            <p:cNvSpPr>
              <a:spLocks noChangeShapeType="1"/>
            </p:cNvSpPr>
            <p:nvPr/>
          </p:nvSpPr>
          <p:spPr bwMode="auto">
            <a:xfrm flipV="1">
              <a:off x="4980" y="2237"/>
              <a:ext cx="620" cy="355"/>
            </a:xfrm>
            <a:prstGeom prst="line">
              <a:avLst/>
            </a:prstGeom>
            <a:noFill/>
            <a:ln w="38100">
              <a:solidFill>
                <a:schemeClr val="tx1"/>
              </a:solidFill>
              <a:round/>
              <a:tailEnd type="triangle" w="med" len="med"/>
            </a:ln>
            <a:effectLst/>
          </p:spPr>
          <p:txBody>
            <a:bodyPr wrap="square" lIns="13500" tIns="8100" rIns="13500" bIns="8100" anchor="ctr">
              <a:spAutoFit/>
            </a:bodyPr>
            <a:lstStyle/>
            <a:p>
              <a:pPr defTabSz="685800">
                <a:defRPr/>
              </a:pPr>
              <a:endParaRPr lang="zh-CN" altLang="en-US" sz="2100" b="1">
                <a:solidFill>
                  <a:prstClr val="black"/>
                </a:solidFill>
                <a:latin typeface="等线" panose="02010600030101010101" pitchFamily="2" charset="-122"/>
                <a:ea typeface="等线" panose="02010600030101010101" pitchFamily="2" charset="-122"/>
              </a:endParaRPr>
            </a:p>
          </p:txBody>
        </p:sp>
      </p:grpSp>
      <p:sp>
        <p:nvSpPr>
          <p:cNvPr id="30" name="矩形 29"/>
          <p:cNvSpPr/>
          <p:nvPr/>
        </p:nvSpPr>
        <p:spPr>
          <a:xfrm>
            <a:off x="534375" y="3273974"/>
            <a:ext cx="4526134" cy="2516073"/>
          </a:xfrm>
          <a:prstGeom prst="rect">
            <a:avLst/>
          </a:prstGeom>
        </p:spPr>
        <p:txBody>
          <a:bodyPr wrap="square">
            <a:spAutoFit/>
          </a:bodyPr>
          <a:lstStyle/>
          <a:p>
            <a:pPr defTabSz="685800">
              <a:lnSpc>
                <a:spcPct val="150000"/>
              </a:lnSpc>
              <a:defRPr/>
            </a:pPr>
            <a:r>
              <a:rPr lang="zh-CN" altLang="en-US" sz="2100" b="1" dirty="0">
                <a:solidFill>
                  <a:prstClr val="black"/>
                </a:solidFill>
                <a:latin typeface="宋体" panose="02010600030101010101" pitchFamily="2" charset="-122"/>
                <a:ea typeface="等线" panose="02010600030101010101" pitchFamily="2" charset="-122"/>
              </a:rPr>
              <a:t>算法分析：</a:t>
            </a:r>
            <a:endParaRPr lang="zh-CN" altLang="en-US" sz="2100" b="1" dirty="0">
              <a:solidFill>
                <a:prstClr val="black"/>
              </a:solidFill>
              <a:latin typeface="宋体" panose="02010600030101010101" pitchFamily="2" charset="-122"/>
              <a:ea typeface="等线" panose="02010600030101010101" pitchFamily="2" charset="-122"/>
            </a:endParaRPr>
          </a:p>
          <a:p>
            <a:pPr marL="728980" lvl="1" indent="-386080" defTabSz="685800">
              <a:lnSpc>
                <a:spcPct val="150000"/>
              </a:lnSpc>
              <a:buFont typeface="+mj-lt"/>
              <a:buAutoNum type="arabicPeriod"/>
              <a:defRPr/>
            </a:pPr>
            <a:r>
              <a:rPr lang="zh-CN" altLang="en-US" sz="2100" b="1" dirty="0">
                <a:solidFill>
                  <a:prstClr val="black"/>
                </a:solidFill>
                <a:latin typeface="宋体" panose="02010600030101010101" pitchFamily="2" charset="-122"/>
                <a:ea typeface="等线" panose="02010600030101010101" pitchFamily="2" charset="-122"/>
              </a:rPr>
              <a:t>当</a:t>
            </a:r>
            <a:r>
              <a:rPr lang="en-US" altLang="zh-CN" sz="2100" b="1" dirty="0">
                <a:solidFill>
                  <a:prstClr val="black"/>
                </a:solidFill>
                <a:latin typeface="宋体" panose="02010600030101010101" pitchFamily="2" charset="-122"/>
                <a:ea typeface="等线" panose="02010600030101010101" pitchFamily="2" charset="-122"/>
              </a:rPr>
              <a:t>N≠0</a:t>
            </a:r>
            <a:r>
              <a:rPr lang="zh-CN" altLang="en-US" sz="2100" b="1" dirty="0">
                <a:solidFill>
                  <a:prstClr val="black"/>
                </a:solidFill>
                <a:latin typeface="宋体" panose="02010600030101010101" pitchFamily="2" charset="-122"/>
                <a:ea typeface="等线" panose="02010600030101010101" pitchFamily="2" charset="-122"/>
              </a:rPr>
              <a:t>，将</a:t>
            </a:r>
            <a:r>
              <a:rPr lang="en-US" altLang="zh-CN" sz="2100" b="1" dirty="0" err="1">
                <a:solidFill>
                  <a:prstClr val="black"/>
                </a:solidFill>
                <a:latin typeface="宋体" panose="02010600030101010101" pitchFamily="2" charset="-122"/>
                <a:ea typeface="等线" panose="02010600030101010101" pitchFamily="2" charset="-122"/>
              </a:rPr>
              <a:t>N%r</a:t>
            </a:r>
            <a:r>
              <a:rPr lang="zh-CN" altLang="en-US" sz="2100" b="1" dirty="0">
                <a:solidFill>
                  <a:prstClr val="black"/>
                </a:solidFill>
                <a:latin typeface="宋体" panose="02010600030101010101" pitchFamily="2" charset="-122"/>
                <a:ea typeface="等线" panose="02010600030101010101" pitchFamily="2" charset="-122"/>
              </a:rPr>
              <a:t>压入栈中；</a:t>
            </a:r>
            <a:endParaRPr lang="zh-CN" altLang="en-US" sz="2100" b="1" dirty="0">
              <a:solidFill>
                <a:prstClr val="black"/>
              </a:solidFill>
              <a:latin typeface="宋体" panose="02010600030101010101" pitchFamily="2" charset="-122"/>
              <a:ea typeface="等线" panose="02010600030101010101" pitchFamily="2" charset="-122"/>
            </a:endParaRPr>
          </a:p>
          <a:p>
            <a:pPr marL="728980" lvl="1" indent="-386080" defTabSz="685800">
              <a:lnSpc>
                <a:spcPct val="150000"/>
              </a:lnSpc>
              <a:buFont typeface="+mj-lt"/>
              <a:buAutoNum type="arabicPeriod"/>
              <a:defRPr/>
            </a:pPr>
            <a:r>
              <a:rPr lang="zh-CN" altLang="en-US" sz="2100" b="1" dirty="0">
                <a:solidFill>
                  <a:prstClr val="black"/>
                </a:solidFill>
                <a:latin typeface="宋体" panose="02010600030101010101" pitchFamily="2" charset="-122"/>
                <a:ea typeface="等线" panose="02010600030101010101" pitchFamily="2" charset="-122"/>
              </a:rPr>
              <a:t>用</a:t>
            </a:r>
            <a:r>
              <a:rPr lang="en-US" altLang="zh-CN" sz="2100" b="1" dirty="0">
                <a:solidFill>
                  <a:prstClr val="black"/>
                </a:solidFill>
                <a:latin typeface="宋体" panose="02010600030101010101" pitchFamily="2" charset="-122"/>
                <a:ea typeface="等线" panose="02010600030101010101" pitchFamily="2" charset="-122"/>
              </a:rPr>
              <a:t>N/r</a:t>
            </a:r>
            <a:r>
              <a:rPr lang="zh-CN" altLang="en-US" sz="2100" b="1" dirty="0">
                <a:solidFill>
                  <a:prstClr val="black"/>
                </a:solidFill>
                <a:latin typeface="宋体" panose="02010600030101010101" pitchFamily="2" charset="-122"/>
                <a:ea typeface="等线" panose="02010600030101010101" pitchFamily="2" charset="-122"/>
              </a:rPr>
              <a:t>代替</a:t>
            </a:r>
            <a:r>
              <a:rPr lang="en-US" altLang="zh-CN" sz="2100" b="1" dirty="0">
                <a:solidFill>
                  <a:prstClr val="black"/>
                </a:solidFill>
                <a:latin typeface="宋体" panose="02010600030101010101" pitchFamily="2" charset="-122"/>
                <a:ea typeface="等线" panose="02010600030101010101" pitchFamily="2" charset="-122"/>
              </a:rPr>
              <a:t>N</a:t>
            </a:r>
            <a:r>
              <a:rPr lang="zh-CN" altLang="en-US" sz="2100" b="1" dirty="0">
                <a:solidFill>
                  <a:prstClr val="black"/>
                </a:solidFill>
                <a:latin typeface="宋体" panose="02010600030101010101" pitchFamily="2" charset="-122"/>
                <a:ea typeface="等线" panose="02010600030101010101" pitchFamily="2" charset="-122"/>
              </a:rPr>
              <a:t>；</a:t>
            </a:r>
            <a:endParaRPr lang="zh-CN" altLang="en-US" sz="2100" b="1" dirty="0">
              <a:solidFill>
                <a:prstClr val="black"/>
              </a:solidFill>
              <a:latin typeface="宋体" panose="02010600030101010101" pitchFamily="2" charset="-122"/>
              <a:ea typeface="等线" panose="02010600030101010101" pitchFamily="2" charset="-122"/>
            </a:endParaRPr>
          </a:p>
          <a:p>
            <a:pPr marL="728980" lvl="1" indent="-386080" defTabSz="685800">
              <a:lnSpc>
                <a:spcPct val="150000"/>
              </a:lnSpc>
              <a:buFont typeface="+mj-lt"/>
              <a:buAutoNum type="arabicPeriod"/>
              <a:defRPr/>
            </a:pPr>
            <a:r>
              <a:rPr lang="zh-CN" altLang="en-US" sz="2100" b="1" dirty="0">
                <a:solidFill>
                  <a:prstClr val="black"/>
                </a:solidFill>
                <a:latin typeface="宋体" panose="02010600030101010101" pitchFamily="2" charset="-122"/>
                <a:ea typeface="等线" panose="02010600030101010101" pitchFamily="2" charset="-122"/>
              </a:rPr>
              <a:t>若</a:t>
            </a:r>
            <a:r>
              <a:rPr lang="en-US" altLang="zh-CN" sz="2100" b="1" dirty="0">
                <a:solidFill>
                  <a:prstClr val="black"/>
                </a:solidFill>
                <a:latin typeface="宋体" panose="02010600030101010101" pitchFamily="2" charset="-122"/>
                <a:ea typeface="等线" panose="02010600030101010101" pitchFamily="2" charset="-122"/>
              </a:rPr>
              <a:t>N&gt;0</a:t>
            </a:r>
            <a:r>
              <a:rPr lang="zh-CN" altLang="en-US" sz="2100" b="1" dirty="0">
                <a:solidFill>
                  <a:prstClr val="black"/>
                </a:solidFill>
                <a:latin typeface="宋体" panose="02010600030101010101" pitchFamily="2" charset="-122"/>
                <a:ea typeface="等线" panose="02010600030101010101" pitchFamily="2" charset="-122"/>
              </a:rPr>
              <a:t>，则重复以上步骤，若</a:t>
            </a:r>
            <a:r>
              <a:rPr lang="en-US" altLang="zh-CN" sz="2100" b="1" dirty="0">
                <a:solidFill>
                  <a:prstClr val="black"/>
                </a:solidFill>
                <a:latin typeface="宋体" panose="02010600030101010101" pitchFamily="2" charset="-122"/>
                <a:ea typeface="等线" panose="02010600030101010101" pitchFamily="2" charset="-122"/>
              </a:rPr>
              <a:t>N==0</a:t>
            </a:r>
            <a:r>
              <a:rPr lang="zh-CN" altLang="en-US" sz="2100" b="1" dirty="0">
                <a:solidFill>
                  <a:prstClr val="black"/>
                </a:solidFill>
                <a:latin typeface="宋体" panose="02010600030101010101" pitchFamily="2" charset="-122"/>
                <a:ea typeface="等线" panose="02010600030101010101" pitchFamily="2" charset="-122"/>
              </a:rPr>
              <a:t>，则依次输出栈的内容。</a:t>
            </a:r>
            <a:endParaRPr lang="zh-CN" altLang="en-US" sz="2100" b="1" dirty="0">
              <a:solidFill>
                <a:prstClr val="black"/>
              </a:solidFill>
              <a:latin typeface="宋体" panose="02010600030101010101" pitchFamily="2" charset="-122"/>
              <a:ea typeface="等线" panose="02010600030101010101" pitchFamily="2" charset="-122"/>
            </a:endParaRPr>
          </a:p>
        </p:txBody>
      </p:sp>
      <p:sp>
        <p:nvSpPr>
          <p:cNvPr id="31" name="AutoShape 4"/>
          <p:cNvSpPr>
            <a:spLocks noChangeArrowheads="1"/>
          </p:cNvSpPr>
          <p:nvPr/>
        </p:nvSpPr>
        <p:spPr bwMode="gray">
          <a:xfrm>
            <a:off x="184423" y="1676603"/>
            <a:ext cx="2013472" cy="498256"/>
          </a:xfrm>
          <a:prstGeom prst="roundRect">
            <a:avLst>
              <a:gd name="adj" fmla="val 50000"/>
            </a:avLst>
          </a:prstGeom>
          <a:gradFill rotWithShape="1">
            <a:gsLst>
              <a:gs pos="0">
                <a:schemeClr val="accent1">
                  <a:gamma/>
                  <a:shade val="45490"/>
                  <a:invGamma/>
                </a:schemeClr>
              </a:gs>
              <a:gs pos="50000">
                <a:schemeClr val="accent1"/>
              </a:gs>
              <a:gs pos="100000">
                <a:schemeClr val="accent1">
                  <a:gamma/>
                  <a:shade val="45490"/>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defTabSz="685800" eaLnBrk="0" hangingPunct="0">
              <a:defRPr/>
            </a:pPr>
            <a:r>
              <a:rPr lang="zh-CN" altLang="en-US" sz="2100" b="1" dirty="0">
                <a:solidFill>
                  <a:prstClr val="white"/>
                </a:solidFill>
                <a:effectLst>
                  <a:outerShdw blurRad="38100" dist="38100" dir="2700000" algn="tl">
                    <a:srgbClr val="000000"/>
                  </a:outerShdw>
                </a:effectLst>
                <a:latin typeface="Verdana" panose="020B0604030504040204" pitchFamily="34" charset="0"/>
                <a:ea typeface="仿宋_GB2312" pitchFamily="49" charset="-122"/>
              </a:rPr>
              <a:t>数制转换</a:t>
            </a:r>
            <a:endParaRPr lang="en-US" altLang="zh-CN" sz="2100" b="1" dirty="0">
              <a:solidFill>
                <a:prstClr val="white"/>
              </a:solidFill>
              <a:effectLst>
                <a:outerShdw blurRad="38100" dist="38100" dir="2700000" algn="tl">
                  <a:srgbClr val="000000"/>
                </a:outerShdw>
              </a:effectLst>
              <a:latin typeface="Verdana" panose="020B0604030504040204" pitchFamily="34" charset="0"/>
              <a:ea typeface="宋体" panose="02010600030101010101" pitchFamily="2" charset="-122"/>
            </a:endParaRPr>
          </a:p>
        </p:txBody>
      </p:sp>
      <p:sp>
        <p:nvSpPr>
          <p:cNvPr id="32" name="矩形 31"/>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3.8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sp>
        <p:nvSpPr>
          <p:cNvPr id="3" name="文本框 2"/>
          <p:cNvSpPr txBox="1"/>
          <p:nvPr/>
        </p:nvSpPr>
        <p:spPr>
          <a:xfrm>
            <a:off x="6194214" y="5971092"/>
            <a:ext cx="4572000" cy="415498"/>
          </a:xfrm>
          <a:prstGeom prst="rect">
            <a:avLst/>
          </a:prstGeom>
          <a:noFill/>
        </p:spPr>
        <p:txBody>
          <a:bodyPr wrap="square">
            <a:spAutoFit/>
          </a:bodyPr>
          <a:lstStyle/>
          <a:p>
            <a:r>
              <a:rPr lang="en-US" altLang="zh-CN" sz="2100" b="1" dirty="0">
                <a:solidFill>
                  <a:prstClr val="black"/>
                </a:solidFill>
                <a:latin typeface="等线" panose="02010600030101010101" pitchFamily="2" charset="-122"/>
                <a:ea typeface="宋体" panose="02010600030101010101" pitchFamily="2" charset="-122"/>
              </a:rPr>
              <a:t>(11)</a:t>
            </a:r>
            <a:r>
              <a:rPr lang="en-US" altLang="zh-CN" sz="2100" b="1" baseline="-25000" dirty="0">
                <a:solidFill>
                  <a:prstClr val="black"/>
                </a:solidFill>
                <a:latin typeface="等线" panose="02010600030101010101" pitchFamily="2" charset="-122"/>
                <a:ea typeface="宋体" panose="02010600030101010101" pitchFamily="2" charset="-122"/>
              </a:rPr>
              <a:t>10</a:t>
            </a:r>
            <a:r>
              <a:rPr lang="en-US" altLang="zh-CN" sz="2100" b="1" dirty="0">
                <a:solidFill>
                  <a:prstClr val="black"/>
                </a:solidFill>
                <a:latin typeface="等线" panose="02010600030101010101" pitchFamily="2" charset="-122"/>
                <a:ea typeface="宋体" panose="02010600030101010101" pitchFamily="2" charset="-122"/>
              </a:rPr>
              <a:t>=(1011)</a:t>
            </a:r>
            <a:r>
              <a:rPr lang="en-US" altLang="zh-CN" sz="2100" b="1" baseline="-25000" dirty="0">
                <a:solidFill>
                  <a:prstClr val="black"/>
                </a:solidFill>
                <a:latin typeface="等线" panose="02010600030101010101" pitchFamily="2" charset="-122"/>
                <a:ea typeface="宋体" panose="02010600030101010101" pitchFamily="2" charset="-122"/>
              </a:rPr>
              <a:t>2</a:t>
            </a:r>
            <a:endParaRPr lang="zh-CN" altLang="en-US" sz="2100" baseline="-2500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5" name="Rectangle 3"/>
          <p:cNvSpPr>
            <a:spLocks noGrp="1" noChangeArrowheads="1"/>
          </p:cNvSpPr>
          <p:nvPr>
            <p:ph/>
          </p:nvPr>
        </p:nvSpPr>
        <p:spPr>
          <a:xfrm>
            <a:off x="744169" y="2407413"/>
            <a:ext cx="8010267" cy="922950"/>
          </a:xfrm>
          <a:noFill/>
        </p:spPr>
        <p:txBody>
          <a:bodyPr/>
          <a:lstStyle/>
          <a:p>
            <a:pPr marL="0" indent="0">
              <a:lnSpc>
                <a:spcPct val="110000"/>
              </a:lnSpc>
              <a:buNone/>
            </a:pPr>
            <a:r>
              <a:rPr lang="zh-CN" altLang="en-US" b="1" dirty="0">
                <a:latin typeface="宋体" panose="02010600030101010101" pitchFamily="2" charset="-122"/>
              </a:rPr>
              <a:t>栈的另一个重要应用是在程序设计语言中实现递归调用。</a:t>
            </a:r>
            <a:endParaRPr lang="zh-CN" altLang="en-US" b="1" dirty="0">
              <a:latin typeface="宋体" panose="02010600030101010101" pitchFamily="2" charset="-122"/>
            </a:endParaRPr>
          </a:p>
          <a:p>
            <a:pPr marL="0" indent="0">
              <a:lnSpc>
                <a:spcPct val="110000"/>
              </a:lnSpc>
              <a:buNone/>
            </a:pPr>
            <a:r>
              <a:rPr lang="zh-CN" altLang="en-US" b="1" dirty="0">
                <a:solidFill>
                  <a:schemeClr val="folHlink"/>
                </a:solidFill>
                <a:latin typeface="宋体" panose="02010600030101010101" pitchFamily="2" charset="-122"/>
              </a:rPr>
              <a:t>递归调用</a:t>
            </a:r>
            <a:r>
              <a:rPr lang="zh-CN" altLang="en-US" b="1" dirty="0">
                <a:latin typeface="宋体" panose="02010600030101010101" pitchFamily="2" charset="-122"/>
              </a:rPr>
              <a:t>：一个函数</a:t>
            </a:r>
            <a:r>
              <a:rPr lang="en-US" altLang="zh-CN" b="1" dirty="0">
                <a:latin typeface="宋体" panose="02010600030101010101" pitchFamily="2" charset="-122"/>
              </a:rPr>
              <a:t>(</a:t>
            </a:r>
            <a:r>
              <a:rPr lang="zh-CN" altLang="en-US" b="1" dirty="0">
                <a:latin typeface="宋体" panose="02010600030101010101" pitchFamily="2" charset="-122"/>
              </a:rPr>
              <a:t>或过程</a:t>
            </a:r>
            <a:r>
              <a:rPr lang="en-US" altLang="zh-CN" b="1" dirty="0">
                <a:latin typeface="宋体" panose="02010600030101010101" pitchFamily="2" charset="-122"/>
              </a:rPr>
              <a:t>)</a:t>
            </a:r>
            <a:r>
              <a:rPr lang="zh-CN" altLang="en-US" b="1" dirty="0">
                <a:latin typeface="宋体" panose="02010600030101010101" pitchFamily="2" charset="-122"/>
              </a:rPr>
              <a:t>直接或间接地调用自己本身。</a:t>
            </a:r>
            <a:endParaRPr lang="zh-CN" altLang="en-US" b="1" dirty="0">
              <a:latin typeface="宋体" panose="02010600030101010101" pitchFamily="2" charset="-122"/>
            </a:endParaRPr>
          </a:p>
        </p:txBody>
      </p:sp>
      <p:sp>
        <p:nvSpPr>
          <p:cNvPr id="4" name="AutoShape 4"/>
          <p:cNvSpPr>
            <a:spLocks noChangeArrowheads="1"/>
          </p:cNvSpPr>
          <p:nvPr/>
        </p:nvSpPr>
        <p:spPr bwMode="gray">
          <a:xfrm>
            <a:off x="184423" y="1676603"/>
            <a:ext cx="2013472" cy="498256"/>
          </a:xfrm>
          <a:prstGeom prst="roundRect">
            <a:avLst>
              <a:gd name="adj" fmla="val 50000"/>
            </a:avLst>
          </a:prstGeom>
          <a:gradFill rotWithShape="1">
            <a:gsLst>
              <a:gs pos="0">
                <a:schemeClr val="accent1">
                  <a:gamma/>
                  <a:shade val="45490"/>
                  <a:invGamma/>
                </a:schemeClr>
              </a:gs>
              <a:gs pos="50000">
                <a:schemeClr val="accent1"/>
              </a:gs>
              <a:gs pos="100000">
                <a:schemeClr val="accent1">
                  <a:gamma/>
                  <a:shade val="45490"/>
                  <a:invGamma/>
                </a:schemeClr>
              </a:gs>
            </a:gsLst>
            <a:lin ang="0" scaled="1"/>
          </a:gradFill>
          <a:ln w="38100" algn="ctr">
            <a:solidFill>
              <a:srgbClr val="FFFFFF"/>
            </a:solidFill>
            <a:round/>
          </a:ln>
          <a:effectLst>
            <a:outerShdw dist="63500" dir="3187806" algn="ctr" rotWithShape="0">
              <a:srgbClr val="001D3A"/>
            </a:outerShdw>
          </a:effectLst>
        </p:spPr>
        <p:txBody>
          <a:bodyPr wrap="none" anchor="ctr"/>
          <a:lstStyle/>
          <a:p>
            <a:pPr algn="ctr" defTabSz="685800" eaLnBrk="0" hangingPunct="0">
              <a:defRPr/>
            </a:pPr>
            <a:r>
              <a:rPr lang="zh-CN" altLang="en-US" sz="2100" b="1" dirty="0">
                <a:solidFill>
                  <a:prstClr val="white"/>
                </a:solidFill>
                <a:effectLst>
                  <a:outerShdw blurRad="38100" dist="38100" dir="2700000" algn="tl">
                    <a:srgbClr val="000000"/>
                  </a:outerShdw>
                </a:effectLst>
                <a:latin typeface="Verdana" panose="020B0604030504040204" pitchFamily="34" charset="0"/>
                <a:ea typeface="仿宋_GB2312" pitchFamily="49" charset="-122"/>
              </a:rPr>
              <a:t>递归调用</a:t>
            </a:r>
            <a:endParaRPr lang="en-US" altLang="zh-CN" sz="2100" b="1" dirty="0">
              <a:solidFill>
                <a:prstClr val="white"/>
              </a:solidFill>
              <a:effectLst>
                <a:outerShdw blurRad="38100" dist="38100" dir="2700000" algn="tl">
                  <a:srgbClr val="000000"/>
                </a:outerShdw>
              </a:effectLst>
              <a:latin typeface="Verdana" panose="020B0604030504040204" pitchFamily="34" charset="0"/>
              <a:ea typeface="宋体" panose="02010600030101010101" pitchFamily="2" charset="-122"/>
            </a:endParaRPr>
          </a:p>
        </p:txBody>
      </p:sp>
      <p:sp>
        <p:nvSpPr>
          <p:cNvPr id="5" name="矩形 4"/>
          <p:cNvSpPr/>
          <p:nvPr/>
        </p:nvSpPr>
        <p:spPr>
          <a:xfrm>
            <a:off x="1183518" y="303782"/>
            <a:ext cx="3895618"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3.8 </a:t>
            </a:r>
            <a:r>
              <a:rPr lang="zh-CN" altLang="en-US" sz="3200" b="1" kern="0" dirty="0">
                <a:latin typeface="黑体" panose="02010609060101010101" pitchFamily="49" charset="-122"/>
                <a:ea typeface="黑体" panose="02010609060101010101" pitchFamily="49" charset="-122"/>
              </a:rPr>
              <a:t>栈的存储与处理</a:t>
            </a:r>
            <a:endParaRPr lang="en-US" altLang="zh-CN" sz="3200" b="1" kern="0" dirty="0">
              <a:latin typeface="黑体" panose="02010609060101010101" pitchFamily="49" charset="-122"/>
              <a:ea typeface="黑体" panose="02010609060101010101" pitchFamily="49" charset="-122"/>
            </a:endParaRPr>
          </a:p>
        </p:txBody>
      </p:sp>
      <p:grpSp>
        <p:nvGrpSpPr>
          <p:cNvPr id="2" name="画布 110"/>
          <p:cNvGrpSpPr/>
          <p:nvPr/>
        </p:nvGrpSpPr>
        <p:grpSpPr>
          <a:xfrm>
            <a:off x="600499" y="3698672"/>
            <a:ext cx="7312253" cy="2965450"/>
            <a:chOff x="0" y="0"/>
            <a:chExt cx="6241" cy="4219"/>
          </a:xfrm>
        </p:grpSpPr>
        <p:sp>
          <p:nvSpPr>
            <p:cNvPr id="3" name="Rectangle 1073743955"/>
            <p:cNvSpPr/>
            <p:nvPr/>
          </p:nvSpPr>
          <p:spPr>
            <a:xfrm>
              <a:off x="0" y="0"/>
              <a:ext cx="6241" cy="4219"/>
            </a:xfrm>
            <a:prstGeom prst="rect">
              <a:avLst/>
            </a:prstGeom>
            <a:noFill/>
            <a:ln w="28575">
              <a:noFill/>
            </a:ln>
          </p:spPr>
          <p:txBody>
            <a:bodyPr anchor="t"/>
            <a:lstStyle/>
            <a:p>
              <a:endParaRPr lang="en-US" altLang="en-US" b="1">
                <a:latin typeface="Arial" panose="020B0604020202020204" pitchFamily="34" charset="0"/>
                <a:ea typeface="宋体" panose="02010600030101010101" pitchFamily="2" charset="-122"/>
              </a:endParaRPr>
            </a:p>
          </p:txBody>
        </p:sp>
        <p:cxnSp>
          <p:nvCxnSpPr>
            <p:cNvPr id="6" name="直接箭头连接符 99"/>
            <p:cNvCxnSpPr/>
            <p:nvPr/>
          </p:nvCxnSpPr>
          <p:spPr>
            <a:xfrm>
              <a:off x="1086" y="463"/>
              <a:ext cx="0" cy="1095"/>
            </a:xfrm>
            <a:prstGeom prst="straightConnector1">
              <a:avLst/>
            </a:prstGeom>
            <a:ln w="28575" cap="flat" cmpd="sng">
              <a:solidFill>
                <a:srgbClr val="5B9BD5"/>
              </a:solidFill>
              <a:prstDash val="solid"/>
              <a:round/>
              <a:headEnd type="none" w="med" len="med"/>
              <a:tailEnd type="arrow" w="med" len="med"/>
            </a:ln>
          </p:spPr>
        </p:cxnSp>
        <p:cxnSp>
          <p:nvCxnSpPr>
            <p:cNvPr id="7" name="直接箭头连接符 100"/>
            <p:cNvCxnSpPr/>
            <p:nvPr/>
          </p:nvCxnSpPr>
          <p:spPr>
            <a:xfrm flipV="1">
              <a:off x="1242" y="633"/>
              <a:ext cx="1154" cy="782"/>
            </a:xfrm>
            <a:prstGeom prst="straightConnector1">
              <a:avLst/>
            </a:prstGeom>
            <a:ln w="28575" cap="flat" cmpd="sng">
              <a:solidFill>
                <a:srgbClr val="5B9BD5"/>
              </a:solidFill>
              <a:prstDash val="solid"/>
              <a:round/>
              <a:headEnd type="none" w="med" len="med"/>
              <a:tailEnd type="arrow" w="med" len="med"/>
            </a:ln>
          </p:spPr>
        </p:cxnSp>
        <p:cxnSp>
          <p:nvCxnSpPr>
            <p:cNvPr id="8" name="直接箭头连接符 101"/>
            <p:cNvCxnSpPr/>
            <p:nvPr/>
          </p:nvCxnSpPr>
          <p:spPr>
            <a:xfrm>
              <a:off x="2475" y="508"/>
              <a:ext cx="0" cy="1530"/>
            </a:xfrm>
            <a:prstGeom prst="straightConnector1">
              <a:avLst/>
            </a:prstGeom>
            <a:ln w="28575" cap="flat" cmpd="sng">
              <a:solidFill>
                <a:srgbClr val="5B9BD5"/>
              </a:solidFill>
              <a:prstDash val="solid"/>
              <a:round/>
              <a:headEnd type="none" w="med" len="med"/>
              <a:tailEnd type="arrow" w="med" len="med"/>
            </a:ln>
          </p:spPr>
        </p:cxnSp>
        <p:cxnSp>
          <p:nvCxnSpPr>
            <p:cNvPr id="14" name="直接箭头连接符 107"/>
            <p:cNvCxnSpPr/>
            <p:nvPr/>
          </p:nvCxnSpPr>
          <p:spPr>
            <a:xfrm>
              <a:off x="4611" y="508"/>
              <a:ext cx="0" cy="1530"/>
            </a:xfrm>
            <a:prstGeom prst="straightConnector1">
              <a:avLst/>
            </a:prstGeom>
            <a:ln w="28575" cap="flat" cmpd="sng">
              <a:solidFill>
                <a:srgbClr val="5B9BD5"/>
              </a:solidFill>
              <a:prstDash val="solid"/>
              <a:round/>
              <a:headEnd type="none" w="med" len="med"/>
              <a:tailEnd type="arrow" w="med" len="med"/>
            </a:ln>
          </p:spPr>
        </p:cxnSp>
        <p:cxnSp>
          <p:nvCxnSpPr>
            <p:cNvPr id="15" name="直接箭头连接符 108"/>
            <p:cNvCxnSpPr/>
            <p:nvPr/>
          </p:nvCxnSpPr>
          <p:spPr>
            <a:xfrm flipV="1">
              <a:off x="4769" y="761"/>
              <a:ext cx="693" cy="1200"/>
            </a:xfrm>
            <a:prstGeom prst="straightConnector1">
              <a:avLst/>
            </a:prstGeom>
            <a:ln w="28575" cap="flat" cmpd="sng">
              <a:solidFill>
                <a:srgbClr val="5B9BD5"/>
              </a:solidFill>
              <a:prstDash val="solid"/>
              <a:round/>
              <a:headEnd type="none" w="med" len="med"/>
              <a:tailEnd type="arrow" w="med" len="med"/>
            </a:ln>
          </p:spPr>
        </p:cxnSp>
        <p:cxnSp>
          <p:nvCxnSpPr>
            <p:cNvPr id="16" name="直接箭头连接符 109"/>
            <p:cNvCxnSpPr/>
            <p:nvPr/>
          </p:nvCxnSpPr>
          <p:spPr>
            <a:xfrm>
              <a:off x="5703" y="463"/>
              <a:ext cx="0" cy="3609"/>
            </a:xfrm>
            <a:prstGeom prst="straightConnector1">
              <a:avLst/>
            </a:prstGeom>
            <a:ln w="28575" cap="flat" cmpd="sng">
              <a:solidFill>
                <a:srgbClr val="5B9BD5"/>
              </a:solidFill>
              <a:prstDash val="solid"/>
              <a:round/>
              <a:headEnd type="none" w="med" len="med"/>
              <a:tailEnd type="arrow" w="med" len="med"/>
            </a:ln>
          </p:spPr>
        </p:cxnSp>
        <p:cxnSp>
          <p:nvCxnSpPr>
            <p:cNvPr id="17" name="直接箭头连接符 110"/>
            <p:cNvCxnSpPr/>
            <p:nvPr/>
          </p:nvCxnSpPr>
          <p:spPr>
            <a:xfrm flipH="1" flipV="1">
              <a:off x="4735" y="2170"/>
              <a:ext cx="750" cy="1860"/>
            </a:xfrm>
            <a:prstGeom prst="straightConnector1">
              <a:avLst/>
            </a:prstGeom>
            <a:ln w="28575" cap="flat" cmpd="sng">
              <a:solidFill>
                <a:srgbClr val="5B9BD5"/>
              </a:solidFill>
              <a:prstDash val="solid"/>
              <a:round/>
              <a:headEnd type="none" w="med" len="med"/>
              <a:tailEnd type="arrow" w="med" len="med"/>
            </a:ln>
          </p:spPr>
        </p:cxnSp>
        <p:cxnSp>
          <p:nvCxnSpPr>
            <p:cNvPr id="18" name="直接箭头连接符 111"/>
            <p:cNvCxnSpPr/>
            <p:nvPr/>
          </p:nvCxnSpPr>
          <p:spPr>
            <a:xfrm>
              <a:off x="4619" y="2152"/>
              <a:ext cx="0" cy="1905"/>
            </a:xfrm>
            <a:prstGeom prst="straightConnector1">
              <a:avLst/>
            </a:prstGeom>
            <a:ln w="28575" cap="flat" cmpd="sng">
              <a:solidFill>
                <a:srgbClr val="5B9BD5"/>
              </a:solidFill>
              <a:prstDash val="solid"/>
              <a:round/>
              <a:headEnd type="none" w="med" len="med"/>
              <a:tailEnd type="arrow" w="med" len="med"/>
            </a:ln>
          </p:spPr>
        </p:cxnSp>
        <p:cxnSp>
          <p:nvCxnSpPr>
            <p:cNvPr id="19" name="直接箭头连接符 112"/>
            <p:cNvCxnSpPr/>
            <p:nvPr/>
          </p:nvCxnSpPr>
          <p:spPr>
            <a:xfrm flipV="1">
              <a:off x="3687" y="713"/>
              <a:ext cx="693" cy="1200"/>
            </a:xfrm>
            <a:prstGeom prst="straightConnector1">
              <a:avLst/>
            </a:prstGeom>
            <a:ln w="28575" cap="flat" cmpd="sng">
              <a:solidFill>
                <a:srgbClr val="5B9BD5"/>
              </a:solidFill>
              <a:prstDash val="solid"/>
              <a:round/>
              <a:headEnd type="none" w="med" len="med"/>
              <a:tailEnd type="arrow" w="med" len="med"/>
            </a:ln>
          </p:spPr>
        </p:cxnSp>
        <p:cxnSp>
          <p:nvCxnSpPr>
            <p:cNvPr id="20" name="直接箭头连接符 113"/>
            <p:cNvCxnSpPr/>
            <p:nvPr/>
          </p:nvCxnSpPr>
          <p:spPr>
            <a:xfrm flipH="1" flipV="1">
              <a:off x="3683" y="2092"/>
              <a:ext cx="750" cy="1860"/>
            </a:xfrm>
            <a:prstGeom prst="straightConnector1">
              <a:avLst/>
            </a:prstGeom>
            <a:ln w="28575" cap="flat" cmpd="sng">
              <a:solidFill>
                <a:srgbClr val="5B9BD5"/>
              </a:solidFill>
              <a:prstDash val="solid"/>
              <a:round/>
              <a:headEnd type="none" w="med" len="med"/>
              <a:tailEnd type="arrow" w="med" len="med"/>
            </a:ln>
          </p:spPr>
        </p:cxnSp>
        <p:cxnSp>
          <p:nvCxnSpPr>
            <p:cNvPr id="21" name="直接箭头连接符 114"/>
            <p:cNvCxnSpPr/>
            <p:nvPr/>
          </p:nvCxnSpPr>
          <p:spPr>
            <a:xfrm>
              <a:off x="3556" y="2157"/>
              <a:ext cx="0" cy="1905"/>
            </a:xfrm>
            <a:prstGeom prst="straightConnector1">
              <a:avLst/>
            </a:prstGeom>
            <a:ln w="28575" cap="flat" cmpd="sng">
              <a:solidFill>
                <a:srgbClr val="5B9BD5"/>
              </a:solidFill>
              <a:prstDash val="solid"/>
              <a:round/>
              <a:headEnd type="none" w="med" len="med"/>
              <a:tailEnd type="arrow" w="med" len="med"/>
            </a:ln>
          </p:spPr>
        </p:cxnSp>
        <p:cxnSp>
          <p:nvCxnSpPr>
            <p:cNvPr id="27" name="直接箭头连接符 137"/>
            <p:cNvCxnSpPr/>
            <p:nvPr/>
          </p:nvCxnSpPr>
          <p:spPr>
            <a:xfrm>
              <a:off x="2453" y="2267"/>
              <a:ext cx="0" cy="1905"/>
            </a:xfrm>
            <a:prstGeom prst="straightConnector1">
              <a:avLst/>
            </a:prstGeom>
            <a:ln w="28575" cap="flat" cmpd="sng">
              <a:solidFill>
                <a:srgbClr val="5B9BD5"/>
              </a:solidFill>
              <a:prstDash val="solid"/>
              <a:round/>
              <a:headEnd type="none" w="med" len="med"/>
              <a:tailEnd type="arrow" w="med" len="med"/>
            </a:ln>
          </p:spPr>
        </p:cxnSp>
        <p:cxnSp>
          <p:nvCxnSpPr>
            <p:cNvPr id="28" name="直接箭头连接符 140"/>
            <p:cNvCxnSpPr/>
            <p:nvPr/>
          </p:nvCxnSpPr>
          <p:spPr>
            <a:xfrm flipH="1" flipV="1">
              <a:off x="1183" y="1754"/>
              <a:ext cx="1165" cy="2198"/>
            </a:xfrm>
            <a:prstGeom prst="straightConnector1">
              <a:avLst/>
            </a:prstGeom>
            <a:ln w="28575" cap="flat" cmpd="sng">
              <a:solidFill>
                <a:srgbClr val="5B9BD5"/>
              </a:solidFill>
              <a:prstDash val="solid"/>
              <a:round/>
              <a:headEnd type="none" w="med" len="med"/>
              <a:tailEnd type="arrow" w="med" len="med"/>
            </a:ln>
          </p:spPr>
        </p:cxnSp>
        <p:cxnSp>
          <p:nvCxnSpPr>
            <p:cNvPr id="29" name="直接箭头连接符 141"/>
            <p:cNvCxnSpPr/>
            <p:nvPr/>
          </p:nvCxnSpPr>
          <p:spPr>
            <a:xfrm>
              <a:off x="1081" y="1653"/>
              <a:ext cx="0" cy="2385"/>
            </a:xfrm>
            <a:prstGeom prst="straightConnector1">
              <a:avLst/>
            </a:prstGeom>
            <a:ln w="28575" cap="flat" cmpd="sng">
              <a:solidFill>
                <a:srgbClr val="5B9BD5"/>
              </a:solidFill>
              <a:prstDash val="solid"/>
              <a:round/>
              <a:headEnd type="none" w="med" len="med"/>
              <a:tailEnd type="arrow" w="med" len="med"/>
            </a:ln>
          </p:spPr>
        </p:cxnSp>
        <p:sp>
          <p:nvSpPr>
            <p:cNvPr id="30" name="文本框 142"/>
            <p:cNvSpPr/>
            <p:nvPr/>
          </p:nvSpPr>
          <p:spPr>
            <a:xfrm>
              <a:off x="2954" y="1904"/>
              <a:ext cx="750" cy="435"/>
            </a:xfrm>
            <a:prstGeom prst="rect">
              <a:avLst/>
            </a:prstGeom>
            <a:solidFill>
              <a:srgbClr val="FFFFFF"/>
            </a:solidFill>
            <a:ln w="28575">
              <a:noFill/>
            </a:ln>
          </p:spPr>
          <p:txBody>
            <a:bodyPr lIns="0" tIns="45720" rIns="0" bIns="45720" anchor="t"/>
            <a:lstStyle/>
            <a:p>
              <a:r>
                <a:rPr lang="en-US" altLang="en-US" b="1" dirty="0">
                  <a:latin typeface="Arial" panose="020B0604020202020204" pitchFamily="34" charset="0"/>
                  <a:ea typeface="宋体" panose="02010600030101010101" pitchFamily="2" charset="-122"/>
                </a:rPr>
                <a:t>......</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31" name="文本框 143"/>
            <p:cNvSpPr/>
            <p:nvPr/>
          </p:nvSpPr>
          <p:spPr>
            <a:xfrm>
              <a:off x="796" y="0"/>
              <a:ext cx="570" cy="270"/>
            </a:xfrm>
            <a:prstGeom prst="rect">
              <a:avLst/>
            </a:prstGeom>
            <a:solidFill>
              <a:srgbClr val="FFFFFF"/>
            </a:solidFill>
            <a:ln w="28575">
              <a:noFill/>
            </a:ln>
          </p:spPr>
          <p:txBody>
            <a:bodyPr lIns="0" tIns="0" rIns="0" bIns="0" anchor="t"/>
            <a:lstStyle/>
            <a:p>
              <a:r>
                <a:rPr lang="en-US" altLang="en-US" b="1" dirty="0" err="1">
                  <a:latin typeface="Arial" panose="020B0604020202020204" pitchFamily="34" charset="0"/>
                  <a:ea typeface="宋体" panose="02010600030101010101" pitchFamily="2" charset="-122"/>
                </a:rPr>
                <a:t>函数A</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248832" name="文本框 144"/>
            <p:cNvSpPr/>
            <p:nvPr/>
          </p:nvSpPr>
          <p:spPr>
            <a:xfrm>
              <a:off x="2271" y="60"/>
              <a:ext cx="570" cy="270"/>
            </a:xfrm>
            <a:prstGeom prst="rect">
              <a:avLst/>
            </a:prstGeom>
            <a:solidFill>
              <a:srgbClr val="FFFFFF"/>
            </a:solidFill>
            <a:ln w="28575">
              <a:noFill/>
            </a:ln>
          </p:spPr>
          <p:txBody>
            <a:bodyPr lIns="0" tIns="0" rIns="0" bIns="0" anchor="t"/>
            <a:lstStyle/>
            <a:p>
              <a:r>
                <a:rPr lang="en-US" altLang="en-US" b="1" dirty="0" err="1">
                  <a:latin typeface="Arial" panose="020B0604020202020204" pitchFamily="34" charset="0"/>
                  <a:ea typeface="宋体" panose="02010600030101010101" pitchFamily="2" charset="-122"/>
                </a:rPr>
                <a:t>函数B</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248836" name="文本框 147"/>
            <p:cNvSpPr/>
            <p:nvPr/>
          </p:nvSpPr>
          <p:spPr>
            <a:xfrm>
              <a:off x="4385" y="115"/>
              <a:ext cx="570" cy="270"/>
            </a:xfrm>
            <a:prstGeom prst="rect">
              <a:avLst/>
            </a:prstGeom>
            <a:solidFill>
              <a:srgbClr val="FFFFFF"/>
            </a:solidFill>
            <a:ln w="28575">
              <a:noFill/>
            </a:ln>
          </p:spPr>
          <p:txBody>
            <a:bodyPr lIns="0" tIns="0" rIns="0" bIns="0" anchor="t"/>
            <a:lstStyle/>
            <a:p>
              <a:r>
                <a:rPr lang="en-US" altLang="en-US" b="1" dirty="0" err="1">
                  <a:latin typeface="Arial" panose="020B0604020202020204" pitchFamily="34" charset="0"/>
                  <a:ea typeface="宋体" panose="02010600030101010101" pitchFamily="2" charset="-122"/>
                </a:rPr>
                <a:t>函数B</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248837" name="文本框 148"/>
            <p:cNvSpPr/>
            <p:nvPr/>
          </p:nvSpPr>
          <p:spPr>
            <a:xfrm>
              <a:off x="5485" y="148"/>
              <a:ext cx="570" cy="270"/>
            </a:xfrm>
            <a:prstGeom prst="rect">
              <a:avLst/>
            </a:prstGeom>
            <a:solidFill>
              <a:srgbClr val="FFFFFF"/>
            </a:solidFill>
            <a:ln w="28575">
              <a:noFill/>
            </a:ln>
          </p:spPr>
          <p:txBody>
            <a:bodyPr lIns="0" tIns="0" rIns="0" bIns="0" anchor="t"/>
            <a:lstStyle/>
            <a:p>
              <a:r>
                <a:rPr lang="en-US" altLang="en-US" b="1" dirty="0" err="1">
                  <a:latin typeface="Arial" panose="020B0604020202020204" pitchFamily="34" charset="0"/>
                  <a:ea typeface="宋体" panose="02010600030101010101" pitchFamily="2" charset="-122"/>
                </a:rPr>
                <a:t>函数B</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248838" name="文本框 149"/>
            <p:cNvSpPr/>
            <p:nvPr/>
          </p:nvSpPr>
          <p:spPr>
            <a:xfrm>
              <a:off x="1600" y="739"/>
              <a:ext cx="570" cy="285"/>
            </a:xfrm>
            <a:prstGeom prst="rect">
              <a:avLst/>
            </a:prstGeom>
            <a:solidFill>
              <a:srgbClr val="FFFFFF"/>
            </a:solidFill>
            <a:ln w="28575">
              <a:noFill/>
            </a:ln>
          </p:spPr>
          <p:txBody>
            <a:bodyPr lIns="0" tIns="0" rIns="0" bIns="0" anchor="t"/>
            <a:lstStyle/>
            <a:p>
              <a:r>
                <a:rPr lang="en-US" altLang="en-US" b="1" dirty="0">
                  <a:latin typeface="Arial" panose="020B0604020202020204" pitchFamily="34" charset="0"/>
                  <a:ea typeface="宋体" panose="02010600030101010101" pitchFamily="2" charset="-122"/>
                </a:rPr>
                <a:t>调  用</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248839" name="文本框 150"/>
            <p:cNvSpPr/>
            <p:nvPr/>
          </p:nvSpPr>
          <p:spPr>
            <a:xfrm>
              <a:off x="1452" y="2489"/>
              <a:ext cx="570" cy="285"/>
            </a:xfrm>
            <a:prstGeom prst="rect">
              <a:avLst/>
            </a:prstGeom>
            <a:solidFill>
              <a:srgbClr val="FFFFFF"/>
            </a:solidFill>
            <a:ln w="28575">
              <a:noFill/>
            </a:ln>
          </p:spPr>
          <p:txBody>
            <a:bodyPr lIns="0" tIns="0" rIns="0" bIns="0" anchor="t"/>
            <a:lstStyle/>
            <a:p>
              <a:r>
                <a:rPr lang="en-US" altLang="en-US" b="1" dirty="0">
                  <a:latin typeface="Arial" panose="020B0604020202020204" pitchFamily="34" charset="0"/>
                  <a:ea typeface="宋体" panose="02010600030101010101" pitchFamily="2" charset="-122"/>
                </a:rPr>
                <a:t>返  回</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248846" name="文本框 124"/>
            <p:cNvSpPr/>
            <p:nvPr/>
          </p:nvSpPr>
          <p:spPr>
            <a:xfrm>
              <a:off x="3762" y="1246"/>
              <a:ext cx="570" cy="285"/>
            </a:xfrm>
            <a:prstGeom prst="rect">
              <a:avLst/>
            </a:prstGeom>
            <a:solidFill>
              <a:srgbClr val="FFFFFF"/>
            </a:solidFill>
            <a:ln w="28575">
              <a:noFill/>
            </a:ln>
          </p:spPr>
          <p:txBody>
            <a:bodyPr lIns="0" tIns="0" rIns="0" bIns="0" anchor="t"/>
            <a:lstStyle/>
            <a:p>
              <a:r>
                <a:rPr lang="en-US" altLang="en-US" b="1" dirty="0">
                  <a:latin typeface="Arial" panose="020B0604020202020204" pitchFamily="34" charset="0"/>
                  <a:ea typeface="宋体" panose="02010600030101010101" pitchFamily="2" charset="-122"/>
                </a:rPr>
                <a:t>调  用</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248847" name="文本框 125"/>
            <p:cNvSpPr/>
            <p:nvPr/>
          </p:nvSpPr>
          <p:spPr>
            <a:xfrm>
              <a:off x="3835" y="2831"/>
              <a:ext cx="570" cy="285"/>
            </a:xfrm>
            <a:prstGeom prst="rect">
              <a:avLst/>
            </a:prstGeom>
            <a:solidFill>
              <a:srgbClr val="FFFFFF"/>
            </a:solidFill>
            <a:ln w="28575">
              <a:noFill/>
            </a:ln>
          </p:spPr>
          <p:txBody>
            <a:bodyPr lIns="0" tIns="0" rIns="0" bIns="0" anchor="t"/>
            <a:lstStyle/>
            <a:p>
              <a:r>
                <a:rPr lang="en-US" altLang="en-US" b="1" dirty="0">
                  <a:latin typeface="Arial" panose="020B0604020202020204" pitchFamily="34" charset="0"/>
                  <a:ea typeface="宋体" panose="02010600030101010101" pitchFamily="2" charset="-122"/>
                </a:rPr>
                <a:t>返  回</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248848" name="文本框 126"/>
            <p:cNvSpPr/>
            <p:nvPr/>
          </p:nvSpPr>
          <p:spPr>
            <a:xfrm>
              <a:off x="4832" y="1273"/>
              <a:ext cx="570" cy="285"/>
            </a:xfrm>
            <a:prstGeom prst="rect">
              <a:avLst/>
            </a:prstGeom>
            <a:solidFill>
              <a:srgbClr val="FFFFFF"/>
            </a:solidFill>
            <a:ln w="28575">
              <a:noFill/>
            </a:ln>
          </p:spPr>
          <p:txBody>
            <a:bodyPr lIns="0" tIns="0" rIns="0" bIns="0" anchor="t"/>
            <a:lstStyle/>
            <a:p>
              <a:r>
                <a:rPr lang="en-US" altLang="en-US" b="1" dirty="0">
                  <a:latin typeface="Arial" panose="020B0604020202020204" pitchFamily="34" charset="0"/>
                  <a:ea typeface="宋体" panose="02010600030101010101" pitchFamily="2" charset="-122"/>
                </a:rPr>
                <a:t>调  用</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sp>
          <p:nvSpPr>
            <p:cNvPr id="248849" name="文本框 127"/>
            <p:cNvSpPr/>
            <p:nvPr/>
          </p:nvSpPr>
          <p:spPr>
            <a:xfrm>
              <a:off x="4877" y="2935"/>
              <a:ext cx="570" cy="285"/>
            </a:xfrm>
            <a:prstGeom prst="rect">
              <a:avLst/>
            </a:prstGeom>
            <a:solidFill>
              <a:srgbClr val="FFFFFF"/>
            </a:solidFill>
            <a:ln w="28575">
              <a:noFill/>
            </a:ln>
          </p:spPr>
          <p:txBody>
            <a:bodyPr lIns="0" tIns="0" rIns="0" bIns="0" anchor="t"/>
            <a:lstStyle/>
            <a:p>
              <a:r>
                <a:rPr lang="en-US" altLang="en-US" b="1" dirty="0">
                  <a:latin typeface="Arial" panose="020B0604020202020204" pitchFamily="34" charset="0"/>
                  <a:ea typeface="宋体" panose="02010600030101010101" pitchFamily="2" charset="-122"/>
                </a:rPr>
                <a:t>返  回</a:t>
              </a:r>
              <a:endParaRPr lang="en-US" altLang="en-US" b="1" dirty="0">
                <a:latin typeface="Arial" panose="020B0604020202020204" pitchFamily="34" charset="0"/>
                <a:ea typeface="宋体" panose="02010600030101010101" pitchFamily="2" charset="-122"/>
              </a:endParaRPr>
            </a:p>
            <a:p>
              <a:endParaRPr lang="en-US" altLang="en-US" b="1" dirty="0">
                <a:latin typeface="Arial" panose="020B0604020202020204" pitchFamily="34" charset="0"/>
                <a:ea typeface="宋体" panose="02010600030101010101" pitchFamily="2" charset="-122"/>
              </a:endParaRPr>
            </a:p>
          </p:txBody>
        </p:sp>
        <p:cxnSp>
          <p:nvCxnSpPr>
            <p:cNvPr id="248850" name="直接箭头连接符 128"/>
            <p:cNvCxnSpPr/>
            <p:nvPr/>
          </p:nvCxnSpPr>
          <p:spPr>
            <a:xfrm>
              <a:off x="3541" y="522"/>
              <a:ext cx="0" cy="1530"/>
            </a:xfrm>
            <a:prstGeom prst="straightConnector1">
              <a:avLst/>
            </a:prstGeom>
            <a:ln w="28575" cap="flat" cmpd="sng">
              <a:solidFill>
                <a:srgbClr val="5B9BD5"/>
              </a:solidFill>
              <a:prstDash val="solid"/>
              <a:round/>
              <a:headEnd type="none" w="med" len="med"/>
              <a:tailEnd type="arrow" w="med" len="med"/>
            </a:ln>
          </p:spPr>
        </p:cxn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785088" y="2898322"/>
            <a:ext cx="6109776" cy="902726"/>
            <a:chOff x="3076803" y="2743200"/>
            <a:chExt cx="5264151" cy="685800"/>
          </a:xfrm>
        </p:grpSpPr>
        <p:grpSp>
          <p:nvGrpSpPr>
            <p:cNvPr id="3" name="Group 6"/>
            <p:cNvGrpSpPr/>
            <p:nvPr/>
          </p:nvGrpSpPr>
          <p:grpSpPr bwMode="auto">
            <a:xfrm>
              <a:off x="3413353" y="2828925"/>
              <a:ext cx="4927601" cy="531813"/>
              <a:chOff x="1341" y="1723"/>
              <a:chExt cx="3104" cy="335"/>
            </a:xfrm>
          </p:grpSpPr>
          <p:sp>
            <p:nvSpPr>
              <p:cNvPr id="7" name="AutoShape 7"/>
              <p:cNvSpPr>
                <a:spLocks noChangeArrowheads="1"/>
              </p:cNvSpPr>
              <p:nvPr/>
            </p:nvSpPr>
            <p:spPr bwMode="ltGray">
              <a:xfrm>
                <a:off x="1341" y="1723"/>
                <a:ext cx="3104" cy="335"/>
              </a:xfrm>
              <a:prstGeom prst="roundRect">
                <a:avLst>
                  <a:gd name="adj" fmla="val 16667"/>
                </a:avLst>
              </a:prstGeom>
              <a:solidFill>
                <a:srgbClr val="FCA304"/>
              </a:solidFill>
              <a:ln w="28575" algn="ctr">
                <a:solidFill>
                  <a:srgbClr val="FFFFFF"/>
                </a:solidFill>
                <a:round/>
              </a:ln>
              <a:effectLst>
                <a:outerShdw dist="71842" dir="2700000" algn="ctr" rotWithShape="0">
                  <a:srgbClr val="808080">
                    <a:alpha val="50000"/>
                  </a:srgbClr>
                </a:outerShdw>
              </a:effectLst>
            </p:spPr>
            <p:txBody>
              <a:bodyPr wrap="none" anchor="ctr"/>
              <a:lstStyle/>
              <a:p>
                <a:pPr defTabSz="685800">
                  <a:defRPr/>
                </a:pPr>
                <a:endParaRPr lang="zh-CN" altLang="en-US" sz="3000" kern="0">
                  <a:solidFill>
                    <a:sysClr val="windowText" lastClr="000000"/>
                  </a:solidFill>
                  <a:latin typeface="等线" panose="02010600030101010101" pitchFamily="2" charset="-122"/>
                  <a:ea typeface="等线" panose="02010600030101010101" pitchFamily="2" charset="-122"/>
                </a:endParaRPr>
              </a:p>
            </p:txBody>
          </p:sp>
          <p:sp>
            <p:nvSpPr>
              <p:cNvPr id="8" name="AutoShape 8"/>
              <p:cNvSpPr>
                <a:spLocks noChangeArrowheads="1"/>
              </p:cNvSpPr>
              <p:nvPr/>
            </p:nvSpPr>
            <p:spPr bwMode="ltGray">
              <a:xfrm>
                <a:off x="1366" y="1735"/>
                <a:ext cx="3068" cy="148"/>
              </a:xfrm>
              <a:prstGeom prst="roundRect">
                <a:avLst>
                  <a:gd name="adj" fmla="val 31505"/>
                </a:avLst>
              </a:prstGeom>
              <a:gradFill rotWithShape="1">
                <a:gsLst>
                  <a:gs pos="0">
                    <a:srgbClr val="FFFFFF">
                      <a:alpha val="70000"/>
                    </a:srgbClr>
                  </a:gs>
                  <a:gs pos="100000">
                    <a:srgbClr val="FCA304">
                      <a:alpha val="70000"/>
                    </a:srgbClr>
                  </a:gs>
                </a:gsLst>
                <a:lin ang="5400000" scaled="1"/>
              </a:gradFill>
              <a:ln w="9525" algn="ctr">
                <a:noFill/>
                <a:round/>
              </a:ln>
              <a:effectLst/>
            </p:spPr>
            <p:txBody>
              <a:bodyPr wrap="none" anchor="ctr"/>
              <a:lstStyle/>
              <a:p>
                <a:pPr defTabSz="685800">
                  <a:defRPr/>
                </a:pPr>
                <a:endParaRPr lang="zh-CN" altLang="en-US" sz="3000" kern="0">
                  <a:solidFill>
                    <a:sysClr val="windowText" lastClr="000000"/>
                  </a:solidFill>
                  <a:latin typeface="等线" panose="02010600030101010101" pitchFamily="2" charset="-122"/>
                  <a:ea typeface="等线" panose="02010600030101010101" pitchFamily="2" charset="-122"/>
                </a:endParaRPr>
              </a:p>
            </p:txBody>
          </p:sp>
        </p:grpSp>
        <p:sp>
          <p:nvSpPr>
            <p:cNvPr id="4" name="Text Box 9"/>
            <p:cNvSpPr txBox="1">
              <a:spLocks noChangeArrowheads="1"/>
            </p:cNvSpPr>
            <p:nvPr/>
          </p:nvSpPr>
          <p:spPr bwMode="black">
            <a:xfrm>
              <a:off x="3860525" y="2901505"/>
              <a:ext cx="4114800" cy="420178"/>
            </a:xfrm>
            <a:prstGeom prst="rect">
              <a:avLst/>
            </a:prstGeom>
            <a:noFill/>
            <a:ln w="9525" algn="ctr">
              <a:noFill/>
              <a:miter lim="800000"/>
            </a:ln>
            <a:effectLst>
              <a:outerShdw dist="17961" dir="2700000" algn="ctr" rotWithShape="0">
                <a:srgbClr val="000000">
                  <a:alpha val="50000"/>
                </a:srgbClr>
              </a:outerShdw>
            </a:effectLst>
          </p:spPr>
          <p:txBody>
            <a:bodyPr>
              <a:spAutoFit/>
            </a:bodyPr>
            <a:lstStyle/>
            <a:p>
              <a:pPr algn="ctr" defTabSz="685800" eaLnBrk="0" hangingPunct="0">
                <a:defRPr/>
              </a:pPr>
              <a:r>
                <a:rPr lang="en-US" altLang="zh-CN" sz="3000" b="1" kern="0" dirty="0">
                  <a:solidFill>
                    <a:srgbClr val="FF0000"/>
                  </a:solidFill>
                  <a:latin typeface="黑体" panose="02010609060101010101" pitchFamily="49" charset="-122"/>
                  <a:ea typeface="黑体" panose="02010609060101010101" pitchFamily="49" charset="-122"/>
                </a:rPr>
                <a:t>3.13 </a:t>
              </a:r>
              <a:r>
                <a:rPr lang="zh-CN" altLang="en-US" sz="3000" b="1" kern="0" dirty="0">
                  <a:solidFill>
                    <a:srgbClr val="FF0000"/>
                  </a:solidFill>
                  <a:latin typeface="黑体" panose="02010609060101010101" pitchFamily="49" charset="-122"/>
                  <a:ea typeface="黑体" panose="02010609060101010101" pitchFamily="49" charset="-122"/>
                </a:rPr>
                <a:t>队列的存储与处理</a:t>
              </a:r>
              <a:endParaRPr lang="en-US" altLang="zh-CN" sz="3000" b="1" kern="0" dirty="0">
                <a:solidFill>
                  <a:srgbClr val="FF0000"/>
                </a:solidFill>
                <a:latin typeface="黑体" panose="02010609060101010101" pitchFamily="49" charset="-122"/>
                <a:ea typeface="黑体" panose="02010609060101010101" pitchFamily="49" charset="-122"/>
              </a:endParaRPr>
            </a:p>
          </p:txBody>
        </p:sp>
        <p:sp>
          <p:nvSpPr>
            <p:cNvPr id="5" name="AutoShape 18"/>
            <p:cNvSpPr>
              <a:spLocks noChangeArrowheads="1"/>
            </p:cNvSpPr>
            <p:nvPr/>
          </p:nvSpPr>
          <p:spPr bwMode="ltGray">
            <a:xfrm>
              <a:off x="3076803" y="2743200"/>
              <a:ext cx="685800" cy="685800"/>
            </a:xfrm>
            <a:prstGeom prst="diamond">
              <a:avLst/>
            </a:prstGeom>
            <a:solidFill>
              <a:srgbClr val="FCA304"/>
            </a:solidFill>
            <a:ln w="25400" algn="ctr">
              <a:solidFill>
                <a:srgbClr val="FFFFFF"/>
              </a:solidFill>
              <a:miter lim="800000"/>
            </a:ln>
            <a:effectLst>
              <a:outerShdw dist="76200" algn="ctr" rotWithShape="0">
                <a:srgbClr val="808080">
                  <a:alpha val="50000"/>
                </a:srgbClr>
              </a:outerShdw>
            </a:effectLst>
          </p:spPr>
          <p:txBody>
            <a:bodyPr wrap="none" anchor="ctr"/>
            <a:lstStyle/>
            <a:p>
              <a:pPr defTabSz="685800">
                <a:defRPr/>
              </a:pPr>
              <a:endParaRPr lang="zh-CN" altLang="en-US" sz="3000" kern="0">
                <a:solidFill>
                  <a:sysClr val="windowText" lastClr="000000"/>
                </a:solidFill>
                <a:latin typeface="等线" panose="02010600030101010101" pitchFamily="2" charset="-122"/>
                <a:ea typeface="等线" panose="02010600030101010101" pitchFamily="2" charset="-122"/>
              </a:endParaRPr>
            </a:p>
          </p:txBody>
        </p:sp>
        <p:sp>
          <p:nvSpPr>
            <p:cNvPr id="6" name="Text Box 19"/>
            <p:cNvSpPr txBox="1">
              <a:spLocks noChangeArrowheads="1"/>
            </p:cNvSpPr>
            <p:nvPr/>
          </p:nvSpPr>
          <p:spPr bwMode="black">
            <a:xfrm>
              <a:off x="3328215" y="2841625"/>
              <a:ext cx="159163" cy="420872"/>
            </a:xfrm>
            <a:prstGeom prst="rect">
              <a:avLst/>
            </a:prstGeom>
            <a:noFill/>
            <a:ln w="9525" algn="ctr">
              <a:noFill/>
              <a:miter lim="800000"/>
            </a:ln>
            <a:effectLst/>
          </p:spPr>
          <p:txBody>
            <a:bodyPr wrap="none">
              <a:spAutoFit/>
            </a:bodyPr>
            <a:lstStyle/>
            <a:p>
              <a:pPr algn="ctr" defTabSz="685800" eaLnBrk="0" hangingPunct="0">
                <a:defRPr/>
              </a:pPr>
              <a:endParaRPr lang="en-US" altLang="zh-CN" sz="3000" b="1" kern="0" dirty="0">
                <a:solidFill>
                  <a:srgbClr val="FFFFFF"/>
                </a:solidFill>
                <a:latin typeface="等线" panose="02010600030101010101" pitchFamily="2" charset="-122"/>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819060" y="2536876"/>
            <a:ext cx="5829300" cy="4618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a:spcBef>
                <a:spcPts val="750"/>
              </a:spcBef>
              <a:buNone/>
              <a:defRPr/>
            </a:pPr>
            <a:r>
              <a:rPr lang="zh-CN" altLang="en-US" sz="2100" dirty="0">
                <a:solidFill>
                  <a:srgbClr val="954F72"/>
                </a:solidFill>
                <a:latin typeface="黑体" panose="02010609060101010101" pitchFamily="49" charset="-122"/>
                <a:ea typeface="黑体" panose="02010609060101010101" pitchFamily="49" charset="-122"/>
              </a:rPr>
              <a:t>队列</a:t>
            </a:r>
            <a:r>
              <a:rPr lang="zh-CN" altLang="en-US" sz="2100" b="1" dirty="0">
                <a:solidFill>
                  <a:prstClr val="black"/>
                </a:solidFill>
                <a:latin typeface="黑体" panose="02010609060101010101" pitchFamily="49" charset="-122"/>
                <a:ea typeface="黑体" panose="02010609060101010101" pitchFamily="49" charset="-122"/>
              </a:rPr>
              <a:t>是操作位置受限的线性表</a:t>
            </a:r>
            <a:endParaRPr lang="zh-CN" altLang="en-US" sz="2100" dirty="0">
              <a:solidFill>
                <a:srgbClr val="ED7D31"/>
              </a:solidFill>
              <a:latin typeface="黑体" panose="02010609060101010101" pitchFamily="49" charset="-122"/>
              <a:ea typeface="黑体" panose="02010609060101010101" pitchFamily="49" charset="-122"/>
            </a:endParaRPr>
          </a:p>
        </p:txBody>
      </p:sp>
      <p:sp>
        <p:nvSpPr>
          <p:cNvPr id="8" name="AutoShape 23"/>
          <p:cNvSpPr>
            <a:spLocks noChangeArrowheads="1"/>
          </p:cNvSpPr>
          <p:nvPr/>
        </p:nvSpPr>
        <p:spPr bwMode="auto">
          <a:xfrm>
            <a:off x="162042" y="1686778"/>
            <a:ext cx="1488419" cy="515957"/>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defTabSz="685800">
              <a:buClr>
                <a:srgbClr val="0563C1"/>
              </a:buClr>
              <a:buSzPct val="75000"/>
              <a:defRPr/>
            </a:pPr>
            <a:r>
              <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队的概念</a:t>
            </a:r>
            <a:endPar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9" name="Text Box 4"/>
          <p:cNvSpPr txBox="1">
            <a:spLocks noChangeArrowheads="1"/>
          </p:cNvSpPr>
          <p:nvPr/>
        </p:nvSpPr>
        <p:spPr bwMode="auto">
          <a:xfrm>
            <a:off x="800899" y="3092386"/>
            <a:ext cx="7824899" cy="80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685800">
              <a:lnSpc>
                <a:spcPct val="85000"/>
              </a:lnSpc>
              <a:spcBef>
                <a:spcPct val="50000"/>
              </a:spcBef>
              <a:defRPr/>
            </a:pPr>
            <a:r>
              <a:rPr kumimoji="1" lang="zh-CN" altLang="en-US" sz="2100" dirty="0">
                <a:solidFill>
                  <a:prstClr val="black"/>
                </a:solidFill>
                <a:latin typeface="黑体" panose="02010609060101010101" pitchFamily="49" charset="-122"/>
                <a:ea typeface="黑体" panose="02010609060101010101" pitchFamily="49" charset="-122"/>
              </a:rPr>
              <a:t>只能在表的一端插入，另一端进行删除的线性表。</a:t>
            </a:r>
            <a:endParaRPr kumimoji="1" lang="en-US" altLang="zh-CN" sz="2100" dirty="0">
              <a:solidFill>
                <a:prstClr val="black"/>
              </a:solidFill>
              <a:latin typeface="黑体" panose="02010609060101010101" pitchFamily="49" charset="-122"/>
              <a:ea typeface="黑体" panose="02010609060101010101" pitchFamily="49" charset="-122"/>
            </a:endParaRPr>
          </a:p>
          <a:p>
            <a:pPr defTabSz="685800">
              <a:lnSpc>
                <a:spcPct val="85000"/>
              </a:lnSpc>
              <a:spcBef>
                <a:spcPct val="50000"/>
              </a:spcBef>
              <a:defRPr/>
            </a:pPr>
            <a:r>
              <a:rPr kumimoji="1" lang="zh-CN" altLang="en-US" sz="2100" dirty="0">
                <a:solidFill>
                  <a:prstClr val="black"/>
                </a:solidFill>
                <a:latin typeface="黑体" panose="02010609060101010101" pitchFamily="49" charset="-122"/>
                <a:ea typeface="黑体" panose="02010609060101010101" pitchFamily="49" charset="-122"/>
              </a:rPr>
              <a:t>此种结构称为</a:t>
            </a:r>
            <a:r>
              <a:rPr kumimoji="1" lang="zh-CN" altLang="en-US" sz="2100" b="1" dirty="0">
                <a:solidFill>
                  <a:srgbClr val="FF0000"/>
                </a:solidFill>
                <a:latin typeface="黑体" panose="02010609060101010101" pitchFamily="49" charset="-122"/>
                <a:ea typeface="黑体" panose="02010609060101010101" pitchFamily="49" charset="-122"/>
              </a:rPr>
              <a:t>先进先出表</a:t>
            </a:r>
            <a:r>
              <a:rPr kumimoji="1" lang="zh-CN" altLang="en-US" sz="2100" dirty="0">
                <a:solidFill>
                  <a:prstClr val="black"/>
                </a:solidFill>
                <a:latin typeface="黑体" panose="02010609060101010101" pitchFamily="49" charset="-122"/>
                <a:ea typeface="黑体" panose="02010609060101010101" pitchFamily="49" charset="-122"/>
              </a:rPr>
              <a:t>。</a:t>
            </a:r>
            <a:endParaRPr kumimoji="1" lang="zh-CN" altLang="en-US" sz="2100" dirty="0">
              <a:solidFill>
                <a:prstClr val="black"/>
              </a:solidFill>
              <a:latin typeface="黑体" panose="02010609060101010101" pitchFamily="49" charset="-122"/>
              <a:ea typeface="黑体" panose="02010609060101010101" pitchFamily="49" charset="-122"/>
            </a:endParaRPr>
          </a:p>
        </p:txBody>
      </p:sp>
      <p:grpSp>
        <p:nvGrpSpPr>
          <p:cNvPr id="10" name="组合 9"/>
          <p:cNvGrpSpPr/>
          <p:nvPr/>
        </p:nvGrpSpPr>
        <p:grpSpPr>
          <a:xfrm>
            <a:off x="548884" y="4213404"/>
            <a:ext cx="8046232" cy="1229930"/>
            <a:chOff x="1763691" y="2057400"/>
            <a:chExt cx="8517752" cy="1639907"/>
          </a:xfrm>
        </p:grpSpPr>
        <p:sp>
          <p:nvSpPr>
            <p:cNvPr id="11" name="Line 5"/>
            <p:cNvSpPr>
              <a:spLocks noChangeShapeType="1"/>
            </p:cNvSpPr>
            <p:nvPr/>
          </p:nvSpPr>
          <p:spPr bwMode="auto">
            <a:xfrm>
              <a:off x="2743200" y="2057400"/>
              <a:ext cx="668178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2" name="Line 6"/>
            <p:cNvSpPr>
              <a:spLocks noChangeShapeType="1"/>
            </p:cNvSpPr>
            <p:nvPr/>
          </p:nvSpPr>
          <p:spPr bwMode="auto">
            <a:xfrm>
              <a:off x="2743200" y="2743200"/>
              <a:ext cx="668178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3" name="Text Box 7"/>
            <p:cNvSpPr txBox="1">
              <a:spLocks noChangeArrowheads="1"/>
            </p:cNvSpPr>
            <p:nvPr/>
          </p:nvSpPr>
          <p:spPr bwMode="auto">
            <a:xfrm>
              <a:off x="2590800" y="2209800"/>
              <a:ext cx="7162801" cy="553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685800">
                <a:spcBef>
                  <a:spcPct val="50000"/>
                </a:spcBef>
                <a:defRPr/>
              </a:pPr>
              <a:r>
                <a:rPr kumimoji="1" lang="en-US" altLang="zh-CN" sz="2100" b="1" dirty="0">
                  <a:solidFill>
                    <a:prstClr val="black"/>
                  </a:solidFill>
                  <a:latin typeface="Times New Roman" panose="02020603050405020304" pitchFamily="18" charset="0"/>
                  <a:ea typeface="等线" panose="02010600030101010101" pitchFamily="2" charset="-122"/>
                </a:rPr>
                <a:t>    a</a:t>
              </a:r>
              <a:r>
                <a:rPr kumimoji="1" lang="en-US" altLang="zh-CN" sz="2100" b="1" baseline="-25000" dirty="0">
                  <a:solidFill>
                    <a:prstClr val="black"/>
                  </a:solidFill>
                  <a:latin typeface="Times New Roman" panose="02020603050405020304" pitchFamily="18" charset="0"/>
                  <a:ea typeface="等线" panose="02010600030101010101" pitchFamily="2" charset="-122"/>
                </a:rPr>
                <a:t>1    </a:t>
              </a:r>
              <a:r>
                <a:rPr kumimoji="1" lang="en-US" altLang="zh-CN" sz="2100" b="1" dirty="0">
                  <a:solidFill>
                    <a:prstClr val="black"/>
                  </a:solidFill>
                  <a:latin typeface="Times New Roman" panose="02020603050405020304" pitchFamily="18" charset="0"/>
                  <a:ea typeface="等线" panose="02010600030101010101" pitchFamily="2" charset="-122"/>
                </a:rPr>
                <a:t>,</a:t>
              </a:r>
              <a:r>
                <a:rPr kumimoji="1" lang="en-US" altLang="zh-CN" sz="2100" b="1" baseline="-25000" dirty="0">
                  <a:solidFill>
                    <a:prstClr val="black"/>
                  </a:solidFill>
                  <a:latin typeface="Times New Roman" panose="02020603050405020304" pitchFamily="18" charset="0"/>
                  <a:ea typeface="等线" panose="02010600030101010101" pitchFamily="2" charset="-122"/>
                </a:rPr>
                <a:t>     </a:t>
              </a:r>
              <a:r>
                <a:rPr kumimoji="1" lang="en-US" altLang="zh-CN" sz="2100" b="1" dirty="0">
                  <a:solidFill>
                    <a:prstClr val="black"/>
                  </a:solidFill>
                  <a:latin typeface="Times New Roman" panose="02020603050405020304" pitchFamily="18" charset="0"/>
                  <a:ea typeface="等线" panose="02010600030101010101" pitchFamily="2" charset="-122"/>
                </a:rPr>
                <a:t>a</a:t>
              </a:r>
              <a:r>
                <a:rPr kumimoji="1" lang="en-US" altLang="zh-CN" sz="2100" b="1" baseline="-25000" dirty="0">
                  <a:solidFill>
                    <a:prstClr val="black"/>
                  </a:solidFill>
                  <a:latin typeface="Times New Roman" panose="02020603050405020304" pitchFamily="18" charset="0"/>
                  <a:ea typeface="等线" panose="02010600030101010101" pitchFamily="2" charset="-122"/>
                </a:rPr>
                <a:t>2       </a:t>
              </a:r>
              <a:r>
                <a:rPr kumimoji="1" lang="en-US" altLang="zh-CN" sz="2100" b="1" dirty="0">
                  <a:solidFill>
                    <a:prstClr val="black"/>
                  </a:solidFill>
                  <a:latin typeface="Times New Roman" panose="02020603050405020304" pitchFamily="18" charset="0"/>
                  <a:ea typeface="等线" panose="02010600030101010101" pitchFamily="2" charset="-122"/>
                </a:rPr>
                <a:t>,   </a:t>
              </a:r>
              <a:r>
                <a:rPr kumimoji="1" lang="en-US" altLang="zh-CN" sz="2100" b="1" baseline="-25000" dirty="0">
                  <a:solidFill>
                    <a:prstClr val="black"/>
                  </a:solidFill>
                  <a:latin typeface="Times New Roman" panose="02020603050405020304" pitchFamily="18" charset="0"/>
                  <a:ea typeface="等线" panose="02010600030101010101" pitchFamily="2" charset="-122"/>
                </a:rPr>
                <a:t>  </a:t>
              </a:r>
              <a:r>
                <a:rPr kumimoji="1" lang="en-US" altLang="zh-CN" sz="2100" b="1" dirty="0">
                  <a:solidFill>
                    <a:prstClr val="black"/>
                  </a:solidFill>
                  <a:latin typeface="Times New Roman" panose="02020603050405020304" pitchFamily="18" charset="0"/>
                  <a:ea typeface="等线" panose="02010600030101010101" pitchFamily="2" charset="-122"/>
                </a:rPr>
                <a:t>a</a:t>
              </a:r>
              <a:r>
                <a:rPr kumimoji="1" lang="en-US" altLang="zh-CN" sz="2100" b="1" baseline="-25000" dirty="0">
                  <a:solidFill>
                    <a:prstClr val="black"/>
                  </a:solidFill>
                  <a:latin typeface="Times New Roman" panose="02020603050405020304" pitchFamily="18" charset="0"/>
                  <a:ea typeface="等线" panose="02010600030101010101" pitchFamily="2" charset="-122"/>
                </a:rPr>
                <a:t>3      </a:t>
              </a:r>
              <a:r>
                <a:rPr kumimoji="1" lang="en-US" altLang="zh-CN" sz="2100" b="1" dirty="0">
                  <a:solidFill>
                    <a:prstClr val="black"/>
                  </a:solidFill>
                  <a:latin typeface="Times New Roman" panose="02020603050405020304" pitchFamily="18" charset="0"/>
                  <a:ea typeface="等线" panose="02010600030101010101" pitchFamily="2" charset="-122"/>
                </a:rPr>
                <a:t>, </a:t>
              </a:r>
              <a:r>
                <a:rPr kumimoji="1" lang="en-US" altLang="zh-CN" sz="2100" b="1" baseline="-25000" dirty="0">
                  <a:solidFill>
                    <a:prstClr val="black"/>
                  </a:solidFill>
                  <a:latin typeface="Times New Roman" panose="02020603050405020304" pitchFamily="18" charset="0"/>
                  <a:ea typeface="等线" panose="02010600030101010101" pitchFamily="2" charset="-122"/>
                </a:rPr>
                <a:t>    </a:t>
              </a:r>
              <a:r>
                <a:rPr kumimoji="1" lang="en-US" altLang="zh-CN" sz="2100" b="1" dirty="0">
                  <a:solidFill>
                    <a:prstClr val="black"/>
                  </a:solidFill>
                  <a:latin typeface="Times New Roman" panose="02020603050405020304" pitchFamily="18" charset="0"/>
                  <a:ea typeface="等线" panose="02010600030101010101" pitchFamily="2" charset="-122"/>
                </a:rPr>
                <a:t>a</a:t>
              </a:r>
              <a:r>
                <a:rPr kumimoji="1" lang="en-US" altLang="zh-CN" sz="2100" b="1" baseline="-25000" dirty="0">
                  <a:solidFill>
                    <a:prstClr val="black"/>
                  </a:solidFill>
                  <a:latin typeface="Times New Roman" panose="02020603050405020304" pitchFamily="18" charset="0"/>
                  <a:ea typeface="等线" panose="02010600030101010101" pitchFamily="2" charset="-122"/>
                </a:rPr>
                <a:t>4       </a:t>
              </a:r>
              <a:r>
                <a:rPr kumimoji="1" lang="en-US" altLang="zh-CN" sz="2100" b="1" dirty="0">
                  <a:solidFill>
                    <a:prstClr val="black"/>
                  </a:solidFill>
                  <a:latin typeface="Times New Roman" panose="02020603050405020304" pitchFamily="18" charset="0"/>
                  <a:ea typeface="等线" panose="02010600030101010101" pitchFamily="2" charset="-122"/>
                </a:rPr>
                <a:t>,   </a:t>
              </a:r>
              <a:r>
                <a:rPr kumimoji="1" lang="en-US" altLang="zh-CN" sz="2100" b="1" dirty="0">
                  <a:solidFill>
                    <a:prstClr val="black"/>
                  </a:solidFill>
                  <a:latin typeface="Times New Roman" panose="02020603050405020304" pitchFamily="18" charset="0"/>
                  <a:ea typeface="MingLiU" panose="02020509000000000000" pitchFamily="49" charset="-120"/>
                  <a:sym typeface="CommercialPi BT" pitchFamily="18" charset="2"/>
                </a:rPr>
                <a:t>…………</a:t>
              </a:r>
              <a:r>
                <a:rPr kumimoji="1" lang="en-US" altLang="zh-CN" sz="2100" b="1" dirty="0">
                  <a:solidFill>
                    <a:prstClr val="black"/>
                  </a:solidFill>
                  <a:latin typeface="Times New Roman" panose="02020603050405020304" pitchFamily="18" charset="0"/>
                  <a:ea typeface="等线" panose="02010600030101010101" pitchFamily="2" charset="-122"/>
                </a:rPr>
                <a:t>       </a:t>
              </a:r>
              <a:r>
                <a:rPr kumimoji="1" lang="en-US" altLang="zh-CN" sz="2100" b="1" baseline="-25000" dirty="0">
                  <a:solidFill>
                    <a:prstClr val="black"/>
                  </a:solidFill>
                  <a:latin typeface="Times New Roman" panose="02020603050405020304" pitchFamily="18" charset="0"/>
                  <a:ea typeface="等线" panose="02010600030101010101" pitchFamily="2" charset="-122"/>
                </a:rPr>
                <a:t>  </a:t>
              </a:r>
              <a:r>
                <a:rPr kumimoji="1" lang="en-US" altLang="zh-CN" sz="2100" b="1" dirty="0">
                  <a:solidFill>
                    <a:prstClr val="black"/>
                  </a:solidFill>
                  <a:latin typeface="Times New Roman" panose="02020603050405020304" pitchFamily="18" charset="0"/>
                  <a:ea typeface="等线" panose="02010600030101010101" pitchFamily="2" charset="-122"/>
                </a:rPr>
                <a:t>a</a:t>
              </a:r>
              <a:r>
                <a:rPr kumimoji="1" lang="en-US" altLang="zh-CN" sz="2100" b="1" baseline="-25000" dirty="0">
                  <a:solidFill>
                    <a:prstClr val="black"/>
                  </a:solidFill>
                  <a:latin typeface="Times New Roman" panose="02020603050405020304" pitchFamily="18" charset="0"/>
                  <a:ea typeface="等线" panose="02010600030101010101" pitchFamily="2" charset="-122"/>
                </a:rPr>
                <a:t>n-1  </a:t>
              </a:r>
              <a:r>
                <a:rPr kumimoji="1" lang="en-US" altLang="zh-CN" sz="2100" b="1" dirty="0">
                  <a:solidFill>
                    <a:prstClr val="black"/>
                  </a:solidFill>
                  <a:latin typeface="Times New Roman" panose="02020603050405020304" pitchFamily="18" charset="0"/>
                  <a:ea typeface="等线" panose="02010600030101010101" pitchFamily="2" charset="-122"/>
                </a:rPr>
                <a:t>,</a:t>
              </a:r>
              <a:r>
                <a:rPr kumimoji="1" lang="en-US" altLang="zh-CN" sz="2100" b="1" baseline="-25000" dirty="0">
                  <a:solidFill>
                    <a:prstClr val="black"/>
                  </a:solidFill>
                  <a:latin typeface="Times New Roman" panose="02020603050405020304" pitchFamily="18" charset="0"/>
                  <a:ea typeface="等线" panose="02010600030101010101" pitchFamily="2" charset="-122"/>
                </a:rPr>
                <a:t>   </a:t>
              </a:r>
              <a:r>
                <a:rPr kumimoji="1" lang="en-US" altLang="zh-CN" sz="2100" b="1" dirty="0">
                  <a:solidFill>
                    <a:prstClr val="black"/>
                  </a:solidFill>
                  <a:latin typeface="Times New Roman" panose="02020603050405020304" pitchFamily="18" charset="0"/>
                  <a:ea typeface="等线" panose="02010600030101010101" pitchFamily="2" charset="-122"/>
                </a:rPr>
                <a:t>a</a:t>
              </a:r>
              <a:r>
                <a:rPr kumimoji="1" lang="en-US" altLang="zh-CN" sz="2100" b="1" baseline="-25000" dirty="0">
                  <a:solidFill>
                    <a:prstClr val="black"/>
                  </a:solidFill>
                  <a:latin typeface="Times New Roman" panose="02020603050405020304" pitchFamily="18" charset="0"/>
                  <a:ea typeface="等线" panose="02010600030101010101" pitchFamily="2" charset="-122"/>
                </a:rPr>
                <a:t>n</a:t>
              </a:r>
              <a:endParaRPr kumimoji="1" lang="en-US" altLang="zh-CN" sz="2100" b="1" baseline="-25000" dirty="0">
                <a:solidFill>
                  <a:prstClr val="black"/>
                </a:solidFill>
                <a:latin typeface="Times New Roman" panose="02020603050405020304" pitchFamily="18" charset="0"/>
                <a:ea typeface="等线" panose="02010600030101010101" pitchFamily="2" charset="-122"/>
              </a:endParaRPr>
            </a:p>
          </p:txBody>
        </p:sp>
        <p:sp>
          <p:nvSpPr>
            <p:cNvPr id="14" name="AutoShape 8"/>
            <p:cNvSpPr>
              <a:spLocks noChangeArrowheads="1"/>
            </p:cNvSpPr>
            <p:nvPr/>
          </p:nvSpPr>
          <p:spPr bwMode="auto">
            <a:xfrm>
              <a:off x="1763691" y="2334641"/>
              <a:ext cx="914400" cy="263525"/>
            </a:xfrm>
            <a:prstGeom prst="leftArrow">
              <a:avLst>
                <a:gd name="adj1" fmla="val 50000"/>
                <a:gd name="adj2" fmla="val 86747"/>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5" name="AutoShape 9"/>
            <p:cNvSpPr>
              <a:spLocks noChangeArrowheads="1"/>
            </p:cNvSpPr>
            <p:nvPr/>
          </p:nvSpPr>
          <p:spPr bwMode="auto">
            <a:xfrm>
              <a:off x="9225756" y="2376479"/>
              <a:ext cx="1055687" cy="263525"/>
            </a:xfrm>
            <a:prstGeom prst="leftArrow">
              <a:avLst>
                <a:gd name="adj1" fmla="val 50000"/>
                <a:gd name="adj2" fmla="val 100151"/>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685800">
                <a:defRPr/>
              </a:pPr>
              <a:endParaRPr lang="zh-CN" altLang="en-US" sz="2100" dirty="0">
                <a:solidFill>
                  <a:prstClr val="black"/>
                </a:solidFill>
                <a:latin typeface="等线" panose="02010600030101010101" pitchFamily="2" charset="-122"/>
                <a:ea typeface="等线" panose="02010600030101010101" pitchFamily="2" charset="-122"/>
              </a:endParaRPr>
            </a:p>
          </p:txBody>
        </p:sp>
        <p:sp>
          <p:nvSpPr>
            <p:cNvPr id="16" name="AutoShape 11"/>
            <p:cNvSpPr>
              <a:spLocks noChangeArrowheads="1"/>
            </p:cNvSpPr>
            <p:nvPr/>
          </p:nvSpPr>
          <p:spPr bwMode="auto">
            <a:xfrm>
              <a:off x="2872847" y="2743200"/>
              <a:ext cx="74613" cy="858838"/>
            </a:xfrm>
            <a:prstGeom prst="upArrow">
              <a:avLst>
                <a:gd name="adj1" fmla="val 50000"/>
                <a:gd name="adj2" fmla="val 287764"/>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sp>
          <p:nvSpPr>
            <p:cNvPr id="17" name="AutoShape 12"/>
            <p:cNvSpPr>
              <a:spLocks noChangeArrowheads="1"/>
            </p:cNvSpPr>
            <p:nvPr/>
          </p:nvSpPr>
          <p:spPr bwMode="auto">
            <a:xfrm>
              <a:off x="8852688" y="2838469"/>
              <a:ext cx="74613" cy="858838"/>
            </a:xfrm>
            <a:prstGeom prst="upArrow">
              <a:avLst>
                <a:gd name="adj1" fmla="val 50000"/>
                <a:gd name="adj2" fmla="val 287764"/>
              </a:avLst>
            </a:prstGeom>
            <a:solidFill>
              <a:srgbClr val="FF33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defTabSz="685800">
                <a:defRPr/>
              </a:pPr>
              <a:endParaRPr lang="zh-CN" altLang="en-US" sz="2100">
                <a:solidFill>
                  <a:prstClr val="black"/>
                </a:solidFill>
                <a:latin typeface="等线" panose="02010600030101010101" pitchFamily="2" charset="-122"/>
                <a:ea typeface="等线" panose="02010600030101010101" pitchFamily="2" charset="-122"/>
              </a:endParaRPr>
            </a:p>
          </p:txBody>
        </p:sp>
      </p:grpSp>
      <p:sp>
        <p:nvSpPr>
          <p:cNvPr id="20" name="Rectangle 3"/>
          <p:cNvSpPr txBox="1">
            <a:spLocks noChangeArrowheads="1"/>
          </p:cNvSpPr>
          <p:nvPr/>
        </p:nvSpPr>
        <p:spPr>
          <a:xfrm>
            <a:off x="1690915" y="4848070"/>
            <a:ext cx="732974" cy="4618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a:spcBef>
                <a:spcPts val="750"/>
              </a:spcBef>
              <a:buNone/>
              <a:defRPr/>
            </a:pPr>
            <a:r>
              <a:rPr lang="zh-CN" altLang="en-US" sz="2100" dirty="0">
                <a:solidFill>
                  <a:srgbClr val="954F72"/>
                </a:solidFill>
                <a:latin typeface="黑体" panose="02010609060101010101" pitchFamily="49" charset="-122"/>
                <a:ea typeface="黑体" panose="02010609060101010101" pitchFamily="49" charset="-122"/>
              </a:rPr>
              <a:t>队首</a:t>
            </a:r>
            <a:endParaRPr lang="zh-CN" altLang="en-US" sz="2100" dirty="0">
              <a:solidFill>
                <a:srgbClr val="ED7D31"/>
              </a:solidFill>
              <a:latin typeface="黑体" panose="02010609060101010101" pitchFamily="49" charset="-122"/>
              <a:ea typeface="黑体" panose="02010609060101010101" pitchFamily="49" charset="-122"/>
            </a:endParaRPr>
          </a:p>
        </p:txBody>
      </p:sp>
      <p:sp>
        <p:nvSpPr>
          <p:cNvPr id="21" name="Rectangle 3"/>
          <p:cNvSpPr txBox="1">
            <a:spLocks noChangeArrowheads="1"/>
          </p:cNvSpPr>
          <p:nvPr/>
        </p:nvSpPr>
        <p:spPr>
          <a:xfrm>
            <a:off x="7406491" y="4926643"/>
            <a:ext cx="732974" cy="4618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a:spcBef>
                <a:spcPts val="750"/>
              </a:spcBef>
              <a:buNone/>
              <a:defRPr/>
            </a:pPr>
            <a:r>
              <a:rPr lang="zh-CN" altLang="en-US" sz="2100" dirty="0">
                <a:solidFill>
                  <a:srgbClr val="954F72"/>
                </a:solidFill>
                <a:latin typeface="黑体" panose="02010609060101010101" pitchFamily="49" charset="-122"/>
                <a:ea typeface="黑体" panose="02010609060101010101" pitchFamily="49" charset="-122"/>
              </a:rPr>
              <a:t>队尾</a:t>
            </a:r>
            <a:endParaRPr lang="zh-CN" altLang="en-US" sz="2100" dirty="0">
              <a:solidFill>
                <a:srgbClr val="ED7D31"/>
              </a:solidFill>
              <a:latin typeface="黑体" panose="02010609060101010101" pitchFamily="49" charset="-122"/>
              <a:ea typeface="黑体" panose="02010609060101010101" pitchFamily="49" charset="-122"/>
            </a:endParaRPr>
          </a:p>
        </p:txBody>
      </p:sp>
      <p:sp>
        <p:nvSpPr>
          <p:cNvPr id="2" name="矩形 1"/>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
        <p:nvSpPr>
          <p:cNvPr id="5" name="文本框 4"/>
          <p:cNvSpPr txBox="1"/>
          <p:nvPr/>
        </p:nvSpPr>
        <p:spPr>
          <a:xfrm>
            <a:off x="800899" y="5620435"/>
            <a:ext cx="7239048" cy="794320"/>
          </a:xfrm>
          <a:prstGeom prst="rect">
            <a:avLst/>
          </a:prstGeom>
          <a:noFill/>
        </p:spPr>
        <p:txBody>
          <a:bodyPr wrap="square">
            <a:spAutoFit/>
          </a:bodyPr>
          <a:lstStyle/>
          <a:p>
            <a:pPr>
              <a:lnSpc>
                <a:spcPct val="120000"/>
              </a:lnSpc>
            </a:pPr>
            <a:r>
              <a:rPr lang="zh-CN" altLang="en-US" sz="2000" b="1" kern="100" dirty="0">
                <a:effectLst/>
                <a:ea typeface="宋体" panose="02010600030101010101" pitchFamily="2" charset="-122"/>
                <a:cs typeface="Times New Roman" panose="02020603050405020304" pitchFamily="18" charset="0"/>
              </a:rPr>
              <a:t>队列的入队顺序和出队顺序</a:t>
            </a:r>
            <a:r>
              <a:rPr lang="zh-CN" altLang="en-US" sz="2000" b="1" kern="100" dirty="0">
                <a:solidFill>
                  <a:srgbClr val="FF0000"/>
                </a:solidFill>
                <a:effectLst/>
                <a:ea typeface="宋体" panose="02010600030101010101" pitchFamily="2" charset="-122"/>
                <a:cs typeface="Times New Roman" panose="02020603050405020304" pitchFamily="18" charset="0"/>
              </a:rPr>
              <a:t>相同</a:t>
            </a:r>
            <a:r>
              <a:rPr lang="zh-CN" altLang="en-US" sz="2000" b="1" kern="100" dirty="0">
                <a:effectLst/>
                <a:ea typeface="宋体" panose="02010600030101010101" pitchFamily="2" charset="-122"/>
                <a:cs typeface="Times New Roman" panose="02020603050405020304" pitchFamily="18" charset="0"/>
              </a:rPr>
              <a:t>。</a:t>
            </a:r>
            <a:r>
              <a:rPr lang="zh-CN" altLang="zh-CN" sz="2000" b="1" kern="100" dirty="0">
                <a:effectLst/>
                <a:ea typeface="宋体" panose="02010600030101010101" pitchFamily="2" charset="-122"/>
                <a:cs typeface="Times New Roman" panose="02020603050405020304" pitchFamily="18" charset="0"/>
              </a:rPr>
              <a:t>一个队列的入列序列是</a:t>
            </a:r>
            <a:r>
              <a:rPr lang="en-US" altLang="zh-CN" sz="2000" b="1" kern="100" dirty="0">
                <a:effectLst/>
                <a:ea typeface="宋体" panose="02010600030101010101" pitchFamily="2" charset="-122"/>
                <a:cs typeface="Times New Roman" panose="02020603050405020304" pitchFamily="18" charset="0"/>
              </a:rPr>
              <a:t>ABC</a:t>
            </a:r>
            <a:r>
              <a:rPr lang="zh-CN" altLang="zh-CN" sz="2000" b="1" kern="100" dirty="0">
                <a:effectLst/>
                <a:ea typeface="宋体" panose="02010600030101010101" pitchFamily="2" charset="-122"/>
                <a:cs typeface="Times New Roman" panose="02020603050405020304" pitchFamily="18" charset="0"/>
              </a:rPr>
              <a:t>，则队列的输出序列是</a:t>
            </a:r>
            <a:r>
              <a:rPr lang="en-US" altLang="zh-CN" sz="2000" b="1" kern="100" dirty="0">
                <a:effectLst/>
                <a:ea typeface="宋体" panose="02010600030101010101" pitchFamily="2" charset="-122"/>
                <a:cs typeface="Times New Roman" panose="02020603050405020304" pitchFamily="18" charset="0"/>
              </a:rPr>
              <a:t>ABC</a:t>
            </a:r>
            <a:r>
              <a:rPr lang="zh-CN" altLang="zh-CN" sz="2000" b="1" kern="100" dirty="0">
                <a:effectLst/>
                <a:ea typeface="宋体" panose="02010600030101010101" pitchFamily="2" charset="-122"/>
                <a:cs typeface="Times New Roman" panose="02020603050405020304" pitchFamily="18" charset="0"/>
              </a:rPr>
              <a:t>。</a:t>
            </a:r>
            <a:endParaRPr lang="zh-CN" altLang="en-US" sz="2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232811" y="2662409"/>
            <a:ext cx="5755819" cy="17496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a:spcBef>
                <a:spcPts val="750"/>
              </a:spcBef>
              <a:buNone/>
              <a:defRPr/>
            </a:pPr>
            <a:r>
              <a:rPr lang="zh-CN" altLang="en-US" sz="2100" b="1" dirty="0">
                <a:solidFill>
                  <a:prstClr val="black"/>
                </a:solidFill>
                <a:latin typeface="黑体" panose="02010609060101010101" pitchFamily="49" charset="-122"/>
                <a:ea typeface="等线" panose="02010600030101010101" pitchFamily="2" charset="-122"/>
              </a:rPr>
              <a:t>（</a:t>
            </a:r>
            <a:r>
              <a:rPr lang="en-US" altLang="zh-CN" sz="2100" b="1" dirty="0">
                <a:solidFill>
                  <a:prstClr val="black"/>
                </a:solidFill>
                <a:latin typeface="黑体" panose="02010609060101010101" pitchFamily="49" charset="-122"/>
                <a:ea typeface="等线" panose="02010600030101010101" pitchFamily="2" charset="-122"/>
              </a:rPr>
              <a:t>1</a:t>
            </a:r>
            <a:r>
              <a:rPr lang="zh-CN" altLang="en-US" sz="2100" b="1" dirty="0">
                <a:solidFill>
                  <a:prstClr val="black"/>
                </a:solidFill>
                <a:latin typeface="黑体" panose="02010609060101010101" pitchFamily="49" charset="-122"/>
                <a:ea typeface="等线" panose="02010600030101010101" pitchFamily="2" charset="-122"/>
              </a:rPr>
              <a:t>）设置一个空队列；</a:t>
            </a:r>
            <a:endParaRPr lang="zh-CN" altLang="en-US" sz="2100" b="1" dirty="0">
              <a:solidFill>
                <a:prstClr val="black"/>
              </a:solidFill>
              <a:latin typeface="黑体" panose="02010609060101010101" pitchFamily="49" charset="-122"/>
              <a:ea typeface="等线" panose="02010600030101010101" pitchFamily="2" charset="-122"/>
            </a:endParaRPr>
          </a:p>
          <a:p>
            <a:pPr marL="171450" indent="-171450" defTabSz="685800">
              <a:spcBef>
                <a:spcPts val="750"/>
              </a:spcBef>
              <a:buNone/>
              <a:defRPr/>
            </a:pPr>
            <a:r>
              <a:rPr lang="zh-CN" altLang="en-US" sz="2100" b="1" dirty="0">
                <a:solidFill>
                  <a:prstClr val="black"/>
                </a:solidFill>
                <a:latin typeface="黑体" panose="02010609060101010101" pitchFamily="49" charset="-122"/>
                <a:ea typeface="等线" panose="02010600030101010101" pitchFamily="2" charset="-122"/>
              </a:rPr>
              <a:t>（</a:t>
            </a:r>
            <a:r>
              <a:rPr lang="en-US" altLang="zh-CN" sz="2100" b="1" dirty="0">
                <a:solidFill>
                  <a:prstClr val="black"/>
                </a:solidFill>
                <a:latin typeface="黑体" panose="02010609060101010101" pitchFamily="49" charset="-122"/>
                <a:ea typeface="等线" panose="02010600030101010101" pitchFamily="2" charset="-122"/>
              </a:rPr>
              <a:t>2</a:t>
            </a:r>
            <a:r>
              <a:rPr lang="zh-CN" altLang="en-US" sz="2100" b="1" dirty="0">
                <a:solidFill>
                  <a:prstClr val="black"/>
                </a:solidFill>
                <a:latin typeface="黑体" panose="02010609060101010101" pitchFamily="49" charset="-122"/>
                <a:ea typeface="等线" panose="02010600030101010101" pitchFamily="2" charset="-122"/>
              </a:rPr>
              <a:t>）插入一个新的元素（队尾），称为入队；</a:t>
            </a:r>
            <a:endParaRPr lang="zh-CN" altLang="en-US" sz="2100" b="1" dirty="0">
              <a:solidFill>
                <a:prstClr val="black"/>
              </a:solidFill>
              <a:latin typeface="黑体" panose="02010609060101010101" pitchFamily="49" charset="-122"/>
              <a:ea typeface="等线" panose="02010600030101010101" pitchFamily="2" charset="-122"/>
            </a:endParaRPr>
          </a:p>
          <a:p>
            <a:pPr marL="171450" indent="-171450" defTabSz="685800">
              <a:spcBef>
                <a:spcPts val="750"/>
              </a:spcBef>
              <a:buNone/>
              <a:defRPr/>
            </a:pPr>
            <a:r>
              <a:rPr lang="zh-CN" altLang="en-US" sz="2100" b="1" dirty="0">
                <a:solidFill>
                  <a:prstClr val="black"/>
                </a:solidFill>
                <a:latin typeface="黑体" panose="02010609060101010101" pitchFamily="49" charset="-122"/>
                <a:ea typeface="等线" panose="02010600030101010101" pitchFamily="2" charset="-122"/>
              </a:rPr>
              <a:t>（</a:t>
            </a:r>
            <a:r>
              <a:rPr lang="en-US" altLang="zh-CN" sz="2100" b="1" dirty="0">
                <a:solidFill>
                  <a:prstClr val="black"/>
                </a:solidFill>
                <a:latin typeface="黑体" panose="02010609060101010101" pitchFamily="49" charset="-122"/>
                <a:ea typeface="等线" panose="02010600030101010101" pitchFamily="2" charset="-122"/>
              </a:rPr>
              <a:t>3</a:t>
            </a:r>
            <a:r>
              <a:rPr lang="zh-CN" altLang="en-US" sz="2100" b="1" dirty="0">
                <a:solidFill>
                  <a:prstClr val="black"/>
                </a:solidFill>
                <a:latin typeface="黑体" panose="02010609060101010101" pitchFamily="49" charset="-122"/>
                <a:ea typeface="等线" panose="02010600030101010101" pitchFamily="2" charset="-122"/>
              </a:rPr>
              <a:t>）删除一个元素（队首），称为出队；</a:t>
            </a:r>
            <a:endParaRPr lang="zh-CN" altLang="en-US" sz="2100" b="1" dirty="0">
              <a:solidFill>
                <a:prstClr val="black"/>
              </a:solidFill>
              <a:latin typeface="黑体" panose="02010609060101010101" pitchFamily="49" charset="-122"/>
              <a:ea typeface="等线" panose="02010600030101010101" pitchFamily="2" charset="-122"/>
            </a:endParaRPr>
          </a:p>
          <a:p>
            <a:pPr marL="171450" indent="-171450" defTabSz="685800">
              <a:spcBef>
                <a:spcPts val="750"/>
              </a:spcBef>
              <a:buNone/>
              <a:defRPr/>
            </a:pPr>
            <a:r>
              <a:rPr lang="zh-CN" altLang="en-US" sz="2100" b="1" dirty="0">
                <a:solidFill>
                  <a:prstClr val="black"/>
                </a:solidFill>
                <a:latin typeface="黑体" panose="02010609060101010101" pitchFamily="49" charset="-122"/>
                <a:ea typeface="等线" panose="02010600030101010101" pitchFamily="2" charset="-122"/>
              </a:rPr>
              <a:t>（</a:t>
            </a:r>
            <a:r>
              <a:rPr lang="en-US" altLang="zh-CN" sz="2100" b="1" dirty="0">
                <a:solidFill>
                  <a:prstClr val="black"/>
                </a:solidFill>
                <a:latin typeface="黑体" panose="02010609060101010101" pitchFamily="49" charset="-122"/>
                <a:ea typeface="等线" panose="02010600030101010101" pitchFamily="2" charset="-122"/>
              </a:rPr>
              <a:t>4</a:t>
            </a:r>
            <a:r>
              <a:rPr lang="zh-CN" altLang="en-US" sz="2100" b="1" dirty="0">
                <a:solidFill>
                  <a:prstClr val="black"/>
                </a:solidFill>
                <a:latin typeface="黑体" panose="02010609060101010101" pitchFamily="49" charset="-122"/>
                <a:ea typeface="等线" panose="02010600030101010101" pitchFamily="2" charset="-122"/>
              </a:rPr>
              <a:t>）读取队首元素；</a:t>
            </a:r>
            <a:endParaRPr lang="zh-CN" altLang="en-US" sz="2100" b="1" dirty="0">
              <a:solidFill>
                <a:prstClr val="black"/>
              </a:solidFill>
              <a:latin typeface="黑体" panose="02010609060101010101" pitchFamily="49" charset="-122"/>
              <a:ea typeface="等线" panose="02010600030101010101" pitchFamily="2" charset="-122"/>
            </a:endParaRPr>
          </a:p>
        </p:txBody>
      </p:sp>
      <p:sp>
        <p:nvSpPr>
          <p:cNvPr id="6" name="AutoShape 23"/>
          <p:cNvSpPr>
            <a:spLocks noChangeArrowheads="1"/>
          </p:cNvSpPr>
          <p:nvPr/>
        </p:nvSpPr>
        <p:spPr bwMode="auto">
          <a:xfrm>
            <a:off x="318673" y="1829823"/>
            <a:ext cx="2249264" cy="573286"/>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defTabSz="685800">
              <a:buClr>
                <a:srgbClr val="0563C1"/>
              </a:buClr>
              <a:buSzPct val="75000"/>
              <a:defRPr/>
            </a:pPr>
            <a:r>
              <a:rPr lang="zh-CN" altLang="en-US" sz="24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队的基本操作</a:t>
            </a:r>
            <a:endParaRPr lang="zh-CN" altLang="en-US" sz="24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4" name="矩形 3"/>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64344" y="2212181"/>
            <a:ext cx="8286803" cy="15209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685800">
              <a:lnSpc>
                <a:spcPct val="150000"/>
              </a:lnSpc>
              <a:spcBef>
                <a:spcPts val="0"/>
              </a:spcBef>
              <a:buNone/>
              <a:defRPr/>
            </a:pPr>
            <a:r>
              <a:rPr lang="zh-CN" altLang="en-US" sz="2100" b="1" dirty="0">
                <a:solidFill>
                  <a:prstClr val="black"/>
                </a:solidFill>
                <a:latin typeface="等线" panose="02010600030101010101" pitchFamily="2" charset="-122"/>
                <a:ea typeface="等线" panose="02010600030101010101" pitchFamily="2" charset="-122"/>
              </a:rPr>
              <a:t>用一组地址连续的存储单元依次存放从队列头到队列尾的元素，如一维数组</a:t>
            </a:r>
            <a:r>
              <a:rPr lang="en-US" altLang="zh-CN" sz="2100" b="1" dirty="0">
                <a:solidFill>
                  <a:prstClr val="black"/>
                </a:solidFill>
                <a:latin typeface="等线" panose="02010600030101010101" pitchFamily="2" charset="-122"/>
                <a:ea typeface="等线" panose="02010600030101010101" pitchFamily="2" charset="-122"/>
              </a:rPr>
              <a:t>a[</a:t>
            </a:r>
            <a:r>
              <a:rPr lang="en-US" altLang="zh-CN" sz="2100" b="1" dirty="0" err="1">
                <a:solidFill>
                  <a:prstClr val="black"/>
                </a:solidFill>
                <a:latin typeface="等线" panose="02010600030101010101" pitchFamily="2" charset="-122"/>
                <a:ea typeface="等线" panose="02010600030101010101" pitchFamily="2" charset="-122"/>
              </a:rPr>
              <a:t>QSize</a:t>
            </a:r>
            <a:r>
              <a:rPr lang="en-US" altLang="zh-CN" sz="2100" b="1" dirty="0">
                <a:solidFill>
                  <a:prstClr val="black"/>
                </a:solidFill>
                <a:latin typeface="等线" panose="02010600030101010101" pitchFamily="2" charset="-122"/>
                <a:ea typeface="等线" panose="02010600030101010101" pitchFamily="2" charset="-122"/>
              </a:rPr>
              <a:t>]</a:t>
            </a:r>
            <a:r>
              <a:rPr lang="zh-CN" altLang="en-US" sz="2100" b="1" dirty="0">
                <a:solidFill>
                  <a:prstClr val="black"/>
                </a:solidFill>
                <a:latin typeface="等线" panose="02010600030101010101" pitchFamily="2" charset="-122"/>
                <a:ea typeface="等线" panose="02010600030101010101" pitchFamily="2" charset="-122"/>
              </a:rPr>
              <a:t>，指针</a:t>
            </a:r>
            <a:r>
              <a:rPr lang="en-US" altLang="zh-CN" sz="2100" b="1" dirty="0">
                <a:solidFill>
                  <a:prstClr val="black"/>
                </a:solidFill>
                <a:latin typeface="等线" panose="02010600030101010101" pitchFamily="2" charset="-122"/>
                <a:ea typeface="等线" panose="02010600030101010101" pitchFamily="2" charset="-122"/>
              </a:rPr>
              <a:t>front</a:t>
            </a:r>
            <a:r>
              <a:rPr lang="zh-CN" altLang="en-US" sz="2100" b="1" dirty="0">
                <a:solidFill>
                  <a:prstClr val="black"/>
                </a:solidFill>
                <a:latin typeface="等线" panose="02010600030101010101" pitchFamily="2" charset="-122"/>
                <a:ea typeface="等线" panose="02010600030101010101" pitchFamily="2" charset="-122"/>
              </a:rPr>
              <a:t>和</a:t>
            </a:r>
            <a:r>
              <a:rPr lang="en-US" altLang="zh-CN" sz="2100" b="1" dirty="0">
                <a:solidFill>
                  <a:prstClr val="black"/>
                </a:solidFill>
                <a:latin typeface="等线" panose="02010600030101010101" pitchFamily="2" charset="-122"/>
                <a:ea typeface="等线" panose="02010600030101010101" pitchFamily="2" charset="-122"/>
              </a:rPr>
              <a:t>rear</a:t>
            </a:r>
            <a:r>
              <a:rPr lang="zh-CN" altLang="en-US" sz="2100" b="1" dirty="0">
                <a:solidFill>
                  <a:prstClr val="black"/>
                </a:solidFill>
                <a:latin typeface="等线" panose="02010600030101010101" pitchFamily="2" charset="-122"/>
                <a:ea typeface="等线" panose="02010600030101010101" pitchFamily="2" charset="-122"/>
              </a:rPr>
              <a:t>分别指示队头元素和队尾元素的位置。</a:t>
            </a:r>
            <a:endParaRPr lang="zh-CN" altLang="en-US" sz="2100" b="1" dirty="0">
              <a:solidFill>
                <a:prstClr val="black"/>
              </a:solidFill>
              <a:latin typeface="等线" panose="02010600030101010101" pitchFamily="2" charset="-122"/>
              <a:ea typeface="等线" panose="02010600030101010101" pitchFamily="2" charset="-122"/>
            </a:endParaRPr>
          </a:p>
          <a:p>
            <a:pPr marL="171450" indent="-171450" algn="just" defTabSz="685800">
              <a:lnSpc>
                <a:spcPct val="105000"/>
              </a:lnSpc>
              <a:spcBef>
                <a:spcPct val="0"/>
              </a:spcBef>
              <a:buSzPct val="50000"/>
              <a:buFont typeface="Wingdings" panose="05000000000000000000" pitchFamily="2" charset="2"/>
              <a:buChar char="§"/>
              <a:defRPr/>
            </a:pP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3" name="AutoShape 23"/>
          <p:cNvSpPr>
            <a:spLocks noChangeArrowheads="1"/>
          </p:cNvSpPr>
          <p:nvPr/>
        </p:nvSpPr>
        <p:spPr bwMode="auto">
          <a:xfrm>
            <a:off x="193702" y="1575385"/>
            <a:ext cx="2149448" cy="573286"/>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defTabSz="685800">
              <a:buClr>
                <a:srgbClr val="0563C1"/>
              </a:buClr>
              <a:buSzPct val="75000"/>
              <a:defRPr/>
            </a:pPr>
            <a:r>
              <a:rPr lang="zh-CN" altLang="en-US" sz="24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队的顺序存储</a:t>
            </a:r>
            <a:endParaRPr lang="zh-CN" altLang="en-US" sz="24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graphicFrame>
        <p:nvGraphicFramePr>
          <p:cNvPr id="4" name="表格 3"/>
          <p:cNvGraphicFramePr>
            <a:graphicFrameLocks noGrp="1"/>
          </p:cNvGraphicFramePr>
          <p:nvPr/>
        </p:nvGraphicFramePr>
        <p:xfrm>
          <a:off x="1383563" y="4366682"/>
          <a:ext cx="6734180" cy="698501"/>
        </p:xfrm>
        <a:graphic>
          <a:graphicData uri="http://schemas.openxmlformats.org/drawingml/2006/table">
            <a:tbl>
              <a:tblPr firstRow="1" bandRow="1">
                <a:tableStyleId>{5940675A-B579-460E-94D1-54222C63F5DA}</a:tableStyleId>
              </a:tblPr>
              <a:tblGrid>
                <a:gridCol w="673418"/>
                <a:gridCol w="673418"/>
                <a:gridCol w="673418"/>
                <a:gridCol w="673418"/>
                <a:gridCol w="673418"/>
                <a:gridCol w="673418"/>
                <a:gridCol w="673418"/>
                <a:gridCol w="673418"/>
                <a:gridCol w="673418"/>
                <a:gridCol w="673418"/>
              </a:tblGrid>
              <a:tr h="698501">
                <a:tc>
                  <a:txBody>
                    <a:bodyPr/>
                    <a:lstStyle/>
                    <a:p>
                      <a:pPr algn="ctr"/>
                      <a:r>
                        <a:rPr lang="en-US" altLang="zh-CN" sz="2100" dirty="0"/>
                        <a:t>12</a:t>
                      </a:r>
                      <a:endParaRPr lang="zh-CN" altLang="en-US" sz="2100" dirty="0"/>
                    </a:p>
                  </a:txBody>
                  <a:tcPr marL="68580" marR="68580" marT="34290" marB="34290" anchor="ctr"/>
                </a:tc>
                <a:tc>
                  <a:txBody>
                    <a:bodyPr/>
                    <a:lstStyle/>
                    <a:p>
                      <a:pPr algn="ctr"/>
                      <a:r>
                        <a:rPr lang="en-US" altLang="zh-CN" sz="2100" dirty="0"/>
                        <a:t>42</a:t>
                      </a:r>
                      <a:endParaRPr lang="zh-CN" altLang="en-US" sz="2100" dirty="0"/>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dirty="0"/>
                        <a:t>26</a:t>
                      </a:r>
                      <a:endParaRPr lang="zh-CN" altLang="en-US" sz="2100" dirty="0"/>
                    </a:p>
                  </a:txBody>
                  <a:tcPr marL="68580" marR="68580" marT="34290" marB="34290" anchor="ctr"/>
                </a:tc>
                <a:tc>
                  <a:txBody>
                    <a:bodyPr/>
                    <a:lstStyle/>
                    <a:p>
                      <a:pPr algn="ctr"/>
                      <a:r>
                        <a:rPr lang="en-US" altLang="zh-CN" sz="2100" dirty="0"/>
                        <a:t>74</a:t>
                      </a:r>
                      <a:endParaRPr lang="zh-CN" altLang="en-US" sz="2100" dirty="0"/>
                    </a:p>
                  </a:txBody>
                  <a:tcPr marL="68580" marR="68580" marT="34290" marB="34290" anchor="ctr"/>
                </a:tc>
                <a:tc>
                  <a:txBody>
                    <a:bodyPr/>
                    <a:lstStyle/>
                    <a:p>
                      <a:pPr algn="ctr"/>
                      <a:r>
                        <a:rPr lang="en-US" altLang="zh-CN" sz="2100" dirty="0"/>
                        <a:t>63</a:t>
                      </a:r>
                      <a:endParaRPr lang="zh-CN" altLang="en-US" sz="2100" dirty="0"/>
                    </a:p>
                  </a:txBody>
                  <a:tcPr marL="68580" marR="68580" marT="34290" marB="34290" anchor="ctr"/>
                </a:tc>
                <a:tc>
                  <a:txBody>
                    <a:bodyPr/>
                    <a:lstStyle/>
                    <a:p>
                      <a:pPr algn="ctr"/>
                      <a:endParaRPr lang="zh-CN" altLang="en-US" sz="2100"/>
                    </a:p>
                  </a:txBody>
                  <a:tcPr marL="68580" marR="68580" marT="34290" marB="34290" anchor="ctr"/>
                </a:tc>
                <a:tc>
                  <a:txBody>
                    <a:bodyPr/>
                    <a:lstStyle/>
                    <a:p>
                      <a:pPr algn="ctr"/>
                      <a:endParaRPr lang="zh-CN" altLang="en-US" sz="2100"/>
                    </a:p>
                  </a:txBody>
                  <a:tcPr marL="68580" marR="68580" marT="34290" marB="34290" anchor="ctr"/>
                </a:tc>
                <a:tc>
                  <a:txBody>
                    <a:bodyPr/>
                    <a:lstStyle/>
                    <a:p>
                      <a:pPr algn="ctr"/>
                      <a:endParaRPr lang="zh-CN" altLang="en-US" sz="2100"/>
                    </a:p>
                  </a:txBody>
                  <a:tcPr marL="68580" marR="68580" marT="34290" marB="34290" anchor="ctr"/>
                </a:tc>
                <a:tc>
                  <a:txBody>
                    <a:bodyPr/>
                    <a:lstStyle/>
                    <a:p>
                      <a:pPr algn="ctr"/>
                      <a:endParaRPr lang="zh-CN" altLang="en-US" sz="2100" dirty="0"/>
                    </a:p>
                  </a:txBody>
                  <a:tcPr marL="68580" marR="68580" marT="34290" marB="34290" anchor="ctr"/>
                </a:tc>
              </a:tr>
            </a:tbl>
          </a:graphicData>
        </a:graphic>
      </p:graphicFrame>
      <p:graphicFrame>
        <p:nvGraphicFramePr>
          <p:cNvPr id="5" name="表格 4"/>
          <p:cNvGraphicFramePr>
            <a:graphicFrameLocks noGrp="1"/>
          </p:cNvGraphicFramePr>
          <p:nvPr/>
        </p:nvGraphicFramePr>
        <p:xfrm>
          <a:off x="1383563" y="3988859"/>
          <a:ext cx="6734180" cy="388620"/>
        </p:xfrm>
        <a:graphic>
          <a:graphicData uri="http://schemas.openxmlformats.org/drawingml/2006/table">
            <a:tbl>
              <a:tblPr firstRow="1" bandRow="1">
                <a:tableStyleId>{2D5ABB26-0587-4C30-8999-92F81FD0307C}</a:tableStyleId>
              </a:tblPr>
              <a:tblGrid>
                <a:gridCol w="673418"/>
                <a:gridCol w="673418"/>
                <a:gridCol w="673418"/>
                <a:gridCol w="673418"/>
                <a:gridCol w="673418"/>
                <a:gridCol w="673418"/>
                <a:gridCol w="673418"/>
                <a:gridCol w="673418"/>
                <a:gridCol w="673418"/>
                <a:gridCol w="673418"/>
              </a:tblGrid>
              <a:tr h="388620">
                <a:tc>
                  <a:txBody>
                    <a:bodyPr/>
                    <a:lstStyle/>
                    <a:p>
                      <a:pPr algn="ctr"/>
                      <a:r>
                        <a:rPr lang="en-US" altLang="zh-CN" sz="2100" dirty="0"/>
                        <a:t>0</a:t>
                      </a:r>
                      <a:endParaRPr lang="zh-CN" altLang="en-US" sz="2100" dirty="0"/>
                    </a:p>
                  </a:txBody>
                  <a:tcPr marL="68580" marR="68580" marT="34290" marB="34290"/>
                </a:tc>
                <a:tc>
                  <a:txBody>
                    <a:bodyPr/>
                    <a:lstStyle/>
                    <a:p>
                      <a:pPr algn="ctr"/>
                      <a:r>
                        <a:rPr lang="en-US" altLang="zh-CN" sz="2100" dirty="0"/>
                        <a:t>1</a:t>
                      </a:r>
                      <a:endParaRPr lang="zh-CN" altLang="en-US" sz="2100" dirty="0"/>
                    </a:p>
                  </a:txBody>
                  <a:tcPr marL="68580" marR="68580" marT="34290" marB="34290"/>
                </a:tc>
                <a:tc>
                  <a:txBody>
                    <a:bodyPr/>
                    <a:lstStyle/>
                    <a:p>
                      <a:pPr algn="ctr"/>
                      <a:r>
                        <a:rPr lang="en-US" altLang="zh-CN" sz="2100" dirty="0"/>
                        <a:t>2</a:t>
                      </a:r>
                      <a:endParaRPr lang="zh-CN" altLang="en-US" sz="2100" dirty="0"/>
                    </a:p>
                  </a:txBody>
                  <a:tcPr marL="68580" marR="68580" marT="34290" marB="34290"/>
                </a:tc>
                <a:tc>
                  <a:txBody>
                    <a:bodyPr/>
                    <a:lstStyle/>
                    <a:p>
                      <a:pPr algn="ctr"/>
                      <a:r>
                        <a:rPr lang="en-US" altLang="zh-CN" sz="2100" dirty="0"/>
                        <a:t>3</a:t>
                      </a:r>
                      <a:endParaRPr lang="zh-CN" altLang="en-US" sz="2100" dirty="0"/>
                    </a:p>
                  </a:txBody>
                  <a:tcPr marL="68580" marR="68580" marT="34290" marB="34290"/>
                </a:tc>
                <a:tc>
                  <a:txBody>
                    <a:bodyPr/>
                    <a:lstStyle/>
                    <a:p>
                      <a:pPr algn="ctr"/>
                      <a:r>
                        <a:rPr lang="en-US" altLang="zh-CN" sz="2100" dirty="0"/>
                        <a:t>4</a:t>
                      </a:r>
                      <a:endParaRPr lang="zh-CN" altLang="en-US" sz="2100" dirty="0"/>
                    </a:p>
                  </a:txBody>
                  <a:tcPr marL="68580" marR="68580" marT="34290" marB="34290"/>
                </a:tc>
                <a:tc>
                  <a:txBody>
                    <a:bodyPr/>
                    <a:lstStyle/>
                    <a:p>
                      <a:pPr algn="ctr"/>
                      <a:r>
                        <a:rPr lang="en-US" altLang="zh-CN" sz="2100" dirty="0"/>
                        <a:t>5</a:t>
                      </a:r>
                      <a:endParaRPr lang="zh-CN" altLang="en-US" sz="2100" dirty="0"/>
                    </a:p>
                  </a:txBody>
                  <a:tcPr marL="68580" marR="68580" marT="34290" marB="34290"/>
                </a:tc>
                <a:tc>
                  <a:txBody>
                    <a:bodyPr/>
                    <a:lstStyle/>
                    <a:p>
                      <a:pPr algn="ctr"/>
                      <a:r>
                        <a:rPr lang="en-US" altLang="zh-CN" sz="2100" dirty="0"/>
                        <a:t>6</a:t>
                      </a:r>
                      <a:endParaRPr lang="zh-CN" altLang="en-US" sz="2100" dirty="0"/>
                    </a:p>
                  </a:txBody>
                  <a:tcPr marL="68580" marR="68580" marT="34290" marB="34290"/>
                </a:tc>
                <a:tc>
                  <a:txBody>
                    <a:bodyPr/>
                    <a:lstStyle/>
                    <a:p>
                      <a:pPr algn="ctr"/>
                      <a:r>
                        <a:rPr lang="en-US" altLang="zh-CN" sz="2100" dirty="0"/>
                        <a:t>7</a:t>
                      </a:r>
                      <a:endParaRPr lang="zh-CN" altLang="en-US" sz="2100" dirty="0"/>
                    </a:p>
                  </a:txBody>
                  <a:tcPr marL="68580" marR="68580" marT="34290" marB="34290"/>
                </a:tc>
                <a:tc>
                  <a:txBody>
                    <a:bodyPr/>
                    <a:lstStyle/>
                    <a:p>
                      <a:pPr algn="ctr"/>
                      <a:r>
                        <a:rPr lang="en-US" altLang="zh-CN" sz="2100" dirty="0"/>
                        <a:t>8</a:t>
                      </a:r>
                      <a:endParaRPr lang="zh-CN" altLang="en-US" sz="2100" dirty="0"/>
                    </a:p>
                  </a:txBody>
                  <a:tcPr marL="68580" marR="68580" marT="34290" marB="34290"/>
                </a:tc>
                <a:tc>
                  <a:txBody>
                    <a:bodyPr/>
                    <a:lstStyle/>
                    <a:p>
                      <a:pPr algn="ctr"/>
                      <a:r>
                        <a:rPr lang="en-US" altLang="zh-CN" sz="2100" dirty="0"/>
                        <a:t>9</a:t>
                      </a:r>
                      <a:endParaRPr lang="zh-CN" altLang="en-US" sz="2100" dirty="0"/>
                    </a:p>
                  </a:txBody>
                  <a:tcPr marL="68580" marR="68580" marT="34290" marB="34290"/>
                </a:tc>
              </a:tr>
            </a:tbl>
          </a:graphicData>
        </a:graphic>
      </p:graphicFrame>
      <p:cxnSp>
        <p:nvCxnSpPr>
          <p:cNvPr id="8" name="直接箭头连接符 7"/>
          <p:cNvCxnSpPr/>
          <p:nvPr/>
        </p:nvCxnSpPr>
        <p:spPr>
          <a:xfrm flipV="1">
            <a:off x="1712175" y="5065183"/>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5772153" y="5065183"/>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3"/>
          <p:cNvSpPr txBox="1">
            <a:spLocks noChangeArrowheads="1"/>
          </p:cNvSpPr>
          <p:nvPr/>
        </p:nvSpPr>
        <p:spPr>
          <a:xfrm>
            <a:off x="1383563" y="5548106"/>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front</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1" name="Rectangle 3"/>
          <p:cNvSpPr txBox="1">
            <a:spLocks noChangeArrowheads="1"/>
          </p:cNvSpPr>
          <p:nvPr/>
        </p:nvSpPr>
        <p:spPr>
          <a:xfrm>
            <a:off x="5408432" y="5470846"/>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rear</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2" name="矩形 11"/>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
        <p:nvSpPr>
          <p:cNvPr id="6" name="矩形 5"/>
          <p:cNvSpPr/>
          <p:nvPr/>
        </p:nvSpPr>
        <p:spPr>
          <a:xfrm>
            <a:off x="464344" y="4499091"/>
            <a:ext cx="803425" cy="415498"/>
          </a:xfrm>
          <a:prstGeom prst="rect">
            <a:avLst/>
          </a:prstGeom>
        </p:spPr>
        <p:txBody>
          <a:bodyPr wrap="none">
            <a:spAutoFit/>
          </a:bodyPr>
          <a:lstStyle/>
          <a:p>
            <a:r>
              <a:rPr lang="en-US" altLang="zh-CN" sz="2100" b="1" dirty="0">
                <a:solidFill>
                  <a:prstClr val="black"/>
                </a:solidFill>
                <a:latin typeface="等线" panose="02010600030101010101" pitchFamily="2" charset="-122"/>
                <a:ea typeface="等线" panose="02010600030101010101" pitchFamily="2" charset="-122"/>
              </a:rPr>
              <a:t>a[10]</a:t>
            </a:r>
            <a:endParaRPr lang="zh-CN" altLang="en-US" sz="21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15504" y="1535638"/>
            <a:ext cx="8524875" cy="2516073"/>
          </a:xfrm>
          <a:prstGeom prst="rect">
            <a:avLst/>
          </a:prstGeom>
        </p:spPr>
        <p:txBody>
          <a:bodyPr wrap="square">
            <a:spAutoFit/>
          </a:bodyPr>
          <a:lstStyle/>
          <a:p>
            <a:pPr defTabSz="685800" eaLnBrk="0" hangingPunct="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队空：令</a:t>
            </a:r>
            <a:r>
              <a:rPr kumimoji="1" lang="en-US" altLang="zh-CN" sz="2100" b="1" dirty="0">
                <a:solidFill>
                  <a:prstClr val="black"/>
                </a:solidFill>
                <a:latin typeface="黑体" panose="02010609060101010101" pitchFamily="49" charset="-122"/>
                <a:ea typeface="黑体" panose="02010609060101010101" pitchFamily="49" charset="-122"/>
              </a:rPr>
              <a:t>rear=front=0</a:t>
            </a:r>
            <a:r>
              <a:rPr kumimoji="1" lang="zh-CN" altLang="en-US" sz="2100" b="1" dirty="0">
                <a:solidFill>
                  <a:prstClr val="black"/>
                </a:solidFill>
                <a:latin typeface="黑体" panose="02010609060101010101" pitchFamily="49" charset="-122"/>
                <a:ea typeface="黑体" panose="02010609060101010101" pitchFamily="49" charset="-122"/>
              </a:rPr>
              <a:t>；</a:t>
            </a:r>
            <a:endParaRPr kumimoji="1" lang="en-US" altLang="zh-CN" sz="2100" b="1" dirty="0">
              <a:solidFill>
                <a:prstClr val="black"/>
              </a:solidFill>
              <a:latin typeface="黑体" panose="02010609060101010101" pitchFamily="49" charset="-122"/>
              <a:ea typeface="黑体" panose="02010609060101010101" pitchFamily="49" charset="-122"/>
            </a:endParaRPr>
          </a:p>
          <a:p>
            <a:pPr defTabSz="685800" eaLnBrk="0" hangingPunct="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元素入队：</a:t>
            </a:r>
            <a:r>
              <a:rPr lang="en-US" altLang="zh-CN" sz="2100" b="1" dirty="0">
                <a:solidFill>
                  <a:prstClr val="black"/>
                </a:solidFill>
                <a:latin typeface="黑体" panose="02010609060101010101" pitchFamily="49" charset="-122"/>
                <a:ea typeface="黑体" panose="02010609060101010101" pitchFamily="49" charset="-122"/>
              </a:rPr>
              <a:t>a[rear]=m; rear=rear+1;</a:t>
            </a:r>
            <a:endParaRPr lang="en-US" altLang="zh-CN" sz="2100" b="1" dirty="0">
              <a:solidFill>
                <a:prstClr val="black"/>
              </a:solidFill>
              <a:latin typeface="黑体" panose="02010609060101010101" pitchFamily="49" charset="-122"/>
              <a:ea typeface="黑体" panose="02010609060101010101" pitchFamily="49" charset="-122"/>
            </a:endParaRPr>
          </a:p>
          <a:p>
            <a:pPr defTabSz="685800" eaLnBrk="0" hangingPunct="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元素出队：</a:t>
            </a:r>
            <a:r>
              <a:rPr lang="en-US" altLang="zh-CN" sz="2100" b="1" dirty="0">
                <a:solidFill>
                  <a:prstClr val="black"/>
                </a:solidFill>
                <a:latin typeface="黑体" panose="02010609060101010101" pitchFamily="49" charset="-122"/>
                <a:ea typeface="黑体" panose="02010609060101010101" pitchFamily="49" charset="-122"/>
              </a:rPr>
              <a:t>m=a[front]; front=front+1;</a:t>
            </a:r>
            <a:r>
              <a:rPr lang="zh-CN" altLang="en-US" sz="2100" b="1" dirty="0">
                <a:solidFill>
                  <a:prstClr val="black"/>
                </a:solidFill>
                <a:latin typeface="黑体" panose="02010609060101010101" pitchFamily="49" charset="-122"/>
                <a:ea typeface="黑体" panose="02010609060101010101" pitchFamily="49" charset="-122"/>
              </a:rPr>
              <a:t> </a:t>
            </a:r>
            <a:endParaRPr lang="en-US" altLang="zh-CN" sz="2100" b="1" dirty="0">
              <a:solidFill>
                <a:prstClr val="black"/>
              </a:solidFill>
              <a:latin typeface="黑体" panose="02010609060101010101" pitchFamily="49" charset="-122"/>
              <a:ea typeface="黑体" panose="02010609060101010101" pitchFamily="49" charset="-122"/>
            </a:endParaRPr>
          </a:p>
          <a:p>
            <a:pPr defTabSz="685800" eaLnBrk="0" hangingPunct="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故在非空队列中，</a:t>
            </a:r>
            <a:r>
              <a:rPr lang="zh-CN" altLang="en-US" sz="2100" b="1" dirty="0">
                <a:solidFill>
                  <a:srgbClr val="FF3300"/>
                </a:solidFill>
                <a:latin typeface="黑体" panose="02010609060101010101" pitchFamily="49" charset="-122"/>
                <a:ea typeface="黑体" panose="02010609060101010101" pitchFamily="49" charset="-122"/>
              </a:rPr>
              <a:t>头指针</a:t>
            </a:r>
            <a:r>
              <a:rPr lang="zh-CN" altLang="en-US" sz="2100" b="1" dirty="0">
                <a:solidFill>
                  <a:prstClr val="black"/>
                </a:solidFill>
                <a:latin typeface="黑体" panose="02010609060101010101" pitchFamily="49" charset="-122"/>
                <a:ea typeface="黑体" panose="02010609060101010101" pitchFamily="49" charset="-122"/>
              </a:rPr>
              <a:t>始终指向</a:t>
            </a:r>
            <a:r>
              <a:rPr lang="zh-CN" altLang="en-US" sz="2100" b="1" dirty="0">
                <a:latin typeface="黑体" panose="02010609060101010101" pitchFamily="49" charset="-122"/>
                <a:ea typeface="黑体" panose="02010609060101010101" pitchFamily="49" charset="-122"/>
              </a:rPr>
              <a:t>队头元素位置（</a:t>
            </a:r>
            <a:r>
              <a:rPr lang="zh-CN" altLang="en-US" sz="2100" b="1" dirty="0">
                <a:solidFill>
                  <a:srgbClr val="FF0000"/>
                </a:solidFill>
                <a:latin typeface="黑体" panose="02010609060101010101" pitchFamily="49" charset="-122"/>
                <a:ea typeface="黑体" panose="02010609060101010101" pitchFamily="49" charset="-122"/>
              </a:rPr>
              <a:t>待出队元素位置</a:t>
            </a:r>
            <a:r>
              <a:rPr lang="zh-CN" altLang="en-US" sz="2100" b="1" dirty="0">
                <a:latin typeface="黑体" panose="02010609060101010101" pitchFamily="49" charset="-122"/>
                <a:ea typeface="黑体" panose="02010609060101010101" pitchFamily="49" charset="-122"/>
              </a:rPr>
              <a:t>）</a:t>
            </a:r>
            <a:r>
              <a:rPr lang="zh-CN" altLang="en-US" sz="2100" b="1" dirty="0">
                <a:solidFill>
                  <a:prstClr val="black"/>
                </a:solidFill>
                <a:latin typeface="黑体" panose="02010609060101010101" pitchFamily="49" charset="-122"/>
                <a:ea typeface="黑体" panose="02010609060101010101" pitchFamily="49" charset="-122"/>
              </a:rPr>
              <a:t>，而</a:t>
            </a:r>
            <a:r>
              <a:rPr lang="zh-CN" altLang="en-US" sz="2100" b="1" dirty="0">
                <a:solidFill>
                  <a:srgbClr val="FF3300"/>
                </a:solidFill>
                <a:latin typeface="黑体" panose="02010609060101010101" pitchFamily="49" charset="-122"/>
                <a:ea typeface="黑体" panose="02010609060101010101" pitchFamily="49" charset="-122"/>
              </a:rPr>
              <a:t>尾指针</a:t>
            </a:r>
            <a:r>
              <a:rPr lang="zh-CN" altLang="en-US" sz="2100" b="1" dirty="0">
                <a:solidFill>
                  <a:prstClr val="black"/>
                </a:solidFill>
                <a:latin typeface="黑体" panose="02010609060101010101" pitchFamily="49" charset="-122"/>
                <a:ea typeface="黑体" panose="02010609060101010101" pitchFamily="49" charset="-122"/>
              </a:rPr>
              <a:t>始终指向</a:t>
            </a:r>
            <a:r>
              <a:rPr lang="zh-CN" altLang="en-US" sz="2100" b="1" dirty="0">
                <a:latin typeface="黑体" panose="02010609060101010101" pitchFamily="49" charset="-122"/>
                <a:ea typeface="黑体" panose="02010609060101010101" pitchFamily="49" charset="-122"/>
              </a:rPr>
              <a:t>队尾元素的后一个位置，即</a:t>
            </a:r>
            <a:r>
              <a:rPr lang="zh-CN" altLang="en-US" sz="2100" b="1" dirty="0">
                <a:solidFill>
                  <a:srgbClr val="FF3300"/>
                </a:solidFill>
                <a:latin typeface="黑体" panose="02010609060101010101" pitchFamily="49" charset="-122"/>
                <a:ea typeface="黑体" panose="02010609060101010101" pitchFamily="49" charset="-122"/>
              </a:rPr>
              <a:t>待入队元素的位置</a:t>
            </a:r>
            <a:endParaRPr lang="zh-CN" altLang="en-US" sz="2100" dirty="0">
              <a:solidFill>
                <a:prstClr val="black"/>
              </a:solidFill>
              <a:latin typeface="等线" panose="02010600030101010101" pitchFamily="2" charset="-122"/>
              <a:ea typeface="等线" panose="02010600030101010101" pitchFamily="2" charset="-122"/>
            </a:endParaRPr>
          </a:p>
        </p:txBody>
      </p:sp>
      <p:graphicFrame>
        <p:nvGraphicFramePr>
          <p:cNvPr id="7" name="表格 6"/>
          <p:cNvGraphicFramePr>
            <a:graphicFrameLocks noGrp="1"/>
          </p:cNvGraphicFramePr>
          <p:nvPr/>
        </p:nvGraphicFramePr>
        <p:xfrm>
          <a:off x="1204913" y="4456873"/>
          <a:ext cx="6734180" cy="698501"/>
        </p:xfrm>
        <a:graphic>
          <a:graphicData uri="http://schemas.openxmlformats.org/drawingml/2006/table">
            <a:tbl>
              <a:tblPr firstRow="1" bandRow="1">
                <a:tableStyleId>{5940675A-B579-460E-94D1-54222C63F5DA}</a:tableStyleId>
              </a:tblPr>
              <a:tblGrid>
                <a:gridCol w="673418"/>
                <a:gridCol w="673418"/>
                <a:gridCol w="673418"/>
                <a:gridCol w="673418"/>
                <a:gridCol w="673418"/>
                <a:gridCol w="673418"/>
                <a:gridCol w="673418"/>
                <a:gridCol w="673418"/>
                <a:gridCol w="673418"/>
                <a:gridCol w="673418"/>
              </a:tblGrid>
              <a:tr h="698501">
                <a:tc>
                  <a:txBody>
                    <a:bodyPr/>
                    <a:lstStyle/>
                    <a:p>
                      <a:pPr algn="ctr"/>
                      <a:r>
                        <a:rPr lang="en-US" altLang="zh-CN" sz="2100" dirty="0">
                          <a:solidFill>
                            <a:srgbClr val="0000FF"/>
                          </a:solidFill>
                        </a:rPr>
                        <a:t>12</a:t>
                      </a:r>
                      <a:endParaRPr lang="zh-CN" altLang="en-US" sz="2100" dirty="0">
                        <a:solidFill>
                          <a:srgbClr val="0000FF"/>
                        </a:solidFill>
                      </a:endParaRPr>
                    </a:p>
                  </a:txBody>
                  <a:tcPr marL="68580" marR="68580" marT="34290" marB="34290" anchor="ctr"/>
                </a:tc>
                <a:tc>
                  <a:txBody>
                    <a:bodyPr/>
                    <a:lstStyle/>
                    <a:p>
                      <a:pPr algn="ctr"/>
                      <a:r>
                        <a:rPr lang="en-US" altLang="zh-CN" sz="2100" b="1" dirty="0">
                          <a:solidFill>
                            <a:schemeClr val="tx1"/>
                          </a:solidFill>
                        </a:rPr>
                        <a:t>42</a:t>
                      </a:r>
                      <a:endParaRPr lang="zh-CN" altLang="en-US" sz="2100" b="1" dirty="0">
                        <a:solidFill>
                          <a:schemeClr val="tx1"/>
                        </a:solidFill>
                      </a:endParaRPr>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dirty="0"/>
                        <a:t>26</a:t>
                      </a:r>
                      <a:endParaRPr lang="zh-CN" altLang="en-US" sz="2100" dirty="0"/>
                    </a:p>
                  </a:txBody>
                  <a:tcPr marL="68580" marR="68580" marT="34290" marB="34290" anchor="ctr"/>
                </a:tc>
                <a:tc>
                  <a:txBody>
                    <a:bodyPr/>
                    <a:lstStyle/>
                    <a:p>
                      <a:pPr algn="ctr"/>
                      <a:r>
                        <a:rPr lang="en-US" altLang="zh-CN" sz="2100" dirty="0"/>
                        <a:t>74</a:t>
                      </a:r>
                      <a:endParaRPr lang="zh-CN" altLang="en-US" sz="2100" dirty="0"/>
                    </a:p>
                  </a:txBody>
                  <a:tcPr marL="68580" marR="68580" marT="34290" marB="34290" anchor="ctr"/>
                </a:tc>
                <a:tc>
                  <a:txBody>
                    <a:bodyPr/>
                    <a:lstStyle/>
                    <a:p>
                      <a:pPr algn="ctr"/>
                      <a:r>
                        <a:rPr lang="en-US" altLang="zh-CN" sz="2100" dirty="0"/>
                        <a:t>63</a:t>
                      </a:r>
                      <a:endParaRPr lang="zh-CN" altLang="en-US" sz="2100" dirty="0"/>
                    </a:p>
                  </a:txBody>
                  <a:tcPr marL="68580" marR="68580" marT="34290" marB="34290" anchor="ctr"/>
                </a:tc>
                <a:tc>
                  <a:txBody>
                    <a:bodyPr/>
                    <a:lstStyle/>
                    <a:p>
                      <a:pPr algn="ctr"/>
                      <a:r>
                        <a:rPr lang="en-US" altLang="zh-CN" sz="2100" b="1" dirty="0">
                          <a:solidFill>
                            <a:srgbClr val="FF0000"/>
                          </a:solidFill>
                        </a:rPr>
                        <a:t>90</a:t>
                      </a:r>
                      <a:endParaRPr lang="zh-CN" altLang="en-US" sz="2100" b="1" dirty="0">
                        <a:solidFill>
                          <a:srgbClr val="FF0000"/>
                        </a:solidFill>
                      </a:endParaRPr>
                    </a:p>
                  </a:txBody>
                  <a:tcPr marL="68580" marR="68580" marT="34290" marB="34290" anchor="ctr"/>
                </a:tc>
                <a:tc>
                  <a:txBody>
                    <a:bodyPr/>
                    <a:lstStyle/>
                    <a:p>
                      <a:pPr algn="ctr"/>
                      <a:endParaRPr lang="zh-CN" altLang="en-US" sz="2100"/>
                    </a:p>
                  </a:txBody>
                  <a:tcPr marL="68580" marR="68580" marT="34290" marB="34290" anchor="ctr"/>
                </a:tc>
                <a:tc>
                  <a:txBody>
                    <a:bodyPr/>
                    <a:lstStyle/>
                    <a:p>
                      <a:pPr algn="ctr"/>
                      <a:endParaRPr lang="zh-CN" altLang="en-US" sz="2100"/>
                    </a:p>
                  </a:txBody>
                  <a:tcPr marL="68580" marR="68580" marT="34290" marB="34290" anchor="ctr"/>
                </a:tc>
                <a:tc>
                  <a:txBody>
                    <a:bodyPr/>
                    <a:lstStyle/>
                    <a:p>
                      <a:pPr algn="ctr"/>
                      <a:endParaRPr lang="zh-CN" altLang="en-US" sz="2100" dirty="0"/>
                    </a:p>
                  </a:txBody>
                  <a:tcPr marL="68580" marR="68580" marT="34290" marB="34290" anchor="ctr"/>
                </a:tc>
              </a:tr>
            </a:tbl>
          </a:graphicData>
        </a:graphic>
      </p:graphicFrame>
      <p:graphicFrame>
        <p:nvGraphicFramePr>
          <p:cNvPr id="8" name="表格 7"/>
          <p:cNvGraphicFramePr>
            <a:graphicFrameLocks noGrp="1"/>
          </p:cNvGraphicFramePr>
          <p:nvPr/>
        </p:nvGraphicFramePr>
        <p:xfrm>
          <a:off x="1204913" y="4079049"/>
          <a:ext cx="6734180" cy="388620"/>
        </p:xfrm>
        <a:graphic>
          <a:graphicData uri="http://schemas.openxmlformats.org/drawingml/2006/table">
            <a:tbl>
              <a:tblPr firstRow="1" bandRow="1">
                <a:tableStyleId>{2D5ABB26-0587-4C30-8999-92F81FD0307C}</a:tableStyleId>
              </a:tblPr>
              <a:tblGrid>
                <a:gridCol w="673418"/>
                <a:gridCol w="673418"/>
                <a:gridCol w="673418"/>
                <a:gridCol w="673418"/>
                <a:gridCol w="673418"/>
                <a:gridCol w="673418"/>
                <a:gridCol w="673418"/>
                <a:gridCol w="673418"/>
                <a:gridCol w="673418"/>
                <a:gridCol w="673418"/>
              </a:tblGrid>
              <a:tr h="388620">
                <a:tc>
                  <a:txBody>
                    <a:bodyPr/>
                    <a:lstStyle/>
                    <a:p>
                      <a:pPr algn="ctr"/>
                      <a:r>
                        <a:rPr lang="en-US" altLang="zh-CN" sz="2100" dirty="0"/>
                        <a:t>0</a:t>
                      </a:r>
                      <a:endParaRPr lang="zh-CN" altLang="en-US" sz="2100" dirty="0"/>
                    </a:p>
                  </a:txBody>
                  <a:tcPr marL="68580" marR="68580" marT="34290" marB="34290"/>
                </a:tc>
                <a:tc>
                  <a:txBody>
                    <a:bodyPr/>
                    <a:lstStyle/>
                    <a:p>
                      <a:pPr algn="ctr"/>
                      <a:r>
                        <a:rPr lang="en-US" altLang="zh-CN" sz="2100" dirty="0"/>
                        <a:t>1</a:t>
                      </a:r>
                      <a:endParaRPr lang="zh-CN" altLang="en-US" sz="2100" dirty="0"/>
                    </a:p>
                  </a:txBody>
                  <a:tcPr marL="68580" marR="68580" marT="34290" marB="34290"/>
                </a:tc>
                <a:tc>
                  <a:txBody>
                    <a:bodyPr/>
                    <a:lstStyle/>
                    <a:p>
                      <a:pPr algn="ctr"/>
                      <a:r>
                        <a:rPr lang="en-US" altLang="zh-CN" sz="2100" dirty="0"/>
                        <a:t>2</a:t>
                      </a:r>
                      <a:endParaRPr lang="zh-CN" altLang="en-US" sz="2100" dirty="0"/>
                    </a:p>
                  </a:txBody>
                  <a:tcPr marL="68580" marR="68580" marT="34290" marB="34290"/>
                </a:tc>
                <a:tc>
                  <a:txBody>
                    <a:bodyPr/>
                    <a:lstStyle/>
                    <a:p>
                      <a:pPr algn="ctr"/>
                      <a:r>
                        <a:rPr lang="en-US" altLang="zh-CN" sz="2100" dirty="0"/>
                        <a:t>3</a:t>
                      </a:r>
                      <a:endParaRPr lang="zh-CN" altLang="en-US" sz="2100" dirty="0"/>
                    </a:p>
                  </a:txBody>
                  <a:tcPr marL="68580" marR="68580" marT="34290" marB="34290"/>
                </a:tc>
                <a:tc>
                  <a:txBody>
                    <a:bodyPr/>
                    <a:lstStyle/>
                    <a:p>
                      <a:pPr algn="ctr"/>
                      <a:r>
                        <a:rPr lang="en-US" altLang="zh-CN" sz="2100" dirty="0"/>
                        <a:t>4</a:t>
                      </a:r>
                      <a:endParaRPr lang="zh-CN" altLang="en-US" sz="2100" dirty="0"/>
                    </a:p>
                  </a:txBody>
                  <a:tcPr marL="68580" marR="68580" marT="34290" marB="34290"/>
                </a:tc>
                <a:tc>
                  <a:txBody>
                    <a:bodyPr/>
                    <a:lstStyle/>
                    <a:p>
                      <a:pPr algn="ctr"/>
                      <a:r>
                        <a:rPr lang="en-US" altLang="zh-CN" sz="2100" dirty="0"/>
                        <a:t>5</a:t>
                      </a:r>
                      <a:endParaRPr lang="zh-CN" altLang="en-US" sz="2100" dirty="0"/>
                    </a:p>
                  </a:txBody>
                  <a:tcPr marL="68580" marR="68580" marT="34290" marB="34290"/>
                </a:tc>
                <a:tc>
                  <a:txBody>
                    <a:bodyPr/>
                    <a:lstStyle/>
                    <a:p>
                      <a:pPr algn="ctr"/>
                      <a:r>
                        <a:rPr lang="en-US" altLang="zh-CN" sz="2100" dirty="0"/>
                        <a:t>6</a:t>
                      </a:r>
                      <a:endParaRPr lang="zh-CN" altLang="en-US" sz="2100" dirty="0"/>
                    </a:p>
                  </a:txBody>
                  <a:tcPr marL="68580" marR="68580" marT="34290" marB="34290"/>
                </a:tc>
                <a:tc>
                  <a:txBody>
                    <a:bodyPr/>
                    <a:lstStyle/>
                    <a:p>
                      <a:pPr algn="ctr"/>
                      <a:r>
                        <a:rPr lang="en-US" altLang="zh-CN" sz="2100" dirty="0"/>
                        <a:t>7</a:t>
                      </a:r>
                      <a:endParaRPr lang="zh-CN" altLang="en-US" sz="2100" dirty="0"/>
                    </a:p>
                  </a:txBody>
                  <a:tcPr marL="68580" marR="68580" marT="34290" marB="34290"/>
                </a:tc>
                <a:tc>
                  <a:txBody>
                    <a:bodyPr/>
                    <a:lstStyle/>
                    <a:p>
                      <a:pPr algn="ctr"/>
                      <a:r>
                        <a:rPr lang="en-US" altLang="zh-CN" sz="2100" dirty="0"/>
                        <a:t>8</a:t>
                      </a:r>
                      <a:endParaRPr lang="zh-CN" altLang="en-US" sz="2100" dirty="0"/>
                    </a:p>
                  </a:txBody>
                  <a:tcPr marL="68580" marR="68580" marT="34290" marB="34290"/>
                </a:tc>
                <a:tc>
                  <a:txBody>
                    <a:bodyPr/>
                    <a:lstStyle/>
                    <a:p>
                      <a:pPr algn="ctr"/>
                      <a:r>
                        <a:rPr lang="en-US" altLang="zh-CN" sz="2100" dirty="0"/>
                        <a:t>9</a:t>
                      </a:r>
                      <a:endParaRPr lang="zh-CN" altLang="en-US" sz="2100" dirty="0"/>
                    </a:p>
                  </a:txBody>
                  <a:tcPr marL="68580" marR="68580" marT="34290" marB="34290"/>
                </a:tc>
              </a:tr>
            </a:tbl>
          </a:graphicData>
        </a:graphic>
      </p:graphicFrame>
      <p:cxnSp>
        <p:nvCxnSpPr>
          <p:cNvPr id="9" name="直接箭头连接符 8"/>
          <p:cNvCxnSpPr/>
          <p:nvPr/>
        </p:nvCxnSpPr>
        <p:spPr>
          <a:xfrm flipV="1">
            <a:off x="1547283" y="5167813"/>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5562600" y="5155373"/>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3"/>
          <p:cNvSpPr txBox="1">
            <a:spLocks noChangeArrowheads="1"/>
          </p:cNvSpPr>
          <p:nvPr/>
        </p:nvSpPr>
        <p:spPr>
          <a:xfrm>
            <a:off x="1216226" y="5580318"/>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front</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2" name="Rectangle 3"/>
          <p:cNvSpPr txBox="1">
            <a:spLocks noChangeArrowheads="1"/>
          </p:cNvSpPr>
          <p:nvPr/>
        </p:nvSpPr>
        <p:spPr>
          <a:xfrm>
            <a:off x="5144692" y="5580318"/>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rear</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3" name="Rectangle 3"/>
          <p:cNvSpPr txBox="1">
            <a:spLocks noChangeArrowheads="1"/>
          </p:cNvSpPr>
          <p:nvPr/>
        </p:nvSpPr>
        <p:spPr>
          <a:xfrm>
            <a:off x="1595922" y="5225914"/>
            <a:ext cx="1091804"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12</a:t>
            </a:r>
            <a:r>
              <a:rPr lang="zh-CN" altLang="en-US" sz="2100" b="1" dirty="0">
                <a:solidFill>
                  <a:prstClr val="black"/>
                </a:solidFill>
                <a:latin typeface="等线" panose="02010600030101010101" pitchFamily="2" charset="-122"/>
                <a:ea typeface="等线" panose="02010600030101010101" pitchFamily="2" charset="-122"/>
              </a:rPr>
              <a:t>出队</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4" name="Rectangle 3"/>
          <p:cNvSpPr txBox="1">
            <a:spLocks noChangeArrowheads="1"/>
          </p:cNvSpPr>
          <p:nvPr/>
        </p:nvSpPr>
        <p:spPr>
          <a:xfrm>
            <a:off x="5643559" y="5213475"/>
            <a:ext cx="1091804"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90</a:t>
            </a:r>
            <a:r>
              <a:rPr lang="zh-CN" altLang="en-US" sz="2100" b="1" dirty="0">
                <a:solidFill>
                  <a:prstClr val="black"/>
                </a:solidFill>
                <a:latin typeface="等线" panose="02010600030101010101" pitchFamily="2" charset="-122"/>
                <a:ea typeface="等线" panose="02010600030101010101" pitchFamily="2" charset="-122"/>
              </a:rPr>
              <a:t>入队</a:t>
            </a:r>
            <a:endParaRPr lang="zh-CN" altLang="en-US" sz="2100" b="1" dirty="0">
              <a:solidFill>
                <a:prstClr val="black"/>
              </a:solidFill>
              <a:latin typeface="等线" panose="02010600030101010101" pitchFamily="2" charset="-122"/>
              <a:ea typeface="等线" panose="02010600030101010101" pitchFamily="2" charset="-122"/>
            </a:endParaRPr>
          </a:p>
        </p:txBody>
      </p:sp>
      <p:cxnSp>
        <p:nvCxnSpPr>
          <p:cNvPr id="16" name="直接箭头连接符 15"/>
          <p:cNvCxnSpPr/>
          <p:nvPr/>
        </p:nvCxnSpPr>
        <p:spPr>
          <a:xfrm>
            <a:off x="5753525" y="5617200"/>
            <a:ext cx="552449" cy="0"/>
          </a:xfrm>
          <a:prstGeom prst="straightConnector1">
            <a:avLst/>
          </a:prstGeom>
          <a:ln w="38100">
            <a:solidFill>
              <a:srgbClr val="0000FF"/>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695556" y="5614535"/>
            <a:ext cx="552449" cy="0"/>
          </a:xfrm>
          <a:prstGeom prst="straightConnector1">
            <a:avLst/>
          </a:prstGeom>
          <a:ln w="38100">
            <a:solidFill>
              <a:srgbClr val="0000FF"/>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弧形 18"/>
          <p:cNvSpPr/>
          <p:nvPr/>
        </p:nvSpPr>
        <p:spPr>
          <a:xfrm rot="5400000">
            <a:off x="1317846" y="3802680"/>
            <a:ext cx="657577" cy="883444"/>
          </a:xfrm>
          <a:prstGeom prst="arc">
            <a:avLst>
              <a:gd name="adj1" fmla="val 14851235"/>
              <a:gd name="adj2" fmla="val 68746"/>
            </a:avLst>
          </a:prstGeom>
          <a:ln w="38100">
            <a:solidFill>
              <a:srgbClr val="0000FF"/>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zh-CN" altLang="en-US" sz="1350">
              <a:solidFill>
                <a:prstClr val="black"/>
              </a:solidFill>
              <a:latin typeface="等线" panose="02010600030101010101" pitchFamily="2" charset="-122"/>
              <a:ea typeface="等线" panose="02010600030101010101" pitchFamily="2" charset="-122"/>
            </a:endParaRPr>
          </a:p>
        </p:txBody>
      </p:sp>
      <p:sp>
        <p:nvSpPr>
          <p:cNvPr id="20" name="弧形 19"/>
          <p:cNvSpPr/>
          <p:nvPr/>
        </p:nvSpPr>
        <p:spPr>
          <a:xfrm rot="16808724">
            <a:off x="5651720" y="4123215"/>
            <a:ext cx="657577" cy="883444"/>
          </a:xfrm>
          <a:prstGeom prst="arc">
            <a:avLst>
              <a:gd name="adj1" fmla="val 14851235"/>
              <a:gd name="adj2" fmla="val 68746"/>
            </a:avLst>
          </a:prstGeom>
          <a:ln w="38100">
            <a:solidFill>
              <a:srgbClr val="0000FF"/>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zh-CN" altLang="en-US" sz="1350">
              <a:solidFill>
                <a:prstClr val="black"/>
              </a:solidFill>
              <a:latin typeface="等线" panose="02010600030101010101" pitchFamily="2" charset="-122"/>
              <a:ea typeface="等线" panose="02010600030101010101" pitchFamily="2" charset="-122"/>
            </a:endParaRPr>
          </a:p>
        </p:txBody>
      </p:sp>
      <p:sp>
        <p:nvSpPr>
          <p:cNvPr id="15" name="矩形 14"/>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25030" y="1631868"/>
            <a:ext cx="3137296" cy="577081"/>
          </a:xfrm>
          <a:prstGeom prst="rect">
            <a:avLst/>
          </a:prstGeom>
        </p:spPr>
        <p:txBody>
          <a:bodyPr wrap="square">
            <a:spAutoFit/>
          </a:bodyPr>
          <a:lstStyle/>
          <a:p>
            <a:pPr defTabSz="685800" eaLnBrk="0" hangingPunct="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一定会出现假溢出现象</a:t>
            </a:r>
            <a:endParaRPr lang="zh-CN" altLang="en-US" sz="2100" dirty="0">
              <a:solidFill>
                <a:prstClr val="black"/>
              </a:solidFill>
              <a:latin typeface="等线" panose="02010600030101010101" pitchFamily="2" charset="-122"/>
              <a:ea typeface="等线" panose="02010600030101010101" pitchFamily="2" charset="-122"/>
            </a:endParaRPr>
          </a:p>
        </p:txBody>
      </p:sp>
      <p:graphicFrame>
        <p:nvGraphicFramePr>
          <p:cNvPr id="7" name="表格 6"/>
          <p:cNvGraphicFramePr>
            <a:graphicFrameLocks noGrp="1"/>
          </p:cNvGraphicFramePr>
          <p:nvPr/>
        </p:nvGraphicFramePr>
        <p:xfrm>
          <a:off x="1081088" y="2761423"/>
          <a:ext cx="6734180" cy="698501"/>
        </p:xfrm>
        <a:graphic>
          <a:graphicData uri="http://schemas.openxmlformats.org/drawingml/2006/table">
            <a:tbl>
              <a:tblPr firstRow="1" bandRow="1">
                <a:tableStyleId>{5940675A-B579-460E-94D1-54222C63F5DA}</a:tableStyleId>
              </a:tblPr>
              <a:tblGrid>
                <a:gridCol w="673418"/>
                <a:gridCol w="673418"/>
                <a:gridCol w="673418"/>
                <a:gridCol w="673418"/>
                <a:gridCol w="673418"/>
                <a:gridCol w="673418"/>
                <a:gridCol w="673418"/>
                <a:gridCol w="673418"/>
                <a:gridCol w="673418"/>
                <a:gridCol w="673418"/>
              </a:tblGrid>
              <a:tr h="698501">
                <a:tc>
                  <a:txBody>
                    <a:bodyPr/>
                    <a:lstStyle/>
                    <a:p>
                      <a:pPr algn="ctr"/>
                      <a:r>
                        <a:rPr lang="en-US" altLang="zh-CN" sz="2100" dirty="0"/>
                        <a:t>12</a:t>
                      </a:r>
                      <a:endParaRPr lang="zh-CN" altLang="en-US" sz="2100" dirty="0"/>
                    </a:p>
                  </a:txBody>
                  <a:tcPr marL="68580" marR="68580" marT="34290" marB="34290" anchor="ctr"/>
                </a:tc>
                <a:tc>
                  <a:txBody>
                    <a:bodyPr/>
                    <a:lstStyle/>
                    <a:p>
                      <a:pPr marL="0" algn="ctr" defTabSz="914400" rtl="0" eaLnBrk="1" latinLnBrk="0" hangingPunct="1"/>
                      <a:r>
                        <a:rPr lang="en-US" altLang="zh-CN" sz="2100" kern="1200" dirty="0">
                          <a:solidFill>
                            <a:schemeClr val="tx1"/>
                          </a:solidFill>
                          <a:latin typeface="+mn-lt"/>
                          <a:ea typeface="+mn-ea"/>
                          <a:cs typeface="+mn-cs"/>
                        </a:rPr>
                        <a:t>42</a:t>
                      </a:r>
                      <a:endParaRPr lang="zh-CN" altLang="en-US" sz="2100" kern="1200" dirty="0">
                        <a:solidFill>
                          <a:schemeClr val="tx1"/>
                        </a:solidFill>
                        <a:latin typeface="+mn-lt"/>
                        <a:ea typeface="+mn-ea"/>
                        <a:cs typeface="+mn-cs"/>
                      </a:endParaRPr>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dirty="0"/>
                        <a:t>26</a:t>
                      </a:r>
                      <a:endParaRPr lang="zh-CN" altLang="en-US" sz="2100" dirty="0"/>
                    </a:p>
                  </a:txBody>
                  <a:tcPr marL="68580" marR="68580" marT="34290" marB="34290" anchor="ctr"/>
                </a:tc>
                <a:tc>
                  <a:txBody>
                    <a:bodyPr/>
                    <a:lstStyle/>
                    <a:p>
                      <a:pPr algn="ctr"/>
                      <a:r>
                        <a:rPr lang="en-US" altLang="zh-CN" sz="2100" dirty="0"/>
                        <a:t>74</a:t>
                      </a:r>
                      <a:endParaRPr lang="zh-CN" altLang="en-US" sz="2100" dirty="0"/>
                    </a:p>
                  </a:txBody>
                  <a:tcPr marL="68580" marR="68580" marT="34290" marB="34290" anchor="ctr"/>
                </a:tc>
                <a:tc>
                  <a:txBody>
                    <a:bodyPr/>
                    <a:lstStyle/>
                    <a:p>
                      <a:pPr algn="ctr"/>
                      <a:r>
                        <a:rPr lang="en-US" altLang="zh-CN" sz="2100" dirty="0"/>
                        <a:t>63</a:t>
                      </a:r>
                      <a:endParaRPr lang="zh-CN" altLang="en-US" sz="2100" dirty="0"/>
                    </a:p>
                  </a:txBody>
                  <a:tcPr marL="68580" marR="68580" marT="34290" marB="34290" anchor="ctr"/>
                </a:tc>
                <a:tc>
                  <a:txBody>
                    <a:bodyPr/>
                    <a:lstStyle/>
                    <a:p>
                      <a:pPr marL="0" algn="ctr" defTabSz="914400" rtl="0" eaLnBrk="1" latinLnBrk="0" hangingPunct="1"/>
                      <a:r>
                        <a:rPr lang="en-US" altLang="zh-CN" sz="2100" kern="1200" dirty="0">
                          <a:solidFill>
                            <a:schemeClr val="tx1"/>
                          </a:solidFill>
                          <a:latin typeface="+mn-lt"/>
                          <a:ea typeface="+mn-ea"/>
                          <a:cs typeface="+mn-cs"/>
                        </a:rPr>
                        <a:t>90</a:t>
                      </a:r>
                      <a:endParaRPr lang="zh-CN" altLang="en-US" sz="2100" kern="1200" dirty="0">
                        <a:solidFill>
                          <a:schemeClr val="tx1"/>
                        </a:solidFill>
                        <a:latin typeface="+mn-lt"/>
                        <a:ea typeface="+mn-ea"/>
                        <a:cs typeface="+mn-cs"/>
                      </a:endParaRPr>
                    </a:p>
                  </a:txBody>
                  <a:tcPr marL="68580" marR="68580" marT="34290" marB="34290" anchor="ctr"/>
                </a:tc>
                <a:tc>
                  <a:txBody>
                    <a:bodyPr/>
                    <a:lstStyle/>
                    <a:p>
                      <a:pPr algn="ctr"/>
                      <a:r>
                        <a:rPr lang="en-US" altLang="zh-CN" sz="2100" dirty="0"/>
                        <a:t>62</a:t>
                      </a:r>
                      <a:endParaRPr lang="zh-CN" altLang="en-US" sz="2100" dirty="0"/>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b="1" dirty="0">
                          <a:solidFill>
                            <a:srgbClr val="FF0000"/>
                          </a:solidFill>
                        </a:rPr>
                        <a:t>71</a:t>
                      </a:r>
                      <a:endParaRPr lang="zh-CN" altLang="en-US" sz="2100" b="1" dirty="0">
                        <a:solidFill>
                          <a:srgbClr val="FF0000"/>
                        </a:solidFill>
                      </a:endParaRPr>
                    </a:p>
                  </a:txBody>
                  <a:tcPr marL="68580" marR="68580" marT="34290" marB="34290" anchor="ctr"/>
                </a:tc>
              </a:tr>
            </a:tbl>
          </a:graphicData>
        </a:graphic>
      </p:graphicFrame>
      <p:graphicFrame>
        <p:nvGraphicFramePr>
          <p:cNvPr id="8" name="表格 7"/>
          <p:cNvGraphicFramePr>
            <a:graphicFrameLocks noGrp="1"/>
          </p:cNvGraphicFramePr>
          <p:nvPr/>
        </p:nvGraphicFramePr>
        <p:xfrm>
          <a:off x="1081088" y="2383599"/>
          <a:ext cx="6734180" cy="388620"/>
        </p:xfrm>
        <a:graphic>
          <a:graphicData uri="http://schemas.openxmlformats.org/drawingml/2006/table">
            <a:tbl>
              <a:tblPr firstRow="1" bandRow="1">
                <a:tableStyleId>{2D5ABB26-0587-4C30-8999-92F81FD0307C}</a:tableStyleId>
              </a:tblPr>
              <a:tblGrid>
                <a:gridCol w="673418"/>
                <a:gridCol w="673418"/>
                <a:gridCol w="673418"/>
                <a:gridCol w="673418"/>
                <a:gridCol w="673418"/>
                <a:gridCol w="673418"/>
                <a:gridCol w="673418"/>
                <a:gridCol w="673418"/>
                <a:gridCol w="673418"/>
                <a:gridCol w="673418"/>
              </a:tblGrid>
              <a:tr h="388620">
                <a:tc>
                  <a:txBody>
                    <a:bodyPr/>
                    <a:lstStyle/>
                    <a:p>
                      <a:pPr algn="ctr"/>
                      <a:r>
                        <a:rPr lang="en-US" altLang="zh-CN" sz="2100" dirty="0"/>
                        <a:t>0</a:t>
                      </a:r>
                      <a:endParaRPr lang="zh-CN" altLang="en-US" sz="2100" dirty="0"/>
                    </a:p>
                  </a:txBody>
                  <a:tcPr marL="68580" marR="68580" marT="34290" marB="34290"/>
                </a:tc>
                <a:tc>
                  <a:txBody>
                    <a:bodyPr/>
                    <a:lstStyle/>
                    <a:p>
                      <a:pPr algn="ctr"/>
                      <a:r>
                        <a:rPr lang="en-US" altLang="zh-CN" sz="2100" dirty="0"/>
                        <a:t>1</a:t>
                      </a:r>
                      <a:endParaRPr lang="zh-CN" altLang="en-US" sz="2100" dirty="0"/>
                    </a:p>
                  </a:txBody>
                  <a:tcPr marL="68580" marR="68580" marT="34290" marB="34290"/>
                </a:tc>
                <a:tc>
                  <a:txBody>
                    <a:bodyPr/>
                    <a:lstStyle/>
                    <a:p>
                      <a:pPr algn="ctr"/>
                      <a:r>
                        <a:rPr lang="en-US" altLang="zh-CN" sz="2100" dirty="0"/>
                        <a:t>2</a:t>
                      </a:r>
                      <a:endParaRPr lang="zh-CN" altLang="en-US" sz="2100" dirty="0"/>
                    </a:p>
                  </a:txBody>
                  <a:tcPr marL="68580" marR="68580" marT="34290" marB="34290"/>
                </a:tc>
                <a:tc>
                  <a:txBody>
                    <a:bodyPr/>
                    <a:lstStyle/>
                    <a:p>
                      <a:pPr algn="ctr"/>
                      <a:r>
                        <a:rPr lang="en-US" altLang="zh-CN" sz="2100" dirty="0"/>
                        <a:t>3</a:t>
                      </a:r>
                      <a:endParaRPr lang="zh-CN" altLang="en-US" sz="2100" dirty="0"/>
                    </a:p>
                  </a:txBody>
                  <a:tcPr marL="68580" marR="68580" marT="34290" marB="34290"/>
                </a:tc>
                <a:tc>
                  <a:txBody>
                    <a:bodyPr/>
                    <a:lstStyle/>
                    <a:p>
                      <a:pPr algn="ctr"/>
                      <a:r>
                        <a:rPr lang="en-US" altLang="zh-CN" sz="2100" dirty="0"/>
                        <a:t>4</a:t>
                      </a:r>
                      <a:endParaRPr lang="zh-CN" altLang="en-US" sz="2100" dirty="0"/>
                    </a:p>
                  </a:txBody>
                  <a:tcPr marL="68580" marR="68580" marT="34290" marB="34290"/>
                </a:tc>
                <a:tc>
                  <a:txBody>
                    <a:bodyPr/>
                    <a:lstStyle/>
                    <a:p>
                      <a:pPr algn="ctr"/>
                      <a:r>
                        <a:rPr lang="en-US" altLang="zh-CN" sz="2100" dirty="0"/>
                        <a:t>5</a:t>
                      </a:r>
                      <a:endParaRPr lang="zh-CN" altLang="en-US" sz="2100" dirty="0"/>
                    </a:p>
                  </a:txBody>
                  <a:tcPr marL="68580" marR="68580" marT="34290" marB="34290"/>
                </a:tc>
                <a:tc>
                  <a:txBody>
                    <a:bodyPr/>
                    <a:lstStyle/>
                    <a:p>
                      <a:pPr algn="ctr"/>
                      <a:r>
                        <a:rPr lang="en-US" altLang="zh-CN" sz="2100" dirty="0"/>
                        <a:t>6</a:t>
                      </a:r>
                      <a:endParaRPr lang="zh-CN" altLang="en-US" sz="2100" dirty="0"/>
                    </a:p>
                  </a:txBody>
                  <a:tcPr marL="68580" marR="68580" marT="34290" marB="34290"/>
                </a:tc>
                <a:tc>
                  <a:txBody>
                    <a:bodyPr/>
                    <a:lstStyle/>
                    <a:p>
                      <a:pPr algn="ctr"/>
                      <a:r>
                        <a:rPr lang="en-US" altLang="zh-CN" sz="2100" dirty="0"/>
                        <a:t>7</a:t>
                      </a:r>
                      <a:endParaRPr lang="zh-CN" altLang="en-US" sz="2100" dirty="0"/>
                    </a:p>
                  </a:txBody>
                  <a:tcPr marL="68580" marR="68580" marT="34290" marB="34290"/>
                </a:tc>
                <a:tc>
                  <a:txBody>
                    <a:bodyPr/>
                    <a:lstStyle/>
                    <a:p>
                      <a:pPr algn="ctr"/>
                      <a:r>
                        <a:rPr lang="en-US" altLang="zh-CN" sz="2100" dirty="0"/>
                        <a:t>8</a:t>
                      </a:r>
                      <a:endParaRPr lang="zh-CN" altLang="en-US" sz="2100" dirty="0"/>
                    </a:p>
                  </a:txBody>
                  <a:tcPr marL="68580" marR="68580" marT="34290" marB="34290"/>
                </a:tc>
                <a:tc>
                  <a:txBody>
                    <a:bodyPr/>
                    <a:lstStyle/>
                    <a:p>
                      <a:pPr algn="ctr"/>
                      <a:r>
                        <a:rPr lang="en-US" altLang="zh-CN" sz="2100" dirty="0"/>
                        <a:t>9</a:t>
                      </a:r>
                      <a:endParaRPr lang="zh-CN" altLang="en-US" sz="2100" dirty="0"/>
                    </a:p>
                  </a:txBody>
                  <a:tcPr marL="68580" marR="68580" marT="34290" marB="34290"/>
                </a:tc>
              </a:tr>
            </a:tbl>
          </a:graphicData>
        </a:graphic>
      </p:graphicFrame>
      <p:cxnSp>
        <p:nvCxnSpPr>
          <p:cNvPr id="9" name="直接箭头连接符 8"/>
          <p:cNvCxnSpPr/>
          <p:nvPr/>
        </p:nvCxnSpPr>
        <p:spPr>
          <a:xfrm flipV="1">
            <a:off x="7446716" y="3467032"/>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8078761" y="3459923"/>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3"/>
          <p:cNvSpPr txBox="1">
            <a:spLocks noChangeArrowheads="1"/>
          </p:cNvSpPr>
          <p:nvPr/>
        </p:nvSpPr>
        <p:spPr>
          <a:xfrm>
            <a:off x="7111199" y="3930837"/>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front</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2" name="Rectangle 3"/>
          <p:cNvSpPr txBox="1">
            <a:spLocks noChangeArrowheads="1"/>
          </p:cNvSpPr>
          <p:nvPr/>
        </p:nvSpPr>
        <p:spPr>
          <a:xfrm>
            <a:off x="7779256" y="3909072"/>
            <a:ext cx="835816" cy="3724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rear</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5" name="矩形 14"/>
          <p:cNvSpPr/>
          <p:nvPr/>
        </p:nvSpPr>
        <p:spPr>
          <a:xfrm>
            <a:off x="890276" y="4319458"/>
            <a:ext cx="6924992" cy="1546577"/>
          </a:xfrm>
          <a:prstGeom prst="rect">
            <a:avLst/>
          </a:prstGeom>
        </p:spPr>
        <p:txBody>
          <a:bodyPr wrap="square">
            <a:spAutoFit/>
          </a:bodyPr>
          <a:lstStyle/>
          <a:p>
            <a:pPr defTabSz="685800" eaLnBrk="0" hangingPunct="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队中只有一个元素</a:t>
            </a:r>
            <a:r>
              <a:rPr lang="en-US" altLang="zh-CN" sz="2100" b="1" dirty="0">
                <a:solidFill>
                  <a:prstClr val="black"/>
                </a:solidFill>
                <a:latin typeface="黑体" panose="02010609060101010101" pitchFamily="49" charset="-122"/>
                <a:ea typeface="黑体" panose="02010609060101010101" pitchFamily="49" charset="-122"/>
              </a:rPr>
              <a:t>71</a:t>
            </a:r>
            <a:r>
              <a:rPr lang="zh-CN" altLang="en-US" sz="2100" b="1" dirty="0">
                <a:solidFill>
                  <a:prstClr val="black"/>
                </a:solidFill>
                <a:latin typeface="黑体" panose="02010609060101010101" pitchFamily="49" charset="-122"/>
                <a:ea typeface="黑体" panose="02010609060101010101" pitchFamily="49" charset="-122"/>
              </a:rPr>
              <a:t>，此时</a:t>
            </a:r>
            <a:r>
              <a:rPr lang="en-US" altLang="zh-CN" sz="2100" b="1" dirty="0">
                <a:solidFill>
                  <a:prstClr val="black"/>
                </a:solidFill>
                <a:latin typeface="黑体" panose="02010609060101010101" pitchFamily="49" charset="-122"/>
                <a:ea typeface="黑体" panose="02010609060101010101" pitchFamily="49" charset="-122"/>
              </a:rPr>
              <a:t>front=9</a:t>
            </a:r>
            <a:r>
              <a:rPr lang="zh-CN" altLang="en-US" sz="2100" b="1" dirty="0">
                <a:solidFill>
                  <a:prstClr val="black"/>
                </a:solidFill>
                <a:latin typeface="黑体" panose="02010609060101010101" pitchFamily="49" charset="-122"/>
                <a:ea typeface="黑体" panose="02010609060101010101" pitchFamily="49" charset="-122"/>
              </a:rPr>
              <a:t>，</a:t>
            </a:r>
            <a:r>
              <a:rPr lang="en-US" altLang="zh-CN" sz="2100" b="1" dirty="0">
                <a:solidFill>
                  <a:prstClr val="black"/>
                </a:solidFill>
                <a:latin typeface="黑体" panose="02010609060101010101" pitchFamily="49" charset="-122"/>
                <a:ea typeface="黑体" panose="02010609060101010101" pitchFamily="49" charset="-122"/>
              </a:rPr>
              <a:t>rear=10=</a:t>
            </a:r>
            <a:r>
              <a:rPr lang="en-US" altLang="zh-CN" sz="2100" b="1" dirty="0" err="1">
                <a:solidFill>
                  <a:prstClr val="black"/>
                </a:solidFill>
                <a:latin typeface="黑体" panose="02010609060101010101" pitchFamily="49" charset="-122"/>
                <a:ea typeface="黑体" panose="02010609060101010101" pitchFamily="49" charset="-122"/>
              </a:rPr>
              <a:t>QSize</a:t>
            </a:r>
            <a:r>
              <a:rPr lang="zh-CN" altLang="en-US" sz="2100" b="1" dirty="0">
                <a:solidFill>
                  <a:prstClr val="black"/>
                </a:solidFill>
                <a:latin typeface="黑体" panose="02010609060101010101" pitchFamily="49" charset="-122"/>
                <a:ea typeface="黑体" panose="02010609060101010101" pitchFamily="49" charset="-122"/>
              </a:rPr>
              <a:t>（认为队满，但并非真的队满），若有元素入队则溢出。</a:t>
            </a:r>
            <a:endParaRPr lang="en-US" altLang="zh-CN" sz="2100" b="1" dirty="0">
              <a:solidFill>
                <a:prstClr val="black"/>
              </a:solidFill>
              <a:latin typeface="黑体" panose="02010609060101010101" pitchFamily="49" charset="-122"/>
              <a:ea typeface="黑体" panose="02010609060101010101" pitchFamily="49" charset="-122"/>
            </a:endParaRPr>
          </a:p>
          <a:p>
            <a:pPr defTabSz="685800" eaLnBrk="0" hangingPunct="0">
              <a:lnSpc>
                <a:spcPct val="150000"/>
              </a:lnSpc>
              <a:defRPr/>
            </a:pPr>
            <a:r>
              <a:rPr lang="en-US" altLang="zh-CN" sz="2100" b="1" dirty="0">
                <a:solidFill>
                  <a:srgbClr val="FF0000"/>
                </a:solidFill>
                <a:latin typeface="黑体" panose="02010609060101010101" pitchFamily="49" charset="-122"/>
                <a:ea typeface="黑体" panose="02010609060101010101" pitchFamily="49" charset="-122"/>
              </a:rPr>
              <a:t>a[0]--------------------------a[8]</a:t>
            </a:r>
            <a:r>
              <a:rPr lang="zh-CN" altLang="en-US" sz="2100" b="1" dirty="0">
                <a:solidFill>
                  <a:srgbClr val="FF0000"/>
                </a:solidFill>
                <a:latin typeface="黑体" panose="02010609060101010101" pitchFamily="49" charset="-122"/>
                <a:ea typeface="黑体" panose="02010609060101010101" pitchFamily="49" charset="-122"/>
              </a:rPr>
              <a:t>空闲</a:t>
            </a:r>
            <a:endParaRPr lang="en-US" altLang="zh-CN" sz="2100" b="1" dirty="0">
              <a:solidFill>
                <a:srgbClr val="FF0000"/>
              </a:solidFill>
              <a:latin typeface="黑体" panose="02010609060101010101" pitchFamily="49" charset="-122"/>
              <a:ea typeface="黑体" panose="02010609060101010101" pitchFamily="49" charset="-122"/>
            </a:endParaRPr>
          </a:p>
        </p:txBody>
      </p:sp>
      <p:sp>
        <p:nvSpPr>
          <p:cNvPr id="13" name="矩形 12"/>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25030" y="1631868"/>
            <a:ext cx="3137296" cy="577081"/>
          </a:xfrm>
          <a:prstGeom prst="rect">
            <a:avLst/>
          </a:prstGeom>
        </p:spPr>
        <p:txBody>
          <a:bodyPr wrap="square">
            <a:spAutoFit/>
          </a:bodyPr>
          <a:lstStyle/>
          <a:p>
            <a:pPr defTabSz="685800" eaLnBrk="0" hangingPunct="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解决方法：</a:t>
            </a:r>
            <a:r>
              <a:rPr lang="zh-CN" altLang="en-US" sz="2100" b="1" dirty="0">
                <a:solidFill>
                  <a:srgbClr val="FF0000"/>
                </a:solidFill>
                <a:latin typeface="黑体" panose="02010609060101010101" pitchFamily="49" charset="-122"/>
                <a:ea typeface="黑体" panose="02010609060101010101" pitchFamily="49" charset="-122"/>
              </a:rPr>
              <a:t>存入</a:t>
            </a:r>
            <a:r>
              <a:rPr lang="en-US" altLang="zh-CN" sz="2100" b="1" dirty="0">
                <a:solidFill>
                  <a:srgbClr val="FF0000"/>
                </a:solidFill>
                <a:latin typeface="黑体" panose="02010609060101010101" pitchFamily="49" charset="-122"/>
                <a:ea typeface="黑体" panose="02010609060101010101" pitchFamily="49" charset="-122"/>
              </a:rPr>
              <a:t>a[0]</a:t>
            </a:r>
            <a:endParaRPr lang="zh-CN" altLang="en-US" sz="2100" dirty="0">
              <a:solidFill>
                <a:srgbClr val="FF0000"/>
              </a:solidFill>
              <a:latin typeface="等线" panose="02010600030101010101" pitchFamily="2" charset="-122"/>
              <a:ea typeface="等线" panose="02010600030101010101" pitchFamily="2" charset="-122"/>
            </a:endParaRPr>
          </a:p>
        </p:txBody>
      </p:sp>
      <p:graphicFrame>
        <p:nvGraphicFramePr>
          <p:cNvPr id="7" name="表格 6"/>
          <p:cNvGraphicFramePr>
            <a:graphicFrameLocks noGrp="1"/>
          </p:cNvGraphicFramePr>
          <p:nvPr/>
        </p:nvGraphicFramePr>
        <p:xfrm>
          <a:off x="1204913" y="2761423"/>
          <a:ext cx="6734180" cy="698501"/>
        </p:xfrm>
        <a:graphic>
          <a:graphicData uri="http://schemas.openxmlformats.org/drawingml/2006/table">
            <a:tbl>
              <a:tblPr firstRow="1" bandRow="1">
                <a:tableStyleId>{5940675A-B579-460E-94D1-54222C63F5DA}</a:tableStyleId>
              </a:tblPr>
              <a:tblGrid>
                <a:gridCol w="673418"/>
                <a:gridCol w="673418"/>
                <a:gridCol w="673418"/>
                <a:gridCol w="673418"/>
                <a:gridCol w="673418"/>
                <a:gridCol w="673418"/>
                <a:gridCol w="673418"/>
                <a:gridCol w="673418"/>
                <a:gridCol w="673418"/>
                <a:gridCol w="673418"/>
              </a:tblGrid>
              <a:tr h="698501">
                <a:tc>
                  <a:txBody>
                    <a:bodyPr/>
                    <a:lstStyle/>
                    <a:p>
                      <a:pPr algn="ctr"/>
                      <a:r>
                        <a:rPr lang="en-US" altLang="zh-CN" sz="2100" b="1" dirty="0">
                          <a:solidFill>
                            <a:srgbClr val="FF0000"/>
                          </a:solidFill>
                        </a:rPr>
                        <a:t>86</a:t>
                      </a:r>
                      <a:endParaRPr lang="zh-CN" altLang="en-US" sz="2100" b="1" dirty="0">
                        <a:solidFill>
                          <a:srgbClr val="FF0000"/>
                        </a:solidFill>
                      </a:endParaRPr>
                    </a:p>
                  </a:txBody>
                  <a:tcPr marL="68580" marR="68580" marT="34290" marB="34290" anchor="ctr"/>
                </a:tc>
                <a:tc>
                  <a:txBody>
                    <a:bodyPr/>
                    <a:lstStyle/>
                    <a:p>
                      <a:pPr marL="0" algn="ctr" defTabSz="914400" rtl="0" eaLnBrk="1" latinLnBrk="0" hangingPunct="1"/>
                      <a:r>
                        <a:rPr lang="en-US" altLang="zh-CN" sz="2100" kern="1200" dirty="0">
                          <a:solidFill>
                            <a:schemeClr val="tx1"/>
                          </a:solidFill>
                          <a:latin typeface="+mn-lt"/>
                          <a:ea typeface="+mn-ea"/>
                          <a:cs typeface="+mn-cs"/>
                        </a:rPr>
                        <a:t>42</a:t>
                      </a:r>
                      <a:endParaRPr lang="zh-CN" altLang="en-US" sz="2100" kern="1200" dirty="0">
                        <a:solidFill>
                          <a:schemeClr val="tx1"/>
                        </a:solidFill>
                        <a:latin typeface="+mn-lt"/>
                        <a:ea typeface="+mn-ea"/>
                        <a:cs typeface="+mn-cs"/>
                      </a:endParaRPr>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dirty="0"/>
                        <a:t>26</a:t>
                      </a:r>
                      <a:endParaRPr lang="zh-CN" altLang="en-US" sz="2100" dirty="0"/>
                    </a:p>
                  </a:txBody>
                  <a:tcPr marL="68580" marR="68580" marT="34290" marB="34290" anchor="ctr"/>
                </a:tc>
                <a:tc>
                  <a:txBody>
                    <a:bodyPr/>
                    <a:lstStyle/>
                    <a:p>
                      <a:pPr algn="ctr"/>
                      <a:r>
                        <a:rPr lang="en-US" altLang="zh-CN" sz="2100" dirty="0"/>
                        <a:t>74</a:t>
                      </a:r>
                      <a:endParaRPr lang="zh-CN" altLang="en-US" sz="2100" dirty="0"/>
                    </a:p>
                  </a:txBody>
                  <a:tcPr marL="68580" marR="68580" marT="34290" marB="34290" anchor="ctr"/>
                </a:tc>
                <a:tc>
                  <a:txBody>
                    <a:bodyPr/>
                    <a:lstStyle/>
                    <a:p>
                      <a:pPr algn="ctr"/>
                      <a:r>
                        <a:rPr lang="en-US" altLang="zh-CN" sz="2100" dirty="0"/>
                        <a:t>63</a:t>
                      </a:r>
                      <a:endParaRPr lang="zh-CN" altLang="en-US" sz="2100" dirty="0"/>
                    </a:p>
                  </a:txBody>
                  <a:tcPr marL="68580" marR="68580" marT="34290" marB="34290" anchor="ctr"/>
                </a:tc>
                <a:tc>
                  <a:txBody>
                    <a:bodyPr/>
                    <a:lstStyle/>
                    <a:p>
                      <a:pPr marL="0" algn="ctr" defTabSz="914400" rtl="0" eaLnBrk="1" latinLnBrk="0" hangingPunct="1"/>
                      <a:r>
                        <a:rPr lang="en-US" altLang="zh-CN" sz="2100" kern="1200" dirty="0">
                          <a:solidFill>
                            <a:schemeClr val="tx1"/>
                          </a:solidFill>
                          <a:latin typeface="+mn-lt"/>
                          <a:ea typeface="+mn-ea"/>
                          <a:cs typeface="+mn-cs"/>
                        </a:rPr>
                        <a:t>90</a:t>
                      </a:r>
                      <a:endParaRPr lang="zh-CN" altLang="en-US" sz="2100" kern="1200" dirty="0">
                        <a:solidFill>
                          <a:schemeClr val="tx1"/>
                        </a:solidFill>
                        <a:latin typeface="+mn-lt"/>
                        <a:ea typeface="+mn-ea"/>
                        <a:cs typeface="+mn-cs"/>
                      </a:endParaRPr>
                    </a:p>
                  </a:txBody>
                  <a:tcPr marL="68580" marR="68580" marT="34290" marB="34290" anchor="ctr"/>
                </a:tc>
                <a:tc>
                  <a:txBody>
                    <a:bodyPr/>
                    <a:lstStyle/>
                    <a:p>
                      <a:pPr algn="ctr"/>
                      <a:r>
                        <a:rPr lang="en-US" altLang="zh-CN" sz="2100" dirty="0"/>
                        <a:t>62</a:t>
                      </a:r>
                      <a:endParaRPr lang="zh-CN" altLang="en-US" sz="2100" dirty="0"/>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b="1" dirty="0">
                          <a:solidFill>
                            <a:srgbClr val="FF0000"/>
                          </a:solidFill>
                        </a:rPr>
                        <a:t>71</a:t>
                      </a:r>
                      <a:endParaRPr lang="zh-CN" altLang="en-US" sz="2100" b="1" dirty="0">
                        <a:solidFill>
                          <a:srgbClr val="FF0000"/>
                        </a:solidFill>
                      </a:endParaRPr>
                    </a:p>
                  </a:txBody>
                  <a:tcPr marL="68580" marR="68580" marT="34290" marB="34290" anchor="ctr"/>
                </a:tc>
              </a:tr>
            </a:tbl>
          </a:graphicData>
        </a:graphic>
      </p:graphicFrame>
      <p:graphicFrame>
        <p:nvGraphicFramePr>
          <p:cNvPr id="8" name="表格 7"/>
          <p:cNvGraphicFramePr>
            <a:graphicFrameLocks noGrp="1"/>
          </p:cNvGraphicFramePr>
          <p:nvPr/>
        </p:nvGraphicFramePr>
        <p:xfrm>
          <a:off x="1204913" y="2406249"/>
          <a:ext cx="6734180" cy="499320"/>
        </p:xfrm>
        <a:graphic>
          <a:graphicData uri="http://schemas.openxmlformats.org/drawingml/2006/table">
            <a:tbl>
              <a:tblPr firstRow="1" bandRow="1">
                <a:tableStyleId>{2D5ABB26-0587-4C30-8999-92F81FD0307C}</a:tableStyleId>
              </a:tblPr>
              <a:tblGrid>
                <a:gridCol w="673418"/>
                <a:gridCol w="673418"/>
                <a:gridCol w="673418"/>
                <a:gridCol w="673418"/>
                <a:gridCol w="673418"/>
                <a:gridCol w="673418"/>
                <a:gridCol w="673418"/>
                <a:gridCol w="673418"/>
                <a:gridCol w="673418"/>
                <a:gridCol w="673418"/>
              </a:tblGrid>
              <a:tr h="499320">
                <a:tc>
                  <a:txBody>
                    <a:bodyPr/>
                    <a:lstStyle/>
                    <a:p>
                      <a:pPr algn="ctr"/>
                      <a:r>
                        <a:rPr lang="en-US" altLang="zh-CN" sz="2100" dirty="0"/>
                        <a:t>0</a:t>
                      </a:r>
                      <a:endParaRPr lang="zh-CN" altLang="en-US" sz="2100" dirty="0"/>
                    </a:p>
                  </a:txBody>
                  <a:tcPr marL="68580" marR="68580" marT="34290" marB="34290"/>
                </a:tc>
                <a:tc>
                  <a:txBody>
                    <a:bodyPr/>
                    <a:lstStyle/>
                    <a:p>
                      <a:pPr algn="ctr"/>
                      <a:r>
                        <a:rPr lang="en-US" altLang="zh-CN" sz="2100" dirty="0"/>
                        <a:t>1</a:t>
                      </a:r>
                      <a:endParaRPr lang="zh-CN" altLang="en-US" sz="2100" dirty="0"/>
                    </a:p>
                  </a:txBody>
                  <a:tcPr marL="68580" marR="68580" marT="34290" marB="34290"/>
                </a:tc>
                <a:tc>
                  <a:txBody>
                    <a:bodyPr/>
                    <a:lstStyle/>
                    <a:p>
                      <a:pPr algn="ctr"/>
                      <a:r>
                        <a:rPr lang="en-US" altLang="zh-CN" sz="2100" dirty="0"/>
                        <a:t>2</a:t>
                      </a:r>
                      <a:endParaRPr lang="zh-CN" altLang="en-US" sz="2100" dirty="0"/>
                    </a:p>
                  </a:txBody>
                  <a:tcPr marL="68580" marR="68580" marT="34290" marB="34290"/>
                </a:tc>
                <a:tc>
                  <a:txBody>
                    <a:bodyPr/>
                    <a:lstStyle/>
                    <a:p>
                      <a:pPr algn="ctr"/>
                      <a:r>
                        <a:rPr lang="en-US" altLang="zh-CN" sz="2100" dirty="0"/>
                        <a:t>3</a:t>
                      </a:r>
                      <a:endParaRPr lang="zh-CN" altLang="en-US" sz="2100" dirty="0"/>
                    </a:p>
                  </a:txBody>
                  <a:tcPr marL="68580" marR="68580" marT="34290" marB="34290"/>
                </a:tc>
                <a:tc>
                  <a:txBody>
                    <a:bodyPr/>
                    <a:lstStyle/>
                    <a:p>
                      <a:pPr algn="ctr"/>
                      <a:r>
                        <a:rPr lang="en-US" altLang="zh-CN" sz="2100" dirty="0"/>
                        <a:t>4</a:t>
                      </a:r>
                      <a:endParaRPr lang="zh-CN" altLang="en-US" sz="2100" dirty="0"/>
                    </a:p>
                  </a:txBody>
                  <a:tcPr marL="68580" marR="68580" marT="34290" marB="34290"/>
                </a:tc>
                <a:tc>
                  <a:txBody>
                    <a:bodyPr/>
                    <a:lstStyle/>
                    <a:p>
                      <a:pPr algn="ctr"/>
                      <a:r>
                        <a:rPr lang="en-US" altLang="zh-CN" sz="2100" dirty="0"/>
                        <a:t>5</a:t>
                      </a:r>
                      <a:endParaRPr lang="zh-CN" altLang="en-US" sz="2100" dirty="0"/>
                    </a:p>
                  </a:txBody>
                  <a:tcPr marL="68580" marR="68580" marT="34290" marB="34290"/>
                </a:tc>
                <a:tc>
                  <a:txBody>
                    <a:bodyPr/>
                    <a:lstStyle/>
                    <a:p>
                      <a:pPr algn="ctr"/>
                      <a:r>
                        <a:rPr lang="en-US" altLang="zh-CN" sz="2100" dirty="0"/>
                        <a:t>6</a:t>
                      </a:r>
                      <a:endParaRPr lang="zh-CN" altLang="en-US" sz="2100" dirty="0"/>
                    </a:p>
                  </a:txBody>
                  <a:tcPr marL="68580" marR="68580" marT="34290" marB="34290"/>
                </a:tc>
                <a:tc>
                  <a:txBody>
                    <a:bodyPr/>
                    <a:lstStyle/>
                    <a:p>
                      <a:pPr algn="ctr"/>
                      <a:r>
                        <a:rPr lang="en-US" altLang="zh-CN" sz="2100" dirty="0"/>
                        <a:t>7</a:t>
                      </a:r>
                      <a:endParaRPr lang="zh-CN" altLang="en-US" sz="2100" dirty="0"/>
                    </a:p>
                  </a:txBody>
                  <a:tcPr marL="68580" marR="68580" marT="34290" marB="34290"/>
                </a:tc>
                <a:tc>
                  <a:txBody>
                    <a:bodyPr/>
                    <a:lstStyle/>
                    <a:p>
                      <a:pPr algn="ctr"/>
                      <a:r>
                        <a:rPr lang="en-US" altLang="zh-CN" sz="2100" dirty="0"/>
                        <a:t>8</a:t>
                      </a:r>
                      <a:endParaRPr lang="zh-CN" altLang="en-US" sz="2100" dirty="0"/>
                    </a:p>
                  </a:txBody>
                  <a:tcPr marL="68580" marR="68580" marT="34290" marB="34290"/>
                </a:tc>
                <a:tc>
                  <a:txBody>
                    <a:bodyPr/>
                    <a:lstStyle/>
                    <a:p>
                      <a:pPr algn="ctr"/>
                      <a:r>
                        <a:rPr lang="en-US" altLang="zh-CN" sz="2100" dirty="0"/>
                        <a:t>9</a:t>
                      </a:r>
                      <a:endParaRPr lang="zh-CN" altLang="en-US" sz="2100" dirty="0"/>
                    </a:p>
                  </a:txBody>
                  <a:tcPr marL="68580" marR="68580" marT="34290" marB="34290"/>
                </a:tc>
              </a:tr>
            </a:tbl>
          </a:graphicData>
        </a:graphic>
      </p:graphicFrame>
      <p:cxnSp>
        <p:nvCxnSpPr>
          <p:cNvPr id="9" name="直接箭头连接符 8"/>
          <p:cNvCxnSpPr/>
          <p:nvPr/>
        </p:nvCxnSpPr>
        <p:spPr>
          <a:xfrm flipV="1">
            <a:off x="7591425" y="3459923"/>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1560908" y="3459923"/>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3"/>
          <p:cNvSpPr txBox="1">
            <a:spLocks noChangeArrowheads="1"/>
          </p:cNvSpPr>
          <p:nvPr/>
        </p:nvSpPr>
        <p:spPr>
          <a:xfrm>
            <a:off x="7308058" y="3905082"/>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front</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2" name="Rectangle 3"/>
          <p:cNvSpPr txBox="1">
            <a:spLocks noChangeArrowheads="1"/>
          </p:cNvSpPr>
          <p:nvPr/>
        </p:nvSpPr>
        <p:spPr>
          <a:xfrm>
            <a:off x="1184073" y="3905082"/>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rear</a:t>
            </a:r>
            <a:endParaRPr lang="zh-CN" altLang="en-US" sz="2100" b="1" dirty="0">
              <a:solidFill>
                <a:prstClr val="black"/>
              </a:solidFill>
              <a:latin typeface="等线" panose="02010600030101010101" pitchFamily="2" charset="-122"/>
              <a:ea typeface="等线" panose="02010600030101010101" pitchFamily="2" charset="-122"/>
            </a:endParaRPr>
          </a:p>
        </p:txBody>
      </p:sp>
      <p:cxnSp>
        <p:nvCxnSpPr>
          <p:cNvPr id="16" name="直接箭头连接符 15"/>
          <p:cNvCxnSpPr/>
          <p:nvPr/>
        </p:nvCxnSpPr>
        <p:spPr>
          <a:xfrm>
            <a:off x="1641277" y="3926287"/>
            <a:ext cx="552449" cy="0"/>
          </a:xfrm>
          <a:prstGeom prst="straightConnector1">
            <a:avLst/>
          </a:prstGeom>
          <a:ln w="38100">
            <a:solidFill>
              <a:srgbClr val="0000FF"/>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7591425" y="3719445"/>
            <a:ext cx="552449" cy="0"/>
          </a:xfrm>
          <a:prstGeom prst="straightConnector1">
            <a:avLst/>
          </a:prstGeom>
          <a:ln w="38100">
            <a:solidFill>
              <a:srgbClr val="0000FF"/>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任意多边形: 形状 1"/>
          <p:cNvSpPr/>
          <p:nvPr/>
        </p:nvSpPr>
        <p:spPr>
          <a:xfrm>
            <a:off x="366502" y="2336479"/>
            <a:ext cx="8460099" cy="816296"/>
          </a:xfrm>
          <a:custGeom>
            <a:avLst/>
            <a:gdLst>
              <a:gd name="connsiteX0" fmla="*/ 10103131 w 11280132"/>
              <a:gd name="connsiteY0" fmla="*/ 990799 h 990799"/>
              <a:gd name="connsiteX1" fmla="*/ 10979431 w 11280132"/>
              <a:gd name="connsiteY1" fmla="*/ 419299 h 990799"/>
              <a:gd name="connsiteX2" fmla="*/ 5556531 w 11280132"/>
              <a:gd name="connsiteY2" fmla="*/ 199 h 990799"/>
              <a:gd name="connsiteX3" fmla="*/ 298731 w 11280132"/>
              <a:gd name="connsiteY3" fmla="*/ 470099 h 990799"/>
              <a:gd name="connsiteX4" fmla="*/ 1111531 w 11280132"/>
              <a:gd name="connsiteY4" fmla="*/ 914599 h 990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0132" h="990799">
                <a:moveTo>
                  <a:pt x="10103131" y="990799"/>
                </a:moveTo>
                <a:cubicBezTo>
                  <a:pt x="10920164" y="787599"/>
                  <a:pt x="11737198" y="584399"/>
                  <a:pt x="10979431" y="419299"/>
                </a:cubicBezTo>
                <a:cubicBezTo>
                  <a:pt x="10221664" y="254199"/>
                  <a:pt x="7336648" y="-8268"/>
                  <a:pt x="5556531" y="199"/>
                </a:cubicBezTo>
                <a:cubicBezTo>
                  <a:pt x="3776414" y="8666"/>
                  <a:pt x="1039564" y="317699"/>
                  <a:pt x="298731" y="470099"/>
                </a:cubicBezTo>
                <a:cubicBezTo>
                  <a:pt x="-442102" y="622499"/>
                  <a:pt x="334714" y="768549"/>
                  <a:pt x="1111531" y="914599"/>
                </a:cubicBezTo>
              </a:path>
            </a:pathLst>
          </a:custGeom>
          <a:noFill/>
          <a:ln w="38100">
            <a:solidFill>
              <a:srgbClr val="FF0000"/>
            </a:solidFill>
            <a:prstDash val="sysDot"/>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等线" panose="02010600030101010101" pitchFamily="2" charset="-122"/>
              <a:ea typeface="等线" panose="02010600030101010101" pitchFamily="2" charset="-122"/>
            </a:endParaRPr>
          </a:p>
        </p:txBody>
      </p:sp>
      <p:sp>
        <p:nvSpPr>
          <p:cNvPr id="14" name="矩形 13"/>
          <p:cNvSpPr/>
          <p:nvPr/>
        </p:nvSpPr>
        <p:spPr>
          <a:xfrm>
            <a:off x="1601981" y="3449127"/>
            <a:ext cx="1027505" cy="577081"/>
          </a:xfrm>
          <a:prstGeom prst="rect">
            <a:avLst/>
          </a:prstGeom>
        </p:spPr>
        <p:txBody>
          <a:bodyPr wrap="square">
            <a:spAutoFit/>
          </a:bodyPr>
          <a:lstStyle/>
          <a:p>
            <a:pPr defTabSz="685800" eaLnBrk="0" hangingPunct="0">
              <a:lnSpc>
                <a:spcPct val="150000"/>
              </a:lnSpc>
              <a:defRPr/>
            </a:pPr>
            <a:r>
              <a:rPr lang="en-US" altLang="zh-CN" sz="2100" b="1" dirty="0">
                <a:solidFill>
                  <a:prstClr val="black"/>
                </a:solidFill>
                <a:latin typeface="黑体" panose="02010609060101010101" pitchFamily="49" charset="-122"/>
                <a:ea typeface="黑体" panose="02010609060101010101" pitchFamily="49" charset="-122"/>
              </a:rPr>
              <a:t>86</a:t>
            </a:r>
            <a:r>
              <a:rPr lang="zh-CN" altLang="en-US" sz="2100" b="1" dirty="0">
                <a:solidFill>
                  <a:prstClr val="black"/>
                </a:solidFill>
                <a:latin typeface="黑体" panose="02010609060101010101" pitchFamily="49" charset="-122"/>
                <a:ea typeface="黑体" panose="02010609060101010101" pitchFamily="49" charset="-122"/>
              </a:rPr>
              <a:t>入队</a:t>
            </a:r>
            <a:endParaRPr lang="zh-CN" altLang="en-US" sz="2100" dirty="0">
              <a:solidFill>
                <a:srgbClr val="FF0000"/>
              </a:solidFill>
              <a:latin typeface="等线" panose="02010600030101010101" pitchFamily="2" charset="-122"/>
              <a:ea typeface="等线" panose="02010600030101010101" pitchFamily="2" charset="-122"/>
            </a:endParaRPr>
          </a:p>
        </p:txBody>
      </p:sp>
      <p:sp>
        <p:nvSpPr>
          <p:cNvPr id="4" name="矩形 3"/>
          <p:cNvSpPr/>
          <p:nvPr/>
        </p:nvSpPr>
        <p:spPr>
          <a:xfrm>
            <a:off x="464643" y="4389691"/>
            <a:ext cx="8361958" cy="1061829"/>
          </a:xfrm>
          <a:prstGeom prst="rect">
            <a:avLst/>
          </a:prstGeom>
        </p:spPr>
        <p:txBody>
          <a:bodyPr wrap="square">
            <a:spAutoFit/>
          </a:bodyPr>
          <a:lstStyle/>
          <a:p>
            <a:pPr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可以将为队列分配空间看成为一个首尾相接的圆环，并称这种队列为循环队列。</a:t>
            </a:r>
            <a:endParaRPr lang="zh-CN" altLang="en-US" sz="2100" b="1" dirty="0">
              <a:solidFill>
                <a:prstClr val="black"/>
              </a:solidFill>
              <a:latin typeface="黑体" panose="02010609060101010101" pitchFamily="49" charset="-122"/>
              <a:ea typeface="黑体" panose="02010609060101010101" pitchFamily="49" charset="-122"/>
            </a:endParaRPr>
          </a:p>
        </p:txBody>
      </p:sp>
      <p:sp>
        <p:nvSpPr>
          <p:cNvPr id="19" name="矩形 18"/>
          <p:cNvSpPr/>
          <p:nvPr/>
        </p:nvSpPr>
        <p:spPr>
          <a:xfrm>
            <a:off x="464643" y="5341836"/>
            <a:ext cx="8079283" cy="577081"/>
          </a:xfrm>
          <a:prstGeom prst="rect">
            <a:avLst/>
          </a:prstGeom>
        </p:spPr>
        <p:txBody>
          <a:bodyPr wrap="square">
            <a:spAutoFit/>
          </a:bodyPr>
          <a:lstStyle/>
          <a:p>
            <a:pPr defTabSz="685800">
              <a:lnSpc>
                <a:spcPct val="150000"/>
              </a:lnSpc>
              <a:defRPr/>
            </a:pPr>
            <a:r>
              <a:rPr lang="zh-CN" altLang="en-US" sz="2100" b="1" dirty="0">
                <a:solidFill>
                  <a:srgbClr val="FF0000"/>
                </a:solidFill>
                <a:latin typeface="黑体" panose="02010609060101010101" pitchFamily="49" charset="-122"/>
                <a:ea typeface="黑体" panose="02010609060101010101" pitchFamily="49" charset="-122"/>
              </a:rPr>
              <a:t>本质：</a:t>
            </a:r>
            <a:r>
              <a:rPr lang="en-US" altLang="zh-CN" sz="2100" b="1" dirty="0">
                <a:solidFill>
                  <a:srgbClr val="FF0000"/>
                </a:solidFill>
                <a:latin typeface="黑体" panose="02010609060101010101" pitchFamily="49" charset="-122"/>
                <a:ea typeface="黑体" panose="02010609060101010101" pitchFamily="49" charset="-122"/>
              </a:rPr>
              <a:t>rear</a:t>
            </a:r>
            <a:r>
              <a:rPr lang="zh-CN" altLang="en-US" sz="2100" b="1" dirty="0">
                <a:solidFill>
                  <a:srgbClr val="FF0000"/>
                </a:solidFill>
                <a:latin typeface="黑体" panose="02010609060101010101" pitchFamily="49" charset="-122"/>
                <a:ea typeface="黑体" panose="02010609060101010101" pitchFamily="49" charset="-122"/>
              </a:rPr>
              <a:t>和</a:t>
            </a:r>
            <a:r>
              <a:rPr lang="en-US" altLang="zh-CN" sz="2100" b="1" dirty="0">
                <a:solidFill>
                  <a:srgbClr val="FF0000"/>
                </a:solidFill>
                <a:latin typeface="黑体" panose="02010609060101010101" pitchFamily="49" charset="-122"/>
                <a:ea typeface="黑体" panose="02010609060101010101" pitchFamily="49" charset="-122"/>
              </a:rPr>
              <a:t>front</a:t>
            </a:r>
            <a:r>
              <a:rPr lang="zh-CN" altLang="en-US" sz="2100" b="1" dirty="0">
                <a:solidFill>
                  <a:srgbClr val="FF0000"/>
                </a:solidFill>
                <a:latin typeface="黑体" panose="02010609060101010101" pitchFamily="49" charset="-122"/>
                <a:ea typeface="黑体" panose="02010609060101010101" pitchFamily="49" charset="-122"/>
              </a:rPr>
              <a:t>在结尾处完成向开始的跳转。</a:t>
            </a:r>
            <a:r>
              <a:rPr lang="en-US" altLang="zh-CN" sz="2100" b="1" dirty="0">
                <a:solidFill>
                  <a:srgbClr val="0000FF"/>
                </a:solidFill>
                <a:latin typeface="黑体" panose="02010609060101010101" pitchFamily="49" charset="-122"/>
                <a:ea typeface="黑体" panose="02010609060101010101" pitchFamily="49" charset="-122"/>
              </a:rPr>
              <a:t>9         0</a:t>
            </a:r>
            <a:endParaRPr lang="zh-CN" altLang="en-US" sz="2100" b="1" dirty="0">
              <a:solidFill>
                <a:srgbClr val="0000FF"/>
              </a:solidFill>
              <a:latin typeface="黑体" panose="02010609060101010101" pitchFamily="49" charset="-122"/>
              <a:ea typeface="黑体" panose="02010609060101010101" pitchFamily="49" charset="-122"/>
            </a:endParaRPr>
          </a:p>
        </p:txBody>
      </p:sp>
      <p:cxnSp>
        <p:nvCxnSpPr>
          <p:cNvPr id="20" name="直接箭头连接符 19"/>
          <p:cNvCxnSpPr/>
          <p:nvPr/>
        </p:nvCxnSpPr>
        <p:spPr>
          <a:xfrm>
            <a:off x="6525225" y="5643495"/>
            <a:ext cx="1066200" cy="0"/>
          </a:xfrm>
          <a:prstGeom prst="straightConnector1">
            <a:avLst/>
          </a:prstGeom>
          <a:ln w="38100">
            <a:solidFill>
              <a:srgbClr val="0000FF"/>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nvGraphicFramePr>
        <p:xfrm>
          <a:off x="1204913" y="2218498"/>
          <a:ext cx="6734180" cy="698501"/>
        </p:xfrm>
        <a:graphic>
          <a:graphicData uri="http://schemas.openxmlformats.org/drawingml/2006/table">
            <a:tbl>
              <a:tblPr firstRow="1" bandRow="1">
                <a:tableStyleId>{5940675A-B579-460E-94D1-54222C63F5DA}</a:tableStyleId>
              </a:tblPr>
              <a:tblGrid>
                <a:gridCol w="673418"/>
                <a:gridCol w="673418"/>
                <a:gridCol w="673418"/>
                <a:gridCol w="673418"/>
                <a:gridCol w="673418"/>
                <a:gridCol w="673418"/>
                <a:gridCol w="673418"/>
                <a:gridCol w="673418"/>
                <a:gridCol w="673418"/>
                <a:gridCol w="673418"/>
              </a:tblGrid>
              <a:tr h="698501">
                <a:tc>
                  <a:txBody>
                    <a:bodyPr/>
                    <a:lstStyle/>
                    <a:p>
                      <a:pPr algn="ctr"/>
                      <a:r>
                        <a:rPr lang="en-US" altLang="zh-CN" sz="2100" b="1" dirty="0">
                          <a:solidFill>
                            <a:srgbClr val="FF0000"/>
                          </a:solidFill>
                        </a:rPr>
                        <a:t>86</a:t>
                      </a:r>
                      <a:endParaRPr lang="zh-CN" altLang="en-US" sz="2100" b="1" dirty="0">
                        <a:solidFill>
                          <a:srgbClr val="FF0000"/>
                        </a:solidFill>
                      </a:endParaRPr>
                    </a:p>
                  </a:txBody>
                  <a:tcPr marL="68580" marR="68580" marT="34290" marB="34290" anchor="ctr"/>
                </a:tc>
                <a:tc>
                  <a:txBody>
                    <a:bodyPr/>
                    <a:lstStyle/>
                    <a:p>
                      <a:pPr marL="0" algn="ctr" defTabSz="914400" rtl="0" eaLnBrk="1" latinLnBrk="0" hangingPunct="1"/>
                      <a:r>
                        <a:rPr lang="en-US" altLang="zh-CN" sz="2100" kern="1200" dirty="0">
                          <a:solidFill>
                            <a:schemeClr val="tx1"/>
                          </a:solidFill>
                          <a:latin typeface="+mn-lt"/>
                          <a:ea typeface="+mn-ea"/>
                          <a:cs typeface="+mn-cs"/>
                        </a:rPr>
                        <a:t>42</a:t>
                      </a:r>
                      <a:endParaRPr lang="zh-CN" altLang="en-US" sz="2100" kern="1200" dirty="0">
                        <a:solidFill>
                          <a:schemeClr val="tx1"/>
                        </a:solidFill>
                        <a:latin typeface="+mn-lt"/>
                        <a:ea typeface="+mn-ea"/>
                        <a:cs typeface="+mn-cs"/>
                      </a:endParaRPr>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dirty="0"/>
                        <a:t>26</a:t>
                      </a:r>
                      <a:endParaRPr lang="zh-CN" altLang="en-US" sz="2100" dirty="0"/>
                    </a:p>
                  </a:txBody>
                  <a:tcPr marL="68580" marR="68580" marT="34290" marB="34290" anchor="ctr"/>
                </a:tc>
                <a:tc>
                  <a:txBody>
                    <a:bodyPr/>
                    <a:lstStyle/>
                    <a:p>
                      <a:pPr algn="ctr"/>
                      <a:r>
                        <a:rPr lang="en-US" altLang="zh-CN" sz="2100" dirty="0"/>
                        <a:t>74</a:t>
                      </a:r>
                      <a:endParaRPr lang="zh-CN" altLang="en-US" sz="2100" dirty="0"/>
                    </a:p>
                  </a:txBody>
                  <a:tcPr marL="68580" marR="68580" marT="34290" marB="34290" anchor="ctr"/>
                </a:tc>
                <a:tc>
                  <a:txBody>
                    <a:bodyPr/>
                    <a:lstStyle/>
                    <a:p>
                      <a:pPr algn="ctr"/>
                      <a:r>
                        <a:rPr lang="en-US" altLang="zh-CN" sz="2100" dirty="0"/>
                        <a:t>63</a:t>
                      </a:r>
                      <a:endParaRPr lang="zh-CN" altLang="en-US" sz="2100" dirty="0"/>
                    </a:p>
                  </a:txBody>
                  <a:tcPr marL="68580" marR="68580" marT="34290" marB="34290" anchor="ctr"/>
                </a:tc>
                <a:tc>
                  <a:txBody>
                    <a:bodyPr/>
                    <a:lstStyle/>
                    <a:p>
                      <a:pPr marL="0" algn="ctr" defTabSz="914400" rtl="0" eaLnBrk="1" latinLnBrk="0" hangingPunct="1"/>
                      <a:r>
                        <a:rPr lang="en-US" altLang="zh-CN" sz="2100" kern="1200" dirty="0">
                          <a:solidFill>
                            <a:schemeClr val="tx1"/>
                          </a:solidFill>
                          <a:latin typeface="+mn-lt"/>
                          <a:ea typeface="+mn-ea"/>
                          <a:cs typeface="+mn-cs"/>
                        </a:rPr>
                        <a:t>90</a:t>
                      </a:r>
                      <a:endParaRPr lang="zh-CN" altLang="en-US" sz="2100" kern="1200" dirty="0">
                        <a:solidFill>
                          <a:schemeClr val="tx1"/>
                        </a:solidFill>
                        <a:latin typeface="+mn-lt"/>
                        <a:ea typeface="+mn-ea"/>
                        <a:cs typeface="+mn-cs"/>
                      </a:endParaRPr>
                    </a:p>
                  </a:txBody>
                  <a:tcPr marL="68580" marR="68580" marT="34290" marB="34290" anchor="ctr"/>
                </a:tc>
                <a:tc>
                  <a:txBody>
                    <a:bodyPr/>
                    <a:lstStyle/>
                    <a:p>
                      <a:pPr algn="ctr"/>
                      <a:r>
                        <a:rPr lang="en-US" altLang="zh-CN" sz="2100" dirty="0"/>
                        <a:t>62</a:t>
                      </a:r>
                      <a:endParaRPr lang="zh-CN" altLang="en-US" sz="2100" dirty="0"/>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b="1" dirty="0">
                          <a:solidFill>
                            <a:srgbClr val="FF0000"/>
                          </a:solidFill>
                        </a:rPr>
                        <a:t>71</a:t>
                      </a:r>
                      <a:endParaRPr lang="zh-CN" altLang="en-US" sz="2100" b="1" dirty="0">
                        <a:solidFill>
                          <a:srgbClr val="FF0000"/>
                        </a:solidFill>
                      </a:endParaRPr>
                    </a:p>
                  </a:txBody>
                  <a:tcPr marL="68580" marR="68580" marT="34290" marB="34290" anchor="ctr"/>
                </a:tc>
              </a:tr>
            </a:tbl>
          </a:graphicData>
        </a:graphic>
      </p:graphicFrame>
      <p:graphicFrame>
        <p:nvGraphicFramePr>
          <p:cNvPr id="8" name="表格 7"/>
          <p:cNvGraphicFramePr>
            <a:graphicFrameLocks noGrp="1"/>
          </p:cNvGraphicFramePr>
          <p:nvPr/>
        </p:nvGraphicFramePr>
        <p:xfrm>
          <a:off x="1204913" y="1863324"/>
          <a:ext cx="6734180" cy="499320"/>
        </p:xfrm>
        <a:graphic>
          <a:graphicData uri="http://schemas.openxmlformats.org/drawingml/2006/table">
            <a:tbl>
              <a:tblPr firstRow="1" bandRow="1">
                <a:tableStyleId>{2D5ABB26-0587-4C30-8999-92F81FD0307C}</a:tableStyleId>
              </a:tblPr>
              <a:tblGrid>
                <a:gridCol w="673418"/>
                <a:gridCol w="673418"/>
                <a:gridCol w="673418"/>
                <a:gridCol w="673418"/>
                <a:gridCol w="673418"/>
                <a:gridCol w="673418"/>
                <a:gridCol w="673418"/>
                <a:gridCol w="673418"/>
                <a:gridCol w="673418"/>
                <a:gridCol w="673418"/>
              </a:tblGrid>
              <a:tr h="499320">
                <a:tc>
                  <a:txBody>
                    <a:bodyPr/>
                    <a:lstStyle/>
                    <a:p>
                      <a:pPr algn="ctr"/>
                      <a:r>
                        <a:rPr lang="en-US" altLang="zh-CN" sz="2100" dirty="0"/>
                        <a:t>0</a:t>
                      </a:r>
                      <a:endParaRPr lang="zh-CN" altLang="en-US" sz="2100" dirty="0"/>
                    </a:p>
                  </a:txBody>
                  <a:tcPr marL="68580" marR="68580" marT="34290" marB="34290"/>
                </a:tc>
                <a:tc>
                  <a:txBody>
                    <a:bodyPr/>
                    <a:lstStyle/>
                    <a:p>
                      <a:pPr algn="ctr"/>
                      <a:r>
                        <a:rPr lang="en-US" altLang="zh-CN" sz="2100" dirty="0"/>
                        <a:t>1</a:t>
                      </a:r>
                      <a:endParaRPr lang="zh-CN" altLang="en-US" sz="2100" dirty="0"/>
                    </a:p>
                  </a:txBody>
                  <a:tcPr marL="68580" marR="68580" marT="34290" marB="34290"/>
                </a:tc>
                <a:tc>
                  <a:txBody>
                    <a:bodyPr/>
                    <a:lstStyle/>
                    <a:p>
                      <a:pPr algn="ctr"/>
                      <a:r>
                        <a:rPr lang="en-US" altLang="zh-CN" sz="2100" dirty="0"/>
                        <a:t>2</a:t>
                      </a:r>
                      <a:endParaRPr lang="zh-CN" altLang="en-US" sz="2100" dirty="0"/>
                    </a:p>
                  </a:txBody>
                  <a:tcPr marL="68580" marR="68580" marT="34290" marB="34290"/>
                </a:tc>
                <a:tc>
                  <a:txBody>
                    <a:bodyPr/>
                    <a:lstStyle/>
                    <a:p>
                      <a:pPr algn="ctr"/>
                      <a:r>
                        <a:rPr lang="en-US" altLang="zh-CN" sz="2100" dirty="0"/>
                        <a:t>3</a:t>
                      </a:r>
                      <a:endParaRPr lang="zh-CN" altLang="en-US" sz="2100" dirty="0"/>
                    </a:p>
                  </a:txBody>
                  <a:tcPr marL="68580" marR="68580" marT="34290" marB="34290"/>
                </a:tc>
                <a:tc>
                  <a:txBody>
                    <a:bodyPr/>
                    <a:lstStyle/>
                    <a:p>
                      <a:pPr algn="ctr"/>
                      <a:r>
                        <a:rPr lang="en-US" altLang="zh-CN" sz="2100" dirty="0"/>
                        <a:t>4</a:t>
                      </a:r>
                      <a:endParaRPr lang="zh-CN" altLang="en-US" sz="2100" dirty="0"/>
                    </a:p>
                  </a:txBody>
                  <a:tcPr marL="68580" marR="68580" marT="34290" marB="34290"/>
                </a:tc>
                <a:tc>
                  <a:txBody>
                    <a:bodyPr/>
                    <a:lstStyle/>
                    <a:p>
                      <a:pPr algn="ctr"/>
                      <a:r>
                        <a:rPr lang="en-US" altLang="zh-CN" sz="2100" dirty="0"/>
                        <a:t>5</a:t>
                      </a:r>
                      <a:endParaRPr lang="zh-CN" altLang="en-US" sz="2100" dirty="0"/>
                    </a:p>
                  </a:txBody>
                  <a:tcPr marL="68580" marR="68580" marT="34290" marB="34290"/>
                </a:tc>
                <a:tc>
                  <a:txBody>
                    <a:bodyPr/>
                    <a:lstStyle/>
                    <a:p>
                      <a:pPr algn="ctr"/>
                      <a:r>
                        <a:rPr lang="en-US" altLang="zh-CN" sz="2100" dirty="0"/>
                        <a:t>6</a:t>
                      </a:r>
                      <a:endParaRPr lang="zh-CN" altLang="en-US" sz="2100" dirty="0"/>
                    </a:p>
                  </a:txBody>
                  <a:tcPr marL="68580" marR="68580" marT="34290" marB="34290"/>
                </a:tc>
                <a:tc>
                  <a:txBody>
                    <a:bodyPr/>
                    <a:lstStyle/>
                    <a:p>
                      <a:pPr algn="ctr"/>
                      <a:r>
                        <a:rPr lang="en-US" altLang="zh-CN" sz="2100" dirty="0"/>
                        <a:t>7</a:t>
                      </a:r>
                      <a:endParaRPr lang="zh-CN" altLang="en-US" sz="2100" dirty="0"/>
                    </a:p>
                  </a:txBody>
                  <a:tcPr marL="68580" marR="68580" marT="34290" marB="34290"/>
                </a:tc>
                <a:tc>
                  <a:txBody>
                    <a:bodyPr/>
                    <a:lstStyle/>
                    <a:p>
                      <a:pPr algn="ctr"/>
                      <a:r>
                        <a:rPr lang="en-US" altLang="zh-CN" sz="2100" dirty="0"/>
                        <a:t>8</a:t>
                      </a:r>
                      <a:endParaRPr lang="zh-CN" altLang="en-US" sz="2100" dirty="0"/>
                    </a:p>
                  </a:txBody>
                  <a:tcPr marL="68580" marR="68580" marT="34290" marB="34290"/>
                </a:tc>
                <a:tc>
                  <a:txBody>
                    <a:bodyPr/>
                    <a:lstStyle/>
                    <a:p>
                      <a:pPr algn="ctr"/>
                      <a:r>
                        <a:rPr lang="en-US" altLang="zh-CN" sz="2100" dirty="0"/>
                        <a:t>9</a:t>
                      </a:r>
                      <a:endParaRPr lang="zh-CN" altLang="en-US" sz="2100" dirty="0"/>
                    </a:p>
                  </a:txBody>
                  <a:tcPr marL="68580" marR="68580" marT="34290" marB="34290"/>
                </a:tc>
              </a:tr>
            </a:tbl>
          </a:graphicData>
        </a:graphic>
      </p:graphicFrame>
      <p:cxnSp>
        <p:nvCxnSpPr>
          <p:cNvPr id="9" name="直接箭头连接符 8"/>
          <p:cNvCxnSpPr/>
          <p:nvPr/>
        </p:nvCxnSpPr>
        <p:spPr>
          <a:xfrm flipV="1">
            <a:off x="7579818" y="2906202"/>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1560908" y="2916998"/>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3"/>
          <p:cNvSpPr txBox="1">
            <a:spLocks noChangeArrowheads="1"/>
          </p:cNvSpPr>
          <p:nvPr/>
        </p:nvSpPr>
        <p:spPr>
          <a:xfrm>
            <a:off x="7244960" y="3324322"/>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front</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2" name="Rectangle 3"/>
          <p:cNvSpPr txBox="1">
            <a:spLocks noChangeArrowheads="1"/>
          </p:cNvSpPr>
          <p:nvPr/>
        </p:nvSpPr>
        <p:spPr>
          <a:xfrm>
            <a:off x="1081686" y="3341942"/>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rear</a:t>
            </a:r>
            <a:endParaRPr lang="zh-CN" altLang="en-US" sz="2100" b="1" dirty="0">
              <a:solidFill>
                <a:prstClr val="black"/>
              </a:solidFill>
              <a:latin typeface="等线" panose="02010600030101010101" pitchFamily="2" charset="-122"/>
              <a:ea typeface="等线" panose="02010600030101010101" pitchFamily="2" charset="-122"/>
            </a:endParaRPr>
          </a:p>
        </p:txBody>
      </p:sp>
      <p:cxnSp>
        <p:nvCxnSpPr>
          <p:cNvPr id="16" name="直接箭头连接符 15"/>
          <p:cNvCxnSpPr/>
          <p:nvPr/>
        </p:nvCxnSpPr>
        <p:spPr>
          <a:xfrm>
            <a:off x="1641277" y="3341942"/>
            <a:ext cx="552449" cy="0"/>
          </a:xfrm>
          <a:prstGeom prst="straightConnector1">
            <a:avLst/>
          </a:prstGeom>
          <a:ln w="38100">
            <a:solidFill>
              <a:srgbClr val="0000FF"/>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7662868" y="3202680"/>
            <a:ext cx="552449" cy="0"/>
          </a:xfrm>
          <a:prstGeom prst="straightConnector1">
            <a:avLst/>
          </a:prstGeom>
          <a:ln w="38100">
            <a:solidFill>
              <a:srgbClr val="0000FF"/>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任意多边形: 形状 1"/>
          <p:cNvSpPr/>
          <p:nvPr/>
        </p:nvSpPr>
        <p:spPr>
          <a:xfrm>
            <a:off x="366502" y="1793554"/>
            <a:ext cx="8460099" cy="816296"/>
          </a:xfrm>
          <a:custGeom>
            <a:avLst/>
            <a:gdLst>
              <a:gd name="connsiteX0" fmla="*/ 10103131 w 11280132"/>
              <a:gd name="connsiteY0" fmla="*/ 990799 h 990799"/>
              <a:gd name="connsiteX1" fmla="*/ 10979431 w 11280132"/>
              <a:gd name="connsiteY1" fmla="*/ 419299 h 990799"/>
              <a:gd name="connsiteX2" fmla="*/ 5556531 w 11280132"/>
              <a:gd name="connsiteY2" fmla="*/ 199 h 990799"/>
              <a:gd name="connsiteX3" fmla="*/ 298731 w 11280132"/>
              <a:gd name="connsiteY3" fmla="*/ 470099 h 990799"/>
              <a:gd name="connsiteX4" fmla="*/ 1111531 w 11280132"/>
              <a:gd name="connsiteY4" fmla="*/ 914599 h 990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0132" h="990799">
                <a:moveTo>
                  <a:pt x="10103131" y="990799"/>
                </a:moveTo>
                <a:cubicBezTo>
                  <a:pt x="10920164" y="787599"/>
                  <a:pt x="11737198" y="584399"/>
                  <a:pt x="10979431" y="419299"/>
                </a:cubicBezTo>
                <a:cubicBezTo>
                  <a:pt x="10221664" y="254199"/>
                  <a:pt x="7336648" y="-8268"/>
                  <a:pt x="5556531" y="199"/>
                </a:cubicBezTo>
                <a:cubicBezTo>
                  <a:pt x="3776414" y="8666"/>
                  <a:pt x="1039564" y="317699"/>
                  <a:pt x="298731" y="470099"/>
                </a:cubicBezTo>
                <a:cubicBezTo>
                  <a:pt x="-442102" y="622499"/>
                  <a:pt x="334714" y="768549"/>
                  <a:pt x="1111531" y="914599"/>
                </a:cubicBezTo>
              </a:path>
            </a:pathLst>
          </a:custGeom>
          <a:noFill/>
          <a:ln w="38100">
            <a:solidFill>
              <a:srgbClr val="FF0000"/>
            </a:solidFill>
            <a:prstDash val="sysDot"/>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等线" panose="02010600030101010101" pitchFamily="2" charset="-122"/>
              <a:ea typeface="等线" panose="02010600030101010101" pitchFamily="2" charset="-122"/>
            </a:endParaRPr>
          </a:p>
        </p:txBody>
      </p:sp>
      <p:sp>
        <p:nvSpPr>
          <p:cNvPr id="14" name="矩形 13"/>
          <p:cNvSpPr/>
          <p:nvPr/>
        </p:nvSpPr>
        <p:spPr>
          <a:xfrm>
            <a:off x="1601981" y="2906202"/>
            <a:ext cx="1027505" cy="577081"/>
          </a:xfrm>
          <a:prstGeom prst="rect">
            <a:avLst/>
          </a:prstGeom>
        </p:spPr>
        <p:txBody>
          <a:bodyPr wrap="square">
            <a:spAutoFit/>
          </a:bodyPr>
          <a:lstStyle/>
          <a:p>
            <a:pPr defTabSz="685800" eaLnBrk="0" hangingPunct="0">
              <a:lnSpc>
                <a:spcPct val="150000"/>
              </a:lnSpc>
              <a:defRPr/>
            </a:pPr>
            <a:r>
              <a:rPr lang="en-US" altLang="zh-CN" sz="2100" b="1" dirty="0">
                <a:solidFill>
                  <a:prstClr val="black"/>
                </a:solidFill>
                <a:latin typeface="黑体" panose="02010609060101010101" pitchFamily="49" charset="-122"/>
                <a:ea typeface="黑体" panose="02010609060101010101" pitchFamily="49" charset="-122"/>
              </a:rPr>
              <a:t>86</a:t>
            </a:r>
            <a:r>
              <a:rPr lang="zh-CN" altLang="en-US" sz="2100" b="1" dirty="0">
                <a:solidFill>
                  <a:prstClr val="black"/>
                </a:solidFill>
                <a:latin typeface="黑体" panose="02010609060101010101" pitchFamily="49" charset="-122"/>
                <a:ea typeface="黑体" panose="02010609060101010101" pitchFamily="49" charset="-122"/>
              </a:rPr>
              <a:t>入队</a:t>
            </a:r>
            <a:endParaRPr lang="zh-CN" altLang="en-US" sz="2100" dirty="0">
              <a:solidFill>
                <a:srgbClr val="FF0000"/>
              </a:solidFill>
              <a:latin typeface="等线" panose="02010600030101010101" pitchFamily="2" charset="-122"/>
              <a:ea typeface="等线" panose="02010600030101010101" pitchFamily="2" charset="-122"/>
            </a:endParaRPr>
          </a:p>
        </p:txBody>
      </p:sp>
      <p:sp>
        <p:nvSpPr>
          <p:cNvPr id="4" name="矩形 3"/>
          <p:cNvSpPr/>
          <p:nvPr/>
        </p:nvSpPr>
        <p:spPr>
          <a:xfrm>
            <a:off x="1081686" y="3941003"/>
            <a:ext cx="6498132" cy="1061829"/>
          </a:xfrm>
          <a:prstGeom prst="rect">
            <a:avLst/>
          </a:prstGeom>
        </p:spPr>
        <p:txBody>
          <a:bodyPr wrap="square">
            <a:spAutoFit/>
          </a:bodyPr>
          <a:lstStyle/>
          <a:p>
            <a:pPr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入队：</a:t>
            </a:r>
            <a:r>
              <a:rPr lang="en-US" altLang="zh-CN" sz="2100" b="1" dirty="0">
                <a:solidFill>
                  <a:prstClr val="black"/>
                </a:solidFill>
                <a:latin typeface="黑体" panose="02010609060101010101" pitchFamily="49" charset="-122"/>
                <a:ea typeface="黑体" panose="02010609060101010101" pitchFamily="49" charset="-122"/>
              </a:rPr>
              <a:t>a[rear]=m; rear=</a:t>
            </a:r>
            <a:r>
              <a:rPr lang="zh-CN" altLang="en-US" sz="2100" b="1" dirty="0">
                <a:solidFill>
                  <a:prstClr val="black"/>
                </a:solidFill>
                <a:latin typeface="黑体" panose="02010609060101010101" pitchFamily="49" charset="-122"/>
                <a:ea typeface="黑体" panose="02010609060101010101" pitchFamily="49" charset="-122"/>
              </a:rPr>
              <a:t>（</a:t>
            </a:r>
            <a:r>
              <a:rPr lang="en-US" altLang="zh-CN" sz="2100" b="1" dirty="0">
                <a:solidFill>
                  <a:prstClr val="black"/>
                </a:solidFill>
                <a:latin typeface="黑体" panose="02010609060101010101" pitchFamily="49" charset="-122"/>
                <a:ea typeface="黑体" panose="02010609060101010101" pitchFamily="49" charset="-122"/>
              </a:rPr>
              <a:t>rear+1</a:t>
            </a:r>
            <a:r>
              <a:rPr lang="zh-CN" altLang="en-US" sz="2100" b="1" dirty="0">
                <a:solidFill>
                  <a:prstClr val="black"/>
                </a:solidFill>
                <a:latin typeface="黑体" panose="02010609060101010101" pitchFamily="49" charset="-122"/>
                <a:ea typeface="黑体" panose="02010609060101010101" pitchFamily="49" charset="-122"/>
              </a:rPr>
              <a:t>）</a:t>
            </a:r>
            <a:r>
              <a:rPr lang="en-US" altLang="zh-CN" sz="2100" b="1" dirty="0">
                <a:solidFill>
                  <a:srgbClr val="0000FF"/>
                </a:solidFill>
                <a:latin typeface="黑体" panose="02010609060101010101" pitchFamily="49" charset="-122"/>
                <a:ea typeface="黑体" panose="02010609060101010101" pitchFamily="49" charset="-122"/>
              </a:rPr>
              <a:t>mod </a:t>
            </a:r>
            <a:r>
              <a:rPr lang="en-US" altLang="zh-CN" sz="2100" b="1" dirty="0" err="1">
                <a:solidFill>
                  <a:srgbClr val="0000FF"/>
                </a:solidFill>
                <a:latin typeface="黑体" panose="02010609060101010101" pitchFamily="49" charset="-122"/>
                <a:ea typeface="黑体" panose="02010609060101010101" pitchFamily="49" charset="-122"/>
              </a:rPr>
              <a:t>QSize</a:t>
            </a:r>
            <a:r>
              <a:rPr lang="en-US" altLang="zh-CN" sz="2100" b="1" dirty="0">
                <a:solidFill>
                  <a:prstClr val="black"/>
                </a:solidFill>
                <a:latin typeface="黑体" panose="02010609060101010101" pitchFamily="49" charset="-122"/>
                <a:ea typeface="黑体" panose="02010609060101010101" pitchFamily="49" charset="-122"/>
              </a:rPr>
              <a:t>; </a:t>
            </a:r>
            <a:endParaRPr lang="en-US" altLang="zh-CN" sz="2100" b="1" dirty="0">
              <a:solidFill>
                <a:prstClr val="black"/>
              </a:solidFill>
              <a:latin typeface="黑体" panose="02010609060101010101" pitchFamily="49" charset="-122"/>
              <a:ea typeface="黑体" panose="02010609060101010101" pitchFamily="49" charset="-122"/>
            </a:endParaRPr>
          </a:p>
          <a:p>
            <a:pPr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出队：</a:t>
            </a:r>
            <a:r>
              <a:rPr lang="en-US" altLang="zh-CN" sz="2100" b="1" dirty="0">
                <a:solidFill>
                  <a:prstClr val="black"/>
                </a:solidFill>
                <a:latin typeface="黑体" panose="02010609060101010101" pitchFamily="49" charset="-122"/>
                <a:ea typeface="黑体" panose="02010609060101010101" pitchFamily="49" charset="-122"/>
              </a:rPr>
              <a:t>m=a[front];front=</a:t>
            </a:r>
            <a:r>
              <a:rPr lang="zh-CN" altLang="en-US" sz="2100" b="1" dirty="0">
                <a:solidFill>
                  <a:prstClr val="black"/>
                </a:solidFill>
                <a:latin typeface="黑体" panose="02010609060101010101" pitchFamily="49" charset="-122"/>
                <a:ea typeface="黑体" panose="02010609060101010101" pitchFamily="49" charset="-122"/>
              </a:rPr>
              <a:t>（</a:t>
            </a:r>
            <a:r>
              <a:rPr lang="en-US" altLang="zh-CN" sz="2100" b="1" dirty="0">
                <a:solidFill>
                  <a:prstClr val="black"/>
                </a:solidFill>
                <a:latin typeface="黑体" panose="02010609060101010101" pitchFamily="49" charset="-122"/>
                <a:ea typeface="黑体" panose="02010609060101010101" pitchFamily="49" charset="-122"/>
              </a:rPr>
              <a:t>front+1</a:t>
            </a:r>
            <a:r>
              <a:rPr lang="zh-CN" altLang="en-US" sz="2100" b="1" dirty="0">
                <a:solidFill>
                  <a:prstClr val="black"/>
                </a:solidFill>
                <a:latin typeface="黑体" panose="02010609060101010101" pitchFamily="49" charset="-122"/>
                <a:ea typeface="黑体" panose="02010609060101010101" pitchFamily="49" charset="-122"/>
              </a:rPr>
              <a:t>）</a:t>
            </a:r>
            <a:r>
              <a:rPr lang="en-US" altLang="zh-CN" sz="2100" b="1" dirty="0">
                <a:solidFill>
                  <a:srgbClr val="0000FF"/>
                </a:solidFill>
                <a:latin typeface="黑体" panose="02010609060101010101" pitchFamily="49" charset="-122"/>
                <a:ea typeface="黑体" panose="02010609060101010101" pitchFamily="49" charset="-122"/>
              </a:rPr>
              <a:t>mod </a:t>
            </a:r>
            <a:r>
              <a:rPr lang="en-US" altLang="zh-CN" sz="2100" b="1" dirty="0" err="1">
                <a:solidFill>
                  <a:srgbClr val="0000FF"/>
                </a:solidFill>
                <a:latin typeface="黑体" panose="02010609060101010101" pitchFamily="49" charset="-122"/>
                <a:ea typeface="黑体" panose="02010609060101010101" pitchFamily="49" charset="-122"/>
              </a:rPr>
              <a:t>QSize</a:t>
            </a:r>
            <a:r>
              <a:rPr lang="en-US" altLang="zh-CN" sz="2100" b="1" dirty="0">
                <a:solidFill>
                  <a:prstClr val="black"/>
                </a:solidFill>
                <a:latin typeface="黑体" panose="02010609060101010101" pitchFamily="49" charset="-122"/>
                <a:ea typeface="黑体" panose="02010609060101010101" pitchFamily="49" charset="-122"/>
              </a:rPr>
              <a:t>;  </a:t>
            </a:r>
            <a:endParaRPr lang="en-US" altLang="zh-CN" sz="2100" b="1" dirty="0">
              <a:solidFill>
                <a:prstClr val="black"/>
              </a:solidFill>
              <a:latin typeface="黑体" panose="02010609060101010101" pitchFamily="49" charset="-122"/>
              <a:ea typeface="黑体" panose="02010609060101010101" pitchFamily="49" charset="-122"/>
            </a:endParaRPr>
          </a:p>
        </p:txBody>
      </p:sp>
      <p:sp>
        <p:nvSpPr>
          <p:cNvPr id="13" name="矩形 12"/>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nvGraphicFramePr>
        <p:xfrm>
          <a:off x="1204913" y="2218498"/>
          <a:ext cx="6734180" cy="698501"/>
        </p:xfrm>
        <a:graphic>
          <a:graphicData uri="http://schemas.openxmlformats.org/drawingml/2006/table">
            <a:tbl>
              <a:tblPr firstRow="1" bandRow="1">
                <a:tableStyleId>{5940675A-B579-460E-94D1-54222C63F5DA}</a:tableStyleId>
              </a:tblPr>
              <a:tblGrid>
                <a:gridCol w="673418"/>
                <a:gridCol w="673418"/>
                <a:gridCol w="673418"/>
                <a:gridCol w="673418"/>
                <a:gridCol w="673418"/>
                <a:gridCol w="673418"/>
                <a:gridCol w="673418"/>
                <a:gridCol w="673418"/>
                <a:gridCol w="673418"/>
                <a:gridCol w="673418"/>
              </a:tblGrid>
              <a:tr h="698501">
                <a:tc>
                  <a:txBody>
                    <a:bodyPr/>
                    <a:lstStyle/>
                    <a:p>
                      <a:pPr algn="ctr"/>
                      <a:r>
                        <a:rPr lang="en-US" altLang="zh-CN" sz="2100" b="1" dirty="0">
                          <a:solidFill>
                            <a:srgbClr val="FF0000"/>
                          </a:solidFill>
                        </a:rPr>
                        <a:t>86</a:t>
                      </a:r>
                      <a:endParaRPr lang="zh-CN" altLang="en-US" sz="2100" b="1" dirty="0">
                        <a:solidFill>
                          <a:srgbClr val="FF0000"/>
                        </a:solidFill>
                      </a:endParaRPr>
                    </a:p>
                  </a:txBody>
                  <a:tcPr marL="68580" marR="68580" marT="34290" marB="34290" anchor="ctr"/>
                </a:tc>
                <a:tc>
                  <a:txBody>
                    <a:bodyPr/>
                    <a:lstStyle/>
                    <a:p>
                      <a:pPr marL="0" algn="ctr" defTabSz="914400" rtl="0" eaLnBrk="1" latinLnBrk="0" hangingPunct="1"/>
                      <a:r>
                        <a:rPr lang="en-US" altLang="zh-CN" sz="2100" kern="1200" dirty="0">
                          <a:solidFill>
                            <a:schemeClr val="tx1"/>
                          </a:solidFill>
                          <a:latin typeface="+mn-lt"/>
                          <a:ea typeface="+mn-ea"/>
                          <a:cs typeface="+mn-cs"/>
                        </a:rPr>
                        <a:t>42</a:t>
                      </a:r>
                      <a:endParaRPr lang="zh-CN" altLang="en-US" sz="2100" kern="1200" dirty="0">
                        <a:solidFill>
                          <a:schemeClr val="tx1"/>
                        </a:solidFill>
                        <a:latin typeface="+mn-lt"/>
                        <a:ea typeface="+mn-ea"/>
                        <a:cs typeface="+mn-cs"/>
                      </a:endParaRPr>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dirty="0"/>
                        <a:t>26</a:t>
                      </a:r>
                      <a:endParaRPr lang="zh-CN" altLang="en-US" sz="2100" dirty="0"/>
                    </a:p>
                  </a:txBody>
                  <a:tcPr marL="68580" marR="68580" marT="34290" marB="34290" anchor="ctr"/>
                </a:tc>
                <a:tc>
                  <a:txBody>
                    <a:bodyPr/>
                    <a:lstStyle/>
                    <a:p>
                      <a:pPr algn="ctr"/>
                      <a:r>
                        <a:rPr lang="en-US" altLang="zh-CN" sz="2100" dirty="0"/>
                        <a:t>74</a:t>
                      </a:r>
                      <a:endParaRPr lang="zh-CN" altLang="en-US" sz="2100" dirty="0"/>
                    </a:p>
                  </a:txBody>
                  <a:tcPr marL="68580" marR="68580" marT="34290" marB="34290" anchor="ctr"/>
                </a:tc>
                <a:tc>
                  <a:txBody>
                    <a:bodyPr/>
                    <a:lstStyle/>
                    <a:p>
                      <a:pPr algn="ctr"/>
                      <a:r>
                        <a:rPr lang="en-US" altLang="zh-CN" sz="2100" dirty="0"/>
                        <a:t>63</a:t>
                      </a:r>
                      <a:endParaRPr lang="zh-CN" altLang="en-US" sz="2100" dirty="0"/>
                    </a:p>
                  </a:txBody>
                  <a:tcPr marL="68580" marR="68580" marT="34290" marB="34290" anchor="ctr"/>
                </a:tc>
                <a:tc>
                  <a:txBody>
                    <a:bodyPr/>
                    <a:lstStyle/>
                    <a:p>
                      <a:pPr marL="0" algn="ctr" defTabSz="914400" rtl="0" eaLnBrk="1" latinLnBrk="0" hangingPunct="1"/>
                      <a:r>
                        <a:rPr lang="en-US" altLang="zh-CN" sz="2100" kern="1200" dirty="0">
                          <a:solidFill>
                            <a:schemeClr val="tx1"/>
                          </a:solidFill>
                          <a:latin typeface="+mn-lt"/>
                          <a:ea typeface="+mn-ea"/>
                          <a:cs typeface="+mn-cs"/>
                        </a:rPr>
                        <a:t>90</a:t>
                      </a:r>
                      <a:endParaRPr lang="zh-CN" altLang="en-US" sz="2100" kern="1200" dirty="0">
                        <a:solidFill>
                          <a:schemeClr val="tx1"/>
                        </a:solidFill>
                        <a:latin typeface="+mn-lt"/>
                        <a:ea typeface="+mn-ea"/>
                        <a:cs typeface="+mn-cs"/>
                      </a:endParaRPr>
                    </a:p>
                  </a:txBody>
                  <a:tcPr marL="68580" marR="68580" marT="34290" marB="34290" anchor="ctr"/>
                </a:tc>
                <a:tc>
                  <a:txBody>
                    <a:bodyPr/>
                    <a:lstStyle/>
                    <a:p>
                      <a:pPr algn="ctr"/>
                      <a:r>
                        <a:rPr lang="en-US" altLang="zh-CN" sz="2100" dirty="0"/>
                        <a:t>62</a:t>
                      </a:r>
                      <a:endParaRPr lang="zh-CN" altLang="en-US" sz="2100" dirty="0"/>
                    </a:p>
                  </a:txBody>
                  <a:tcPr marL="68580" marR="68580" marT="34290" marB="34290" anchor="ctr"/>
                </a:tc>
                <a:tc>
                  <a:txBody>
                    <a:bodyPr/>
                    <a:lstStyle/>
                    <a:p>
                      <a:pPr algn="ctr"/>
                      <a:r>
                        <a:rPr lang="en-US" altLang="zh-CN" sz="2100" dirty="0"/>
                        <a:t>58</a:t>
                      </a:r>
                      <a:endParaRPr lang="zh-CN" altLang="en-US" sz="2100" dirty="0"/>
                    </a:p>
                  </a:txBody>
                  <a:tcPr marL="68580" marR="68580" marT="34290" marB="34290" anchor="ctr"/>
                </a:tc>
                <a:tc>
                  <a:txBody>
                    <a:bodyPr/>
                    <a:lstStyle/>
                    <a:p>
                      <a:pPr algn="ctr"/>
                      <a:r>
                        <a:rPr lang="en-US" altLang="zh-CN" sz="2100" b="1" dirty="0">
                          <a:solidFill>
                            <a:srgbClr val="FF0000"/>
                          </a:solidFill>
                        </a:rPr>
                        <a:t>71</a:t>
                      </a:r>
                      <a:endParaRPr lang="zh-CN" altLang="en-US" sz="2100" b="1" dirty="0">
                        <a:solidFill>
                          <a:srgbClr val="FF0000"/>
                        </a:solidFill>
                      </a:endParaRPr>
                    </a:p>
                  </a:txBody>
                  <a:tcPr marL="68580" marR="68580" marT="34290" marB="34290" anchor="ctr"/>
                </a:tc>
              </a:tr>
            </a:tbl>
          </a:graphicData>
        </a:graphic>
      </p:graphicFrame>
      <p:graphicFrame>
        <p:nvGraphicFramePr>
          <p:cNvPr id="8" name="表格 7"/>
          <p:cNvGraphicFramePr>
            <a:graphicFrameLocks noGrp="1"/>
          </p:cNvGraphicFramePr>
          <p:nvPr/>
        </p:nvGraphicFramePr>
        <p:xfrm>
          <a:off x="1204913" y="1863324"/>
          <a:ext cx="6734180" cy="499320"/>
        </p:xfrm>
        <a:graphic>
          <a:graphicData uri="http://schemas.openxmlformats.org/drawingml/2006/table">
            <a:tbl>
              <a:tblPr firstRow="1" bandRow="1">
                <a:tableStyleId>{2D5ABB26-0587-4C30-8999-92F81FD0307C}</a:tableStyleId>
              </a:tblPr>
              <a:tblGrid>
                <a:gridCol w="673418"/>
                <a:gridCol w="673418"/>
                <a:gridCol w="673418"/>
                <a:gridCol w="673418"/>
                <a:gridCol w="673418"/>
                <a:gridCol w="673418"/>
                <a:gridCol w="673418"/>
                <a:gridCol w="673418"/>
                <a:gridCol w="673418"/>
                <a:gridCol w="673418"/>
              </a:tblGrid>
              <a:tr h="499320">
                <a:tc>
                  <a:txBody>
                    <a:bodyPr/>
                    <a:lstStyle/>
                    <a:p>
                      <a:pPr algn="ctr"/>
                      <a:r>
                        <a:rPr lang="en-US" altLang="zh-CN" sz="2100" dirty="0"/>
                        <a:t>0</a:t>
                      </a:r>
                      <a:endParaRPr lang="zh-CN" altLang="en-US" sz="2100" dirty="0"/>
                    </a:p>
                  </a:txBody>
                  <a:tcPr marL="68580" marR="68580" marT="34290" marB="34290"/>
                </a:tc>
                <a:tc>
                  <a:txBody>
                    <a:bodyPr/>
                    <a:lstStyle/>
                    <a:p>
                      <a:pPr algn="ctr"/>
                      <a:r>
                        <a:rPr lang="en-US" altLang="zh-CN" sz="2100" dirty="0"/>
                        <a:t>1</a:t>
                      </a:r>
                      <a:endParaRPr lang="zh-CN" altLang="en-US" sz="2100" dirty="0"/>
                    </a:p>
                  </a:txBody>
                  <a:tcPr marL="68580" marR="68580" marT="34290" marB="34290"/>
                </a:tc>
                <a:tc>
                  <a:txBody>
                    <a:bodyPr/>
                    <a:lstStyle/>
                    <a:p>
                      <a:pPr algn="ctr"/>
                      <a:r>
                        <a:rPr lang="en-US" altLang="zh-CN" sz="2100" dirty="0"/>
                        <a:t>2</a:t>
                      </a:r>
                      <a:endParaRPr lang="zh-CN" altLang="en-US" sz="2100" dirty="0"/>
                    </a:p>
                  </a:txBody>
                  <a:tcPr marL="68580" marR="68580" marT="34290" marB="34290"/>
                </a:tc>
                <a:tc>
                  <a:txBody>
                    <a:bodyPr/>
                    <a:lstStyle/>
                    <a:p>
                      <a:pPr algn="ctr"/>
                      <a:r>
                        <a:rPr lang="en-US" altLang="zh-CN" sz="2100" dirty="0"/>
                        <a:t>3</a:t>
                      </a:r>
                      <a:endParaRPr lang="zh-CN" altLang="en-US" sz="2100" dirty="0"/>
                    </a:p>
                  </a:txBody>
                  <a:tcPr marL="68580" marR="68580" marT="34290" marB="34290"/>
                </a:tc>
                <a:tc>
                  <a:txBody>
                    <a:bodyPr/>
                    <a:lstStyle/>
                    <a:p>
                      <a:pPr algn="ctr"/>
                      <a:r>
                        <a:rPr lang="en-US" altLang="zh-CN" sz="2100" dirty="0"/>
                        <a:t>4</a:t>
                      </a:r>
                      <a:endParaRPr lang="zh-CN" altLang="en-US" sz="2100" dirty="0"/>
                    </a:p>
                  </a:txBody>
                  <a:tcPr marL="68580" marR="68580" marT="34290" marB="34290"/>
                </a:tc>
                <a:tc>
                  <a:txBody>
                    <a:bodyPr/>
                    <a:lstStyle/>
                    <a:p>
                      <a:pPr algn="ctr"/>
                      <a:r>
                        <a:rPr lang="en-US" altLang="zh-CN" sz="2100" dirty="0"/>
                        <a:t>5</a:t>
                      </a:r>
                      <a:endParaRPr lang="zh-CN" altLang="en-US" sz="2100" dirty="0"/>
                    </a:p>
                  </a:txBody>
                  <a:tcPr marL="68580" marR="68580" marT="34290" marB="34290"/>
                </a:tc>
                <a:tc>
                  <a:txBody>
                    <a:bodyPr/>
                    <a:lstStyle/>
                    <a:p>
                      <a:pPr algn="ctr"/>
                      <a:r>
                        <a:rPr lang="en-US" altLang="zh-CN" sz="2100" dirty="0"/>
                        <a:t>6</a:t>
                      </a:r>
                      <a:endParaRPr lang="zh-CN" altLang="en-US" sz="2100" dirty="0"/>
                    </a:p>
                  </a:txBody>
                  <a:tcPr marL="68580" marR="68580" marT="34290" marB="34290"/>
                </a:tc>
                <a:tc>
                  <a:txBody>
                    <a:bodyPr/>
                    <a:lstStyle/>
                    <a:p>
                      <a:pPr algn="ctr"/>
                      <a:r>
                        <a:rPr lang="en-US" altLang="zh-CN" sz="2100" dirty="0"/>
                        <a:t>7</a:t>
                      </a:r>
                      <a:endParaRPr lang="zh-CN" altLang="en-US" sz="2100" dirty="0"/>
                    </a:p>
                  </a:txBody>
                  <a:tcPr marL="68580" marR="68580" marT="34290" marB="34290"/>
                </a:tc>
                <a:tc>
                  <a:txBody>
                    <a:bodyPr/>
                    <a:lstStyle/>
                    <a:p>
                      <a:pPr algn="ctr"/>
                      <a:r>
                        <a:rPr lang="en-US" altLang="zh-CN" sz="2100" dirty="0"/>
                        <a:t>8</a:t>
                      </a:r>
                      <a:endParaRPr lang="zh-CN" altLang="en-US" sz="2100" dirty="0"/>
                    </a:p>
                  </a:txBody>
                  <a:tcPr marL="68580" marR="68580" marT="34290" marB="34290"/>
                </a:tc>
                <a:tc>
                  <a:txBody>
                    <a:bodyPr/>
                    <a:lstStyle/>
                    <a:p>
                      <a:pPr algn="ctr"/>
                      <a:r>
                        <a:rPr lang="en-US" altLang="zh-CN" sz="2100" dirty="0"/>
                        <a:t>9</a:t>
                      </a:r>
                      <a:endParaRPr lang="zh-CN" altLang="en-US" sz="2100" dirty="0"/>
                    </a:p>
                  </a:txBody>
                  <a:tcPr marL="68580" marR="68580" marT="34290" marB="34290"/>
                </a:tc>
              </a:tr>
            </a:tbl>
          </a:graphicData>
        </a:graphic>
      </p:graphicFrame>
      <p:cxnSp>
        <p:nvCxnSpPr>
          <p:cNvPr id="9" name="直接箭头连接符 8"/>
          <p:cNvCxnSpPr/>
          <p:nvPr/>
        </p:nvCxnSpPr>
        <p:spPr>
          <a:xfrm flipV="1">
            <a:off x="1376963" y="2916998"/>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1722833" y="2916998"/>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3"/>
          <p:cNvSpPr txBox="1">
            <a:spLocks noChangeArrowheads="1"/>
          </p:cNvSpPr>
          <p:nvPr/>
        </p:nvSpPr>
        <p:spPr>
          <a:xfrm>
            <a:off x="663778" y="3314953"/>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front</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2" name="Rectangle 3"/>
          <p:cNvSpPr txBox="1">
            <a:spLocks noChangeArrowheads="1"/>
          </p:cNvSpPr>
          <p:nvPr/>
        </p:nvSpPr>
        <p:spPr>
          <a:xfrm>
            <a:off x="1605561" y="3358674"/>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rear</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2" name="任意多边形: 形状 1"/>
          <p:cNvSpPr/>
          <p:nvPr/>
        </p:nvSpPr>
        <p:spPr>
          <a:xfrm>
            <a:off x="366502" y="1793554"/>
            <a:ext cx="8460099" cy="816296"/>
          </a:xfrm>
          <a:custGeom>
            <a:avLst/>
            <a:gdLst>
              <a:gd name="connsiteX0" fmla="*/ 10103131 w 11280132"/>
              <a:gd name="connsiteY0" fmla="*/ 990799 h 990799"/>
              <a:gd name="connsiteX1" fmla="*/ 10979431 w 11280132"/>
              <a:gd name="connsiteY1" fmla="*/ 419299 h 990799"/>
              <a:gd name="connsiteX2" fmla="*/ 5556531 w 11280132"/>
              <a:gd name="connsiteY2" fmla="*/ 199 h 990799"/>
              <a:gd name="connsiteX3" fmla="*/ 298731 w 11280132"/>
              <a:gd name="connsiteY3" fmla="*/ 470099 h 990799"/>
              <a:gd name="connsiteX4" fmla="*/ 1111531 w 11280132"/>
              <a:gd name="connsiteY4" fmla="*/ 914599 h 990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0132" h="990799">
                <a:moveTo>
                  <a:pt x="10103131" y="990799"/>
                </a:moveTo>
                <a:cubicBezTo>
                  <a:pt x="10920164" y="787599"/>
                  <a:pt x="11737198" y="584399"/>
                  <a:pt x="10979431" y="419299"/>
                </a:cubicBezTo>
                <a:cubicBezTo>
                  <a:pt x="10221664" y="254199"/>
                  <a:pt x="7336648" y="-8268"/>
                  <a:pt x="5556531" y="199"/>
                </a:cubicBezTo>
                <a:cubicBezTo>
                  <a:pt x="3776414" y="8666"/>
                  <a:pt x="1039564" y="317699"/>
                  <a:pt x="298731" y="470099"/>
                </a:cubicBezTo>
                <a:cubicBezTo>
                  <a:pt x="-442102" y="622499"/>
                  <a:pt x="334714" y="768549"/>
                  <a:pt x="1111531" y="914599"/>
                </a:cubicBezTo>
              </a:path>
            </a:pathLst>
          </a:custGeom>
          <a:noFill/>
          <a:ln w="38100">
            <a:solidFill>
              <a:srgbClr val="FF0000"/>
            </a:solidFill>
            <a:prstDash val="sysDot"/>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等线" panose="02010600030101010101" pitchFamily="2" charset="-122"/>
              <a:ea typeface="等线" panose="02010600030101010101" pitchFamily="2" charset="-122"/>
            </a:endParaRPr>
          </a:p>
        </p:txBody>
      </p:sp>
      <p:sp>
        <p:nvSpPr>
          <p:cNvPr id="4" name="矩形 3"/>
          <p:cNvSpPr/>
          <p:nvPr/>
        </p:nvSpPr>
        <p:spPr>
          <a:xfrm>
            <a:off x="1164731" y="4017675"/>
            <a:ext cx="6498132" cy="577081"/>
          </a:xfrm>
          <a:prstGeom prst="rect">
            <a:avLst/>
          </a:prstGeom>
        </p:spPr>
        <p:txBody>
          <a:bodyPr wrap="square">
            <a:spAutoFit/>
          </a:bodyPr>
          <a:lstStyle/>
          <a:p>
            <a:pPr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队空：</a:t>
            </a:r>
            <a:r>
              <a:rPr lang="en-US" altLang="zh-CN" sz="2100" b="1" dirty="0">
                <a:solidFill>
                  <a:prstClr val="black"/>
                </a:solidFill>
                <a:latin typeface="黑体" panose="02010609060101010101" pitchFamily="49" charset="-122"/>
                <a:ea typeface="黑体" panose="02010609060101010101" pitchFamily="49" charset="-122"/>
              </a:rPr>
              <a:t>rear==front;</a:t>
            </a:r>
            <a:endParaRPr lang="en-US" altLang="zh-CN" sz="2100" b="1" dirty="0">
              <a:solidFill>
                <a:prstClr val="black"/>
              </a:solidFill>
              <a:latin typeface="黑体" panose="02010609060101010101" pitchFamily="49" charset="-122"/>
              <a:ea typeface="黑体" panose="02010609060101010101" pitchFamily="49" charset="-122"/>
            </a:endParaRPr>
          </a:p>
        </p:txBody>
      </p:sp>
      <p:sp>
        <p:nvSpPr>
          <p:cNvPr id="5" name="矩形 4"/>
          <p:cNvSpPr/>
          <p:nvPr/>
        </p:nvSpPr>
        <p:spPr>
          <a:xfrm>
            <a:off x="1164731" y="4672031"/>
            <a:ext cx="6652614" cy="415498"/>
          </a:xfrm>
          <a:prstGeom prst="rect">
            <a:avLst/>
          </a:prstGeom>
        </p:spPr>
        <p:txBody>
          <a:bodyPr wrap="square">
            <a:spAutoFit/>
          </a:bodyPr>
          <a:lstStyle/>
          <a:p>
            <a:pPr defTabSz="685800">
              <a:defRPr/>
            </a:pPr>
            <a:r>
              <a:rPr lang="zh-CN" altLang="en-US" sz="2100" b="1" dirty="0">
                <a:solidFill>
                  <a:prstClr val="black"/>
                </a:solidFill>
                <a:latin typeface="黑体" panose="02010609060101010101" pitchFamily="49" charset="-122"/>
                <a:ea typeface="黑体" panose="02010609060101010101" pitchFamily="49" charset="-122"/>
              </a:rPr>
              <a:t>出队时</a:t>
            </a:r>
            <a:r>
              <a:rPr lang="zh-CN" altLang="en-US" sz="2100" b="1" dirty="0">
                <a:solidFill>
                  <a:srgbClr val="0000FF"/>
                </a:solidFill>
                <a:latin typeface="黑体" panose="02010609060101010101" pitchFamily="49" charset="-122"/>
                <a:ea typeface="黑体" panose="02010609060101010101" pitchFamily="49" charset="-122"/>
              </a:rPr>
              <a:t>头指针</a:t>
            </a:r>
            <a:r>
              <a:rPr lang="zh-CN" altLang="en-US" sz="2100" b="1" dirty="0">
                <a:solidFill>
                  <a:prstClr val="black"/>
                </a:solidFill>
                <a:latin typeface="黑体" panose="02010609060101010101" pitchFamily="49" charset="-122"/>
                <a:ea typeface="黑体" panose="02010609060101010101" pitchFamily="49" charset="-122"/>
              </a:rPr>
              <a:t>向前追赶尾指针，故队空时头尾指针相等。</a:t>
            </a:r>
            <a:endParaRPr lang="zh-CN" altLang="en-US" sz="2100" b="1" dirty="0">
              <a:solidFill>
                <a:prstClr val="black"/>
              </a:solidFill>
              <a:latin typeface="黑体" panose="02010609060101010101" pitchFamily="49" charset="-122"/>
              <a:ea typeface="黑体" panose="02010609060101010101" pitchFamily="49" charset="-122"/>
            </a:endParaRPr>
          </a:p>
        </p:txBody>
      </p:sp>
      <p:sp>
        <p:nvSpPr>
          <p:cNvPr id="13" name="矩形 12"/>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nvGraphicFramePr>
        <p:xfrm>
          <a:off x="1204913" y="1764583"/>
          <a:ext cx="6734180" cy="698501"/>
        </p:xfrm>
        <a:graphic>
          <a:graphicData uri="http://schemas.openxmlformats.org/drawingml/2006/table">
            <a:tbl>
              <a:tblPr firstRow="1" bandRow="1">
                <a:tableStyleId>{5940675A-B579-460E-94D1-54222C63F5DA}</a:tableStyleId>
              </a:tblPr>
              <a:tblGrid>
                <a:gridCol w="673418"/>
                <a:gridCol w="673418"/>
                <a:gridCol w="673418"/>
                <a:gridCol w="673418"/>
                <a:gridCol w="673418"/>
                <a:gridCol w="673418"/>
                <a:gridCol w="673418"/>
                <a:gridCol w="673418"/>
                <a:gridCol w="673418"/>
                <a:gridCol w="673418"/>
              </a:tblGrid>
              <a:tr h="698501">
                <a:tc>
                  <a:txBody>
                    <a:bodyPr/>
                    <a:lstStyle/>
                    <a:p>
                      <a:pPr algn="ctr"/>
                      <a:r>
                        <a:rPr lang="en-US" altLang="zh-CN" sz="2100" b="1" dirty="0">
                          <a:solidFill>
                            <a:srgbClr val="FF0000"/>
                          </a:solidFill>
                        </a:rPr>
                        <a:t>86</a:t>
                      </a:r>
                      <a:endParaRPr lang="zh-CN" altLang="en-US" sz="2100" b="1" dirty="0">
                        <a:solidFill>
                          <a:srgbClr val="FF0000"/>
                        </a:solidFill>
                      </a:endParaRPr>
                    </a:p>
                  </a:txBody>
                  <a:tcPr marL="68580" marR="68580" marT="34290" marB="34290" anchor="ctr"/>
                </a:tc>
                <a:tc>
                  <a:txBody>
                    <a:bodyPr/>
                    <a:lstStyle/>
                    <a:p>
                      <a:pPr marL="0" algn="ctr" defTabSz="914400" rtl="0" eaLnBrk="1" latinLnBrk="0" hangingPunct="1"/>
                      <a:r>
                        <a:rPr lang="en-US" altLang="zh-CN" sz="2100" b="0" kern="1200" dirty="0">
                          <a:solidFill>
                            <a:srgbClr val="0000FF"/>
                          </a:solidFill>
                          <a:latin typeface="+mn-lt"/>
                          <a:ea typeface="+mn-ea"/>
                          <a:cs typeface="+mn-cs"/>
                        </a:rPr>
                        <a:t>65</a:t>
                      </a:r>
                      <a:endParaRPr lang="zh-CN" altLang="en-US" sz="2100" b="0" kern="1200" dirty="0">
                        <a:solidFill>
                          <a:srgbClr val="0000FF"/>
                        </a:solidFill>
                        <a:latin typeface="+mn-lt"/>
                        <a:ea typeface="+mn-ea"/>
                        <a:cs typeface="+mn-cs"/>
                      </a:endParaRPr>
                    </a:p>
                  </a:txBody>
                  <a:tcPr marL="68580" marR="68580" marT="34290" marB="34290" anchor="ctr"/>
                </a:tc>
                <a:tc>
                  <a:txBody>
                    <a:bodyPr/>
                    <a:lstStyle/>
                    <a:p>
                      <a:pPr algn="ctr"/>
                      <a:r>
                        <a:rPr lang="en-US" altLang="zh-CN" sz="2100" b="0" dirty="0">
                          <a:solidFill>
                            <a:srgbClr val="0000FF"/>
                          </a:solidFill>
                        </a:rPr>
                        <a:t>67</a:t>
                      </a:r>
                      <a:endParaRPr lang="zh-CN" altLang="en-US" sz="2100" b="0" dirty="0">
                        <a:solidFill>
                          <a:srgbClr val="0000FF"/>
                        </a:solidFill>
                      </a:endParaRPr>
                    </a:p>
                  </a:txBody>
                  <a:tcPr marL="68580" marR="68580" marT="34290" marB="34290" anchor="ctr"/>
                </a:tc>
                <a:tc>
                  <a:txBody>
                    <a:bodyPr/>
                    <a:lstStyle/>
                    <a:p>
                      <a:pPr algn="ctr"/>
                      <a:r>
                        <a:rPr lang="en-US" altLang="zh-CN" sz="2100" b="0" dirty="0">
                          <a:solidFill>
                            <a:srgbClr val="0000FF"/>
                          </a:solidFill>
                        </a:rPr>
                        <a:t>89</a:t>
                      </a:r>
                      <a:endParaRPr lang="zh-CN" altLang="en-US" sz="2100" b="0" dirty="0">
                        <a:solidFill>
                          <a:srgbClr val="0000FF"/>
                        </a:solidFill>
                      </a:endParaRPr>
                    </a:p>
                  </a:txBody>
                  <a:tcPr marL="68580" marR="68580" marT="34290" marB="34290" anchor="ctr"/>
                </a:tc>
                <a:tc>
                  <a:txBody>
                    <a:bodyPr/>
                    <a:lstStyle/>
                    <a:p>
                      <a:pPr algn="ctr"/>
                      <a:r>
                        <a:rPr lang="en-US" altLang="zh-CN" sz="2100" b="0" dirty="0">
                          <a:solidFill>
                            <a:srgbClr val="0000FF"/>
                          </a:solidFill>
                        </a:rPr>
                        <a:t>70</a:t>
                      </a:r>
                      <a:endParaRPr lang="zh-CN" altLang="en-US" sz="2100" b="0" dirty="0">
                        <a:solidFill>
                          <a:srgbClr val="0000FF"/>
                        </a:solidFill>
                      </a:endParaRPr>
                    </a:p>
                  </a:txBody>
                  <a:tcPr marL="68580" marR="68580" marT="34290" marB="34290" anchor="ctr"/>
                </a:tc>
                <a:tc>
                  <a:txBody>
                    <a:bodyPr/>
                    <a:lstStyle/>
                    <a:p>
                      <a:pPr algn="ctr"/>
                      <a:r>
                        <a:rPr lang="en-US" altLang="zh-CN" sz="2100" b="0" dirty="0">
                          <a:solidFill>
                            <a:srgbClr val="0000FF"/>
                          </a:solidFill>
                        </a:rPr>
                        <a:t>60</a:t>
                      </a:r>
                      <a:endParaRPr lang="zh-CN" altLang="en-US" sz="2100" b="0" dirty="0">
                        <a:solidFill>
                          <a:srgbClr val="0000FF"/>
                        </a:solidFill>
                      </a:endParaRPr>
                    </a:p>
                  </a:txBody>
                  <a:tcPr marL="68580" marR="68580" marT="34290" marB="34290" anchor="ctr"/>
                </a:tc>
                <a:tc>
                  <a:txBody>
                    <a:bodyPr/>
                    <a:lstStyle/>
                    <a:p>
                      <a:pPr marL="0" algn="ctr" defTabSz="914400" rtl="0" eaLnBrk="1" latinLnBrk="0" hangingPunct="1"/>
                      <a:r>
                        <a:rPr lang="en-US" altLang="zh-CN" sz="2100" b="0" kern="1200" dirty="0">
                          <a:solidFill>
                            <a:srgbClr val="0000FF"/>
                          </a:solidFill>
                          <a:latin typeface="+mn-lt"/>
                          <a:ea typeface="+mn-ea"/>
                          <a:cs typeface="+mn-cs"/>
                        </a:rPr>
                        <a:t>87</a:t>
                      </a:r>
                      <a:endParaRPr lang="zh-CN" altLang="en-US" sz="2100" b="0" kern="1200" dirty="0">
                        <a:solidFill>
                          <a:srgbClr val="0000FF"/>
                        </a:solidFill>
                        <a:latin typeface="+mn-lt"/>
                        <a:ea typeface="+mn-ea"/>
                        <a:cs typeface="+mn-cs"/>
                      </a:endParaRPr>
                    </a:p>
                  </a:txBody>
                  <a:tcPr marL="68580" marR="68580" marT="34290" marB="34290" anchor="ctr"/>
                </a:tc>
                <a:tc>
                  <a:txBody>
                    <a:bodyPr/>
                    <a:lstStyle/>
                    <a:p>
                      <a:pPr algn="ctr"/>
                      <a:r>
                        <a:rPr lang="en-US" altLang="zh-CN" sz="2100" b="0" dirty="0">
                          <a:solidFill>
                            <a:srgbClr val="0000FF"/>
                          </a:solidFill>
                        </a:rPr>
                        <a:t>90</a:t>
                      </a:r>
                      <a:endParaRPr lang="zh-CN" altLang="en-US" sz="2100" b="0" dirty="0">
                        <a:solidFill>
                          <a:srgbClr val="0000FF"/>
                        </a:solidFill>
                      </a:endParaRPr>
                    </a:p>
                  </a:txBody>
                  <a:tcPr marL="68580" marR="68580" marT="34290" marB="34290" anchor="ctr"/>
                </a:tc>
                <a:tc>
                  <a:txBody>
                    <a:bodyPr/>
                    <a:lstStyle/>
                    <a:p>
                      <a:pPr algn="ctr"/>
                      <a:r>
                        <a:rPr lang="en-US" altLang="zh-CN" sz="2100" b="0" dirty="0">
                          <a:solidFill>
                            <a:srgbClr val="0000FF"/>
                          </a:solidFill>
                        </a:rPr>
                        <a:t>96</a:t>
                      </a:r>
                      <a:endParaRPr lang="zh-CN" altLang="en-US" sz="2100" b="0" dirty="0">
                        <a:solidFill>
                          <a:srgbClr val="0000FF"/>
                        </a:solidFill>
                      </a:endParaRPr>
                    </a:p>
                  </a:txBody>
                  <a:tcPr marL="68580" marR="68580" marT="34290" marB="34290" anchor="ctr"/>
                </a:tc>
                <a:tc>
                  <a:txBody>
                    <a:bodyPr/>
                    <a:lstStyle/>
                    <a:p>
                      <a:pPr algn="ctr"/>
                      <a:r>
                        <a:rPr lang="en-US" altLang="zh-CN" sz="2100" b="0" dirty="0">
                          <a:solidFill>
                            <a:srgbClr val="0000FF"/>
                          </a:solidFill>
                        </a:rPr>
                        <a:t>83</a:t>
                      </a:r>
                      <a:endParaRPr lang="zh-CN" altLang="en-US" sz="2100" b="0" dirty="0">
                        <a:solidFill>
                          <a:srgbClr val="0000FF"/>
                        </a:solidFill>
                      </a:endParaRPr>
                    </a:p>
                  </a:txBody>
                  <a:tcPr marL="68580" marR="68580" marT="34290" marB="34290" anchor="ctr"/>
                </a:tc>
              </a:tr>
            </a:tbl>
          </a:graphicData>
        </a:graphic>
      </p:graphicFrame>
      <p:graphicFrame>
        <p:nvGraphicFramePr>
          <p:cNvPr id="8" name="表格 7"/>
          <p:cNvGraphicFramePr>
            <a:graphicFrameLocks noGrp="1"/>
          </p:cNvGraphicFramePr>
          <p:nvPr/>
        </p:nvGraphicFramePr>
        <p:xfrm>
          <a:off x="1204913" y="1409409"/>
          <a:ext cx="6734180" cy="499320"/>
        </p:xfrm>
        <a:graphic>
          <a:graphicData uri="http://schemas.openxmlformats.org/drawingml/2006/table">
            <a:tbl>
              <a:tblPr firstRow="1" bandRow="1">
                <a:tableStyleId>{2D5ABB26-0587-4C30-8999-92F81FD0307C}</a:tableStyleId>
              </a:tblPr>
              <a:tblGrid>
                <a:gridCol w="673418"/>
                <a:gridCol w="673418"/>
                <a:gridCol w="673418"/>
                <a:gridCol w="673418"/>
                <a:gridCol w="673418"/>
                <a:gridCol w="673418"/>
                <a:gridCol w="673418"/>
                <a:gridCol w="673418"/>
                <a:gridCol w="673418"/>
                <a:gridCol w="673418"/>
              </a:tblGrid>
              <a:tr h="499320">
                <a:tc>
                  <a:txBody>
                    <a:bodyPr/>
                    <a:lstStyle/>
                    <a:p>
                      <a:pPr algn="ctr"/>
                      <a:r>
                        <a:rPr lang="en-US" altLang="zh-CN" sz="2100" dirty="0"/>
                        <a:t>0</a:t>
                      </a:r>
                      <a:endParaRPr lang="zh-CN" altLang="en-US" sz="2100" dirty="0"/>
                    </a:p>
                  </a:txBody>
                  <a:tcPr marL="68580" marR="68580" marT="34290" marB="34290"/>
                </a:tc>
                <a:tc>
                  <a:txBody>
                    <a:bodyPr/>
                    <a:lstStyle/>
                    <a:p>
                      <a:pPr algn="ctr"/>
                      <a:r>
                        <a:rPr lang="en-US" altLang="zh-CN" sz="2100" dirty="0"/>
                        <a:t>1</a:t>
                      </a:r>
                      <a:endParaRPr lang="zh-CN" altLang="en-US" sz="2100" dirty="0"/>
                    </a:p>
                  </a:txBody>
                  <a:tcPr marL="68580" marR="68580" marT="34290" marB="34290"/>
                </a:tc>
                <a:tc>
                  <a:txBody>
                    <a:bodyPr/>
                    <a:lstStyle/>
                    <a:p>
                      <a:pPr algn="ctr"/>
                      <a:r>
                        <a:rPr lang="en-US" altLang="zh-CN" sz="2100" dirty="0"/>
                        <a:t>2</a:t>
                      </a:r>
                      <a:endParaRPr lang="zh-CN" altLang="en-US" sz="2100" dirty="0"/>
                    </a:p>
                  </a:txBody>
                  <a:tcPr marL="68580" marR="68580" marT="34290" marB="34290"/>
                </a:tc>
                <a:tc>
                  <a:txBody>
                    <a:bodyPr/>
                    <a:lstStyle/>
                    <a:p>
                      <a:pPr algn="ctr"/>
                      <a:r>
                        <a:rPr lang="en-US" altLang="zh-CN" sz="2100" dirty="0"/>
                        <a:t>3</a:t>
                      </a:r>
                      <a:endParaRPr lang="zh-CN" altLang="en-US" sz="2100" dirty="0"/>
                    </a:p>
                  </a:txBody>
                  <a:tcPr marL="68580" marR="68580" marT="34290" marB="34290"/>
                </a:tc>
                <a:tc>
                  <a:txBody>
                    <a:bodyPr/>
                    <a:lstStyle/>
                    <a:p>
                      <a:pPr algn="ctr"/>
                      <a:r>
                        <a:rPr lang="en-US" altLang="zh-CN" sz="2100" dirty="0"/>
                        <a:t>4</a:t>
                      </a:r>
                      <a:endParaRPr lang="zh-CN" altLang="en-US" sz="2100" dirty="0"/>
                    </a:p>
                  </a:txBody>
                  <a:tcPr marL="68580" marR="68580" marT="34290" marB="34290"/>
                </a:tc>
                <a:tc>
                  <a:txBody>
                    <a:bodyPr/>
                    <a:lstStyle/>
                    <a:p>
                      <a:pPr algn="ctr"/>
                      <a:r>
                        <a:rPr lang="en-US" altLang="zh-CN" sz="2100" dirty="0"/>
                        <a:t>5</a:t>
                      </a:r>
                      <a:endParaRPr lang="zh-CN" altLang="en-US" sz="2100" dirty="0"/>
                    </a:p>
                  </a:txBody>
                  <a:tcPr marL="68580" marR="68580" marT="34290" marB="34290"/>
                </a:tc>
                <a:tc>
                  <a:txBody>
                    <a:bodyPr/>
                    <a:lstStyle/>
                    <a:p>
                      <a:pPr algn="ctr"/>
                      <a:r>
                        <a:rPr lang="en-US" altLang="zh-CN" sz="2100" dirty="0"/>
                        <a:t>6</a:t>
                      </a:r>
                      <a:endParaRPr lang="zh-CN" altLang="en-US" sz="2100" dirty="0"/>
                    </a:p>
                  </a:txBody>
                  <a:tcPr marL="68580" marR="68580" marT="34290" marB="34290"/>
                </a:tc>
                <a:tc>
                  <a:txBody>
                    <a:bodyPr/>
                    <a:lstStyle/>
                    <a:p>
                      <a:pPr algn="ctr"/>
                      <a:r>
                        <a:rPr lang="en-US" altLang="zh-CN" sz="2100" dirty="0"/>
                        <a:t>7</a:t>
                      </a:r>
                      <a:endParaRPr lang="zh-CN" altLang="en-US" sz="2100" dirty="0"/>
                    </a:p>
                  </a:txBody>
                  <a:tcPr marL="68580" marR="68580" marT="34290" marB="34290"/>
                </a:tc>
                <a:tc>
                  <a:txBody>
                    <a:bodyPr/>
                    <a:lstStyle/>
                    <a:p>
                      <a:pPr algn="ctr"/>
                      <a:r>
                        <a:rPr lang="en-US" altLang="zh-CN" sz="2100" dirty="0"/>
                        <a:t>8</a:t>
                      </a:r>
                      <a:endParaRPr lang="zh-CN" altLang="en-US" sz="2100" dirty="0"/>
                    </a:p>
                  </a:txBody>
                  <a:tcPr marL="68580" marR="68580" marT="34290" marB="34290"/>
                </a:tc>
                <a:tc>
                  <a:txBody>
                    <a:bodyPr/>
                    <a:lstStyle/>
                    <a:p>
                      <a:pPr algn="ctr"/>
                      <a:r>
                        <a:rPr lang="en-US" altLang="zh-CN" sz="2100" dirty="0"/>
                        <a:t>9</a:t>
                      </a:r>
                      <a:endParaRPr lang="zh-CN" altLang="en-US" sz="2100" dirty="0"/>
                    </a:p>
                  </a:txBody>
                  <a:tcPr marL="68580" marR="68580" marT="34290" marB="34290"/>
                </a:tc>
              </a:tr>
            </a:tbl>
          </a:graphicData>
        </a:graphic>
      </p:graphicFrame>
      <p:cxnSp>
        <p:nvCxnSpPr>
          <p:cNvPr id="9" name="直接箭头连接符 8"/>
          <p:cNvCxnSpPr/>
          <p:nvPr/>
        </p:nvCxnSpPr>
        <p:spPr>
          <a:xfrm flipV="1">
            <a:off x="1376963" y="2463083"/>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V="1">
            <a:off x="1751408" y="2463082"/>
            <a:ext cx="0" cy="50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3"/>
          <p:cNvSpPr txBox="1">
            <a:spLocks noChangeArrowheads="1"/>
          </p:cNvSpPr>
          <p:nvPr/>
        </p:nvSpPr>
        <p:spPr>
          <a:xfrm>
            <a:off x="818260" y="2905679"/>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front</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12" name="Rectangle 3"/>
          <p:cNvSpPr txBox="1">
            <a:spLocks noChangeArrowheads="1"/>
          </p:cNvSpPr>
          <p:nvPr/>
        </p:nvSpPr>
        <p:spPr>
          <a:xfrm>
            <a:off x="1517759" y="2890439"/>
            <a:ext cx="835816" cy="3886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685800">
              <a:lnSpc>
                <a:spcPct val="105000"/>
              </a:lnSpc>
              <a:spcBef>
                <a:spcPct val="0"/>
              </a:spcBef>
              <a:buSzPct val="50000"/>
              <a:buNone/>
              <a:defRPr/>
            </a:pPr>
            <a:r>
              <a:rPr lang="en-US" altLang="zh-CN" sz="2100" b="1" dirty="0">
                <a:solidFill>
                  <a:prstClr val="black"/>
                </a:solidFill>
                <a:latin typeface="等线" panose="02010600030101010101" pitchFamily="2" charset="-122"/>
                <a:ea typeface="等线" panose="02010600030101010101" pitchFamily="2" charset="-122"/>
              </a:rPr>
              <a:t>rear</a:t>
            </a:r>
            <a:endParaRPr lang="zh-CN" altLang="en-US" sz="2100" b="1" dirty="0">
              <a:solidFill>
                <a:prstClr val="black"/>
              </a:solidFill>
              <a:latin typeface="等线" panose="02010600030101010101" pitchFamily="2" charset="-122"/>
              <a:ea typeface="等线" panose="02010600030101010101" pitchFamily="2" charset="-122"/>
            </a:endParaRPr>
          </a:p>
        </p:txBody>
      </p:sp>
      <p:sp>
        <p:nvSpPr>
          <p:cNvPr id="2" name="任意多边形: 形状 1"/>
          <p:cNvSpPr/>
          <p:nvPr/>
        </p:nvSpPr>
        <p:spPr>
          <a:xfrm>
            <a:off x="366502" y="1339639"/>
            <a:ext cx="8460099" cy="816296"/>
          </a:xfrm>
          <a:custGeom>
            <a:avLst/>
            <a:gdLst>
              <a:gd name="connsiteX0" fmla="*/ 10103131 w 11280132"/>
              <a:gd name="connsiteY0" fmla="*/ 990799 h 990799"/>
              <a:gd name="connsiteX1" fmla="*/ 10979431 w 11280132"/>
              <a:gd name="connsiteY1" fmla="*/ 419299 h 990799"/>
              <a:gd name="connsiteX2" fmla="*/ 5556531 w 11280132"/>
              <a:gd name="connsiteY2" fmla="*/ 199 h 990799"/>
              <a:gd name="connsiteX3" fmla="*/ 298731 w 11280132"/>
              <a:gd name="connsiteY3" fmla="*/ 470099 h 990799"/>
              <a:gd name="connsiteX4" fmla="*/ 1111531 w 11280132"/>
              <a:gd name="connsiteY4" fmla="*/ 914599 h 990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0132" h="990799">
                <a:moveTo>
                  <a:pt x="10103131" y="990799"/>
                </a:moveTo>
                <a:cubicBezTo>
                  <a:pt x="10920164" y="787599"/>
                  <a:pt x="11737198" y="584399"/>
                  <a:pt x="10979431" y="419299"/>
                </a:cubicBezTo>
                <a:cubicBezTo>
                  <a:pt x="10221664" y="254199"/>
                  <a:pt x="7336648" y="-8268"/>
                  <a:pt x="5556531" y="199"/>
                </a:cubicBezTo>
                <a:cubicBezTo>
                  <a:pt x="3776414" y="8666"/>
                  <a:pt x="1039564" y="317699"/>
                  <a:pt x="298731" y="470099"/>
                </a:cubicBezTo>
                <a:cubicBezTo>
                  <a:pt x="-442102" y="622499"/>
                  <a:pt x="334714" y="768549"/>
                  <a:pt x="1111531" y="914599"/>
                </a:cubicBezTo>
              </a:path>
            </a:pathLst>
          </a:custGeom>
          <a:noFill/>
          <a:ln w="38100">
            <a:solidFill>
              <a:srgbClr val="FF0000"/>
            </a:solidFill>
            <a:prstDash val="sysDot"/>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等线" panose="02010600030101010101" pitchFamily="2" charset="-122"/>
              <a:ea typeface="等线" panose="02010600030101010101" pitchFamily="2" charset="-122"/>
            </a:endParaRPr>
          </a:p>
        </p:txBody>
      </p:sp>
      <p:sp>
        <p:nvSpPr>
          <p:cNvPr id="4" name="矩形 3"/>
          <p:cNvSpPr/>
          <p:nvPr/>
        </p:nvSpPr>
        <p:spPr>
          <a:xfrm>
            <a:off x="726161" y="4502698"/>
            <a:ext cx="7618585" cy="2031325"/>
          </a:xfrm>
          <a:prstGeom prst="rect">
            <a:avLst/>
          </a:prstGeom>
        </p:spPr>
        <p:txBody>
          <a:bodyPr wrap="square">
            <a:spAutoFit/>
          </a:bodyPr>
          <a:lstStyle/>
          <a:p>
            <a:pPr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a:t>
            </a:r>
            <a:r>
              <a:rPr lang="en-US" altLang="zh-CN" sz="2100" b="1" dirty="0">
                <a:solidFill>
                  <a:prstClr val="black"/>
                </a:solidFill>
                <a:latin typeface="黑体" panose="02010609060101010101" pitchFamily="49" charset="-122"/>
                <a:ea typeface="黑体" panose="02010609060101010101" pitchFamily="49" charset="-122"/>
              </a:rPr>
              <a:t>1</a:t>
            </a:r>
            <a:r>
              <a:rPr lang="zh-CN" altLang="en-US" sz="2100" b="1" dirty="0">
                <a:solidFill>
                  <a:prstClr val="black"/>
                </a:solidFill>
                <a:latin typeface="黑体" panose="02010609060101010101" pitchFamily="49" charset="-122"/>
                <a:ea typeface="黑体" panose="02010609060101010101" pitchFamily="49" charset="-122"/>
              </a:rPr>
              <a:t>）少用一个数据元素空间</a:t>
            </a:r>
            <a:endParaRPr lang="en-US" altLang="zh-CN" sz="2100" b="1" dirty="0">
              <a:solidFill>
                <a:prstClr val="black"/>
              </a:solidFill>
              <a:latin typeface="黑体" panose="02010609060101010101" pitchFamily="49" charset="-122"/>
              <a:ea typeface="黑体" panose="02010609060101010101" pitchFamily="49" charset="-122"/>
            </a:endParaRPr>
          </a:p>
          <a:p>
            <a:pPr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队满：（</a:t>
            </a:r>
            <a:r>
              <a:rPr lang="en-US" altLang="zh-CN" sz="2100" b="1" dirty="0">
                <a:solidFill>
                  <a:prstClr val="black"/>
                </a:solidFill>
                <a:latin typeface="黑体" panose="02010609060101010101" pitchFamily="49" charset="-122"/>
                <a:ea typeface="黑体" panose="02010609060101010101" pitchFamily="49" charset="-122"/>
              </a:rPr>
              <a:t>rear+1</a:t>
            </a:r>
            <a:r>
              <a:rPr lang="zh-CN" altLang="en-US" sz="2100" b="1" dirty="0">
                <a:solidFill>
                  <a:prstClr val="black"/>
                </a:solidFill>
                <a:latin typeface="黑体" panose="02010609060101010101" pitchFamily="49" charset="-122"/>
                <a:ea typeface="黑体" panose="02010609060101010101" pitchFamily="49" charset="-122"/>
              </a:rPr>
              <a:t>）</a:t>
            </a:r>
            <a:r>
              <a:rPr lang="en-US" altLang="zh-CN" sz="2100" b="1" dirty="0">
                <a:solidFill>
                  <a:prstClr val="black"/>
                </a:solidFill>
                <a:latin typeface="黑体" panose="02010609060101010101" pitchFamily="49" charset="-122"/>
                <a:ea typeface="黑体" panose="02010609060101010101" pitchFamily="49" charset="-122"/>
              </a:rPr>
              <a:t>mod </a:t>
            </a:r>
            <a:r>
              <a:rPr lang="en-US" altLang="zh-CN" sz="2100" b="1" dirty="0" err="1">
                <a:solidFill>
                  <a:prstClr val="black"/>
                </a:solidFill>
                <a:latin typeface="黑体" panose="02010609060101010101" pitchFamily="49" charset="-122"/>
                <a:ea typeface="黑体" panose="02010609060101010101" pitchFamily="49" charset="-122"/>
              </a:rPr>
              <a:t>QSize</a:t>
            </a:r>
            <a:r>
              <a:rPr lang="en-US" altLang="zh-CN" sz="2100" b="1" dirty="0">
                <a:solidFill>
                  <a:prstClr val="black"/>
                </a:solidFill>
                <a:latin typeface="黑体" panose="02010609060101010101" pitchFamily="49" charset="-122"/>
                <a:ea typeface="黑体" panose="02010609060101010101" pitchFamily="49" charset="-122"/>
              </a:rPr>
              <a:t>==front;</a:t>
            </a:r>
            <a:endParaRPr lang="en-US" altLang="zh-CN" sz="2100" b="1" dirty="0">
              <a:solidFill>
                <a:prstClr val="black"/>
              </a:solidFill>
              <a:latin typeface="黑体" panose="02010609060101010101" pitchFamily="49" charset="-122"/>
              <a:ea typeface="黑体" panose="02010609060101010101" pitchFamily="49" charset="-122"/>
            </a:endParaRPr>
          </a:p>
          <a:p>
            <a:pPr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队空：</a:t>
            </a:r>
            <a:r>
              <a:rPr lang="en-US" altLang="zh-CN" sz="2100" b="1" dirty="0">
                <a:solidFill>
                  <a:prstClr val="black"/>
                </a:solidFill>
                <a:latin typeface="黑体" panose="02010609060101010101" pitchFamily="49" charset="-122"/>
                <a:ea typeface="黑体" panose="02010609060101010101" pitchFamily="49" charset="-122"/>
              </a:rPr>
              <a:t>front==rear</a:t>
            </a:r>
            <a:endParaRPr lang="en-US" altLang="zh-CN" sz="2100" b="1" dirty="0">
              <a:solidFill>
                <a:prstClr val="black"/>
              </a:solidFill>
              <a:latin typeface="黑体" panose="02010609060101010101" pitchFamily="49" charset="-122"/>
              <a:ea typeface="黑体" panose="02010609060101010101" pitchFamily="49" charset="-122"/>
            </a:endParaRPr>
          </a:p>
          <a:p>
            <a:pPr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a:t>
            </a:r>
            <a:r>
              <a:rPr lang="en-US" altLang="zh-CN" sz="2100" b="1" dirty="0">
                <a:solidFill>
                  <a:prstClr val="black"/>
                </a:solidFill>
                <a:latin typeface="黑体" panose="02010609060101010101" pitchFamily="49" charset="-122"/>
                <a:ea typeface="黑体" panose="02010609060101010101" pitchFamily="49" charset="-122"/>
              </a:rPr>
              <a:t>2</a:t>
            </a:r>
            <a:r>
              <a:rPr lang="zh-CN" altLang="en-US" sz="2100" b="1" dirty="0">
                <a:solidFill>
                  <a:prstClr val="black"/>
                </a:solidFill>
                <a:latin typeface="黑体" panose="02010609060101010101" pitchFamily="49" charset="-122"/>
                <a:ea typeface="黑体" panose="02010609060101010101" pitchFamily="49" charset="-122"/>
              </a:rPr>
              <a:t>）增设标志量</a:t>
            </a:r>
            <a:r>
              <a:rPr lang="en-US" altLang="zh-CN" sz="2100" b="1" dirty="0" err="1">
                <a:solidFill>
                  <a:prstClr val="black"/>
                </a:solidFill>
                <a:latin typeface="黑体" panose="02010609060101010101" pitchFamily="49" charset="-122"/>
                <a:ea typeface="黑体" panose="02010609060101010101" pitchFamily="49" charset="-122"/>
              </a:rPr>
              <a:t>len</a:t>
            </a:r>
            <a:r>
              <a:rPr lang="zh-CN" altLang="en-US" sz="2100" b="1" dirty="0">
                <a:solidFill>
                  <a:prstClr val="black"/>
                </a:solidFill>
                <a:latin typeface="黑体" panose="02010609060101010101" pitchFamily="49" charset="-122"/>
                <a:ea typeface="黑体" panose="02010609060101010101" pitchFamily="49" charset="-122"/>
              </a:rPr>
              <a:t>，表示当前队列中元素个数</a:t>
            </a:r>
            <a:endParaRPr lang="en-US" altLang="zh-CN" sz="2100" b="1" dirty="0">
              <a:solidFill>
                <a:prstClr val="black"/>
              </a:solidFill>
              <a:latin typeface="黑体" panose="02010609060101010101" pitchFamily="49" charset="-122"/>
              <a:ea typeface="黑体" panose="02010609060101010101" pitchFamily="49" charset="-122"/>
            </a:endParaRPr>
          </a:p>
        </p:txBody>
      </p:sp>
      <p:sp>
        <p:nvSpPr>
          <p:cNvPr id="5" name="矩形 4"/>
          <p:cNvSpPr/>
          <p:nvPr/>
        </p:nvSpPr>
        <p:spPr>
          <a:xfrm>
            <a:off x="726161" y="3431913"/>
            <a:ext cx="8100439" cy="986104"/>
          </a:xfrm>
          <a:prstGeom prst="rect">
            <a:avLst/>
          </a:prstGeom>
        </p:spPr>
        <p:txBody>
          <a:bodyPr wrap="square">
            <a:spAutoFit/>
          </a:bodyPr>
          <a:lstStyle/>
          <a:p>
            <a:pPr defTabSz="685800">
              <a:lnSpc>
                <a:spcPct val="150000"/>
              </a:lnSpc>
              <a:defRPr/>
            </a:pPr>
            <a:r>
              <a:rPr lang="zh-CN" altLang="en-US" sz="2100" b="1" dirty="0">
                <a:solidFill>
                  <a:prstClr val="black"/>
                </a:solidFill>
                <a:latin typeface="黑体" panose="02010609060101010101" pitchFamily="49" charset="-122"/>
                <a:ea typeface="黑体" panose="02010609060101010101" pitchFamily="49" charset="-122"/>
              </a:rPr>
              <a:t>入队时</a:t>
            </a:r>
            <a:r>
              <a:rPr lang="zh-CN" altLang="en-US" sz="2100" b="1" dirty="0">
                <a:solidFill>
                  <a:srgbClr val="0000FF"/>
                </a:solidFill>
                <a:latin typeface="黑体" panose="02010609060101010101" pitchFamily="49" charset="-122"/>
                <a:ea typeface="黑体" panose="02010609060101010101" pitchFamily="49" charset="-122"/>
              </a:rPr>
              <a:t>尾指针</a:t>
            </a:r>
            <a:r>
              <a:rPr lang="zh-CN" altLang="en-US" sz="2100" b="1" dirty="0">
                <a:solidFill>
                  <a:prstClr val="black"/>
                </a:solidFill>
                <a:latin typeface="黑体" panose="02010609060101010101" pitchFamily="49" charset="-122"/>
                <a:ea typeface="黑体" panose="02010609060101010101" pitchFamily="49" charset="-122"/>
              </a:rPr>
              <a:t>向前追赶尾指针，此时不能再入队，否则</a:t>
            </a:r>
            <a:r>
              <a:rPr lang="en-US" altLang="zh-CN" sz="2100" b="1" dirty="0">
                <a:solidFill>
                  <a:prstClr val="black"/>
                </a:solidFill>
                <a:latin typeface="黑体" panose="02010609060101010101" pitchFamily="49" charset="-122"/>
                <a:ea typeface="黑体" panose="02010609060101010101" pitchFamily="49" charset="-122"/>
              </a:rPr>
              <a:t>rear==front,</a:t>
            </a:r>
            <a:r>
              <a:rPr lang="zh-CN" altLang="en-US" sz="2100" b="1" dirty="0">
                <a:solidFill>
                  <a:prstClr val="black"/>
                </a:solidFill>
                <a:latin typeface="黑体" panose="02010609060101010101" pitchFamily="49" charset="-122"/>
                <a:ea typeface="黑体" panose="02010609060101010101" pitchFamily="49" charset="-122"/>
              </a:rPr>
              <a:t>满队、空队无法区分。</a:t>
            </a:r>
            <a:endParaRPr lang="zh-CN" altLang="en-US" sz="2100" b="1" dirty="0">
              <a:solidFill>
                <a:prstClr val="black"/>
              </a:solidFill>
              <a:latin typeface="黑体" panose="02010609060101010101" pitchFamily="49" charset="-122"/>
              <a:ea typeface="黑体" panose="02010609060101010101" pitchFamily="49" charset="-122"/>
            </a:endParaRPr>
          </a:p>
        </p:txBody>
      </p:sp>
      <p:sp>
        <p:nvSpPr>
          <p:cNvPr id="13" name="矩形 12"/>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7" name="Rectangle 5"/>
          <p:cNvSpPr>
            <a:spLocks noChangeArrowheads="1"/>
          </p:cNvSpPr>
          <p:nvPr/>
        </p:nvSpPr>
        <p:spPr bwMode="auto">
          <a:xfrm>
            <a:off x="1371600" y="3002757"/>
            <a:ext cx="6629400" cy="461665"/>
          </a:xfrm>
          <a:prstGeom prst="rect">
            <a:avLst/>
          </a:prstGeom>
          <a:noFill/>
          <a:ln w="9525">
            <a:noFill/>
            <a:miter lim="800000"/>
          </a:ln>
          <a:effectLst/>
        </p:spPr>
        <p:txBody>
          <a:bodyPr>
            <a:spAutoFit/>
          </a:bodyPr>
          <a:lstStyle/>
          <a:p>
            <a:pPr defTabSz="685800">
              <a:spcBef>
                <a:spcPct val="20000"/>
              </a:spcBef>
              <a:defRPr/>
            </a:pPr>
            <a:endParaRPr lang="zh-CN" altLang="zh-CN" sz="2400">
              <a:solidFill>
                <a:srgbClr val="954F72"/>
              </a:solidFill>
              <a:latin typeface="黑体" panose="02010609060101010101" pitchFamily="49" charset="-122"/>
              <a:ea typeface="黑体" panose="02010609060101010101" pitchFamily="49" charset="-122"/>
            </a:endParaRPr>
          </a:p>
        </p:txBody>
      </p:sp>
      <p:sp>
        <p:nvSpPr>
          <p:cNvPr id="325639" name="Rectangle 7"/>
          <p:cNvSpPr>
            <a:spLocks noChangeArrowheads="1"/>
          </p:cNvSpPr>
          <p:nvPr/>
        </p:nvSpPr>
        <p:spPr bwMode="auto">
          <a:xfrm>
            <a:off x="2197895" y="2400300"/>
            <a:ext cx="5089922" cy="300082"/>
          </a:xfrm>
          <a:prstGeom prst="rect">
            <a:avLst/>
          </a:prstGeom>
          <a:noFill/>
          <a:ln w="9525">
            <a:noFill/>
            <a:miter lim="800000"/>
          </a:ln>
          <a:effectLst/>
        </p:spPr>
        <p:txBody>
          <a:bodyPr>
            <a:spAutoFit/>
          </a:bodyPr>
          <a:lstStyle/>
          <a:p>
            <a:pPr defTabSz="685800">
              <a:defRPr/>
            </a:pPr>
            <a:endParaRPr lang="zh-CN" altLang="en-US" sz="1350">
              <a:solidFill>
                <a:prstClr val="black"/>
              </a:solidFill>
              <a:latin typeface="等线" panose="02010600030101010101" pitchFamily="2" charset="-122"/>
              <a:ea typeface="等线" panose="02010600030101010101" pitchFamily="2" charset="-122"/>
            </a:endParaRPr>
          </a:p>
        </p:txBody>
      </p:sp>
      <p:sp>
        <p:nvSpPr>
          <p:cNvPr id="325640" name="Rectangle 8"/>
          <p:cNvSpPr>
            <a:spLocks noChangeArrowheads="1"/>
          </p:cNvSpPr>
          <p:nvPr/>
        </p:nvSpPr>
        <p:spPr bwMode="auto">
          <a:xfrm>
            <a:off x="1314450" y="2400300"/>
            <a:ext cx="6515100" cy="547688"/>
          </a:xfrm>
          <a:prstGeom prst="rect">
            <a:avLst/>
          </a:prstGeom>
          <a:noFill/>
          <a:ln w="9525">
            <a:noFill/>
            <a:miter lim="800000"/>
          </a:ln>
          <a:effectLst/>
        </p:spPr>
        <p:txBody>
          <a:bodyPr/>
          <a:lstStyle/>
          <a:p>
            <a:pPr algn="ctr" defTabSz="685800">
              <a:defRPr/>
            </a:pPr>
            <a:br>
              <a:rPr lang="en-US" altLang="zh-CN" sz="675">
                <a:solidFill>
                  <a:prstClr val="black"/>
                </a:solidFill>
                <a:latin typeface="Times New Roman" panose="02020603050405020304" pitchFamily="18" charset="0"/>
                <a:ea typeface="等线" panose="02010600030101010101" pitchFamily="2" charset="-122"/>
              </a:rPr>
            </a:br>
            <a:r>
              <a:rPr lang="en-US" altLang="zh-CN" sz="675">
                <a:solidFill>
                  <a:prstClr val="black"/>
                </a:solidFill>
                <a:latin typeface="Times New Roman" panose="02020603050405020304" pitchFamily="18" charset="0"/>
                <a:ea typeface="等线" panose="02010600030101010101" pitchFamily="2" charset="-122"/>
              </a:rPr>
              <a:t>      </a:t>
            </a:r>
            <a:endParaRPr lang="en-US" altLang="zh-CN" sz="675">
              <a:solidFill>
                <a:prstClr val="black"/>
              </a:solidFill>
              <a:latin typeface="Times New Roman" panose="02020603050405020304" pitchFamily="18" charset="0"/>
              <a:ea typeface="等线" panose="02010600030101010101" pitchFamily="2" charset="-122"/>
            </a:endParaRPr>
          </a:p>
          <a:p>
            <a:pPr algn="ctr" defTabSz="685800">
              <a:defRPr/>
            </a:pPr>
            <a:endParaRPr lang="en-US" altLang="zh-CN" sz="1350">
              <a:solidFill>
                <a:prstClr val="black"/>
              </a:solidFill>
              <a:latin typeface="Times New Roman" panose="02020603050405020304" pitchFamily="18" charset="0"/>
              <a:ea typeface="等线" panose="02010600030101010101" pitchFamily="2" charset="-122"/>
            </a:endParaRPr>
          </a:p>
        </p:txBody>
      </p:sp>
      <p:sp>
        <p:nvSpPr>
          <p:cNvPr id="325641" name="Rectangle 9"/>
          <p:cNvSpPr>
            <a:spLocks noChangeArrowheads="1"/>
          </p:cNvSpPr>
          <p:nvPr/>
        </p:nvSpPr>
        <p:spPr bwMode="auto">
          <a:xfrm>
            <a:off x="2365744" y="1758862"/>
            <a:ext cx="4093535" cy="646331"/>
          </a:xfrm>
          <a:prstGeom prst="rect">
            <a:avLst/>
          </a:prstGeom>
          <a:noFill/>
          <a:ln w="9525">
            <a:noFill/>
            <a:miter lim="800000"/>
          </a:ln>
          <a:effectLst/>
        </p:spPr>
        <p:txBody>
          <a:bodyPr wrap="square">
            <a:spAutoFit/>
          </a:bodyPr>
          <a:lstStyle/>
          <a:p>
            <a:pPr defTabSz="685800">
              <a:spcBef>
                <a:spcPct val="20000"/>
              </a:spcBef>
              <a:buClr>
                <a:srgbClr val="0563C1"/>
              </a:buClr>
              <a:buSzPct val="70000"/>
              <a:defRPr/>
            </a:pPr>
            <a:r>
              <a:rPr lang="zh-CN" altLang="en-US" b="1" dirty="0">
                <a:solidFill>
                  <a:srgbClr val="4472C4"/>
                </a:solidFill>
                <a:latin typeface="宋体" panose="02010600030101010101" pitchFamily="2" charset="-122"/>
                <a:ea typeface="宋体" panose="02010600030101010101" pitchFamily="2" charset="-122"/>
              </a:rPr>
              <a:t>队列具有的先进先出的固有特性，使得队列成为程序设计中常用的工具。</a:t>
            </a:r>
            <a:endParaRPr lang="zh-CN" altLang="en-US" b="1" dirty="0">
              <a:solidFill>
                <a:srgbClr val="4472C4"/>
              </a:solidFill>
              <a:latin typeface="宋体" panose="02010600030101010101" pitchFamily="2" charset="-122"/>
              <a:ea typeface="宋体" panose="02010600030101010101" pitchFamily="2" charset="-122"/>
            </a:endParaRPr>
          </a:p>
        </p:txBody>
      </p:sp>
      <p:sp>
        <p:nvSpPr>
          <p:cNvPr id="27" name="AutoShape 23"/>
          <p:cNvSpPr>
            <a:spLocks noChangeArrowheads="1"/>
          </p:cNvSpPr>
          <p:nvPr/>
        </p:nvSpPr>
        <p:spPr bwMode="auto">
          <a:xfrm>
            <a:off x="90516" y="1638228"/>
            <a:ext cx="1923967" cy="573286"/>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defTabSz="685800">
              <a:buClr>
                <a:srgbClr val="0563C1"/>
              </a:buClr>
              <a:buSzPct val="75000"/>
              <a:defRPr/>
            </a:pPr>
            <a:r>
              <a:rPr lang="zh-CN" altLang="en-US" sz="24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队列的应用</a:t>
            </a:r>
            <a:endParaRPr lang="zh-CN" altLang="en-US" sz="24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2639990" y="2612594"/>
            <a:ext cx="4647827" cy="2907506"/>
          </a:xfrm>
          <a:prstGeom prst="rect">
            <a:avLst/>
          </a:prstGeom>
        </p:spPr>
      </p:pic>
      <p:grpSp>
        <p:nvGrpSpPr>
          <p:cNvPr id="29" name="组合 26"/>
          <p:cNvGrpSpPr>
            <a:grpSpLocks noChangeAspect="1"/>
          </p:cNvGrpSpPr>
          <p:nvPr/>
        </p:nvGrpSpPr>
        <p:grpSpPr bwMode="auto">
          <a:xfrm>
            <a:off x="6981729" y="1745033"/>
            <a:ext cx="1695643" cy="627883"/>
            <a:chOff x="1332720" y="2609000"/>
            <a:chExt cx="415318" cy="1666700"/>
          </a:xfrm>
        </p:grpSpPr>
        <p:sp>
          <p:nvSpPr>
            <p:cNvPr id="30" name="圆角矩形 77"/>
            <p:cNvSpPr/>
            <p:nvPr/>
          </p:nvSpPr>
          <p:spPr>
            <a:xfrm>
              <a:off x="1332720" y="2609000"/>
              <a:ext cx="415318" cy="1666700"/>
            </a:xfrm>
            <a:prstGeom prst="roundRect">
              <a:avLst>
                <a:gd name="adj" fmla="val 10568"/>
              </a:avLst>
            </a:prstGeom>
            <a:gradFill flip="none" rotWithShape="1">
              <a:gsLst>
                <a:gs pos="0">
                  <a:srgbClr val="00DFF6"/>
                </a:gs>
                <a:gs pos="90000">
                  <a:srgbClr val="002774"/>
                </a:gs>
              </a:gsLst>
              <a:lin ang="2700000" scaled="1"/>
              <a:tileRect/>
            </a:gradFill>
            <a:ln w="25400">
              <a:noFill/>
            </a:ln>
            <a:effectLst>
              <a:outerShdw blurRad="225425" dist="38100" dir="5220000" algn="ctr">
                <a:srgbClr val="000000">
                  <a:alpha val="33000"/>
                </a:srgbClr>
              </a:outerShdw>
            </a:effectLst>
            <a:scene3d>
              <a:camera prst="orthographicFront"/>
              <a:lightRig rig="flat" dir="t"/>
            </a:scene3d>
            <a:sp3d contourW="19050">
              <a:bevelT prst="convex"/>
              <a:bevelB w="0" h="0"/>
              <a:contourClr>
                <a:srgbClr val="AFEAFF"/>
              </a:contourClr>
            </a:sp3d>
          </p:spPr>
          <p:style>
            <a:lnRef idx="1">
              <a:schemeClr val="accent2"/>
            </a:lnRef>
            <a:fillRef idx="3">
              <a:schemeClr val="accent2"/>
            </a:fillRef>
            <a:effectRef idx="2">
              <a:schemeClr val="accent2"/>
            </a:effectRef>
            <a:fontRef idx="minor">
              <a:schemeClr val="lt1"/>
            </a:fontRef>
          </p:style>
          <p:txBody>
            <a:bodyPr anchor="ctr"/>
            <a:lstStyle/>
            <a:p>
              <a:pPr algn="ctr" defTabSz="685800" eaLnBrk="0" fontAlgn="ctr" hangingPunct="0">
                <a:buClr>
                  <a:srgbClr val="FF0000"/>
                </a:buClr>
                <a:buSzPct val="70000"/>
                <a:buFont typeface="Wingdings" panose="05000000000000000000" pitchFamily="2" charset="2"/>
                <a:buChar char="u"/>
                <a:defRPr/>
              </a:pPr>
              <a:endParaRPr lang="zh-CN" altLang="en-US" sz="1200" dirty="0">
                <a:solidFill>
                  <a:prstClr val="white"/>
                </a:solidFill>
                <a:effectLst>
                  <a:reflection blurRad="6350" stA="50000" endA="300" endPos="50000" dist="29997" dir="5400000" sy="-100000" algn="bl" rotWithShape="0"/>
                </a:effectLst>
                <a:latin typeface="微软雅黑" panose="020B0503020204020204" charset="-122"/>
                <a:ea typeface="微软雅黑" panose="020B0503020204020204" charset="-122"/>
              </a:endParaRPr>
            </a:p>
          </p:txBody>
        </p:sp>
        <p:sp>
          <p:nvSpPr>
            <p:cNvPr id="31" name="矩形 14"/>
            <p:cNvSpPr>
              <a:spLocks noChangeArrowheads="1"/>
            </p:cNvSpPr>
            <p:nvPr/>
          </p:nvSpPr>
          <p:spPr bwMode="auto">
            <a:xfrm>
              <a:off x="1332720" y="2790622"/>
              <a:ext cx="399887" cy="980383"/>
            </a:xfrm>
            <a:prstGeom prst="rect">
              <a:avLst/>
            </a:prstGeom>
            <a:noFill/>
            <a:ln w="9525">
              <a:noFill/>
              <a:miter lim="800000"/>
            </a:ln>
          </p:spPr>
          <p:txBody>
            <a:bodyPr anchor="ctr">
              <a:spAutoFit/>
            </a:bodyPr>
            <a:lstStyle/>
            <a:p>
              <a:pPr algn="ctr" defTabSz="685800">
                <a:defRPr/>
              </a:pPr>
              <a:r>
                <a:rPr kumimoji="1" lang="zh-CN" altLang="en-US" dirty="0">
                  <a:solidFill>
                    <a:prstClr val="white"/>
                  </a:solidFill>
                  <a:effectLst>
                    <a:reflection blurRad="6350" stA="50000" endA="300" endPos="50000" dist="29997" dir="5400000" sy="-100000" algn="bl" rotWithShape="0"/>
                  </a:effectLst>
                  <a:latin typeface="微软雅黑" panose="020B0503020204020204" charset="-122"/>
                  <a:ea typeface="微软雅黑" panose="020B0503020204020204" charset="-122"/>
                </a:rPr>
                <a:t>任务调度</a:t>
              </a:r>
              <a:endParaRPr kumimoji="1" lang="zh-CN" altLang="en-US" dirty="0">
                <a:solidFill>
                  <a:prstClr val="white"/>
                </a:solidFill>
                <a:effectLst>
                  <a:reflection blurRad="6350" stA="50000" endA="300" endPos="50000" dist="29997" dir="5400000" sy="-100000" algn="bl" rotWithShape="0"/>
                </a:effectLst>
                <a:latin typeface="微软雅黑" panose="020B0503020204020204" charset="-122"/>
                <a:ea typeface="微软雅黑" panose="020B0503020204020204" charset="-122"/>
              </a:endParaRPr>
            </a:p>
          </p:txBody>
        </p:sp>
      </p:grpSp>
      <p:sp>
        <p:nvSpPr>
          <p:cNvPr id="4" name="矩形 3"/>
          <p:cNvSpPr/>
          <p:nvPr/>
        </p:nvSpPr>
        <p:spPr>
          <a:xfrm>
            <a:off x="134663" y="2795147"/>
            <a:ext cx="2505327" cy="646331"/>
          </a:xfrm>
          <a:prstGeom prst="rect">
            <a:avLst/>
          </a:prstGeom>
        </p:spPr>
        <p:txBody>
          <a:bodyPr wrap="square">
            <a:spAutoFit/>
          </a:bodyPr>
          <a:lstStyle/>
          <a:p>
            <a:pPr defTabSz="685800">
              <a:defRPr/>
            </a:pPr>
            <a:r>
              <a:rPr lang="zh-CN" altLang="en-US" dirty="0">
                <a:solidFill>
                  <a:srgbClr val="993300"/>
                </a:solidFill>
                <a:latin typeface="Verdana" panose="020B0604030504040204" pitchFamily="34" charset="0"/>
                <a:ea typeface="等线" panose="02010600030101010101" pitchFamily="2" charset="-122"/>
              </a:rPr>
              <a:t>事件被触发，产生消息，存入系统的消息队列。</a:t>
            </a:r>
            <a:endParaRPr lang="zh-CN" altLang="en-US" dirty="0">
              <a:solidFill>
                <a:prstClr val="black"/>
              </a:solidFill>
              <a:latin typeface="等线" panose="02010600030101010101" pitchFamily="2" charset="-122"/>
              <a:ea typeface="等线" panose="02010600030101010101" pitchFamily="2" charset="-122"/>
            </a:endParaRPr>
          </a:p>
        </p:txBody>
      </p:sp>
      <p:sp>
        <p:nvSpPr>
          <p:cNvPr id="5" name="矩形 4"/>
          <p:cNvSpPr/>
          <p:nvPr/>
        </p:nvSpPr>
        <p:spPr>
          <a:xfrm>
            <a:off x="6645317" y="4769335"/>
            <a:ext cx="2505328" cy="923330"/>
          </a:xfrm>
          <a:prstGeom prst="rect">
            <a:avLst/>
          </a:prstGeom>
        </p:spPr>
        <p:txBody>
          <a:bodyPr wrap="square">
            <a:spAutoFit/>
          </a:bodyPr>
          <a:lstStyle/>
          <a:p>
            <a:pPr defTabSz="685800">
              <a:defRPr/>
            </a:pPr>
            <a:r>
              <a:rPr lang="zh-CN" altLang="en-US" dirty="0">
                <a:solidFill>
                  <a:srgbClr val="993300"/>
                </a:solidFill>
                <a:latin typeface="Verdana" panose="020B0604030504040204" pitchFamily="34" charset="0"/>
                <a:ea typeface="等线" panose="02010600030101010101" pitchFamily="2" charset="-122"/>
              </a:rPr>
              <a:t>线程从队列中取出消息，通过操作系统发送到对应的窗口过程去处理。</a:t>
            </a:r>
            <a:endParaRPr lang="zh-CN" altLang="en-US" dirty="0">
              <a:solidFill>
                <a:srgbClr val="993300"/>
              </a:solidFill>
              <a:latin typeface="Verdana" panose="020B0604030504040204" pitchFamily="34" charset="0"/>
              <a:ea typeface="等线" panose="02010600030101010101" pitchFamily="2" charset="-122"/>
            </a:endParaRPr>
          </a:p>
        </p:txBody>
      </p:sp>
      <p:sp>
        <p:nvSpPr>
          <p:cNvPr id="33" name="矩形 32"/>
          <p:cNvSpPr/>
          <p:nvPr/>
        </p:nvSpPr>
        <p:spPr>
          <a:xfrm>
            <a:off x="77841" y="4244470"/>
            <a:ext cx="2587518" cy="923330"/>
          </a:xfrm>
          <a:prstGeom prst="rect">
            <a:avLst/>
          </a:prstGeom>
        </p:spPr>
        <p:txBody>
          <a:bodyPr wrap="square">
            <a:spAutoFit/>
          </a:bodyPr>
          <a:lstStyle/>
          <a:p>
            <a:pPr defTabSz="685800">
              <a:defRPr/>
            </a:pPr>
            <a:r>
              <a:rPr lang="en-US" altLang="zh-CN" dirty="0">
                <a:solidFill>
                  <a:srgbClr val="993300"/>
                </a:solidFill>
                <a:latin typeface="Verdana" panose="020B0604030504040204" pitchFamily="34" charset="0"/>
                <a:ea typeface="等线" panose="02010600030101010101" pitchFamily="2" charset="-122"/>
              </a:rPr>
              <a:t>OS</a:t>
            </a:r>
            <a:r>
              <a:rPr lang="zh-CN" altLang="en-US" dirty="0">
                <a:solidFill>
                  <a:srgbClr val="993300"/>
                </a:solidFill>
                <a:latin typeface="Verdana" panose="020B0604030504040204" pitchFamily="34" charset="0"/>
                <a:ea typeface="等线" panose="02010600030101010101" pitchFamily="2" charset="-122"/>
              </a:rPr>
              <a:t>从系统消息队列中取出一个消息，送往处理该消息的线程消息队列。</a:t>
            </a:r>
            <a:endParaRPr lang="zh-CN" altLang="en-US" dirty="0">
              <a:solidFill>
                <a:srgbClr val="993300"/>
              </a:solidFill>
              <a:latin typeface="Verdana" panose="020B0604030504040204" pitchFamily="34" charset="0"/>
              <a:ea typeface="等线" panose="02010600030101010101" pitchFamily="2" charset="-122"/>
            </a:endParaRPr>
          </a:p>
        </p:txBody>
      </p:sp>
      <p:cxnSp>
        <p:nvCxnSpPr>
          <p:cNvPr id="7" name="连接符: 曲线 6"/>
          <p:cNvCxnSpPr>
            <a:stCxn id="4" idx="2"/>
          </p:cNvCxnSpPr>
          <p:nvPr/>
        </p:nvCxnSpPr>
        <p:spPr>
          <a:xfrm rot="16200000" flipH="1">
            <a:off x="1959092" y="2869713"/>
            <a:ext cx="236267" cy="1379796"/>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连接符: 曲线 8"/>
          <p:cNvCxnSpPr>
            <a:stCxn id="33" idx="2"/>
          </p:cNvCxnSpPr>
          <p:nvPr/>
        </p:nvCxnSpPr>
        <p:spPr>
          <a:xfrm rot="5400000" flipH="1" flipV="1">
            <a:off x="2675400" y="3607527"/>
            <a:ext cx="256472" cy="2864073"/>
          </a:xfrm>
          <a:prstGeom prst="curvedConnector4">
            <a:avLst>
              <a:gd name="adj1" fmla="val -89133"/>
              <a:gd name="adj2" fmla="val 72586"/>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5" name="连接符: 曲线 44"/>
          <p:cNvCxnSpPr>
            <a:stCxn id="5" idx="0"/>
          </p:cNvCxnSpPr>
          <p:nvPr/>
        </p:nvCxnSpPr>
        <p:spPr>
          <a:xfrm rot="16200000" flipV="1">
            <a:off x="6781588" y="3652941"/>
            <a:ext cx="794087" cy="1438701"/>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53" name="组合 52"/>
          <p:cNvGrpSpPr/>
          <p:nvPr/>
        </p:nvGrpSpPr>
        <p:grpSpPr>
          <a:xfrm>
            <a:off x="7287817" y="2840417"/>
            <a:ext cx="1846283" cy="1261941"/>
            <a:chOff x="1668223" y="3771914"/>
            <a:chExt cx="3168650" cy="1881060"/>
          </a:xfrm>
        </p:grpSpPr>
        <p:grpSp>
          <p:nvGrpSpPr>
            <p:cNvPr id="54" name="组合 23"/>
            <p:cNvGrpSpPr/>
            <p:nvPr/>
          </p:nvGrpSpPr>
          <p:grpSpPr bwMode="auto">
            <a:xfrm>
              <a:off x="1668223" y="4060841"/>
              <a:ext cx="3168650" cy="1592133"/>
              <a:chOff x="4938688" y="3803656"/>
              <a:chExt cx="3160156" cy="1586042"/>
            </a:xfrm>
          </p:grpSpPr>
          <p:sp>
            <p:nvSpPr>
              <p:cNvPr id="58" name="圆角矩形 3"/>
              <p:cNvSpPr/>
              <p:nvPr/>
            </p:nvSpPr>
            <p:spPr bwMode="auto">
              <a:xfrm>
                <a:off x="4938688" y="3803656"/>
                <a:ext cx="3160156" cy="1586042"/>
              </a:xfrm>
              <a:prstGeom prst="roundRect">
                <a:avLst>
                  <a:gd name="adj" fmla="val 7848"/>
                </a:avLst>
              </a:prstGeom>
              <a:gradFill flip="none" rotWithShape="1">
                <a:gsLst>
                  <a:gs pos="30000">
                    <a:schemeClr val="bg1"/>
                  </a:gs>
                  <a:gs pos="100000">
                    <a:schemeClr val="bg1">
                      <a:lumMod val="75000"/>
                    </a:schemeClr>
                  </a:gs>
                </a:gsLst>
                <a:lin ang="2700000" scaled="1"/>
                <a:tileRect/>
              </a:gradFill>
              <a:ln w="38100">
                <a:gradFill>
                  <a:gsLst>
                    <a:gs pos="0">
                      <a:srgbClr val="00B0F0"/>
                    </a:gs>
                    <a:gs pos="100000">
                      <a:srgbClr val="002060"/>
                    </a:gs>
                  </a:gsLst>
                  <a:lin ang="5400000" scaled="0"/>
                </a:gradFill>
              </a:ln>
              <a:effectLst>
                <a:outerShdw blurRad="225425" dist="38100" dir="5220000" algn="ctr">
                  <a:srgbClr val="000000">
                    <a:alpha val="33000"/>
                  </a:srgbClr>
                </a:outerShdw>
              </a:effectLst>
              <a:scene3d>
                <a:camera prst="orthographicFront"/>
                <a:lightRig rig="flat" dir="t"/>
              </a:scene3d>
              <a:sp3d contourW="19050">
                <a:bevelT w="165100" h="127000" prst="artDeco"/>
                <a:bevelB w="0" h="0"/>
                <a:contourClr>
                  <a:schemeClr val="bg1"/>
                </a:contourClr>
              </a:sp3d>
            </p:spPr>
            <p:style>
              <a:lnRef idx="1">
                <a:schemeClr val="accent2"/>
              </a:lnRef>
              <a:fillRef idx="3">
                <a:schemeClr val="accent2"/>
              </a:fillRef>
              <a:effectRef idx="2">
                <a:schemeClr val="accent2"/>
              </a:effectRef>
              <a:fontRef idx="minor">
                <a:schemeClr val="lt1"/>
              </a:fontRef>
            </p:style>
            <p:txBody>
              <a:bodyPr anchor="ctr"/>
              <a:lstStyle/>
              <a:p>
                <a:pPr marL="0" lvl="2" algn="ctr" defTabSz="685800" eaLnBrk="0" fontAlgn="ctr" hangingPunct="0">
                  <a:buClr>
                    <a:srgbClr val="FF0000"/>
                  </a:buClr>
                  <a:buSzPct val="70000"/>
                  <a:buFont typeface="Wingdings" panose="05000000000000000000" pitchFamily="2" charset="2"/>
                  <a:buChar char="n"/>
                  <a:tabLst>
                    <a:tab pos="102235" algn="l"/>
                  </a:tabLst>
                  <a:defRPr/>
                </a:pPr>
                <a:endParaRPr lang="zh-CN" altLang="en-US" dirty="0">
                  <a:solidFill>
                    <a:prstClr val="black"/>
                  </a:solidFill>
                  <a:latin typeface="微软雅黑" panose="020B0503020204020204" charset="-122"/>
                  <a:ea typeface="微软雅黑" panose="020B0503020204020204" charset="-122"/>
                </a:endParaRPr>
              </a:p>
            </p:txBody>
          </p:sp>
          <p:sp>
            <p:nvSpPr>
              <p:cNvPr id="59" name="矩形 87"/>
              <p:cNvSpPr>
                <a:spLocks noChangeArrowheads="1"/>
              </p:cNvSpPr>
              <p:nvPr/>
            </p:nvSpPr>
            <p:spPr bwMode="auto">
              <a:xfrm>
                <a:off x="5052458" y="4390038"/>
                <a:ext cx="2932617" cy="959741"/>
              </a:xfrm>
              <a:prstGeom prst="rect">
                <a:avLst/>
              </a:prstGeom>
              <a:noFill/>
              <a:ln w="9525">
                <a:noFill/>
                <a:miter lim="800000"/>
              </a:ln>
            </p:spPr>
            <p:txBody>
              <a:bodyPr>
                <a:spAutoFit/>
              </a:bodyPr>
              <a:lstStyle/>
              <a:p>
                <a:pPr algn="ctr" defTabSz="685800" eaLnBrk="0" fontAlgn="ctr" hangingPunct="0">
                  <a:buClr>
                    <a:srgbClr val="FF0000"/>
                  </a:buClr>
                  <a:buSzPct val="70000"/>
                  <a:defRPr/>
                </a:pPr>
                <a:r>
                  <a:rPr lang="zh-CN" altLang="en-US" dirty="0">
                    <a:solidFill>
                      <a:prstClr val="black"/>
                    </a:solidFill>
                    <a:latin typeface="微软雅黑" panose="020B0503020204020204" charset="-122"/>
                    <a:ea typeface="微软雅黑" panose="020B0503020204020204" charset="-122"/>
                  </a:rPr>
                  <a:t>对短作业不利</a:t>
                </a:r>
                <a:endParaRPr lang="en-US" altLang="zh-CN" dirty="0">
                  <a:solidFill>
                    <a:prstClr val="black"/>
                  </a:solidFill>
                  <a:latin typeface="微软雅黑" panose="020B0503020204020204" charset="-122"/>
                  <a:ea typeface="微软雅黑" panose="020B0503020204020204" charset="-122"/>
                </a:endParaRPr>
              </a:p>
              <a:p>
                <a:pPr algn="ctr" defTabSz="685800" eaLnBrk="0" fontAlgn="ctr" hangingPunct="0">
                  <a:buClr>
                    <a:srgbClr val="FF0000"/>
                  </a:buClr>
                  <a:buSzPct val="70000"/>
                  <a:defRPr/>
                </a:pPr>
                <a:r>
                  <a:rPr lang="zh-CN" altLang="en-US" dirty="0">
                    <a:solidFill>
                      <a:prstClr val="black"/>
                    </a:solidFill>
                    <a:latin typeface="微软雅黑" panose="020B0503020204020204" charset="-122"/>
                    <a:ea typeface="微软雅黑" panose="020B0503020204020204" charset="-122"/>
                  </a:rPr>
                  <a:t>改进</a:t>
                </a:r>
                <a:r>
                  <a:rPr lang="en-US" altLang="zh-CN" dirty="0">
                    <a:solidFill>
                      <a:prstClr val="black"/>
                    </a:solidFill>
                    <a:latin typeface="微软雅黑" panose="020B0503020204020204" charset="-122"/>
                    <a:ea typeface="微软雅黑" panose="020B0503020204020204" charset="-122"/>
                  </a:rPr>
                  <a:t>……</a:t>
                </a:r>
                <a:endParaRPr lang="zh-CN" altLang="en-US" dirty="0">
                  <a:solidFill>
                    <a:prstClr val="black"/>
                  </a:solidFill>
                  <a:latin typeface="微软雅黑" panose="020B0503020204020204" charset="-122"/>
                  <a:ea typeface="微软雅黑" panose="020B0503020204020204" charset="-122"/>
                </a:endParaRPr>
              </a:p>
            </p:txBody>
          </p:sp>
        </p:grpSp>
        <p:grpSp>
          <p:nvGrpSpPr>
            <p:cNvPr id="55" name="组合 26"/>
            <p:cNvGrpSpPr>
              <a:grpSpLocks noChangeAspect="1"/>
            </p:cNvGrpSpPr>
            <p:nvPr/>
          </p:nvGrpSpPr>
          <p:grpSpPr bwMode="auto">
            <a:xfrm>
              <a:off x="1782297" y="3771914"/>
              <a:ext cx="2975525" cy="558356"/>
              <a:chOff x="712604" y="3513439"/>
              <a:chExt cx="1704902" cy="992582"/>
            </a:xfrm>
          </p:grpSpPr>
          <p:sp>
            <p:nvSpPr>
              <p:cNvPr id="56" name="圆角矩形 12"/>
              <p:cNvSpPr/>
              <p:nvPr/>
            </p:nvSpPr>
            <p:spPr>
              <a:xfrm>
                <a:off x="712605" y="3513439"/>
                <a:ext cx="1704901" cy="987727"/>
              </a:xfrm>
              <a:prstGeom prst="roundRect">
                <a:avLst>
                  <a:gd name="adj" fmla="val 10568"/>
                </a:avLst>
              </a:prstGeom>
              <a:gradFill flip="none" rotWithShape="1">
                <a:gsLst>
                  <a:gs pos="0">
                    <a:srgbClr val="00DFF6"/>
                  </a:gs>
                  <a:gs pos="90000">
                    <a:srgbClr val="002774"/>
                  </a:gs>
                </a:gsLst>
                <a:lin ang="2700000" scaled="1"/>
                <a:tileRect/>
              </a:gradFill>
              <a:ln w="25400">
                <a:noFill/>
              </a:ln>
              <a:effectLst>
                <a:outerShdw blurRad="225425" dist="38100" dir="5220000" algn="ctr">
                  <a:srgbClr val="000000">
                    <a:alpha val="33000"/>
                  </a:srgbClr>
                </a:outerShdw>
              </a:effectLst>
              <a:scene3d>
                <a:camera prst="orthographicFront"/>
                <a:lightRig rig="flat" dir="t"/>
              </a:scene3d>
              <a:sp3d contourW="19050">
                <a:bevelT prst="convex"/>
                <a:bevelB w="0" h="0"/>
                <a:contourClr>
                  <a:srgbClr val="AFEAFF"/>
                </a:contourClr>
              </a:sp3d>
            </p:spPr>
            <p:style>
              <a:lnRef idx="1">
                <a:schemeClr val="accent2"/>
              </a:lnRef>
              <a:fillRef idx="3">
                <a:schemeClr val="accent2"/>
              </a:fillRef>
              <a:effectRef idx="2">
                <a:schemeClr val="accent2"/>
              </a:effectRef>
              <a:fontRef idx="minor">
                <a:schemeClr val="lt1"/>
              </a:fontRef>
            </p:style>
            <p:txBody>
              <a:bodyPr anchor="ctr"/>
              <a:lstStyle/>
              <a:p>
                <a:pPr algn="ctr" defTabSz="685800" eaLnBrk="0" fontAlgn="ctr" hangingPunct="0">
                  <a:buClr>
                    <a:srgbClr val="FF0000"/>
                  </a:buClr>
                  <a:buSzPct val="70000"/>
                  <a:buFont typeface="Wingdings" panose="05000000000000000000" pitchFamily="2" charset="2"/>
                  <a:buChar char="u"/>
                  <a:defRPr/>
                </a:pPr>
                <a:endParaRPr lang="zh-CN" altLang="en-US" b="1">
                  <a:solidFill>
                    <a:prstClr val="white"/>
                  </a:solidFill>
                  <a:latin typeface="微软雅黑" panose="020B0503020204020204" charset="-122"/>
                  <a:ea typeface="微软雅黑" panose="020B0503020204020204" charset="-122"/>
                </a:endParaRPr>
              </a:p>
            </p:txBody>
          </p:sp>
          <p:sp>
            <p:nvSpPr>
              <p:cNvPr id="57" name="矩形 56"/>
              <p:cNvSpPr>
                <a:spLocks noChangeArrowheads="1"/>
              </p:cNvSpPr>
              <p:nvPr/>
            </p:nvSpPr>
            <p:spPr bwMode="auto">
              <a:xfrm>
                <a:off x="712604" y="3527351"/>
                <a:ext cx="1617773" cy="978670"/>
              </a:xfrm>
              <a:prstGeom prst="rect">
                <a:avLst/>
              </a:prstGeom>
              <a:noFill/>
              <a:ln w="9525">
                <a:noFill/>
                <a:miter lim="800000"/>
              </a:ln>
            </p:spPr>
            <p:txBody>
              <a:bodyPr wrap="square" anchor="ctr">
                <a:spAutoFit/>
              </a:bodyPr>
              <a:lstStyle/>
              <a:p>
                <a:pPr algn="ctr" defTabSz="685800" fontAlgn="ctr">
                  <a:buClr>
                    <a:srgbClr val="FF0000"/>
                  </a:buClr>
                  <a:buSzPct val="70000"/>
                  <a:defRPr/>
                </a:pPr>
                <a:r>
                  <a:rPr kumimoji="1" lang="zh-CN" altLang="en-US" dirty="0">
                    <a:solidFill>
                      <a:prstClr val="white"/>
                    </a:solidFill>
                    <a:effectLst>
                      <a:reflection blurRad="6350" stA="50000" endA="300" endPos="50000" dist="29997" dir="5400000" sy="-100000" algn="bl" rotWithShape="0"/>
                    </a:effectLst>
                    <a:latin typeface="微软雅黑" panose="020B0503020204020204" charset="-122"/>
                    <a:ea typeface="微软雅黑" panose="020B0503020204020204" charset="-122"/>
                  </a:rPr>
                  <a:t>先来先服务</a:t>
                </a:r>
                <a:endParaRPr kumimoji="1" lang="zh-CN" altLang="en-US" dirty="0">
                  <a:solidFill>
                    <a:prstClr val="white"/>
                  </a:solidFill>
                  <a:effectLst>
                    <a:reflection blurRad="6350" stA="50000" endA="300" endPos="50000" dist="29997" dir="5400000" sy="-100000" algn="bl" rotWithShape="0"/>
                  </a:effectLst>
                  <a:latin typeface="微软雅黑" panose="020B0503020204020204" charset="-122"/>
                  <a:ea typeface="微软雅黑" panose="020B0503020204020204" charset="-122"/>
                </a:endParaRPr>
              </a:p>
            </p:txBody>
          </p:sp>
        </p:grpSp>
      </p:grpSp>
      <p:sp>
        <p:nvSpPr>
          <p:cNvPr id="24" name="矩形 23"/>
          <p:cNvSpPr/>
          <p:nvPr/>
        </p:nvSpPr>
        <p:spPr>
          <a:xfrm>
            <a:off x="1132949" y="285091"/>
            <a:ext cx="4307589" cy="584775"/>
          </a:xfrm>
          <a:prstGeom prst="rect">
            <a:avLst/>
          </a:prstGeom>
        </p:spPr>
        <p:txBody>
          <a:bodyPr wrap="none">
            <a:spAutoFit/>
          </a:bodyPr>
          <a:lstStyle/>
          <a:p>
            <a:pPr algn="ctr" defTabSz="685800" eaLnBrk="0" hangingPunct="0">
              <a:defRPr/>
            </a:pPr>
            <a:r>
              <a:rPr lang="en-US" altLang="zh-CN" sz="3200" b="1" kern="0" dirty="0">
                <a:latin typeface="黑体" panose="02010609060101010101" pitchFamily="49" charset="-122"/>
                <a:ea typeface="黑体" panose="02010609060101010101" pitchFamily="49" charset="-122"/>
              </a:rPr>
              <a:t>3.9 </a:t>
            </a:r>
            <a:r>
              <a:rPr lang="zh-CN" altLang="en-US" sz="3200" b="1" kern="0" dirty="0">
                <a:latin typeface="黑体" panose="02010609060101010101" pitchFamily="49" charset="-122"/>
                <a:ea typeface="黑体" panose="02010609060101010101" pitchFamily="49" charset="-122"/>
              </a:rPr>
              <a:t>队列的存储与处理</a:t>
            </a:r>
            <a:endParaRPr lang="en-US" altLang="zh-CN" sz="3200" b="1" kern="0" dirty="0">
              <a:latin typeface="黑体" panose="02010609060101010101" pitchFamily="49" charset="-122"/>
              <a:ea typeface="黑体" panose="02010609060101010101" pitchFamily="49" charset="-122"/>
            </a:endParaRPr>
          </a:p>
        </p:txBody>
      </p:sp>
      <p:sp>
        <p:nvSpPr>
          <p:cNvPr id="3" name="文本框 2"/>
          <p:cNvSpPr txBox="1"/>
          <p:nvPr/>
        </p:nvSpPr>
        <p:spPr>
          <a:xfrm>
            <a:off x="473710" y="5970270"/>
            <a:ext cx="4194810" cy="460375"/>
          </a:xfrm>
          <a:prstGeom prst="rect">
            <a:avLst/>
          </a:prstGeom>
          <a:noFill/>
        </p:spPr>
        <p:txBody>
          <a:bodyPr wrap="square" rtlCol="0">
            <a:spAutoFit/>
          </a:bodyPr>
          <a:p>
            <a:r>
              <a:rPr lang="zh-CN" altLang="en-US" sz="2400" b="1">
                <a:solidFill>
                  <a:srgbClr val="FF0000"/>
                </a:solidFill>
              </a:rPr>
              <a:t>本章作业：见学习通</a:t>
            </a:r>
            <a:endParaRPr lang="zh-CN" altLang="en-US" sz="2400"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br>
              <a:rPr lang="zh-CN" altLang="zh-CN" sz="3600" kern="100" dirty="0">
                <a:solidFill>
                  <a:srgbClr val="3333FF"/>
                </a:solidFill>
                <a:latin typeface="等线" panose="02010600030101010101" pitchFamily="2" charset="-122"/>
                <a:ea typeface="黑体" panose="02010609060101010101" pitchFamily="49" charset="-122"/>
                <a:cs typeface="Times New Roman" panose="02020603050405020304" pitchFamily="18" charset="0"/>
              </a:rPr>
            </a:br>
            <a:endParaRPr lang="zh-CN" altLang="en-US" dirty="0">
              <a:solidFill>
                <a:srgbClr val="3333FF"/>
              </a:solidFill>
            </a:endParaRPr>
          </a:p>
        </p:txBody>
      </p:sp>
      <p:sp>
        <p:nvSpPr>
          <p:cNvPr id="3" name="副标题 2"/>
          <p:cNvSpPr>
            <a:spLocks noGrp="1"/>
          </p:cNvSpPr>
          <p:nvPr>
            <p:ph type="subTitle" idx="1"/>
          </p:nvPr>
        </p:nvSpPr>
        <p:spPr/>
        <p:txBody>
          <a:bodyPr/>
          <a:lstStyle/>
          <a:p>
            <a:endParaRPr lang="zh-CN" altLang="en-US"/>
          </a:p>
        </p:txBody>
      </p:sp>
      <p:grpSp>
        <p:nvGrpSpPr>
          <p:cNvPr id="5" name="组合 4"/>
          <p:cNvGrpSpPr/>
          <p:nvPr/>
        </p:nvGrpSpPr>
        <p:grpSpPr>
          <a:xfrm>
            <a:off x="1471223" y="3050268"/>
            <a:ext cx="6102040" cy="878908"/>
            <a:chOff x="3302828" y="2877584"/>
            <a:chExt cx="7332041" cy="1585086"/>
          </a:xfrm>
        </p:grpSpPr>
        <p:grpSp>
          <p:nvGrpSpPr>
            <p:cNvPr id="6" name="Group 3"/>
            <p:cNvGrpSpPr/>
            <p:nvPr/>
          </p:nvGrpSpPr>
          <p:grpSpPr bwMode="auto">
            <a:xfrm>
              <a:off x="3302828" y="2877584"/>
              <a:ext cx="7332041" cy="1585086"/>
              <a:chOff x="1267" y="2532"/>
              <a:chExt cx="3185" cy="582"/>
            </a:xfrm>
          </p:grpSpPr>
          <p:sp>
            <p:nvSpPr>
              <p:cNvPr id="8" name="AutoShape 4"/>
              <p:cNvSpPr>
                <a:spLocks noChangeArrowheads="1"/>
              </p:cNvSpPr>
              <p:nvPr/>
            </p:nvSpPr>
            <p:spPr bwMode="gray">
              <a:xfrm>
                <a:off x="1267" y="2532"/>
                <a:ext cx="3185" cy="582"/>
              </a:xfrm>
              <a:prstGeom prst="roundRect">
                <a:avLst>
                  <a:gd name="adj" fmla="val 16667"/>
                </a:avLst>
              </a:prstGeom>
              <a:gradFill rotWithShape="1">
                <a:gsLst>
                  <a:gs pos="0">
                    <a:srgbClr val="0000FF"/>
                  </a:gs>
                  <a:gs pos="100000">
                    <a:srgbClr val="0000FF">
                      <a:gamma/>
                      <a:shade val="66275"/>
                      <a:invGamma/>
                    </a:srgbClr>
                  </a:gs>
                </a:gsLst>
                <a:lin ang="0" scaled="1"/>
              </a:gradFill>
              <a:ln w="9525">
                <a:noFill/>
                <a:round/>
              </a:ln>
              <a:effectLst/>
              <a:scene3d>
                <a:camera prst="legacyPerspectiveBottom"/>
                <a:lightRig rig="legacyNormal3" dir="r"/>
              </a:scene3d>
              <a:sp3d extrusionH="430200" prstMaterial="legacyMatte">
                <a:bevelT w="13500" h="13500" prst="angle"/>
                <a:bevelB w="13500" h="13500" prst="angle"/>
                <a:extrusionClr>
                  <a:srgbClr val="0000FF"/>
                </a:extrusionClr>
              </a:sp3d>
            </p:spPr>
            <p:txBody>
              <a:bodyPr wrap="none" anchor="ctr">
                <a:flatTx/>
              </a:bodyPr>
              <a:lstStyle/>
              <a:p>
                <a:pPr defTabSz="514350" fontAlgn="base">
                  <a:spcBef>
                    <a:spcPct val="0"/>
                  </a:spcBef>
                  <a:spcAft>
                    <a:spcPct val="0"/>
                  </a:spcAft>
                  <a:defRPr/>
                </a:pPr>
                <a:endParaRPr lang="zh-CN" altLang="en-US" sz="1015" kern="0">
                  <a:solidFill>
                    <a:prstClr val="black"/>
                  </a:solidFill>
                  <a:latin typeface="Arial" panose="020B0604020202020204" pitchFamily="34" charset="0"/>
                  <a:ea typeface="宋体" panose="02010600030101010101" pitchFamily="2" charset="-122"/>
                </a:endParaRPr>
              </a:p>
            </p:txBody>
          </p:sp>
          <p:sp>
            <p:nvSpPr>
              <p:cNvPr id="9" name="Line 5"/>
              <p:cNvSpPr>
                <a:spLocks noChangeShapeType="1"/>
              </p:cNvSpPr>
              <p:nvPr/>
            </p:nvSpPr>
            <p:spPr bwMode="gray">
              <a:xfrm>
                <a:off x="1412" y="3111"/>
                <a:ext cx="2950" cy="0"/>
              </a:xfrm>
              <a:prstGeom prst="line">
                <a:avLst/>
              </a:prstGeom>
              <a:noFill/>
              <a:ln w="3175">
                <a:solidFill>
                  <a:srgbClr val="FFFFFF">
                    <a:alpha val="14999"/>
                  </a:srgbClr>
                </a:solidFill>
                <a:round/>
              </a:ln>
              <a:effectLst/>
            </p:spPr>
            <p:txBody>
              <a:bodyPr/>
              <a:lstStyle/>
              <a:p>
                <a:pPr defTabSz="514350" fontAlgn="base">
                  <a:spcBef>
                    <a:spcPct val="0"/>
                  </a:spcBef>
                  <a:spcAft>
                    <a:spcPct val="0"/>
                  </a:spcAft>
                  <a:defRPr/>
                </a:pPr>
                <a:endParaRPr lang="zh-CN" altLang="en-US" sz="1015" kern="0">
                  <a:solidFill>
                    <a:prstClr val="black"/>
                  </a:solidFill>
                  <a:latin typeface="Arial" panose="020B0604020202020204" pitchFamily="34" charset="0"/>
                  <a:ea typeface="宋体" panose="02010600030101010101" pitchFamily="2" charset="-122"/>
                </a:endParaRPr>
              </a:p>
            </p:txBody>
          </p:sp>
          <p:sp>
            <p:nvSpPr>
              <p:cNvPr id="10" name="Line 6"/>
              <p:cNvSpPr>
                <a:spLocks noChangeShapeType="1"/>
              </p:cNvSpPr>
              <p:nvPr/>
            </p:nvSpPr>
            <p:spPr bwMode="gray">
              <a:xfrm>
                <a:off x="1418" y="2532"/>
                <a:ext cx="2950" cy="0"/>
              </a:xfrm>
              <a:prstGeom prst="line">
                <a:avLst/>
              </a:prstGeom>
              <a:noFill/>
              <a:ln w="3175">
                <a:solidFill>
                  <a:srgbClr val="FFFFFF">
                    <a:alpha val="25000"/>
                  </a:srgbClr>
                </a:solidFill>
                <a:round/>
              </a:ln>
              <a:effectLst/>
            </p:spPr>
            <p:txBody>
              <a:bodyPr/>
              <a:lstStyle/>
              <a:p>
                <a:pPr defTabSz="514350" fontAlgn="base">
                  <a:spcBef>
                    <a:spcPct val="0"/>
                  </a:spcBef>
                  <a:spcAft>
                    <a:spcPct val="0"/>
                  </a:spcAft>
                  <a:defRPr/>
                </a:pPr>
                <a:endParaRPr lang="zh-CN" altLang="en-US" sz="1015" kern="0">
                  <a:solidFill>
                    <a:prstClr val="black"/>
                  </a:solidFill>
                  <a:latin typeface="Arial" panose="020B0604020202020204" pitchFamily="34" charset="0"/>
                  <a:ea typeface="宋体" panose="02010600030101010101" pitchFamily="2" charset="-122"/>
                </a:endParaRPr>
              </a:p>
            </p:txBody>
          </p:sp>
        </p:grpSp>
        <p:sp>
          <p:nvSpPr>
            <p:cNvPr id="7" name="矩形 6"/>
            <p:cNvSpPr/>
            <p:nvPr/>
          </p:nvSpPr>
          <p:spPr>
            <a:xfrm>
              <a:off x="3750090" y="3162295"/>
              <a:ext cx="6791058" cy="1082379"/>
            </a:xfrm>
            <a:prstGeom prst="rect">
              <a:avLst/>
            </a:prstGeom>
          </p:spPr>
          <p:txBody>
            <a:bodyPr wrap="square">
              <a:spAutoFit/>
            </a:bodyPr>
            <a:lstStyle/>
            <a:p>
              <a:pPr lvl="0" algn="just"/>
              <a:r>
                <a:rPr lang="zh-CN" altLang="en-US" sz="3300" kern="100" dirty="0">
                  <a:solidFill>
                    <a:srgbClr val="FFFF00"/>
                  </a:solidFill>
                  <a:latin typeface="等线" panose="02010600030101010101" pitchFamily="2" charset="-122"/>
                  <a:ea typeface="黑体" panose="02010609060101010101" pitchFamily="49" charset="-122"/>
                  <a:cs typeface="Times New Roman" panose="02020603050405020304" pitchFamily="18" charset="0"/>
                </a:rPr>
                <a:t>第</a:t>
              </a:r>
              <a:r>
                <a:rPr lang="en-US" altLang="zh-CN" sz="3300" kern="100" dirty="0">
                  <a:solidFill>
                    <a:srgbClr val="FFFF00"/>
                  </a:solidFill>
                  <a:latin typeface="等线" panose="02010600030101010101" pitchFamily="2" charset="-122"/>
                  <a:ea typeface="黑体" panose="02010609060101010101" pitchFamily="49" charset="-122"/>
                  <a:cs typeface="Times New Roman" panose="02020603050405020304" pitchFamily="18" charset="0"/>
                </a:rPr>
                <a:t>4</a:t>
              </a:r>
              <a:r>
                <a:rPr lang="zh-CN" altLang="en-US" sz="3300" kern="100" dirty="0">
                  <a:solidFill>
                    <a:srgbClr val="FFFF00"/>
                  </a:solidFill>
                  <a:latin typeface="等线" panose="02010600030101010101" pitchFamily="2" charset="-122"/>
                  <a:ea typeface="黑体" panose="02010609060101010101" pitchFamily="49" charset="-122"/>
                  <a:cs typeface="Times New Roman" panose="02020603050405020304" pitchFamily="18" charset="0"/>
                </a:rPr>
                <a:t>章 规模数据的有效管理</a:t>
              </a:r>
              <a:endParaRPr lang="en-US" altLang="zh-CN" sz="3375" kern="100" dirty="0">
                <a:solidFill>
                  <a:srgbClr val="FFFF00"/>
                </a:solidFill>
                <a:latin typeface="等线" panose="02010600030101010101" pitchFamily="2" charset="-122"/>
                <a:ea typeface="黑体" panose="02010609060101010101" pitchFamily="49" charset="-122"/>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457097" y="2898323"/>
            <a:ext cx="6109776" cy="920775"/>
            <a:chOff x="3076803" y="2743200"/>
            <a:chExt cx="5264151" cy="699512"/>
          </a:xfrm>
        </p:grpSpPr>
        <p:grpSp>
          <p:nvGrpSpPr>
            <p:cNvPr id="5" name="Group 6"/>
            <p:cNvGrpSpPr/>
            <p:nvPr/>
          </p:nvGrpSpPr>
          <p:grpSpPr bwMode="auto">
            <a:xfrm>
              <a:off x="3413353" y="2828925"/>
              <a:ext cx="4927601" cy="531813"/>
              <a:chOff x="1341" y="1723"/>
              <a:chExt cx="3104" cy="335"/>
            </a:xfrm>
          </p:grpSpPr>
          <p:sp>
            <p:nvSpPr>
              <p:cNvPr id="9" name="AutoShape 7"/>
              <p:cNvSpPr>
                <a:spLocks noChangeArrowheads="1"/>
              </p:cNvSpPr>
              <p:nvPr/>
            </p:nvSpPr>
            <p:spPr bwMode="ltGray">
              <a:xfrm>
                <a:off x="1341" y="1723"/>
                <a:ext cx="3104" cy="335"/>
              </a:xfrm>
              <a:prstGeom prst="roundRect">
                <a:avLst>
                  <a:gd name="adj" fmla="val 16667"/>
                </a:avLst>
              </a:prstGeom>
              <a:solidFill>
                <a:srgbClr val="FCA304"/>
              </a:solidFill>
              <a:ln w="28575" algn="ctr">
                <a:solidFill>
                  <a:srgbClr val="FFFFFF"/>
                </a:solidFill>
                <a:round/>
              </a:ln>
              <a:effectLst>
                <a:outerShdw dist="71842" dir="2700000" algn="ctr" rotWithShape="0">
                  <a:srgbClr val="808080">
                    <a:alpha val="50000"/>
                  </a:srgbClr>
                </a:outerShdw>
              </a:effectLst>
            </p:spPr>
            <p:txBody>
              <a:bodyPr wrap="none" anchor="ctr"/>
              <a:lstStyle/>
              <a:p>
                <a:pPr defTabSz="685800">
                  <a:defRPr/>
                </a:pPr>
                <a:endParaRPr lang="zh-CN" altLang="en-US" sz="3000" kern="0">
                  <a:solidFill>
                    <a:sysClr val="windowText" lastClr="000000"/>
                  </a:solidFill>
                </a:endParaRPr>
              </a:p>
            </p:txBody>
          </p:sp>
          <p:sp>
            <p:nvSpPr>
              <p:cNvPr id="10" name="AutoShape 8"/>
              <p:cNvSpPr>
                <a:spLocks noChangeArrowheads="1"/>
              </p:cNvSpPr>
              <p:nvPr/>
            </p:nvSpPr>
            <p:spPr bwMode="ltGray">
              <a:xfrm>
                <a:off x="1366" y="1735"/>
                <a:ext cx="3068" cy="148"/>
              </a:xfrm>
              <a:prstGeom prst="roundRect">
                <a:avLst>
                  <a:gd name="adj" fmla="val 31505"/>
                </a:avLst>
              </a:prstGeom>
              <a:gradFill rotWithShape="1">
                <a:gsLst>
                  <a:gs pos="0">
                    <a:srgbClr val="FFFFFF">
                      <a:alpha val="70000"/>
                    </a:srgbClr>
                  </a:gs>
                  <a:gs pos="100000">
                    <a:srgbClr val="FCA304">
                      <a:alpha val="70000"/>
                    </a:srgbClr>
                  </a:gs>
                </a:gsLst>
                <a:lin ang="5400000" scaled="1"/>
              </a:gradFill>
              <a:ln w="9525" algn="ctr">
                <a:noFill/>
                <a:round/>
              </a:ln>
              <a:effectLst/>
            </p:spPr>
            <p:txBody>
              <a:bodyPr wrap="none" anchor="ctr"/>
              <a:lstStyle/>
              <a:p>
                <a:pPr defTabSz="685800">
                  <a:defRPr/>
                </a:pPr>
                <a:endParaRPr lang="zh-CN" altLang="en-US" sz="3000" kern="0">
                  <a:solidFill>
                    <a:sysClr val="windowText" lastClr="000000"/>
                  </a:solidFill>
                </a:endParaRPr>
              </a:p>
            </p:txBody>
          </p:sp>
        </p:grpSp>
        <p:sp>
          <p:nvSpPr>
            <p:cNvPr id="6" name="Text Box 9"/>
            <p:cNvSpPr txBox="1">
              <a:spLocks noChangeArrowheads="1"/>
            </p:cNvSpPr>
            <p:nvPr/>
          </p:nvSpPr>
          <p:spPr bwMode="black">
            <a:xfrm>
              <a:off x="3860525" y="2811404"/>
              <a:ext cx="4114800" cy="631308"/>
            </a:xfrm>
            <a:prstGeom prst="rect">
              <a:avLst/>
            </a:prstGeom>
            <a:noFill/>
            <a:ln w="9525" algn="ctr">
              <a:noFill/>
              <a:miter lim="800000"/>
            </a:ln>
            <a:effectLst>
              <a:outerShdw dist="17961" dir="2700000" algn="ctr" rotWithShape="0">
                <a:srgbClr val="000000">
                  <a:alpha val="50000"/>
                </a:srgbClr>
              </a:outerShdw>
            </a:effectLst>
          </p:spPr>
          <p:txBody>
            <a:bodyPr>
              <a:spAutoFit/>
            </a:bodyPr>
            <a:lstStyle/>
            <a:p>
              <a:pPr algn="ctr">
                <a:lnSpc>
                  <a:spcPct val="160000"/>
                </a:lnSpc>
                <a:spcBef>
                  <a:spcPct val="0"/>
                </a:spcBef>
                <a:buNone/>
              </a:pPr>
              <a:r>
                <a:rPr kumimoji="1" lang="en-US" altLang="zh-CN" sz="3000" b="1" dirty="0">
                  <a:solidFill>
                    <a:srgbClr val="FF0000"/>
                  </a:solidFill>
                  <a:latin typeface="微软雅黑" panose="020B0503020204020204" charset="-122"/>
                  <a:ea typeface="微软雅黑" panose="020B0503020204020204" charset="-122"/>
                </a:rPr>
                <a:t>4.1</a:t>
              </a:r>
              <a:r>
                <a:rPr kumimoji="1" lang="zh-CN" altLang="en-US" sz="3000" b="1" dirty="0">
                  <a:solidFill>
                    <a:srgbClr val="FF0000"/>
                  </a:solidFill>
                  <a:latin typeface="微软雅黑" panose="020B0503020204020204" charset="-122"/>
                  <a:ea typeface="微软雅黑" panose="020B0503020204020204" charset="-122"/>
                </a:rPr>
                <a:t>数据管理基本概念</a:t>
              </a:r>
              <a:endParaRPr kumimoji="1" lang="zh-CN" altLang="en-US" sz="3000" b="1" dirty="0">
                <a:solidFill>
                  <a:srgbClr val="FF0000"/>
                </a:solidFill>
                <a:latin typeface="微软雅黑" panose="020B0503020204020204" charset="-122"/>
                <a:ea typeface="微软雅黑" panose="020B0503020204020204" charset="-122"/>
              </a:endParaRPr>
            </a:p>
          </p:txBody>
        </p:sp>
        <p:sp>
          <p:nvSpPr>
            <p:cNvPr id="7" name="AutoShape 18"/>
            <p:cNvSpPr>
              <a:spLocks noChangeArrowheads="1"/>
            </p:cNvSpPr>
            <p:nvPr/>
          </p:nvSpPr>
          <p:spPr bwMode="ltGray">
            <a:xfrm>
              <a:off x="3076803" y="2743200"/>
              <a:ext cx="685800" cy="685800"/>
            </a:xfrm>
            <a:prstGeom prst="diamond">
              <a:avLst/>
            </a:prstGeom>
            <a:solidFill>
              <a:srgbClr val="FCA304"/>
            </a:solidFill>
            <a:ln w="25400" algn="ctr">
              <a:solidFill>
                <a:srgbClr val="FFFFFF"/>
              </a:solidFill>
              <a:miter lim="800000"/>
            </a:ln>
            <a:effectLst>
              <a:outerShdw dist="76200" algn="ctr" rotWithShape="0">
                <a:srgbClr val="808080">
                  <a:alpha val="50000"/>
                </a:srgbClr>
              </a:outerShdw>
            </a:effectLst>
          </p:spPr>
          <p:txBody>
            <a:bodyPr wrap="none" anchor="ctr"/>
            <a:lstStyle/>
            <a:p>
              <a:pPr defTabSz="685800">
                <a:defRPr/>
              </a:pPr>
              <a:endParaRPr lang="zh-CN" altLang="en-US" sz="3000" kern="0">
                <a:solidFill>
                  <a:sysClr val="windowText" lastClr="000000"/>
                </a:solidFill>
              </a:endParaRPr>
            </a:p>
          </p:txBody>
        </p:sp>
        <p:sp>
          <p:nvSpPr>
            <p:cNvPr id="8" name="Text Box 19"/>
            <p:cNvSpPr txBox="1">
              <a:spLocks noChangeArrowheads="1"/>
            </p:cNvSpPr>
            <p:nvPr/>
          </p:nvSpPr>
          <p:spPr bwMode="black">
            <a:xfrm>
              <a:off x="3328215" y="2841625"/>
              <a:ext cx="159163" cy="420872"/>
            </a:xfrm>
            <a:prstGeom prst="rect">
              <a:avLst/>
            </a:prstGeom>
            <a:noFill/>
            <a:ln w="9525" algn="ctr">
              <a:noFill/>
              <a:miter lim="800000"/>
            </a:ln>
            <a:effectLst/>
          </p:spPr>
          <p:txBody>
            <a:bodyPr wrap="none">
              <a:spAutoFit/>
            </a:bodyPr>
            <a:lstStyle/>
            <a:p>
              <a:pPr algn="ctr" defTabSz="685800" eaLnBrk="0" hangingPunct="0">
                <a:defRPr/>
              </a:pPr>
              <a:endParaRPr lang="en-US" altLang="zh-CN" sz="3000" b="1" kern="0" dirty="0">
                <a:solidFill>
                  <a:srgbClr val="FFFFFF"/>
                </a:solidFill>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4018" y="306131"/>
            <a:ext cx="6032344" cy="567258"/>
          </a:xfrm>
        </p:spPr>
        <p:txBody>
          <a:bodyPr/>
          <a:lstStyle/>
          <a:p>
            <a:pPr>
              <a:lnSpc>
                <a:spcPct val="160000"/>
              </a:lnSpc>
            </a:pPr>
            <a:r>
              <a:rPr kumimoji="1" lang="en-US" altLang="zh-CN" sz="3000" b="1" dirty="0">
                <a:solidFill>
                  <a:schemeClr val="tx1"/>
                </a:solidFill>
                <a:latin typeface="黑体" panose="02010609060101010101" pitchFamily="49" charset="-122"/>
                <a:ea typeface="黑体" panose="02010609060101010101" pitchFamily="49" charset="-122"/>
              </a:rPr>
              <a:t>4.1</a:t>
            </a:r>
            <a:r>
              <a:rPr kumimoji="1" lang="zh-CN" altLang="en-US" sz="3000" b="1" dirty="0">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sp>
        <p:nvSpPr>
          <p:cNvPr id="5" name="矩形 2"/>
          <p:cNvSpPr>
            <a:spLocks noChangeArrowheads="1"/>
          </p:cNvSpPr>
          <p:nvPr/>
        </p:nvSpPr>
        <p:spPr bwMode="auto">
          <a:xfrm>
            <a:off x="498512" y="1332196"/>
            <a:ext cx="31983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ts val="450"/>
              </a:spcBef>
              <a:spcAft>
                <a:spcPts val="450"/>
              </a:spcAft>
              <a:buClr>
                <a:srgbClr val="C00000"/>
              </a:buClr>
              <a:buFont typeface="Wingdings" panose="05000000000000000000" pitchFamily="2" charset="2"/>
              <a:buChar char="n"/>
            </a:pPr>
            <a:r>
              <a:rPr lang="zh-CN" altLang="en-US" sz="2400" b="1" dirty="0">
                <a:solidFill>
                  <a:srgbClr val="000000"/>
                </a:solidFill>
                <a:latin typeface="Century Gothic" panose="020B0502020202020204" pitchFamily="34" charset="0"/>
              </a:rPr>
              <a:t>数据管理的发展过程</a:t>
            </a:r>
            <a:endParaRPr lang="en-US" altLang="zh-CN" sz="2400" b="1" dirty="0">
              <a:solidFill>
                <a:srgbClr val="000000"/>
              </a:solidFill>
              <a:latin typeface="Century Gothic" panose="020B0502020202020204" pitchFamily="34" charset="0"/>
            </a:endParaRPr>
          </a:p>
        </p:txBody>
      </p:sp>
      <p:sp>
        <p:nvSpPr>
          <p:cNvPr id="6" name="矩形 1"/>
          <p:cNvSpPr>
            <a:spLocks noChangeArrowheads="1"/>
          </p:cNvSpPr>
          <p:nvPr/>
        </p:nvSpPr>
        <p:spPr bwMode="auto">
          <a:xfrm>
            <a:off x="498510" y="1913683"/>
            <a:ext cx="592336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800100" indent="-34290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nSpc>
                <a:spcPct val="110000"/>
              </a:lnSpc>
              <a:spcBef>
                <a:spcPts val="450"/>
              </a:spcBef>
              <a:buClr>
                <a:srgbClr val="C00000"/>
              </a:buClr>
              <a:buFontTx/>
              <a:buAutoNum type="circleNumDbPlain"/>
            </a:pPr>
            <a:r>
              <a:rPr lang="zh-CN" altLang="en-US" sz="2000" b="1" dirty="0">
                <a:solidFill>
                  <a:schemeClr val="tx1"/>
                </a:solidFill>
                <a:latin typeface="Century Gothic" panose="020B0502020202020204" pitchFamily="34" charset="0"/>
              </a:rPr>
              <a:t>人工管理阶段（</a:t>
            </a:r>
            <a:r>
              <a:rPr lang="en-US" altLang="zh-CN" sz="2000" b="1" dirty="0">
                <a:solidFill>
                  <a:schemeClr val="tx1"/>
                </a:solidFill>
                <a:latin typeface="Century Gothic" panose="020B0502020202020204" pitchFamily="34" charset="0"/>
              </a:rPr>
              <a:t>20</a:t>
            </a:r>
            <a:r>
              <a:rPr lang="zh-CN" altLang="en-US" sz="2000" b="1" dirty="0">
                <a:solidFill>
                  <a:schemeClr val="tx1"/>
                </a:solidFill>
                <a:latin typeface="Century Gothic" panose="020B0502020202020204" pitchFamily="34" charset="0"/>
              </a:rPr>
              <a:t>世纪</a:t>
            </a:r>
            <a:r>
              <a:rPr lang="en-US" altLang="zh-CN" sz="2000" b="1" dirty="0">
                <a:solidFill>
                  <a:schemeClr val="tx1"/>
                </a:solidFill>
                <a:latin typeface="Century Gothic" panose="020B0502020202020204" pitchFamily="34" charset="0"/>
              </a:rPr>
              <a:t>50</a:t>
            </a:r>
            <a:r>
              <a:rPr lang="zh-CN" altLang="en-US" sz="2000" b="1" dirty="0">
                <a:solidFill>
                  <a:schemeClr val="tx1"/>
                </a:solidFill>
                <a:latin typeface="Century Gothic" panose="020B0502020202020204" pitchFamily="34" charset="0"/>
              </a:rPr>
              <a:t>年代中之前）</a:t>
            </a:r>
            <a:endParaRPr lang="en-US" altLang="zh-CN" sz="2000" b="1" dirty="0">
              <a:solidFill>
                <a:schemeClr val="tx1"/>
              </a:solidFill>
              <a:latin typeface="Century Gothic" panose="020B0502020202020204" pitchFamily="34" charset="0"/>
            </a:endParaRPr>
          </a:p>
        </p:txBody>
      </p:sp>
      <p:sp>
        <p:nvSpPr>
          <p:cNvPr id="3" name="文本框 2"/>
          <p:cNvSpPr txBox="1"/>
          <p:nvPr/>
        </p:nvSpPr>
        <p:spPr>
          <a:xfrm>
            <a:off x="546801" y="2464198"/>
            <a:ext cx="8365286" cy="1889941"/>
          </a:xfrm>
          <a:prstGeom prst="rect">
            <a:avLst/>
          </a:prstGeom>
          <a:noFill/>
        </p:spPr>
        <p:txBody>
          <a:bodyPr wrap="square" rtlCol="0">
            <a:spAutoFit/>
          </a:bodyPr>
          <a:lstStyle/>
          <a:p>
            <a:pPr marL="342900" indent="-342900" algn="just">
              <a:lnSpc>
                <a:spcPct val="120000"/>
              </a:lnSpc>
              <a:buFont typeface="Arial" panose="020B0604020202020204" pitchFamily="34" charset="0"/>
              <a:buChar char="•"/>
            </a:pPr>
            <a:r>
              <a:rPr lang="zh-CN" altLang="en-US" sz="2000" b="1" dirty="0">
                <a:latin typeface="+mn-ea"/>
              </a:rPr>
              <a:t>背景：科学计算、无直接存储设备、无操作系统；</a:t>
            </a:r>
            <a:endParaRPr lang="en-US" altLang="zh-CN" sz="2000" b="1" dirty="0">
              <a:latin typeface="+mn-ea"/>
            </a:endParaRPr>
          </a:p>
          <a:p>
            <a:pPr marL="342900" indent="-342900" algn="just">
              <a:lnSpc>
                <a:spcPct val="120000"/>
              </a:lnSpc>
              <a:buFont typeface="Arial" panose="020B0604020202020204" pitchFamily="34" charset="0"/>
              <a:buChar char="•"/>
            </a:pPr>
            <a:r>
              <a:rPr lang="zh-CN" altLang="en-US" sz="2000" b="1" dirty="0">
                <a:latin typeface="+mn-ea"/>
              </a:rPr>
              <a:t>数据管理者：用户（程序员）；</a:t>
            </a:r>
            <a:endParaRPr lang="en-US" altLang="zh-CN" sz="2000" b="1" dirty="0">
              <a:latin typeface="+mn-ea"/>
            </a:endParaRPr>
          </a:p>
          <a:p>
            <a:pPr marL="342900" indent="-342900" algn="just">
              <a:lnSpc>
                <a:spcPct val="120000"/>
              </a:lnSpc>
              <a:buFont typeface="Arial" panose="020B0604020202020204" pitchFamily="34" charset="0"/>
              <a:buChar char="•"/>
            </a:pPr>
            <a:r>
              <a:rPr lang="zh-CN" altLang="en-US" sz="2000" b="1" dirty="0">
                <a:latin typeface="+mn-ea"/>
              </a:rPr>
              <a:t>数据面向对象：某一应用程序；</a:t>
            </a:r>
            <a:endParaRPr lang="en-US" altLang="zh-CN" sz="2000" b="1" dirty="0">
              <a:latin typeface="+mn-ea"/>
            </a:endParaRPr>
          </a:p>
          <a:p>
            <a:pPr marL="342900" indent="-342900" algn="just">
              <a:lnSpc>
                <a:spcPct val="120000"/>
              </a:lnSpc>
              <a:buFont typeface="Arial" panose="020B0604020202020204" pitchFamily="34" charset="0"/>
              <a:buChar char="•"/>
            </a:pPr>
            <a:r>
              <a:rPr lang="zh-CN" altLang="en-US" sz="2000" b="1" dirty="0">
                <a:latin typeface="+mn-ea"/>
              </a:rPr>
              <a:t>数据无共享，冗余度极大，数据不独立，完全依赖于程序，由应用程序控制数据。</a:t>
            </a:r>
            <a:endParaRPr lang="en-US" altLang="zh-CN" sz="2000" b="1" dirty="0">
              <a:latin typeface="+mn-ea"/>
            </a:endParaRPr>
          </a:p>
        </p:txBody>
      </p:sp>
      <p:grpSp>
        <p:nvGrpSpPr>
          <p:cNvPr id="36" name="组合 35"/>
          <p:cNvGrpSpPr/>
          <p:nvPr/>
        </p:nvGrpSpPr>
        <p:grpSpPr>
          <a:xfrm>
            <a:off x="3696821" y="4333961"/>
            <a:ext cx="3220280" cy="1781753"/>
            <a:chOff x="3546915" y="4403190"/>
            <a:chExt cx="3755035" cy="2077123"/>
          </a:xfrm>
        </p:grpSpPr>
        <p:sp>
          <p:nvSpPr>
            <p:cNvPr id="7" name="矩形 6"/>
            <p:cNvSpPr/>
            <p:nvPr/>
          </p:nvSpPr>
          <p:spPr>
            <a:xfrm>
              <a:off x="3546915" y="4403190"/>
              <a:ext cx="1322506" cy="4007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应用程序</a:t>
              </a:r>
              <a:r>
                <a:rPr lang="en-US" altLang="zh-CN" sz="1400" b="1" dirty="0">
                  <a:solidFill>
                    <a:schemeClr val="tx1"/>
                  </a:solidFill>
                  <a:latin typeface="+mn-ea"/>
                </a:rPr>
                <a:t>1</a:t>
              </a:r>
              <a:endParaRPr lang="zh-CN" altLang="en-US" sz="1400" b="1" dirty="0">
                <a:solidFill>
                  <a:schemeClr val="tx1"/>
                </a:solidFill>
                <a:latin typeface="+mn-ea"/>
              </a:endParaRPr>
            </a:p>
          </p:txBody>
        </p:sp>
        <p:sp>
          <p:nvSpPr>
            <p:cNvPr id="8" name="矩形 7"/>
            <p:cNvSpPr/>
            <p:nvPr/>
          </p:nvSpPr>
          <p:spPr>
            <a:xfrm>
              <a:off x="3546915" y="5059173"/>
              <a:ext cx="1322506" cy="4007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应用程序</a:t>
              </a:r>
              <a:r>
                <a:rPr lang="en-US" altLang="zh-CN" sz="1400" b="1" dirty="0">
                  <a:solidFill>
                    <a:schemeClr val="tx1"/>
                  </a:solidFill>
                  <a:latin typeface="+mn-ea"/>
                </a:rPr>
                <a:t>2</a:t>
              </a:r>
              <a:endParaRPr lang="zh-CN" altLang="en-US" sz="1400" b="1" dirty="0">
                <a:solidFill>
                  <a:schemeClr val="tx1"/>
                </a:solidFill>
                <a:latin typeface="+mn-ea"/>
              </a:endParaRPr>
            </a:p>
          </p:txBody>
        </p:sp>
        <p:sp>
          <p:nvSpPr>
            <p:cNvPr id="9" name="矩形 8"/>
            <p:cNvSpPr/>
            <p:nvPr/>
          </p:nvSpPr>
          <p:spPr>
            <a:xfrm>
              <a:off x="3546915" y="6079590"/>
              <a:ext cx="1322506" cy="4007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应用程序</a:t>
              </a:r>
              <a:r>
                <a:rPr lang="en-US" altLang="zh-CN" sz="1400" b="1" dirty="0">
                  <a:solidFill>
                    <a:schemeClr val="tx1"/>
                  </a:solidFill>
                  <a:latin typeface="+mn-ea"/>
                </a:rPr>
                <a:t>n</a:t>
              </a:r>
              <a:endParaRPr lang="zh-CN" altLang="en-US" sz="1400" b="1" dirty="0">
                <a:solidFill>
                  <a:schemeClr val="tx1"/>
                </a:solidFill>
                <a:latin typeface="+mn-ea"/>
              </a:endParaRPr>
            </a:p>
          </p:txBody>
        </p:sp>
        <p:sp>
          <p:nvSpPr>
            <p:cNvPr id="10" name="矩形 9"/>
            <p:cNvSpPr/>
            <p:nvPr/>
          </p:nvSpPr>
          <p:spPr>
            <a:xfrm>
              <a:off x="6079967" y="4403190"/>
              <a:ext cx="1221982" cy="4007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数据集</a:t>
              </a:r>
              <a:r>
                <a:rPr lang="en-US" altLang="zh-CN" sz="1400" b="1" dirty="0">
                  <a:solidFill>
                    <a:schemeClr val="tx1"/>
                  </a:solidFill>
                  <a:latin typeface="+mn-ea"/>
                </a:rPr>
                <a:t>1</a:t>
              </a:r>
              <a:endParaRPr lang="zh-CN" altLang="en-US" sz="1400" b="1" dirty="0">
                <a:solidFill>
                  <a:schemeClr val="tx1"/>
                </a:solidFill>
                <a:latin typeface="+mn-ea"/>
              </a:endParaRPr>
            </a:p>
          </p:txBody>
        </p:sp>
        <p:sp>
          <p:nvSpPr>
            <p:cNvPr id="11" name="矩形 10"/>
            <p:cNvSpPr/>
            <p:nvPr/>
          </p:nvSpPr>
          <p:spPr>
            <a:xfrm>
              <a:off x="6079966" y="5065632"/>
              <a:ext cx="1221984" cy="4007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数据集</a:t>
              </a:r>
              <a:r>
                <a:rPr lang="en-US" altLang="zh-CN" sz="1400" b="1" dirty="0">
                  <a:solidFill>
                    <a:schemeClr val="tx1"/>
                  </a:solidFill>
                  <a:latin typeface="+mn-ea"/>
                </a:rPr>
                <a:t>2</a:t>
              </a:r>
              <a:endParaRPr lang="zh-CN" altLang="en-US" sz="1400" b="1" dirty="0">
                <a:solidFill>
                  <a:schemeClr val="tx1"/>
                </a:solidFill>
                <a:latin typeface="+mn-ea"/>
              </a:endParaRPr>
            </a:p>
          </p:txBody>
        </p:sp>
        <p:sp>
          <p:nvSpPr>
            <p:cNvPr id="12" name="矩形 11"/>
            <p:cNvSpPr/>
            <p:nvPr/>
          </p:nvSpPr>
          <p:spPr>
            <a:xfrm>
              <a:off x="6079966" y="6079590"/>
              <a:ext cx="1221984" cy="40072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数据集</a:t>
              </a:r>
              <a:r>
                <a:rPr lang="en-US" altLang="zh-CN" sz="1400" b="1" dirty="0">
                  <a:solidFill>
                    <a:schemeClr val="tx1"/>
                  </a:solidFill>
                  <a:latin typeface="+mn-ea"/>
                </a:rPr>
                <a:t>n</a:t>
              </a:r>
              <a:endParaRPr lang="zh-CN" altLang="en-US" sz="1400" b="1" dirty="0">
                <a:solidFill>
                  <a:schemeClr val="tx1"/>
                </a:solidFill>
                <a:latin typeface="+mn-ea"/>
              </a:endParaRPr>
            </a:p>
          </p:txBody>
        </p:sp>
        <p:cxnSp>
          <p:nvCxnSpPr>
            <p:cNvPr id="14" name="直接连接符 13"/>
            <p:cNvCxnSpPr>
              <a:stCxn id="7" idx="3"/>
              <a:endCxn id="10" idx="1"/>
            </p:cNvCxnSpPr>
            <p:nvPr/>
          </p:nvCxnSpPr>
          <p:spPr>
            <a:xfrm>
              <a:off x="4869421" y="4603552"/>
              <a:ext cx="121054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8" idx="3"/>
              <a:endCxn id="11" idx="1"/>
            </p:cNvCxnSpPr>
            <p:nvPr/>
          </p:nvCxnSpPr>
          <p:spPr>
            <a:xfrm>
              <a:off x="4869421" y="5259535"/>
              <a:ext cx="1210545" cy="64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9" idx="3"/>
              <a:endCxn id="12" idx="1"/>
            </p:cNvCxnSpPr>
            <p:nvPr/>
          </p:nvCxnSpPr>
          <p:spPr>
            <a:xfrm>
              <a:off x="4869421" y="6279951"/>
              <a:ext cx="12105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3942523" y="5585077"/>
              <a:ext cx="662609" cy="358799"/>
            </a:xfrm>
            <a:prstGeom prst="rect">
              <a:avLst/>
            </a:prstGeom>
            <a:noFill/>
            <a:ln>
              <a:noFill/>
            </a:ln>
          </p:spPr>
          <p:txBody>
            <a:bodyPr wrap="square" rtlCol="0">
              <a:spAutoFit/>
            </a:bodyPr>
            <a:lstStyle/>
            <a:p>
              <a:r>
                <a:rPr lang="en-US" altLang="zh-CN" sz="1400" dirty="0"/>
                <a:t>…</a:t>
              </a:r>
              <a:endParaRPr lang="zh-CN" altLang="en-US" sz="1400" dirty="0"/>
            </a:p>
          </p:txBody>
        </p:sp>
        <p:sp>
          <p:nvSpPr>
            <p:cNvPr id="30" name="文本框 29"/>
            <p:cNvSpPr txBox="1"/>
            <p:nvPr/>
          </p:nvSpPr>
          <p:spPr>
            <a:xfrm>
              <a:off x="6451023" y="5572210"/>
              <a:ext cx="662609" cy="358799"/>
            </a:xfrm>
            <a:prstGeom prst="rect">
              <a:avLst/>
            </a:prstGeom>
            <a:noFill/>
            <a:ln>
              <a:noFill/>
            </a:ln>
          </p:spPr>
          <p:txBody>
            <a:bodyPr wrap="square" rtlCol="0">
              <a:spAutoFit/>
            </a:bodyPr>
            <a:lstStyle/>
            <a:p>
              <a:r>
                <a:rPr lang="en-US" altLang="zh-CN" sz="1400" dirty="0"/>
                <a:t>…</a:t>
              </a:r>
              <a:endParaRPr lang="zh-CN" altLang="en-US" sz="1400" dirty="0"/>
            </a:p>
          </p:txBody>
        </p:sp>
      </p:grpSp>
      <p:sp>
        <p:nvSpPr>
          <p:cNvPr id="37" name="文本框 36"/>
          <p:cNvSpPr txBox="1"/>
          <p:nvPr/>
        </p:nvSpPr>
        <p:spPr>
          <a:xfrm>
            <a:off x="2893904" y="6277628"/>
            <a:ext cx="5108713" cy="369332"/>
          </a:xfrm>
          <a:prstGeom prst="rect">
            <a:avLst/>
          </a:prstGeom>
          <a:noFill/>
        </p:spPr>
        <p:txBody>
          <a:bodyPr wrap="square" rtlCol="0">
            <a:spAutoFit/>
          </a:bodyPr>
          <a:lstStyle/>
          <a:p>
            <a:r>
              <a:rPr lang="zh-CN" altLang="en-US" b="1" dirty="0"/>
              <a:t>人工管理阶段</a:t>
            </a:r>
            <a:r>
              <a:rPr lang="zh-CN" altLang="en-US" b="1" dirty="0">
                <a:solidFill>
                  <a:srgbClr val="C00000"/>
                </a:solidFill>
              </a:rPr>
              <a:t>应用程序与数据</a:t>
            </a:r>
            <a:r>
              <a:rPr lang="zh-CN" altLang="en-US" b="1" dirty="0"/>
              <a:t>之间的对应关系</a:t>
            </a:r>
            <a:endParaRPr lang="zh-CN" altLang="en-US" b="1"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0254" y="5139454"/>
            <a:ext cx="4040735" cy="1180968"/>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grpSp>
        <p:nvGrpSpPr>
          <p:cNvPr id="23556" name="Group 10"/>
          <p:cNvGrpSpPr/>
          <p:nvPr/>
        </p:nvGrpSpPr>
        <p:grpSpPr bwMode="auto">
          <a:xfrm>
            <a:off x="393929" y="4007549"/>
            <a:ext cx="4296966" cy="923925"/>
            <a:chOff x="355" y="959"/>
            <a:chExt cx="3609" cy="776"/>
          </a:xfrm>
        </p:grpSpPr>
        <p:sp>
          <p:nvSpPr>
            <p:cNvPr id="23560" name="Rectangle 6"/>
            <p:cNvSpPr>
              <a:spLocks noChangeArrowheads="1"/>
            </p:cNvSpPr>
            <p:nvPr/>
          </p:nvSpPr>
          <p:spPr bwMode="auto">
            <a:xfrm>
              <a:off x="661" y="959"/>
              <a:ext cx="3303" cy="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b="1" dirty="0">
                  <a:solidFill>
                    <a:schemeClr val="tx1"/>
                  </a:solidFill>
                  <a:latin typeface="Century Gothic" panose="020B0502020202020204" pitchFamily="34" charset="0"/>
                </a:rPr>
                <a:t>人事处、教务处、财务处和科研处都分别存储了教师的职称信息，某位教师由副教授评为教授，如何更改？ </a:t>
              </a:r>
              <a:endParaRPr lang="zh-CN" altLang="en-US" b="1" dirty="0">
                <a:solidFill>
                  <a:schemeClr val="tx1"/>
                </a:solidFill>
                <a:latin typeface="Century Gothic" panose="020B0502020202020204" pitchFamily="34" charset="0"/>
              </a:endParaRPr>
            </a:p>
          </p:txBody>
        </p:sp>
        <p:graphicFrame>
          <p:nvGraphicFramePr>
            <p:cNvPr id="23561" name="Object 8"/>
            <p:cNvGraphicFramePr>
              <a:graphicFrameLocks noChangeAspect="1"/>
            </p:cNvGraphicFramePr>
            <p:nvPr/>
          </p:nvGraphicFramePr>
          <p:xfrm>
            <a:off x="355" y="1209"/>
            <a:ext cx="281" cy="266"/>
          </p:xfrm>
          <a:graphic>
            <a:graphicData uri="http://schemas.openxmlformats.org/presentationml/2006/ole">
              <mc:AlternateContent xmlns:mc="http://schemas.openxmlformats.org/markup-compatibility/2006">
                <mc:Choice xmlns:v="urn:schemas-microsoft-com:vml" Requires="v">
                  <p:oleObj spid="_x0000_s1046" name="Clip" r:id="rId2" imgW="861060" imgH="845185" progId="MS_ClipArt_Gallery.5">
                    <p:embed/>
                  </p:oleObj>
                </mc:Choice>
                <mc:Fallback>
                  <p:oleObj name="Clip" r:id="rId2" imgW="861060" imgH="845185" progId="MS_ClipArt_Gallery.5">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 y="1209"/>
                          <a:ext cx="28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3557" name="矩形 1"/>
          <p:cNvSpPr>
            <a:spLocks noChangeArrowheads="1"/>
          </p:cNvSpPr>
          <p:nvPr/>
        </p:nvSpPr>
        <p:spPr bwMode="auto">
          <a:xfrm>
            <a:off x="444020" y="1696619"/>
            <a:ext cx="8001141"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800100" indent="-34290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nSpc>
                <a:spcPct val="110000"/>
              </a:lnSpc>
              <a:spcBef>
                <a:spcPts val="450"/>
              </a:spcBef>
              <a:buClr>
                <a:srgbClr val="C00000"/>
              </a:buClr>
              <a:buFont typeface="+mj-ea"/>
              <a:buAutoNum type="circleNumDbPlain" startAt="2"/>
            </a:pPr>
            <a:r>
              <a:rPr lang="zh-CN" altLang="en-US" sz="2400" b="1" dirty="0">
                <a:solidFill>
                  <a:schemeClr val="tx1"/>
                </a:solidFill>
                <a:latin typeface="Century Gothic" panose="020B0502020202020204" pitchFamily="34" charset="0"/>
              </a:rPr>
              <a:t>文件系统（</a:t>
            </a:r>
            <a:r>
              <a:rPr lang="en-US" altLang="zh-CN" sz="2400" b="1" dirty="0">
                <a:solidFill>
                  <a:schemeClr val="tx1"/>
                </a:solidFill>
                <a:latin typeface="Century Gothic" panose="020B0502020202020204" pitchFamily="34" charset="0"/>
              </a:rPr>
              <a:t>20</a:t>
            </a:r>
            <a:r>
              <a:rPr lang="zh-CN" altLang="en-US" sz="2400" b="1" dirty="0">
                <a:solidFill>
                  <a:schemeClr val="tx1"/>
                </a:solidFill>
                <a:latin typeface="Century Gothic" panose="020B0502020202020204" pitchFamily="34" charset="0"/>
              </a:rPr>
              <a:t>世纪</a:t>
            </a:r>
            <a:r>
              <a:rPr lang="en-US" altLang="zh-CN" sz="2400" b="1" dirty="0">
                <a:solidFill>
                  <a:schemeClr val="tx1"/>
                </a:solidFill>
                <a:latin typeface="Century Gothic" panose="020B0502020202020204" pitchFamily="34" charset="0"/>
              </a:rPr>
              <a:t>50</a:t>
            </a:r>
            <a:r>
              <a:rPr lang="zh-CN" altLang="en-US" sz="2400" b="1" dirty="0">
                <a:solidFill>
                  <a:schemeClr val="tx1"/>
                </a:solidFill>
                <a:latin typeface="Century Gothic" panose="020B0502020202020204" pitchFamily="34" charset="0"/>
              </a:rPr>
              <a:t>年代后期</a:t>
            </a:r>
            <a:r>
              <a:rPr lang="en-US" altLang="zh-CN" sz="2400" b="1" dirty="0">
                <a:solidFill>
                  <a:schemeClr val="tx1"/>
                </a:solidFill>
                <a:latin typeface="Century Gothic" panose="020B0502020202020204" pitchFamily="34" charset="0"/>
              </a:rPr>
              <a:t>~20</a:t>
            </a:r>
            <a:r>
              <a:rPr lang="zh-CN" altLang="en-US" sz="2400" b="1" dirty="0">
                <a:solidFill>
                  <a:schemeClr val="tx1"/>
                </a:solidFill>
                <a:latin typeface="Century Gothic" panose="020B0502020202020204" pitchFamily="34" charset="0"/>
              </a:rPr>
              <a:t>世纪</a:t>
            </a:r>
            <a:r>
              <a:rPr lang="en-US" altLang="zh-CN" sz="2400" b="1" dirty="0">
                <a:solidFill>
                  <a:schemeClr val="tx1"/>
                </a:solidFill>
                <a:latin typeface="Century Gothic" panose="020B0502020202020204" pitchFamily="34" charset="0"/>
              </a:rPr>
              <a:t>60</a:t>
            </a:r>
            <a:r>
              <a:rPr lang="zh-CN" altLang="en-US" sz="2400" b="1" dirty="0">
                <a:solidFill>
                  <a:schemeClr val="tx1"/>
                </a:solidFill>
                <a:latin typeface="Century Gothic" panose="020B0502020202020204" pitchFamily="34" charset="0"/>
              </a:rPr>
              <a:t>年代中期）</a:t>
            </a:r>
            <a:endParaRPr lang="en-US" altLang="zh-CN" sz="2400" b="1" dirty="0">
              <a:solidFill>
                <a:schemeClr val="tx1"/>
              </a:solidFill>
              <a:latin typeface="Century Gothic" panose="020B0502020202020204" pitchFamily="34" charset="0"/>
            </a:endParaRPr>
          </a:p>
        </p:txBody>
      </p:sp>
      <p:sp>
        <p:nvSpPr>
          <p:cNvPr id="23558" name="矩形 2"/>
          <p:cNvSpPr>
            <a:spLocks noChangeArrowheads="1"/>
          </p:cNvSpPr>
          <p:nvPr/>
        </p:nvSpPr>
        <p:spPr bwMode="auto">
          <a:xfrm>
            <a:off x="1" y="2194801"/>
            <a:ext cx="9044763"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800100" indent="-34290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lvl="1">
              <a:spcBef>
                <a:spcPts val="450"/>
              </a:spcBef>
              <a:spcAft>
                <a:spcPts val="450"/>
              </a:spcAft>
              <a:buClr>
                <a:srgbClr val="C00000"/>
              </a:buClr>
              <a:buFont typeface="Wingdings" panose="05000000000000000000" pitchFamily="2" charset="2"/>
              <a:buChar char="Ø"/>
            </a:pPr>
            <a:r>
              <a:rPr lang="zh-CN" altLang="en-US" sz="2000" b="1" dirty="0">
                <a:solidFill>
                  <a:schemeClr val="tx1"/>
                </a:solidFill>
              </a:rPr>
              <a:t>有操作系统，有磁盘等硬件设备；</a:t>
            </a:r>
            <a:endParaRPr lang="en-US" altLang="zh-CN" sz="2000" b="1" dirty="0">
              <a:solidFill>
                <a:schemeClr val="tx1"/>
              </a:solidFill>
              <a:latin typeface="Century Gothic" panose="020B0502020202020204" pitchFamily="34" charset="0"/>
            </a:endParaRPr>
          </a:p>
          <a:p>
            <a:pPr lvl="1">
              <a:spcBef>
                <a:spcPts val="450"/>
              </a:spcBef>
              <a:spcAft>
                <a:spcPts val="450"/>
              </a:spcAft>
              <a:buClr>
                <a:srgbClr val="C00000"/>
              </a:buClr>
              <a:buFont typeface="Wingdings" panose="05000000000000000000" pitchFamily="2" charset="2"/>
              <a:buChar char="Ø"/>
            </a:pPr>
            <a:r>
              <a:rPr lang="zh-CN" altLang="en-US" sz="2000" b="1" dirty="0">
                <a:solidFill>
                  <a:schemeClr val="tx1"/>
                </a:solidFill>
                <a:latin typeface="Century Gothic" panose="020B0502020202020204" pitchFamily="34" charset="0"/>
              </a:rPr>
              <a:t>数据独立存储，产生冗余和修改不一致；</a:t>
            </a:r>
            <a:endParaRPr lang="en-US" altLang="zh-CN" sz="2000" b="1" dirty="0">
              <a:solidFill>
                <a:schemeClr val="tx1"/>
              </a:solidFill>
              <a:latin typeface="Century Gothic" panose="020B0502020202020204" pitchFamily="34" charset="0"/>
            </a:endParaRPr>
          </a:p>
          <a:p>
            <a:pPr lvl="1">
              <a:spcBef>
                <a:spcPts val="450"/>
              </a:spcBef>
              <a:spcAft>
                <a:spcPts val="450"/>
              </a:spcAft>
              <a:buClr>
                <a:srgbClr val="C00000"/>
              </a:buClr>
              <a:buFont typeface="Wingdings" panose="05000000000000000000" pitchFamily="2" charset="2"/>
              <a:buChar char="Ø"/>
            </a:pPr>
            <a:r>
              <a:rPr lang="zh-CN" altLang="en-US" sz="2000" b="1" dirty="0">
                <a:solidFill>
                  <a:schemeClr val="tx1"/>
                </a:solidFill>
                <a:latin typeface="Century Gothic" panose="020B0502020202020204" pitchFamily="34" charset="0"/>
              </a:rPr>
              <a:t>文件结构的修改导致应用程序的修改，数据依赖于应用程序，独立性差；</a:t>
            </a:r>
            <a:endParaRPr lang="en-US" altLang="zh-CN" sz="2000" b="1" dirty="0">
              <a:solidFill>
                <a:schemeClr val="tx1"/>
              </a:solidFill>
              <a:latin typeface="Century Gothic" panose="020B0502020202020204" pitchFamily="34" charset="0"/>
            </a:endParaRPr>
          </a:p>
          <a:p>
            <a:pPr lvl="1">
              <a:spcBef>
                <a:spcPts val="450"/>
              </a:spcBef>
              <a:spcAft>
                <a:spcPts val="450"/>
              </a:spcAft>
              <a:buClr>
                <a:srgbClr val="C00000"/>
              </a:buClr>
              <a:buFont typeface="Wingdings" panose="05000000000000000000" pitchFamily="2" charset="2"/>
              <a:buChar char="Ø"/>
            </a:pPr>
            <a:r>
              <a:rPr lang="zh-CN" altLang="en-US" sz="2000" b="1" dirty="0">
                <a:solidFill>
                  <a:schemeClr val="tx1"/>
                </a:solidFill>
                <a:latin typeface="Century Gothic" panose="020B0502020202020204" pitchFamily="34" charset="0"/>
              </a:rPr>
              <a:t>文件间的联系由应用程序处理。</a:t>
            </a:r>
            <a:endParaRPr lang="en-US" altLang="zh-CN" sz="2000" b="1" dirty="0">
              <a:solidFill>
                <a:schemeClr val="tx1"/>
              </a:solidFill>
              <a:latin typeface="Century Gothic" panose="020B0502020202020204" pitchFamily="34" charset="0"/>
            </a:endParaRPr>
          </a:p>
        </p:txBody>
      </p:sp>
      <p:grpSp>
        <p:nvGrpSpPr>
          <p:cNvPr id="26" name="组合 25"/>
          <p:cNvGrpSpPr/>
          <p:nvPr/>
        </p:nvGrpSpPr>
        <p:grpSpPr>
          <a:xfrm>
            <a:off x="4982819" y="4110410"/>
            <a:ext cx="3783495" cy="1753679"/>
            <a:chOff x="5102087" y="4090530"/>
            <a:chExt cx="3816620" cy="1781754"/>
          </a:xfrm>
        </p:grpSpPr>
        <p:sp>
          <p:nvSpPr>
            <p:cNvPr id="12" name="矩形 11"/>
            <p:cNvSpPr/>
            <p:nvPr/>
          </p:nvSpPr>
          <p:spPr>
            <a:xfrm>
              <a:off x="5102087" y="4090530"/>
              <a:ext cx="1134168" cy="3437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应用程序</a:t>
              </a:r>
              <a:r>
                <a:rPr lang="en-US" altLang="zh-CN" sz="1400" b="1" dirty="0">
                  <a:solidFill>
                    <a:schemeClr val="tx1"/>
                  </a:solidFill>
                  <a:latin typeface="+mn-ea"/>
                </a:rPr>
                <a:t>1</a:t>
              </a:r>
              <a:endParaRPr lang="zh-CN" altLang="en-US" sz="1400" b="1" dirty="0">
                <a:solidFill>
                  <a:schemeClr val="tx1"/>
                </a:solidFill>
                <a:latin typeface="+mn-ea"/>
              </a:endParaRPr>
            </a:p>
          </p:txBody>
        </p:sp>
        <p:sp>
          <p:nvSpPr>
            <p:cNvPr id="13" name="矩形 12"/>
            <p:cNvSpPr/>
            <p:nvPr/>
          </p:nvSpPr>
          <p:spPr>
            <a:xfrm>
              <a:off x="5102087" y="4653231"/>
              <a:ext cx="1134168" cy="3437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应用程序</a:t>
              </a:r>
              <a:r>
                <a:rPr lang="en-US" altLang="zh-CN" sz="1400" b="1" dirty="0">
                  <a:solidFill>
                    <a:schemeClr val="tx1"/>
                  </a:solidFill>
                  <a:latin typeface="+mn-ea"/>
                </a:rPr>
                <a:t>2</a:t>
              </a:r>
              <a:endParaRPr lang="zh-CN" altLang="en-US" sz="1400" b="1" dirty="0">
                <a:solidFill>
                  <a:schemeClr val="tx1"/>
                </a:solidFill>
                <a:latin typeface="+mn-ea"/>
              </a:endParaRPr>
            </a:p>
          </p:txBody>
        </p:sp>
        <p:sp>
          <p:nvSpPr>
            <p:cNvPr id="14" name="矩形 13"/>
            <p:cNvSpPr/>
            <p:nvPr/>
          </p:nvSpPr>
          <p:spPr>
            <a:xfrm>
              <a:off x="5102087" y="5528544"/>
              <a:ext cx="1134168" cy="3437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应用程序</a:t>
              </a:r>
              <a:r>
                <a:rPr lang="en-US" altLang="zh-CN" sz="1400" b="1" dirty="0">
                  <a:solidFill>
                    <a:schemeClr val="tx1"/>
                  </a:solidFill>
                  <a:latin typeface="+mn-ea"/>
                </a:rPr>
                <a:t>n</a:t>
              </a:r>
              <a:endParaRPr lang="zh-CN" altLang="en-US" sz="1400" b="1" dirty="0">
                <a:solidFill>
                  <a:schemeClr val="tx1"/>
                </a:solidFill>
                <a:latin typeface="+mn-ea"/>
              </a:endParaRPr>
            </a:p>
          </p:txBody>
        </p:sp>
        <p:sp>
          <p:nvSpPr>
            <p:cNvPr id="15" name="矩形 14"/>
            <p:cNvSpPr/>
            <p:nvPr/>
          </p:nvSpPr>
          <p:spPr>
            <a:xfrm>
              <a:off x="7870747" y="4090530"/>
              <a:ext cx="1047959" cy="3437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数据集</a:t>
              </a:r>
              <a:r>
                <a:rPr lang="en-US" altLang="zh-CN" sz="1400" b="1" dirty="0">
                  <a:solidFill>
                    <a:schemeClr val="tx1"/>
                  </a:solidFill>
                  <a:latin typeface="+mn-ea"/>
                </a:rPr>
                <a:t>1</a:t>
              </a:r>
              <a:endParaRPr lang="zh-CN" altLang="en-US" sz="1400" b="1" dirty="0">
                <a:solidFill>
                  <a:schemeClr val="tx1"/>
                </a:solidFill>
                <a:latin typeface="+mn-ea"/>
              </a:endParaRPr>
            </a:p>
          </p:txBody>
        </p:sp>
        <p:sp>
          <p:nvSpPr>
            <p:cNvPr id="16" name="矩形 15"/>
            <p:cNvSpPr/>
            <p:nvPr/>
          </p:nvSpPr>
          <p:spPr>
            <a:xfrm>
              <a:off x="7870746" y="4658772"/>
              <a:ext cx="1047961" cy="3437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数据集</a:t>
              </a:r>
              <a:r>
                <a:rPr lang="en-US" altLang="zh-CN" sz="1400" b="1" dirty="0">
                  <a:solidFill>
                    <a:schemeClr val="tx1"/>
                  </a:solidFill>
                  <a:latin typeface="+mn-ea"/>
                </a:rPr>
                <a:t>2</a:t>
              </a:r>
              <a:endParaRPr lang="zh-CN" altLang="en-US" sz="1400" b="1" dirty="0">
                <a:solidFill>
                  <a:schemeClr val="tx1"/>
                </a:solidFill>
                <a:latin typeface="+mn-ea"/>
              </a:endParaRPr>
            </a:p>
          </p:txBody>
        </p:sp>
        <p:sp>
          <p:nvSpPr>
            <p:cNvPr id="17" name="矩形 16"/>
            <p:cNvSpPr/>
            <p:nvPr/>
          </p:nvSpPr>
          <p:spPr>
            <a:xfrm>
              <a:off x="7870746" y="5528544"/>
              <a:ext cx="1047961" cy="3437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数据集</a:t>
              </a:r>
              <a:r>
                <a:rPr lang="en-US" altLang="zh-CN" sz="1400" b="1" dirty="0">
                  <a:solidFill>
                    <a:schemeClr val="tx1"/>
                  </a:solidFill>
                  <a:latin typeface="+mn-ea"/>
                </a:rPr>
                <a:t>n</a:t>
              </a:r>
              <a:endParaRPr lang="zh-CN" altLang="en-US" sz="1400" b="1" dirty="0">
                <a:solidFill>
                  <a:schemeClr val="tx1"/>
                </a:solidFill>
                <a:latin typeface="+mn-ea"/>
              </a:endParaRPr>
            </a:p>
          </p:txBody>
        </p:sp>
        <p:cxnSp>
          <p:nvCxnSpPr>
            <p:cNvPr id="18" name="直接连接符 17"/>
            <p:cNvCxnSpPr>
              <a:endCxn id="15" idx="1"/>
            </p:cNvCxnSpPr>
            <p:nvPr/>
          </p:nvCxnSpPr>
          <p:spPr>
            <a:xfrm flipV="1">
              <a:off x="7401336" y="4262400"/>
              <a:ext cx="469411" cy="3595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6" idx="1"/>
            </p:cNvCxnSpPr>
            <p:nvPr/>
          </p:nvCxnSpPr>
          <p:spPr>
            <a:xfrm>
              <a:off x="7537416" y="4825101"/>
              <a:ext cx="333330" cy="55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6" idx="5"/>
              <a:endCxn id="17" idx="1"/>
            </p:cNvCxnSpPr>
            <p:nvPr/>
          </p:nvCxnSpPr>
          <p:spPr>
            <a:xfrm>
              <a:off x="7410436" y="5116486"/>
              <a:ext cx="460310" cy="5839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5441356" y="5104351"/>
              <a:ext cx="568247" cy="312704"/>
            </a:xfrm>
            <a:prstGeom prst="rect">
              <a:avLst/>
            </a:prstGeom>
            <a:noFill/>
            <a:ln>
              <a:noFill/>
            </a:ln>
          </p:spPr>
          <p:txBody>
            <a:bodyPr wrap="square" rtlCol="0">
              <a:spAutoFit/>
            </a:bodyPr>
            <a:lstStyle/>
            <a:p>
              <a:r>
                <a:rPr lang="en-US" altLang="zh-CN" sz="1400" dirty="0"/>
                <a:t>…</a:t>
              </a:r>
              <a:endParaRPr lang="zh-CN" altLang="en-US" sz="1400" dirty="0"/>
            </a:p>
          </p:txBody>
        </p:sp>
        <p:sp>
          <p:nvSpPr>
            <p:cNvPr id="25" name="文本框 24"/>
            <p:cNvSpPr txBox="1"/>
            <p:nvPr/>
          </p:nvSpPr>
          <p:spPr>
            <a:xfrm>
              <a:off x="8188961" y="5093314"/>
              <a:ext cx="568247" cy="312704"/>
            </a:xfrm>
            <a:prstGeom prst="rect">
              <a:avLst/>
            </a:prstGeom>
            <a:noFill/>
            <a:ln>
              <a:noFill/>
            </a:ln>
          </p:spPr>
          <p:txBody>
            <a:bodyPr wrap="square" rtlCol="0">
              <a:spAutoFit/>
            </a:bodyPr>
            <a:lstStyle/>
            <a:p>
              <a:r>
                <a:rPr lang="en-US" altLang="zh-CN" sz="1400" dirty="0"/>
                <a:t>…</a:t>
              </a:r>
              <a:endParaRPr lang="zh-CN" altLang="en-US" sz="1400" dirty="0"/>
            </a:p>
          </p:txBody>
        </p:sp>
        <p:sp>
          <p:nvSpPr>
            <p:cNvPr id="6" name="椭圆 5"/>
            <p:cNvSpPr/>
            <p:nvPr/>
          </p:nvSpPr>
          <p:spPr>
            <a:xfrm>
              <a:off x="6670345" y="4510904"/>
              <a:ext cx="867071" cy="7094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存取方法</a:t>
              </a:r>
              <a:endParaRPr lang="zh-CN" altLang="en-US" sz="1400" b="1" dirty="0">
                <a:solidFill>
                  <a:schemeClr val="tx1"/>
                </a:solidFill>
              </a:endParaRPr>
            </a:p>
          </p:txBody>
        </p:sp>
        <p:cxnSp>
          <p:nvCxnSpPr>
            <p:cNvPr id="30" name="直接连接符 29"/>
            <p:cNvCxnSpPr>
              <a:endCxn id="6" idx="2"/>
            </p:cNvCxnSpPr>
            <p:nvPr/>
          </p:nvCxnSpPr>
          <p:spPr>
            <a:xfrm>
              <a:off x="6236255" y="4844100"/>
              <a:ext cx="434090" cy="215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6" idx="1"/>
            </p:cNvCxnSpPr>
            <p:nvPr/>
          </p:nvCxnSpPr>
          <p:spPr>
            <a:xfrm>
              <a:off x="6227762" y="4270707"/>
              <a:ext cx="569563" cy="3440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endCxn id="6" idx="3"/>
            </p:cNvCxnSpPr>
            <p:nvPr/>
          </p:nvCxnSpPr>
          <p:spPr>
            <a:xfrm flipV="1">
              <a:off x="6227762" y="5116486"/>
              <a:ext cx="569563" cy="6049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文本框 36"/>
          <p:cNvSpPr txBox="1"/>
          <p:nvPr/>
        </p:nvSpPr>
        <p:spPr>
          <a:xfrm>
            <a:off x="4737632" y="6064094"/>
            <a:ext cx="5108713" cy="369332"/>
          </a:xfrm>
          <a:prstGeom prst="rect">
            <a:avLst/>
          </a:prstGeom>
          <a:noFill/>
        </p:spPr>
        <p:txBody>
          <a:bodyPr wrap="square" rtlCol="0">
            <a:spAutoFit/>
          </a:bodyPr>
          <a:lstStyle/>
          <a:p>
            <a:r>
              <a:rPr lang="zh-CN" altLang="en-US" b="1" dirty="0"/>
              <a:t>文件系统阶段</a:t>
            </a:r>
            <a:r>
              <a:rPr lang="zh-CN" altLang="en-US" b="1" dirty="0">
                <a:solidFill>
                  <a:srgbClr val="C00000"/>
                </a:solidFill>
              </a:rPr>
              <a:t>应用程序与数据</a:t>
            </a:r>
            <a:r>
              <a:rPr lang="zh-CN" altLang="en-US" b="1" dirty="0"/>
              <a:t>之间的对应关系</a:t>
            </a:r>
            <a:endParaRPr lang="zh-CN" altLang="en-US" b="1" dirty="0"/>
          </a:p>
        </p:txBody>
      </p:sp>
      <p:sp>
        <p:nvSpPr>
          <p:cNvPr id="39" name="矩形 2"/>
          <p:cNvSpPr>
            <a:spLocks noChangeArrowheads="1"/>
          </p:cNvSpPr>
          <p:nvPr/>
        </p:nvSpPr>
        <p:spPr bwMode="auto">
          <a:xfrm>
            <a:off x="393931" y="1201920"/>
            <a:ext cx="31983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ts val="450"/>
              </a:spcBef>
              <a:spcAft>
                <a:spcPts val="450"/>
              </a:spcAft>
              <a:buClr>
                <a:srgbClr val="C00000"/>
              </a:buClr>
              <a:buFont typeface="Wingdings" panose="05000000000000000000" pitchFamily="2" charset="2"/>
              <a:buChar char="n"/>
            </a:pPr>
            <a:r>
              <a:rPr lang="zh-CN" altLang="en-US" sz="2400" b="1" dirty="0">
                <a:solidFill>
                  <a:srgbClr val="000000"/>
                </a:solidFill>
                <a:latin typeface="Century Gothic" panose="020B0502020202020204" pitchFamily="34" charset="0"/>
              </a:rPr>
              <a:t>数据管理的发展过程</a:t>
            </a:r>
            <a:endParaRPr lang="en-US" altLang="zh-CN" sz="2400" b="1" dirty="0">
              <a:solidFill>
                <a:srgbClr val="000000"/>
              </a:solidFill>
              <a:latin typeface="Century Gothic" panose="020B0502020202020204" pitchFamily="34" charset="0"/>
            </a:endParaRPr>
          </a:p>
        </p:txBody>
      </p:sp>
      <p:sp>
        <p:nvSpPr>
          <p:cNvPr id="40" name="标题 1"/>
          <p:cNvSpPr>
            <a:spLocks noGrp="1"/>
          </p:cNvSpPr>
          <p:nvPr>
            <p:ph type="title"/>
          </p:nvPr>
        </p:nvSpPr>
        <p:spPr>
          <a:xfrm>
            <a:off x="444018" y="306131"/>
            <a:ext cx="6032344" cy="567258"/>
          </a:xfrm>
        </p:spPr>
        <p:txBody>
          <a:bodyPr/>
          <a:lstStyle/>
          <a:p>
            <a:pPr>
              <a:lnSpc>
                <a:spcPct val="160000"/>
              </a:lnSpc>
            </a:pPr>
            <a:r>
              <a:rPr kumimoji="1" lang="en-US" altLang="zh-CN" sz="3000" b="1" dirty="0">
                <a:solidFill>
                  <a:schemeClr val="tx1"/>
                </a:solidFill>
                <a:latin typeface="黑体" panose="02010609060101010101" pitchFamily="49" charset="-122"/>
                <a:ea typeface="黑体" panose="02010609060101010101" pitchFamily="49" charset="-122"/>
              </a:rPr>
              <a:t>4.1</a:t>
            </a:r>
            <a:r>
              <a:rPr kumimoji="1" lang="zh-CN" altLang="en-US" sz="3000" b="1" dirty="0">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fade">
                                      <p:cBhvr>
                                        <p:cTn id="7" dur="1000"/>
                                        <p:tgtEl>
                                          <p:spTgt spid="23555"/>
                                        </p:tgtEl>
                                      </p:cBhvr>
                                    </p:animEffect>
                                    <p:anim calcmode="lin" valueType="num">
                                      <p:cBhvr>
                                        <p:cTn id="8" dur="1000" fill="hold"/>
                                        <p:tgtEl>
                                          <p:spTgt spid="23555"/>
                                        </p:tgtEl>
                                        <p:attrNameLst>
                                          <p:attrName>ppt_x</p:attrName>
                                        </p:attrNameLst>
                                      </p:cBhvr>
                                      <p:tavLst>
                                        <p:tav tm="0">
                                          <p:val>
                                            <p:strVal val="#ppt_x"/>
                                          </p:val>
                                        </p:tav>
                                        <p:tav tm="100000">
                                          <p:val>
                                            <p:strVal val="#ppt_x"/>
                                          </p:val>
                                        </p:tav>
                                      </p:tavLst>
                                    </p:anim>
                                    <p:anim calcmode="lin" valueType="num">
                                      <p:cBhvr>
                                        <p:cTn id="9" dur="1000" fill="hold"/>
                                        <p:tgtEl>
                                          <p:spTgt spid="2355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6"/>
                                        </p:tgtEl>
                                        <p:attrNameLst>
                                          <p:attrName>style.visibility</p:attrName>
                                        </p:attrNameLst>
                                      </p:cBhvr>
                                      <p:to>
                                        <p:strVal val="visible"/>
                                      </p:to>
                                    </p:set>
                                    <p:animEffect transition="in" filter="fade">
                                      <p:cBhvr>
                                        <p:cTn id="12" dur="1000"/>
                                        <p:tgtEl>
                                          <p:spTgt spid="23556"/>
                                        </p:tgtEl>
                                      </p:cBhvr>
                                    </p:animEffect>
                                    <p:anim calcmode="lin" valueType="num">
                                      <p:cBhvr>
                                        <p:cTn id="13" dur="1000" fill="hold"/>
                                        <p:tgtEl>
                                          <p:spTgt spid="23556"/>
                                        </p:tgtEl>
                                        <p:attrNameLst>
                                          <p:attrName>ppt_x</p:attrName>
                                        </p:attrNameLst>
                                      </p:cBhvr>
                                      <p:tavLst>
                                        <p:tav tm="0">
                                          <p:val>
                                            <p:strVal val="#ppt_x"/>
                                          </p:val>
                                        </p:tav>
                                        <p:tav tm="100000">
                                          <p:val>
                                            <p:strVal val="#ppt_x"/>
                                          </p:val>
                                        </p:tav>
                                      </p:tavLst>
                                    </p:anim>
                                    <p:anim calcmode="lin" valueType="num">
                                      <p:cBhvr>
                                        <p:cTn id="14" dur="1000" fill="hold"/>
                                        <p:tgtEl>
                                          <p:spTgt spid="235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4324" y="3597710"/>
            <a:ext cx="4110400" cy="1560929"/>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25603" name="Rectangle 9"/>
          <p:cNvSpPr>
            <a:spLocks noChangeArrowheads="1"/>
          </p:cNvSpPr>
          <p:nvPr/>
        </p:nvSpPr>
        <p:spPr bwMode="auto">
          <a:xfrm>
            <a:off x="294324" y="5210094"/>
            <a:ext cx="4110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b="1" dirty="0">
                <a:solidFill>
                  <a:schemeClr val="tx1"/>
                </a:solidFill>
                <a:latin typeface="Century Gothic" panose="020B0502020202020204" pitchFamily="34" charset="0"/>
              </a:rPr>
              <a:t>可以将教师的数据信息组织到一起并存储到数据库中，利用计算机进行快速的存储、检索、统计与管理</a:t>
            </a:r>
            <a:endParaRPr lang="zh-CN" altLang="en-US" b="1" dirty="0">
              <a:solidFill>
                <a:schemeClr val="tx1"/>
              </a:solidFill>
              <a:latin typeface="Century Gothic" panose="020B0502020202020204" pitchFamily="34" charset="0"/>
            </a:endParaRPr>
          </a:p>
        </p:txBody>
      </p:sp>
      <p:sp>
        <p:nvSpPr>
          <p:cNvPr id="25605" name="矩形 1"/>
          <p:cNvSpPr>
            <a:spLocks noChangeArrowheads="1"/>
          </p:cNvSpPr>
          <p:nvPr/>
        </p:nvSpPr>
        <p:spPr bwMode="auto">
          <a:xfrm>
            <a:off x="444018" y="1742729"/>
            <a:ext cx="8185441" cy="1605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800100" indent="-34290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ts val="450"/>
              </a:spcBef>
              <a:buClr>
                <a:srgbClr val="C00000"/>
              </a:buClr>
              <a:buFont typeface="+mj-ea"/>
              <a:buAutoNum type="circleNumDbPlain" startAt="3"/>
            </a:pPr>
            <a:r>
              <a:rPr lang="zh-CN" altLang="en-US" sz="2400" b="1" dirty="0">
                <a:solidFill>
                  <a:schemeClr val="tx1"/>
                </a:solidFill>
                <a:latin typeface="Century Gothic" panose="020B0502020202020204" pitchFamily="34" charset="0"/>
              </a:rPr>
              <a:t>数据库系统（</a:t>
            </a:r>
            <a:r>
              <a:rPr lang="en-US" altLang="zh-CN" sz="2400" b="1" dirty="0">
                <a:solidFill>
                  <a:schemeClr val="tx1"/>
                </a:solidFill>
                <a:latin typeface="Century Gothic" panose="020B0502020202020204" pitchFamily="34" charset="0"/>
              </a:rPr>
              <a:t>20</a:t>
            </a:r>
            <a:r>
              <a:rPr lang="zh-CN" altLang="en-US" sz="2400" b="1" dirty="0">
                <a:solidFill>
                  <a:schemeClr val="tx1"/>
                </a:solidFill>
                <a:latin typeface="Century Gothic" panose="020B0502020202020204" pitchFamily="34" charset="0"/>
              </a:rPr>
              <a:t>世纪</a:t>
            </a:r>
            <a:r>
              <a:rPr lang="en-US" altLang="zh-CN" sz="2400" b="1" dirty="0">
                <a:solidFill>
                  <a:schemeClr val="tx1"/>
                </a:solidFill>
                <a:latin typeface="Century Gothic" panose="020B0502020202020204" pitchFamily="34" charset="0"/>
              </a:rPr>
              <a:t>60</a:t>
            </a:r>
            <a:r>
              <a:rPr lang="zh-CN" altLang="en-US" sz="2400" b="1" dirty="0">
                <a:solidFill>
                  <a:schemeClr val="tx1"/>
                </a:solidFill>
                <a:latin typeface="Century Gothic" panose="020B0502020202020204" pitchFamily="34" charset="0"/>
              </a:rPr>
              <a:t>年代后期以来）</a:t>
            </a:r>
            <a:endParaRPr lang="en-US" altLang="zh-CN" sz="2400" b="1" dirty="0">
              <a:solidFill>
                <a:schemeClr val="tx1"/>
              </a:solidFill>
              <a:latin typeface="Century Gothic" panose="020B0502020202020204" pitchFamily="34" charset="0"/>
            </a:endParaRPr>
          </a:p>
          <a:p>
            <a:pPr lvl="1" algn="just">
              <a:spcBef>
                <a:spcPts val="450"/>
              </a:spcBef>
              <a:buClr>
                <a:srgbClr val="C00000"/>
              </a:buClr>
              <a:buFont typeface="Wingdings" panose="05000000000000000000" pitchFamily="2" charset="2"/>
              <a:buChar char="Ø"/>
            </a:pPr>
            <a:r>
              <a:rPr lang="zh-CN" altLang="en-US" sz="2200" b="1" dirty="0">
                <a:solidFill>
                  <a:schemeClr val="tx1"/>
                </a:solidFill>
                <a:latin typeface="Century Gothic" panose="020B0502020202020204" pitchFamily="34" charset="0"/>
              </a:rPr>
              <a:t>解决多用户、多应用共享数据的需求，使数据为尽可能多的应用服务，数据库技术应运而生；</a:t>
            </a:r>
            <a:endParaRPr lang="en-US" altLang="zh-CN" sz="2200" b="1" dirty="0">
              <a:solidFill>
                <a:schemeClr val="tx1"/>
              </a:solidFill>
              <a:latin typeface="Century Gothic" panose="020B0502020202020204" pitchFamily="34" charset="0"/>
            </a:endParaRPr>
          </a:p>
          <a:p>
            <a:pPr lvl="1">
              <a:spcBef>
                <a:spcPts val="450"/>
              </a:spcBef>
              <a:buClr>
                <a:srgbClr val="C00000"/>
              </a:buClr>
              <a:buFont typeface="Wingdings" panose="05000000000000000000" pitchFamily="2" charset="2"/>
              <a:buChar char="Ø"/>
            </a:pPr>
            <a:r>
              <a:rPr lang="zh-CN" altLang="en-US" sz="2200" b="1" dirty="0">
                <a:solidFill>
                  <a:schemeClr val="tx1"/>
                </a:solidFill>
                <a:latin typeface="Century Gothic" panose="020B0502020202020204" pitchFamily="34" charset="0"/>
              </a:rPr>
              <a:t>同时出现了统一管理数据的专门软件</a:t>
            </a:r>
            <a:r>
              <a:rPr lang="en-US" altLang="zh-CN" sz="2200" b="1" dirty="0">
                <a:solidFill>
                  <a:schemeClr val="tx1"/>
                </a:solidFill>
                <a:latin typeface="Century Gothic" panose="020B0502020202020204" pitchFamily="34" charset="0"/>
              </a:rPr>
              <a:t>—</a:t>
            </a:r>
            <a:r>
              <a:rPr lang="zh-CN" altLang="en-US" sz="2200" b="1" dirty="0">
                <a:solidFill>
                  <a:schemeClr val="tx1"/>
                </a:solidFill>
                <a:latin typeface="Century Gothic" panose="020B0502020202020204" pitchFamily="34" charset="0"/>
              </a:rPr>
              <a:t>数据库管理系统；</a:t>
            </a:r>
            <a:endParaRPr lang="en-US" altLang="zh-CN" sz="2200" b="1" dirty="0">
              <a:solidFill>
                <a:schemeClr val="tx1"/>
              </a:solidFill>
              <a:latin typeface="Century Gothic" panose="020B0502020202020204" pitchFamily="34" charset="0"/>
            </a:endParaRPr>
          </a:p>
        </p:txBody>
      </p:sp>
      <p:sp>
        <p:nvSpPr>
          <p:cNvPr id="25606" name="文本框 1"/>
          <p:cNvSpPr txBox="1">
            <a:spLocks noChangeArrowheads="1"/>
          </p:cNvSpPr>
          <p:nvPr/>
        </p:nvSpPr>
        <p:spPr bwMode="auto">
          <a:xfrm>
            <a:off x="1811398" y="6272569"/>
            <a:ext cx="7598250"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lnSpc>
                <a:spcPct val="110000"/>
              </a:lnSpc>
              <a:spcBef>
                <a:spcPct val="0"/>
              </a:spcBef>
              <a:buClrTx/>
              <a:buFontTx/>
              <a:buNone/>
            </a:pPr>
            <a:r>
              <a:rPr lang="zh-CN" altLang="en-US" sz="2400" b="1" dirty="0">
                <a:solidFill>
                  <a:srgbClr val="030DCF"/>
                </a:solidFill>
                <a:latin typeface="Century Gothic" panose="020B0502020202020204" pitchFamily="34" charset="0"/>
              </a:rPr>
              <a:t>数据库并不能比文件系统存储更多的数据！</a:t>
            </a:r>
            <a:endParaRPr lang="zh-CN" altLang="en-US" sz="2400" b="1" dirty="0">
              <a:solidFill>
                <a:srgbClr val="030DCF"/>
              </a:solidFill>
              <a:latin typeface="Century Gothic" panose="020B0502020202020204" pitchFamily="34" charset="0"/>
            </a:endParaRPr>
          </a:p>
        </p:txBody>
      </p:sp>
      <p:sp>
        <p:nvSpPr>
          <p:cNvPr id="9" name="矩形 2"/>
          <p:cNvSpPr>
            <a:spLocks noChangeArrowheads="1"/>
          </p:cNvSpPr>
          <p:nvPr/>
        </p:nvSpPr>
        <p:spPr bwMode="auto">
          <a:xfrm>
            <a:off x="444020" y="1228572"/>
            <a:ext cx="31983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ts val="450"/>
              </a:spcBef>
              <a:spcAft>
                <a:spcPts val="450"/>
              </a:spcAft>
              <a:buClr>
                <a:srgbClr val="C00000"/>
              </a:buClr>
              <a:buFont typeface="Wingdings" panose="05000000000000000000" pitchFamily="2" charset="2"/>
              <a:buChar char="n"/>
            </a:pPr>
            <a:r>
              <a:rPr lang="zh-CN" altLang="en-US" sz="2400" b="1" dirty="0">
                <a:solidFill>
                  <a:srgbClr val="000000"/>
                </a:solidFill>
                <a:latin typeface="Century Gothic" panose="020B0502020202020204" pitchFamily="34" charset="0"/>
              </a:rPr>
              <a:t>数据管理的发展过程</a:t>
            </a:r>
            <a:endParaRPr lang="en-US" altLang="zh-CN" sz="2400" b="1" dirty="0">
              <a:solidFill>
                <a:srgbClr val="000000"/>
              </a:solidFill>
              <a:latin typeface="Century Gothic" panose="020B0502020202020204" pitchFamily="34" charset="0"/>
            </a:endParaRPr>
          </a:p>
        </p:txBody>
      </p:sp>
      <p:sp>
        <p:nvSpPr>
          <p:cNvPr id="34" name="文本框 33"/>
          <p:cNvSpPr txBox="1"/>
          <p:nvPr/>
        </p:nvSpPr>
        <p:spPr>
          <a:xfrm>
            <a:off x="5953529" y="5069161"/>
            <a:ext cx="2951933" cy="646331"/>
          </a:xfrm>
          <a:prstGeom prst="rect">
            <a:avLst/>
          </a:prstGeom>
          <a:noFill/>
        </p:spPr>
        <p:txBody>
          <a:bodyPr wrap="square" rtlCol="0">
            <a:spAutoFit/>
          </a:bodyPr>
          <a:lstStyle/>
          <a:p>
            <a:pPr algn="ctr"/>
            <a:r>
              <a:rPr lang="zh-CN" altLang="en-US" b="1" dirty="0"/>
              <a:t>数据库系统阶段</a:t>
            </a:r>
            <a:r>
              <a:rPr lang="zh-CN" altLang="en-US" b="1" dirty="0">
                <a:solidFill>
                  <a:srgbClr val="C00000"/>
                </a:solidFill>
              </a:rPr>
              <a:t>应用程序与数据</a:t>
            </a:r>
            <a:r>
              <a:rPr lang="zh-CN" altLang="en-US" b="1" dirty="0"/>
              <a:t>之间的对应关系</a:t>
            </a:r>
            <a:endParaRPr lang="zh-CN" altLang="en-US" b="1" dirty="0"/>
          </a:p>
        </p:txBody>
      </p:sp>
      <p:grpSp>
        <p:nvGrpSpPr>
          <p:cNvPr id="41" name="组合 40"/>
          <p:cNvGrpSpPr/>
          <p:nvPr/>
        </p:nvGrpSpPr>
        <p:grpSpPr>
          <a:xfrm>
            <a:off x="4586133" y="3597710"/>
            <a:ext cx="4153120" cy="1753679"/>
            <a:chOff x="5052179" y="3864081"/>
            <a:chExt cx="4153120" cy="1753679"/>
          </a:xfrm>
        </p:grpSpPr>
        <p:grpSp>
          <p:nvGrpSpPr>
            <p:cNvPr id="29" name="组合 28"/>
            <p:cNvGrpSpPr/>
            <p:nvPr/>
          </p:nvGrpSpPr>
          <p:grpSpPr>
            <a:xfrm>
              <a:off x="5052179" y="3864081"/>
              <a:ext cx="4153120" cy="1753679"/>
              <a:chOff x="5052179" y="3864081"/>
              <a:chExt cx="4153120" cy="1753679"/>
            </a:xfrm>
          </p:grpSpPr>
          <p:grpSp>
            <p:nvGrpSpPr>
              <p:cNvPr id="10" name="组合 9"/>
              <p:cNvGrpSpPr/>
              <p:nvPr/>
            </p:nvGrpSpPr>
            <p:grpSpPr>
              <a:xfrm>
                <a:off x="5052179" y="3864081"/>
                <a:ext cx="2610669" cy="1753679"/>
                <a:chOff x="5102087" y="4090530"/>
                <a:chExt cx="2633526" cy="1781754"/>
              </a:xfrm>
            </p:grpSpPr>
            <p:sp>
              <p:nvSpPr>
                <p:cNvPr id="11" name="矩形 10"/>
                <p:cNvSpPr/>
                <p:nvPr/>
              </p:nvSpPr>
              <p:spPr>
                <a:xfrm>
                  <a:off x="5102087" y="4090530"/>
                  <a:ext cx="1134168" cy="3437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应用程序</a:t>
                  </a:r>
                  <a:r>
                    <a:rPr lang="en-US" altLang="zh-CN" sz="1400" b="1" dirty="0">
                      <a:solidFill>
                        <a:schemeClr val="tx1"/>
                      </a:solidFill>
                      <a:latin typeface="+mn-ea"/>
                    </a:rPr>
                    <a:t>1</a:t>
                  </a:r>
                  <a:endParaRPr lang="zh-CN" altLang="en-US" sz="1400" b="1" dirty="0">
                    <a:solidFill>
                      <a:schemeClr val="tx1"/>
                    </a:solidFill>
                    <a:latin typeface="+mn-ea"/>
                  </a:endParaRPr>
                </a:p>
              </p:txBody>
            </p:sp>
            <p:sp>
              <p:nvSpPr>
                <p:cNvPr id="12" name="矩形 11"/>
                <p:cNvSpPr/>
                <p:nvPr/>
              </p:nvSpPr>
              <p:spPr>
                <a:xfrm>
                  <a:off x="5102087" y="4653231"/>
                  <a:ext cx="1134168" cy="3437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应用程序</a:t>
                  </a:r>
                  <a:r>
                    <a:rPr lang="en-US" altLang="zh-CN" sz="1400" b="1" dirty="0">
                      <a:solidFill>
                        <a:schemeClr val="tx1"/>
                      </a:solidFill>
                      <a:latin typeface="+mn-ea"/>
                    </a:rPr>
                    <a:t>2</a:t>
                  </a:r>
                  <a:endParaRPr lang="zh-CN" altLang="en-US" sz="1400" b="1" dirty="0">
                    <a:solidFill>
                      <a:schemeClr val="tx1"/>
                    </a:solidFill>
                    <a:latin typeface="+mn-ea"/>
                  </a:endParaRPr>
                </a:p>
              </p:txBody>
            </p:sp>
            <p:sp>
              <p:nvSpPr>
                <p:cNvPr id="13" name="矩形 12"/>
                <p:cNvSpPr/>
                <p:nvPr/>
              </p:nvSpPr>
              <p:spPr>
                <a:xfrm>
                  <a:off x="5102087" y="5528544"/>
                  <a:ext cx="1134168" cy="3437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mn-ea"/>
                    </a:rPr>
                    <a:t>应用程序</a:t>
                  </a:r>
                  <a:r>
                    <a:rPr lang="en-US" altLang="zh-CN" sz="1400" b="1" dirty="0">
                      <a:solidFill>
                        <a:schemeClr val="tx1"/>
                      </a:solidFill>
                      <a:latin typeface="+mn-ea"/>
                    </a:rPr>
                    <a:t>n</a:t>
                  </a:r>
                  <a:endParaRPr lang="zh-CN" altLang="en-US" sz="1400" b="1" dirty="0">
                    <a:solidFill>
                      <a:schemeClr val="tx1"/>
                    </a:solidFill>
                    <a:latin typeface="+mn-ea"/>
                  </a:endParaRPr>
                </a:p>
              </p:txBody>
            </p:sp>
            <p:cxnSp>
              <p:nvCxnSpPr>
                <p:cNvPr id="18" name="直接连接符 17"/>
                <p:cNvCxnSpPr>
                  <a:stCxn id="4" idx="0"/>
                  <a:endCxn id="36" idx="1"/>
                </p:cNvCxnSpPr>
                <p:nvPr/>
              </p:nvCxnSpPr>
              <p:spPr>
                <a:xfrm flipV="1">
                  <a:off x="7540973" y="4818149"/>
                  <a:ext cx="194640" cy="87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5441356" y="5104351"/>
                  <a:ext cx="568247" cy="312704"/>
                </a:xfrm>
                <a:prstGeom prst="rect">
                  <a:avLst/>
                </a:prstGeom>
                <a:noFill/>
                <a:ln>
                  <a:noFill/>
                </a:ln>
              </p:spPr>
              <p:txBody>
                <a:bodyPr wrap="square" rtlCol="0">
                  <a:spAutoFit/>
                </a:bodyPr>
                <a:lstStyle/>
                <a:p>
                  <a:r>
                    <a:rPr lang="en-US" altLang="zh-CN" sz="1400" dirty="0"/>
                    <a:t>…</a:t>
                  </a:r>
                  <a:endParaRPr lang="zh-CN" altLang="en-US" sz="1400" dirty="0"/>
                </a:p>
              </p:txBody>
            </p:sp>
            <p:cxnSp>
              <p:nvCxnSpPr>
                <p:cNvPr id="23" name="直接连接符 22"/>
                <p:cNvCxnSpPr>
                  <a:stCxn id="12" idx="3"/>
                  <a:endCxn id="4" idx="3"/>
                </p:cNvCxnSpPr>
                <p:nvPr/>
              </p:nvCxnSpPr>
              <p:spPr>
                <a:xfrm>
                  <a:off x="6236255" y="4825102"/>
                  <a:ext cx="245199" cy="17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227762" y="4270707"/>
                  <a:ext cx="355070" cy="3456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6227762" y="5080306"/>
                  <a:ext cx="355070" cy="6344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六边形 3"/>
              <p:cNvSpPr/>
              <p:nvPr/>
            </p:nvSpPr>
            <p:spPr>
              <a:xfrm>
                <a:off x="6419573" y="4225020"/>
                <a:ext cx="1050324" cy="727656"/>
              </a:xfrm>
              <a:prstGeom prst="hexagon">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数据库管理系统</a:t>
                </a:r>
                <a:endParaRPr lang="zh-CN" altLang="en-US" sz="1400" b="1" dirty="0">
                  <a:solidFill>
                    <a:schemeClr val="tx1"/>
                  </a:solidFill>
                </a:endParaRPr>
              </a:p>
            </p:txBody>
          </p:sp>
          <p:sp>
            <p:nvSpPr>
              <p:cNvPr id="5" name="圆柱形 4"/>
              <p:cNvSpPr/>
              <p:nvPr/>
            </p:nvSpPr>
            <p:spPr>
              <a:xfrm>
                <a:off x="8394318" y="4184155"/>
                <a:ext cx="810981" cy="775505"/>
              </a:xfrm>
              <a:prstGeom prst="can">
                <a:avLst>
                  <a:gd name="adj" fmla="val 55769"/>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数据库</a:t>
                </a:r>
                <a:endParaRPr lang="zh-CN" altLang="en-US" sz="1400" b="1" dirty="0">
                  <a:solidFill>
                    <a:schemeClr val="tx1"/>
                  </a:solidFill>
                </a:endParaRPr>
              </a:p>
            </p:txBody>
          </p:sp>
        </p:grpSp>
        <p:sp>
          <p:nvSpPr>
            <p:cNvPr id="36" name="矩形 35"/>
            <p:cNvSpPr/>
            <p:nvPr/>
          </p:nvSpPr>
          <p:spPr>
            <a:xfrm>
              <a:off x="7662848" y="4225021"/>
              <a:ext cx="538519" cy="71042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rPr>
                <a:t>操作系统</a:t>
              </a:r>
              <a:endParaRPr lang="zh-CN" altLang="en-US" sz="1400" b="1" dirty="0">
                <a:solidFill>
                  <a:schemeClr val="tx1"/>
                </a:solidFill>
              </a:endParaRPr>
            </a:p>
          </p:txBody>
        </p:sp>
        <p:cxnSp>
          <p:nvCxnSpPr>
            <p:cNvPr id="45" name="直接连接符 44"/>
            <p:cNvCxnSpPr/>
            <p:nvPr/>
          </p:nvCxnSpPr>
          <p:spPr>
            <a:xfrm flipV="1">
              <a:off x="8201367" y="4567600"/>
              <a:ext cx="192951" cy="86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8" name="标题 1"/>
          <p:cNvSpPr txBox="1"/>
          <p:nvPr/>
        </p:nvSpPr>
        <p:spPr bwMode="auto">
          <a:xfrm>
            <a:off x="444018" y="306131"/>
            <a:ext cx="6032344" cy="56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lnSpc>
                <a:spcPct val="160000"/>
              </a:lnSpc>
            </a:pPr>
            <a:r>
              <a:rPr kumimoji="1" lang="en-US" altLang="zh-CN" sz="3000" b="1">
                <a:solidFill>
                  <a:schemeClr val="tx1"/>
                </a:solidFill>
                <a:latin typeface="黑体" panose="02010609060101010101" pitchFamily="49" charset="-122"/>
                <a:ea typeface="黑体" panose="02010609060101010101" pitchFamily="49" charset="-122"/>
              </a:rPr>
              <a:t>4.1</a:t>
            </a:r>
            <a:r>
              <a:rPr kumimoji="1" lang="zh-CN" altLang="en-US" sz="3000" b="1">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236299" y="1220939"/>
            <a:ext cx="8472762"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marL="257175" indent="-257175" algn="just">
              <a:lnSpc>
                <a:spcPct val="120000"/>
              </a:lnSpc>
              <a:spcBef>
                <a:spcPts val="450"/>
              </a:spcBef>
              <a:spcAft>
                <a:spcPts val="450"/>
              </a:spcAft>
              <a:buClr>
                <a:srgbClr val="C00000"/>
              </a:buClr>
              <a:buFont typeface="Wingdings" panose="05000000000000000000" pitchFamily="2" charset="2"/>
              <a:buChar char="n"/>
              <a:defRPr/>
            </a:pPr>
            <a:r>
              <a:rPr lang="zh-CN" altLang="en-US" sz="2200" b="1" dirty="0">
                <a:solidFill>
                  <a:srgbClr val="030DCF"/>
                </a:solidFill>
                <a:latin typeface="+mn-lt"/>
              </a:rPr>
              <a:t>数据库（</a:t>
            </a:r>
            <a:r>
              <a:rPr lang="en-US" altLang="zh-CN" sz="2200" b="1" dirty="0">
                <a:solidFill>
                  <a:srgbClr val="030DCF"/>
                </a:solidFill>
                <a:latin typeface="+mn-lt"/>
              </a:rPr>
              <a:t>Data Base</a:t>
            </a:r>
            <a:r>
              <a:rPr lang="zh-CN" altLang="en-US" sz="2200" b="1" dirty="0">
                <a:solidFill>
                  <a:srgbClr val="030DCF"/>
                </a:solidFill>
                <a:latin typeface="+mn-lt"/>
              </a:rPr>
              <a:t>，</a:t>
            </a:r>
            <a:r>
              <a:rPr lang="en-US" altLang="zh-CN" sz="2200" b="1" dirty="0">
                <a:solidFill>
                  <a:srgbClr val="030DCF"/>
                </a:solidFill>
                <a:latin typeface="+mn-lt"/>
              </a:rPr>
              <a:t>DB</a:t>
            </a:r>
            <a:r>
              <a:rPr lang="zh-CN" altLang="en-US" sz="2200" b="1" dirty="0">
                <a:solidFill>
                  <a:srgbClr val="030DCF"/>
                </a:solidFill>
                <a:latin typeface="+mn-lt"/>
              </a:rPr>
              <a:t>）</a:t>
            </a:r>
            <a:r>
              <a:rPr lang="zh-CN" altLang="en-US" sz="2200" b="1" dirty="0">
                <a:solidFill>
                  <a:srgbClr val="000000"/>
                </a:solidFill>
                <a:latin typeface="+mn-lt"/>
              </a:rPr>
              <a:t>是能够被统一管理的</a:t>
            </a:r>
            <a:r>
              <a:rPr lang="zh-CN" altLang="en-US" sz="2200" b="1" dirty="0">
                <a:solidFill>
                  <a:srgbClr val="C00000"/>
                </a:solidFill>
                <a:latin typeface="+mn-lt"/>
              </a:rPr>
              <a:t>有特定联系</a:t>
            </a:r>
            <a:r>
              <a:rPr lang="zh-CN" altLang="en-US" sz="2200" b="1" dirty="0">
                <a:solidFill>
                  <a:srgbClr val="000000"/>
                </a:solidFill>
                <a:latin typeface="+mn-lt"/>
              </a:rPr>
              <a:t>的</a:t>
            </a:r>
            <a:r>
              <a:rPr lang="zh-CN" altLang="en-US" sz="2200" b="1" dirty="0">
                <a:solidFill>
                  <a:srgbClr val="C00000"/>
                </a:solidFill>
                <a:latin typeface="+mn-lt"/>
              </a:rPr>
              <a:t>数据的集合</a:t>
            </a:r>
            <a:r>
              <a:rPr lang="zh-CN" altLang="en-US" sz="2200" b="1" dirty="0">
                <a:solidFill>
                  <a:srgbClr val="000000"/>
                </a:solidFill>
                <a:latin typeface="+mn-lt"/>
              </a:rPr>
              <a:t>，这些数据具有</a:t>
            </a:r>
            <a:r>
              <a:rPr lang="zh-CN" altLang="en-US" sz="2200" b="1" dirty="0">
                <a:solidFill>
                  <a:schemeClr val="tx1"/>
                </a:solidFill>
                <a:latin typeface="+mn-lt"/>
              </a:rPr>
              <a:t>一定的结构</a:t>
            </a:r>
            <a:r>
              <a:rPr lang="zh-CN" altLang="en-US" sz="2200" b="1" dirty="0">
                <a:solidFill>
                  <a:srgbClr val="000000"/>
                </a:solidFill>
                <a:latin typeface="+mn-lt"/>
              </a:rPr>
              <a:t>，能够长期存储，具有较小的冗余度、</a:t>
            </a:r>
            <a:r>
              <a:rPr lang="zh-CN" altLang="en-US" sz="2200" b="1" dirty="0">
                <a:solidFill>
                  <a:schemeClr val="tx1"/>
                </a:solidFill>
                <a:latin typeface="+mn-lt"/>
              </a:rPr>
              <a:t>较高的数据独立性</a:t>
            </a:r>
            <a:r>
              <a:rPr lang="zh-CN" altLang="en-US" sz="2200" b="1" dirty="0">
                <a:solidFill>
                  <a:srgbClr val="000000"/>
                </a:solidFill>
                <a:latin typeface="+mn-lt"/>
              </a:rPr>
              <a:t>和易扩展性，并可为多个用户共享。</a:t>
            </a:r>
            <a:endParaRPr lang="en-US" altLang="zh-CN" sz="2200" b="1" dirty="0">
              <a:solidFill>
                <a:srgbClr val="000000"/>
              </a:solidFill>
              <a:latin typeface="+mn-lt"/>
            </a:endParaRPr>
          </a:p>
        </p:txBody>
      </p:sp>
      <p:pic>
        <p:nvPicPr>
          <p:cNvPr id="5" name="图片 1"/>
          <p:cNvPicPr>
            <a:picLocks noChangeAspect="1"/>
          </p:cNvPicPr>
          <p:nvPr/>
        </p:nvPicPr>
        <p:blipFill>
          <a:blip r:embed="rId1">
            <a:extLst>
              <a:ext uri="{28A0092B-C50C-407E-A947-70E740481C1C}">
                <a14:useLocalDpi xmlns:a14="http://schemas.microsoft.com/office/drawing/2010/main" val="0"/>
              </a:ext>
            </a:extLst>
          </a:blip>
          <a:srcRect l="46068" t="42326" r="17314" b="16328"/>
          <a:stretch>
            <a:fillRect/>
          </a:stretch>
        </p:blipFill>
        <p:spPr bwMode="auto">
          <a:xfrm>
            <a:off x="444018" y="2532067"/>
            <a:ext cx="5488722" cy="371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2039268" y="6250404"/>
            <a:ext cx="2659702" cy="461665"/>
          </a:xfrm>
          <a:prstGeom prst="rect">
            <a:avLst/>
          </a:prstGeom>
        </p:spPr>
        <p:txBody>
          <a:bodyPr wrap="none">
            <a:spAutoFit/>
          </a:bodyPr>
          <a:lstStyle/>
          <a:p>
            <a:r>
              <a:rPr lang="zh-CN" altLang="en-US" sz="2400" b="1" dirty="0"/>
              <a:t>数据库系统的结构</a:t>
            </a:r>
            <a:endParaRPr lang="zh-CN" altLang="en-US" sz="2400" b="1" dirty="0"/>
          </a:p>
        </p:txBody>
      </p:sp>
      <p:sp>
        <p:nvSpPr>
          <p:cNvPr id="8" name="标题 1"/>
          <p:cNvSpPr txBox="1"/>
          <p:nvPr/>
        </p:nvSpPr>
        <p:spPr bwMode="auto">
          <a:xfrm>
            <a:off x="444018" y="306131"/>
            <a:ext cx="6032344" cy="56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lnSpc>
                <a:spcPct val="160000"/>
              </a:lnSpc>
            </a:pPr>
            <a:r>
              <a:rPr kumimoji="1" lang="en-US" altLang="zh-CN" sz="3000" b="1">
                <a:solidFill>
                  <a:schemeClr val="tx1"/>
                </a:solidFill>
                <a:latin typeface="黑体" panose="02010609060101010101" pitchFamily="49" charset="-122"/>
                <a:ea typeface="黑体" panose="02010609060101010101" pitchFamily="49" charset="-122"/>
              </a:rPr>
              <a:t>4.1</a:t>
            </a:r>
            <a:r>
              <a:rPr kumimoji="1" lang="zh-CN" altLang="en-US" sz="3000" b="1">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sp>
        <p:nvSpPr>
          <p:cNvPr id="2" name="矩形 1"/>
          <p:cNvSpPr/>
          <p:nvPr/>
        </p:nvSpPr>
        <p:spPr>
          <a:xfrm>
            <a:off x="6021039" y="3275205"/>
            <a:ext cx="2688022" cy="2088842"/>
          </a:xfrm>
          <a:prstGeom prst="rect">
            <a:avLst/>
          </a:prstGeom>
        </p:spPr>
        <p:txBody>
          <a:bodyPr wrap="square">
            <a:spAutoFit/>
          </a:bodyPr>
          <a:lstStyle/>
          <a:p>
            <a:pPr>
              <a:lnSpc>
                <a:spcPct val="110000"/>
              </a:lnSpc>
              <a:spcBef>
                <a:spcPts val="300"/>
              </a:spcBef>
              <a:buFont typeface="Wingdings" panose="05000000000000000000" pitchFamily="2" charset="2"/>
              <a:buChar char="n"/>
            </a:pPr>
            <a:r>
              <a:rPr lang="zh-CN" altLang="en-US" sz="2400" b="1" dirty="0">
                <a:solidFill>
                  <a:srgbClr val="C00000"/>
                </a:solidFill>
              </a:rPr>
              <a:t>数据库系统</a:t>
            </a:r>
            <a:r>
              <a:rPr lang="zh-CN" altLang="en-US" sz="2400" b="1" dirty="0"/>
              <a:t>是由数据库、软件、硬件、用户构成，</a:t>
            </a:r>
            <a:r>
              <a:rPr lang="zh-CN" altLang="en-US" sz="2400" b="1" dirty="0">
                <a:solidFill>
                  <a:srgbClr val="C00000"/>
                </a:solidFill>
              </a:rPr>
              <a:t>有时数据库系统也简称为数据库</a:t>
            </a:r>
            <a:r>
              <a:rPr lang="zh-CN" altLang="en-US" sz="2400" b="1" dirty="0"/>
              <a:t>。</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ChangeArrowheads="1"/>
          </p:cNvSpPr>
          <p:nvPr/>
        </p:nvSpPr>
        <p:spPr bwMode="auto">
          <a:xfrm>
            <a:off x="444017" y="2450242"/>
            <a:ext cx="8195485" cy="3154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34290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lnSpc>
                <a:spcPct val="110000"/>
              </a:lnSpc>
              <a:spcBef>
                <a:spcPts val="1200"/>
              </a:spcBef>
              <a:spcAft>
                <a:spcPts val="450"/>
              </a:spcAft>
              <a:buClr>
                <a:srgbClr val="C00000"/>
              </a:buClr>
              <a:buFont typeface="Wingdings" panose="05000000000000000000" pitchFamily="2" charset="2"/>
              <a:buChar char="n"/>
            </a:pPr>
            <a:r>
              <a:rPr lang="zh-CN" altLang="en-US" sz="2400" b="1" dirty="0">
                <a:solidFill>
                  <a:srgbClr val="030DCF"/>
                </a:solidFill>
              </a:rPr>
              <a:t>数据库管理系统（</a:t>
            </a:r>
            <a:r>
              <a:rPr lang="en-US" altLang="zh-CN" sz="2400" b="1" dirty="0">
                <a:solidFill>
                  <a:srgbClr val="030DCF"/>
                </a:solidFill>
              </a:rPr>
              <a:t>Data Base Management System</a:t>
            </a:r>
            <a:r>
              <a:rPr lang="zh-CN" altLang="en-US" sz="2400" b="1" dirty="0">
                <a:solidFill>
                  <a:srgbClr val="030DCF"/>
                </a:solidFill>
              </a:rPr>
              <a:t>，</a:t>
            </a:r>
            <a:r>
              <a:rPr lang="en-US" altLang="zh-CN" sz="2400" b="1" dirty="0">
                <a:solidFill>
                  <a:srgbClr val="030DCF"/>
                </a:solidFill>
              </a:rPr>
              <a:t>DBMS</a:t>
            </a:r>
            <a:r>
              <a:rPr lang="zh-CN" altLang="en-US" sz="2400" b="1" dirty="0">
                <a:solidFill>
                  <a:srgbClr val="030DCF"/>
                </a:solidFill>
              </a:rPr>
              <a:t>）</a:t>
            </a:r>
            <a:r>
              <a:rPr lang="zh-CN" altLang="en-US" sz="2400" b="1" dirty="0">
                <a:solidFill>
                  <a:schemeClr val="tx1"/>
                </a:solidFill>
              </a:rPr>
              <a:t>是为数据库的建立、使用和维护而配置的系统软件，是用户和数据库之间的一个接口，用户通过数据库管理系统定义和操纵数据库中的数据，并保证数据的安全性、完整性、并发操作以及故障发生后的系统恢复。</a:t>
            </a:r>
            <a:endParaRPr lang="en-US" altLang="zh-CN" sz="2400" b="1" dirty="0">
              <a:solidFill>
                <a:schemeClr val="tx1"/>
              </a:solidFill>
            </a:endParaRPr>
          </a:p>
          <a:p>
            <a:pPr algn="just">
              <a:lnSpc>
                <a:spcPct val="110000"/>
              </a:lnSpc>
              <a:spcBef>
                <a:spcPts val="1200"/>
              </a:spcBef>
              <a:spcAft>
                <a:spcPts val="450"/>
              </a:spcAft>
              <a:buClr>
                <a:srgbClr val="C00000"/>
              </a:buClr>
              <a:buFont typeface="Wingdings" panose="05000000000000000000" pitchFamily="2" charset="2"/>
              <a:buChar char="n"/>
            </a:pPr>
            <a:r>
              <a:rPr lang="zh-CN" altLang="en-US" sz="2400" b="1" dirty="0">
                <a:solidFill>
                  <a:schemeClr val="tx1"/>
                </a:solidFill>
              </a:rPr>
              <a:t>目前，流行的数据库管理系统有</a:t>
            </a:r>
            <a:r>
              <a:rPr lang="en-US" altLang="zh-CN" sz="2400" b="1" dirty="0">
                <a:solidFill>
                  <a:schemeClr val="tx1"/>
                </a:solidFill>
              </a:rPr>
              <a:t>MySQL</a:t>
            </a:r>
            <a:r>
              <a:rPr lang="zh-CN" altLang="en-US" sz="2400" b="1" dirty="0">
                <a:solidFill>
                  <a:schemeClr val="tx1"/>
                </a:solidFill>
              </a:rPr>
              <a:t>、</a:t>
            </a:r>
            <a:r>
              <a:rPr lang="en-US" altLang="zh-CN" sz="2400" b="1" dirty="0">
                <a:solidFill>
                  <a:schemeClr val="tx1"/>
                </a:solidFill>
              </a:rPr>
              <a:t>Oracle</a:t>
            </a:r>
            <a:r>
              <a:rPr lang="zh-CN" altLang="en-US" sz="2400" b="1" dirty="0">
                <a:solidFill>
                  <a:schemeClr val="tx1"/>
                </a:solidFill>
              </a:rPr>
              <a:t>、</a:t>
            </a:r>
            <a:r>
              <a:rPr lang="en-US" altLang="zh-CN" sz="2400" b="1" dirty="0">
                <a:solidFill>
                  <a:schemeClr val="tx1"/>
                </a:solidFill>
              </a:rPr>
              <a:t>SQL Server</a:t>
            </a:r>
            <a:r>
              <a:rPr lang="zh-CN" altLang="en-US" sz="2400" b="1" dirty="0">
                <a:solidFill>
                  <a:schemeClr val="tx1"/>
                </a:solidFill>
              </a:rPr>
              <a:t>、</a:t>
            </a:r>
            <a:r>
              <a:rPr lang="en-US" altLang="zh-CN" sz="2400" b="1" dirty="0">
                <a:solidFill>
                  <a:schemeClr val="tx1"/>
                </a:solidFill>
              </a:rPr>
              <a:t>Sybase</a:t>
            </a:r>
            <a:r>
              <a:rPr lang="zh-CN" altLang="en-US" sz="2400" b="1" dirty="0">
                <a:solidFill>
                  <a:schemeClr val="tx1"/>
                </a:solidFill>
              </a:rPr>
              <a:t>和</a:t>
            </a:r>
            <a:r>
              <a:rPr lang="en-US" altLang="zh-CN" sz="2400" b="1" dirty="0">
                <a:solidFill>
                  <a:schemeClr val="tx1"/>
                </a:solidFill>
              </a:rPr>
              <a:t>DB2</a:t>
            </a:r>
            <a:r>
              <a:rPr lang="zh-CN" altLang="en-US" sz="2400" b="1" dirty="0">
                <a:solidFill>
                  <a:schemeClr val="tx1"/>
                </a:solidFill>
              </a:rPr>
              <a:t>和</a:t>
            </a:r>
            <a:r>
              <a:rPr lang="en-US" altLang="zh-CN" sz="2400" b="1" dirty="0">
                <a:solidFill>
                  <a:schemeClr val="tx1"/>
                </a:solidFill>
              </a:rPr>
              <a:t>Access</a:t>
            </a:r>
            <a:r>
              <a:rPr lang="zh-CN" altLang="en-US" sz="2400" b="1" dirty="0">
                <a:solidFill>
                  <a:schemeClr val="tx1"/>
                </a:solidFill>
              </a:rPr>
              <a:t>等。</a:t>
            </a:r>
            <a:endParaRPr lang="zh-CN" altLang="en-US" sz="2400" b="1" dirty="0">
              <a:solidFill>
                <a:schemeClr val="tx1"/>
              </a:solidFill>
            </a:endParaRPr>
          </a:p>
        </p:txBody>
      </p:sp>
      <p:grpSp>
        <p:nvGrpSpPr>
          <p:cNvPr id="34819" name="Group 5"/>
          <p:cNvGrpSpPr/>
          <p:nvPr/>
        </p:nvGrpSpPr>
        <p:grpSpPr bwMode="auto">
          <a:xfrm>
            <a:off x="571551" y="1427262"/>
            <a:ext cx="6135291" cy="461963"/>
            <a:chOff x="242" y="3288"/>
            <a:chExt cx="5153" cy="388"/>
          </a:xfrm>
        </p:grpSpPr>
        <p:sp>
          <p:nvSpPr>
            <p:cNvPr id="34821" name="Rectangle 6"/>
            <p:cNvSpPr>
              <a:spLocks noChangeArrowheads="1"/>
            </p:cNvSpPr>
            <p:nvPr/>
          </p:nvSpPr>
          <p:spPr bwMode="auto">
            <a:xfrm>
              <a:off x="643" y="3288"/>
              <a:ext cx="4752"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2400" b="1" dirty="0">
                  <a:solidFill>
                    <a:schemeClr val="tx1"/>
                  </a:solidFill>
                  <a:latin typeface="Century Gothic" panose="020B0502020202020204" pitchFamily="34" charset="0"/>
                </a:rPr>
                <a:t>如何建立和使用数据库？</a:t>
              </a:r>
              <a:endParaRPr lang="zh-CN" altLang="en-US" sz="2400" b="1" dirty="0">
                <a:solidFill>
                  <a:schemeClr val="tx1"/>
                </a:solidFill>
                <a:latin typeface="Century Gothic" panose="020B0502020202020204" pitchFamily="34" charset="0"/>
              </a:endParaRPr>
            </a:p>
          </p:txBody>
        </p:sp>
        <p:graphicFrame>
          <p:nvGraphicFramePr>
            <p:cNvPr id="34822" name="Object 7"/>
            <p:cNvGraphicFramePr>
              <a:graphicFrameLocks noChangeAspect="1"/>
            </p:cNvGraphicFramePr>
            <p:nvPr/>
          </p:nvGraphicFramePr>
          <p:xfrm>
            <a:off x="242" y="3310"/>
            <a:ext cx="356" cy="350"/>
          </p:xfrm>
          <a:graphic>
            <a:graphicData uri="http://schemas.openxmlformats.org/presentationml/2006/ole">
              <mc:AlternateContent xmlns:mc="http://schemas.openxmlformats.org/markup-compatibility/2006">
                <mc:Choice xmlns:v="urn:schemas-microsoft-com:vml" Requires="v">
                  <p:oleObj spid="_x0000_s2072" name="Clip" r:id="rId1" imgW="861060" imgH="845185" progId="MS_ClipArt_Gallery.5">
                    <p:embed/>
                  </p:oleObj>
                </mc:Choice>
                <mc:Fallback>
                  <p:oleObj name="Clip" r:id="rId1" imgW="861060" imgH="845185" progId="MS_ClipArt_Gallery.5">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 y="3310"/>
                          <a:ext cx="356"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 name="标题 1"/>
          <p:cNvSpPr txBox="1"/>
          <p:nvPr/>
        </p:nvSpPr>
        <p:spPr bwMode="auto">
          <a:xfrm>
            <a:off x="444018" y="306131"/>
            <a:ext cx="6032344" cy="56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lnSpc>
                <a:spcPct val="160000"/>
              </a:lnSpc>
            </a:pPr>
            <a:r>
              <a:rPr kumimoji="1" lang="en-US" altLang="zh-CN" sz="3000" b="1">
                <a:solidFill>
                  <a:schemeClr val="tx1"/>
                </a:solidFill>
                <a:latin typeface="黑体" panose="02010609060101010101" pitchFamily="49" charset="-122"/>
                <a:ea typeface="黑体" panose="02010609060101010101" pitchFamily="49" charset="-122"/>
              </a:rPr>
              <a:t>4.1</a:t>
            </a:r>
            <a:r>
              <a:rPr kumimoji="1" lang="zh-CN" altLang="en-US" sz="3000" b="1">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ChangeArrowheads="1"/>
          </p:cNvSpPr>
          <p:nvPr/>
        </p:nvSpPr>
        <p:spPr bwMode="auto">
          <a:xfrm>
            <a:off x="468934" y="1912002"/>
            <a:ext cx="811029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ts val="900"/>
              </a:spcBef>
              <a:buClrTx/>
              <a:buNone/>
            </a:pPr>
            <a:r>
              <a:rPr lang="zh-CN" altLang="en-US" sz="2000" b="1" dirty="0">
                <a:solidFill>
                  <a:schemeClr val="tx1"/>
                </a:solidFill>
              </a:rPr>
              <a:t>（</a:t>
            </a:r>
            <a:r>
              <a:rPr lang="en-US" altLang="zh-CN" sz="2000" b="1" dirty="0">
                <a:solidFill>
                  <a:schemeClr val="tx1"/>
                </a:solidFill>
              </a:rPr>
              <a:t>1</a:t>
            </a:r>
            <a:r>
              <a:rPr lang="zh-CN" altLang="en-US" sz="2000" b="1" dirty="0">
                <a:solidFill>
                  <a:schemeClr val="tx1"/>
                </a:solidFill>
              </a:rPr>
              <a:t>）</a:t>
            </a:r>
            <a:r>
              <a:rPr lang="zh-CN" altLang="en-US" sz="2000" b="1" dirty="0">
                <a:solidFill>
                  <a:srgbClr val="030DCF"/>
                </a:solidFill>
              </a:rPr>
              <a:t>数据定义</a:t>
            </a:r>
            <a:r>
              <a:rPr lang="zh-CN" altLang="en-US" sz="2000" b="1" dirty="0">
                <a:solidFill>
                  <a:schemeClr val="tx1"/>
                </a:solidFill>
              </a:rPr>
              <a:t>。提供数据定义语言</a:t>
            </a:r>
            <a:r>
              <a:rPr lang="en-US" altLang="zh-CN" sz="2000" b="1" dirty="0">
                <a:solidFill>
                  <a:schemeClr val="tx1"/>
                </a:solidFill>
              </a:rPr>
              <a:t>DDL</a:t>
            </a:r>
            <a:r>
              <a:rPr lang="zh-CN" altLang="en-US" sz="2000" b="1" dirty="0">
                <a:solidFill>
                  <a:schemeClr val="tx1"/>
                </a:solidFill>
              </a:rPr>
              <a:t>对数据库的数据模型进行定义，能够对数据库的完整性、安全性和保密性进行定义。</a:t>
            </a:r>
            <a:endParaRPr lang="zh-CN" altLang="en-US" sz="2000" b="1" dirty="0">
              <a:solidFill>
                <a:schemeClr val="tx1"/>
              </a:solidFill>
            </a:endParaRPr>
          </a:p>
          <a:p>
            <a:pPr algn="just">
              <a:spcBef>
                <a:spcPts val="900"/>
              </a:spcBef>
              <a:buClrTx/>
              <a:buNone/>
            </a:pPr>
            <a:r>
              <a:rPr lang="zh-CN" altLang="en-US" sz="2000" b="1" dirty="0">
                <a:solidFill>
                  <a:schemeClr val="tx1"/>
                </a:solidFill>
              </a:rPr>
              <a:t>（</a:t>
            </a:r>
            <a:r>
              <a:rPr lang="en-US" altLang="zh-CN" sz="2000" b="1" dirty="0">
                <a:solidFill>
                  <a:schemeClr val="tx1"/>
                </a:solidFill>
              </a:rPr>
              <a:t>2</a:t>
            </a:r>
            <a:r>
              <a:rPr lang="zh-CN" altLang="en-US" sz="2000" b="1" dirty="0">
                <a:solidFill>
                  <a:schemeClr val="tx1"/>
                </a:solidFill>
              </a:rPr>
              <a:t>）</a:t>
            </a:r>
            <a:r>
              <a:rPr lang="zh-CN" altLang="en-US" sz="2000" b="1" dirty="0">
                <a:solidFill>
                  <a:srgbClr val="030DCF"/>
                </a:solidFill>
              </a:rPr>
              <a:t>数据操纵</a:t>
            </a:r>
            <a:r>
              <a:rPr lang="zh-CN" altLang="en-US" sz="2000" b="1" dirty="0">
                <a:solidFill>
                  <a:schemeClr val="tx1"/>
                </a:solidFill>
              </a:rPr>
              <a:t>。通过数据操纵语言</a:t>
            </a:r>
            <a:r>
              <a:rPr lang="en-US" altLang="zh-CN" sz="2000" b="1" dirty="0">
                <a:solidFill>
                  <a:schemeClr val="tx1"/>
                </a:solidFill>
              </a:rPr>
              <a:t>DML</a:t>
            </a:r>
            <a:r>
              <a:rPr lang="zh-CN" altLang="en-US" sz="2000" b="1" dirty="0">
                <a:solidFill>
                  <a:schemeClr val="tx1"/>
                </a:solidFill>
              </a:rPr>
              <a:t>提供操作接口，通过使得用户能够方便地对数据进行增加、删除、修改、查询、统计和打印等各种操作。</a:t>
            </a:r>
            <a:endParaRPr lang="zh-CN" altLang="en-US" sz="2000" b="1" dirty="0">
              <a:solidFill>
                <a:schemeClr val="tx1"/>
              </a:solidFill>
            </a:endParaRPr>
          </a:p>
          <a:p>
            <a:pPr algn="just">
              <a:spcBef>
                <a:spcPts val="900"/>
              </a:spcBef>
              <a:buClrTx/>
              <a:buNone/>
            </a:pPr>
            <a:r>
              <a:rPr lang="zh-CN" altLang="en-US" sz="2000" b="1" dirty="0">
                <a:solidFill>
                  <a:schemeClr val="tx1"/>
                </a:solidFill>
              </a:rPr>
              <a:t>（</a:t>
            </a:r>
            <a:r>
              <a:rPr lang="en-US" altLang="zh-CN" sz="2000" b="1" dirty="0">
                <a:solidFill>
                  <a:schemeClr val="tx1"/>
                </a:solidFill>
              </a:rPr>
              <a:t>3</a:t>
            </a:r>
            <a:r>
              <a:rPr lang="zh-CN" altLang="en-US" sz="2000" b="1" dirty="0">
                <a:solidFill>
                  <a:schemeClr val="tx1"/>
                </a:solidFill>
              </a:rPr>
              <a:t>）</a:t>
            </a:r>
            <a:r>
              <a:rPr lang="zh-CN" altLang="en-US" sz="2000" b="1" dirty="0">
                <a:solidFill>
                  <a:srgbClr val="030DCF"/>
                </a:solidFill>
              </a:rPr>
              <a:t>数据库控制</a:t>
            </a:r>
            <a:r>
              <a:rPr lang="zh-CN" altLang="en-US" sz="2000" b="1" dirty="0">
                <a:solidFill>
                  <a:schemeClr val="tx1"/>
                </a:solidFill>
              </a:rPr>
              <a:t>。通过数据控制语言</a:t>
            </a:r>
            <a:r>
              <a:rPr lang="en-US" altLang="zh-CN" sz="2000" b="1" dirty="0">
                <a:solidFill>
                  <a:schemeClr val="tx1"/>
                </a:solidFill>
              </a:rPr>
              <a:t>DCL</a:t>
            </a:r>
            <a:r>
              <a:rPr lang="zh-CN" altLang="en-US" sz="2000" b="1" dirty="0">
                <a:solidFill>
                  <a:schemeClr val="tx1"/>
                </a:solidFill>
              </a:rPr>
              <a:t>实现数据库的统一管理、统一控制，保证数据库的安全性、完整性、多用户对数据的并发使用及故障恢复。</a:t>
            </a:r>
            <a:endParaRPr lang="zh-CN" altLang="en-US" sz="2000" b="1" dirty="0">
              <a:solidFill>
                <a:schemeClr val="tx1"/>
              </a:solidFill>
            </a:endParaRPr>
          </a:p>
          <a:p>
            <a:pPr algn="just">
              <a:spcBef>
                <a:spcPts val="900"/>
              </a:spcBef>
              <a:buClrTx/>
              <a:buNone/>
            </a:pPr>
            <a:r>
              <a:rPr lang="zh-CN" altLang="en-US" sz="2000" b="1" dirty="0">
                <a:solidFill>
                  <a:schemeClr val="tx1"/>
                </a:solidFill>
              </a:rPr>
              <a:t>（</a:t>
            </a:r>
            <a:r>
              <a:rPr lang="en-US" altLang="zh-CN" sz="2000" b="1" dirty="0">
                <a:solidFill>
                  <a:schemeClr val="tx1"/>
                </a:solidFill>
              </a:rPr>
              <a:t>4</a:t>
            </a:r>
            <a:r>
              <a:rPr lang="zh-CN" altLang="en-US" sz="2000" b="1" dirty="0">
                <a:solidFill>
                  <a:schemeClr val="tx1"/>
                </a:solidFill>
              </a:rPr>
              <a:t>）</a:t>
            </a:r>
            <a:r>
              <a:rPr lang="zh-CN" altLang="en-US" sz="2000" b="1" dirty="0">
                <a:solidFill>
                  <a:srgbClr val="030DCF"/>
                </a:solidFill>
              </a:rPr>
              <a:t>数据组织、存储和管理</a:t>
            </a:r>
            <a:r>
              <a:rPr lang="zh-CN" altLang="en-US" sz="2000" b="1" dirty="0">
                <a:solidFill>
                  <a:schemeClr val="tx1"/>
                </a:solidFill>
              </a:rPr>
              <a:t>。分类组织、存储、管理各类数据，确定数据在存储级别上的结构和存取方式，实现数据之间的联系。</a:t>
            </a:r>
            <a:endParaRPr lang="zh-CN" altLang="en-US" sz="2000" b="1" dirty="0">
              <a:solidFill>
                <a:schemeClr val="tx1"/>
              </a:solidFill>
            </a:endParaRPr>
          </a:p>
          <a:p>
            <a:pPr algn="just">
              <a:spcBef>
                <a:spcPts val="900"/>
              </a:spcBef>
              <a:buClrTx/>
              <a:buNone/>
            </a:pPr>
            <a:r>
              <a:rPr lang="zh-CN" altLang="en-US" sz="2000" b="1" dirty="0">
                <a:solidFill>
                  <a:schemeClr val="tx1"/>
                </a:solidFill>
              </a:rPr>
              <a:t>（</a:t>
            </a:r>
            <a:r>
              <a:rPr lang="en-US" altLang="zh-CN" sz="2000" b="1" dirty="0">
                <a:solidFill>
                  <a:schemeClr val="tx1"/>
                </a:solidFill>
              </a:rPr>
              <a:t>5</a:t>
            </a:r>
            <a:r>
              <a:rPr lang="zh-CN" altLang="en-US" sz="2000" b="1" dirty="0">
                <a:solidFill>
                  <a:schemeClr val="tx1"/>
                </a:solidFill>
              </a:rPr>
              <a:t>）</a:t>
            </a:r>
            <a:r>
              <a:rPr lang="zh-CN" altLang="en-US" sz="2000" b="1" dirty="0">
                <a:solidFill>
                  <a:srgbClr val="030DCF"/>
                </a:solidFill>
              </a:rPr>
              <a:t>其他功能</a:t>
            </a:r>
            <a:r>
              <a:rPr lang="zh-CN" altLang="en-US" sz="2000" b="1" dirty="0">
                <a:solidFill>
                  <a:schemeClr val="tx1"/>
                </a:solidFill>
              </a:rPr>
              <a:t>。为了扩大数据库的应用，数据库管理系统还应提供与其他类型数据库之间的格式转换以及网络通信等功能。</a:t>
            </a:r>
            <a:endParaRPr lang="zh-CN" altLang="en-US" sz="2000" b="1" dirty="0">
              <a:solidFill>
                <a:schemeClr val="tx1"/>
              </a:solidFill>
            </a:endParaRPr>
          </a:p>
        </p:txBody>
      </p:sp>
      <p:sp>
        <p:nvSpPr>
          <p:cNvPr id="36867" name="Text Box 4"/>
          <p:cNvSpPr txBox="1">
            <a:spLocks noChangeArrowheads="1"/>
          </p:cNvSpPr>
          <p:nvPr/>
        </p:nvSpPr>
        <p:spPr bwMode="auto">
          <a:xfrm>
            <a:off x="468932" y="1270680"/>
            <a:ext cx="311348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50000"/>
              </a:spcBef>
              <a:buClrTx/>
              <a:buFontTx/>
              <a:buNone/>
            </a:pPr>
            <a:r>
              <a:rPr lang="en-US" altLang="zh-CN" sz="2200" b="1" dirty="0">
                <a:solidFill>
                  <a:schemeClr val="tx1"/>
                </a:solidFill>
              </a:rPr>
              <a:t>DBMS</a:t>
            </a:r>
            <a:r>
              <a:rPr lang="zh-CN" altLang="en-US" sz="2200" b="1" dirty="0">
                <a:solidFill>
                  <a:schemeClr val="tx1"/>
                </a:solidFill>
              </a:rPr>
              <a:t>的基本功能</a:t>
            </a:r>
            <a:endParaRPr lang="zh-CN" altLang="en-US" sz="2200" b="1" dirty="0">
              <a:solidFill>
                <a:schemeClr val="tx1"/>
              </a:solidFill>
            </a:endParaRPr>
          </a:p>
        </p:txBody>
      </p:sp>
      <p:sp>
        <p:nvSpPr>
          <p:cNvPr id="8" name="标题 1"/>
          <p:cNvSpPr>
            <a:spLocks noGrp="1"/>
          </p:cNvSpPr>
          <p:nvPr>
            <p:ph type="title"/>
          </p:nvPr>
        </p:nvSpPr>
        <p:spPr>
          <a:xfrm>
            <a:off x="444018" y="306131"/>
            <a:ext cx="6032344" cy="567258"/>
          </a:xfrm>
        </p:spPr>
        <p:txBody>
          <a:bodyPr/>
          <a:lstStyle/>
          <a:p>
            <a:pPr>
              <a:lnSpc>
                <a:spcPct val="160000"/>
              </a:lnSpc>
            </a:pPr>
            <a:r>
              <a:rPr kumimoji="1" lang="en-US" altLang="zh-CN" sz="3000" b="1" dirty="0">
                <a:solidFill>
                  <a:schemeClr val="tx1"/>
                </a:solidFill>
                <a:latin typeface="黑体" panose="02010609060101010101" pitchFamily="49" charset="-122"/>
                <a:ea typeface="黑体" panose="02010609060101010101" pitchFamily="49" charset="-122"/>
              </a:rPr>
              <a:t>4.1</a:t>
            </a:r>
            <a:r>
              <a:rPr kumimoji="1" lang="zh-CN" altLang="en-US" sz="3000" b="1" dirty="0">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ChangeArrowheads="1"/>
          </p:cNvSpPr>
          <p:nvPr/>
        </p:nvSpPr>
        <p:spPr bwMode="auto">
          <a:xfrm>
            <a:off x="2603598" y="1476851"/>
            <a:ext cx="5948478" cy="346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lnSpc>
                <a:spcPct val="110000"/>
              </a:lnSpc>
              <a:spcBef>
                <a:spcPts val="450"/>
              </a:spcBef>
              <a:buClr>
                <a:schemeClr val="folHlink"/>
              </a:buClr>
              <a:buSzPct val="60000"/>
              <a:buNone/>
            </a:pPr>
            <a:r>
              <a:rPr lang="zh-CN" altLang="en-US" sz="2400" b="1" dirty="0">
                <a:solidFill>
                  <a:schemeClr val="tx1"/>
                </a:solidFill>
              </a:rPr>
              <a:t>用户对数据库的操作过程是：</a:t>
            </a:r>
            <a:endParaRPr lang="zh-CN" altLang="en-US" sz="2400" b="1" dirty="0">
              <a:solidFill>
                <a:schemeClr val="tx1"/>
              </a:solidFill>
            </a:endParaRPr>
          </a:p>
          <a:p>
            <a:pPr algn="just">
              <a:lnSpc>
                <a:spcPct val="110000"/>
              </a:lnSpc>
              <a:spcBef>
                <a:spcPts val="450"/>
              </a:spcBef>
              <a:buClr>
                <a:schemeClr val="folHlink"/>
              </a:buClr>
              <a:buSzPct val="60000"/>
              <a:buNone/>
            </a:pPr>
            <a:r>
              <a:rPr lang="zh-CN" altLang="en-US" sz="2000" b="1" dirty="0">
                <a:solidFill>
                  <a:schemeClr val="tx1"/>
                </a:solidFill>
              </a:rPr>
              <a:t>（</a:t>
            </a:r>
            <a:r>
              <a:rPr lang="en-US" altLang="zh-CN" sz="2000" b="1" dirty="0">
                <a:solidFill>
                  <a:schemeClr val="tx1"/>
                </a:solidFill>
              </a:rPr>
              <a:t>1</a:t>
            </a:r>
            <a:r>
              <a:rPr lang="zh-CN" altLang="en-US" sz="2000" b="1" dirty="0">
                <a:solidFill>
                  <a:schemeClr val="tx1"/>
                </a:solidFill>
              </a:rPr>
              <a:t>）用户（通过应用程序）向</a:t>
            </a:r>
            <a:r>
              <a:rPr lang="en-US" altLang="zh-CN" sz="2000" b="1" dirty="0">
                <a:solidFill>
                  <a:schemeClr val="tx1"/>
                </a:solidFill>
              </a:rPr>
              <a:t>DBMS</a:t>
            </a:r>
            <a:r>
              <a:rPr lang="zh-CN" altLang="en-US" sz="2000" b="1" dirty="0">
                <a:solidFill>
                  <a:schemeClr val="tx1"/>
                </a:solidFill>
              </a:rPr>
              <a:t>提出操作请求并提交必要的参数，控制转入</a:t>
            </a:r>
            <a:r>
              <a:rPr lang="en-US" altLang="zh-CN" sz="2000" b="1" dirty="0">
                <a:solidFill>
                  <a:schemeClr val="tx1"/>
                </a:solidFill>
              </a:rPr>
              <a:t>DBMS;</a:t>
            </a:r>
            <a:endParaRPr lang="zh-CN" altLang="en-US" sz="2000" b="1" dirty="0">
              <a:solidFill>
                <a:schemeClr val="tx1"/>
              </a:solidFill>
            </a:endParaRPr>
          </a:p>
          <a:p>
            <a:pPr algn="just">
              <a:lnSpc>
                <a:spcPct val="110000"/>
              </a:lnSpc>
              <a:spcBef>
                <a:spcPts val="450"/>
              </a:spcBef>
              <a:buClr>
                <a:schemeClr val="folHlink"/>
              </a:buClr>
              <a:buSzPct val="60000"/>
              <a:buNone/>
            </a:pPr>
            <a:r>
              <a:rPr lang="zh-CN" altLang="en-US" sz="2000" b="1" dirty="0">
                <a:solidFill>
                  <a:schemeClr val="tx1"/>
                </a:solidFill>
              </a:rPr>
              <a:t>（</a:t>
            </a:r>
            <a:r>
              <a:rPr lang="en-US" altLang="zh-CN" sz="2000" b="1" dirty="0">
                <a:solidFill>
                  <a:schemeClr val="tx1"/>
                </a:solidFill>
              </a:rPr>
              <a:t>2</a:t>
            </a:r>
            <a:r>
              <a:rPr lang="zh-CN" altLang="en-US" sz="2000" b="1" dirty="0">
                <a:solidFill>
                  <a:schemeClr val="tx1"/>
                </a:solidFill>
              </a:rPr>
              <a:t>）</a:t>
            </a:r>
            <a:r>
              <a:rPr lang="en-US" altLang="zh-CN" sz="2000" b="1" dirty="0">
                <a:solidFill>
                  <a:schemeClr val="tx1"/>
                </a:solidFill>
              </a:rPr>
              <a:t>DBMS</a:t>
            </a:r>
            <a:r>
              <a:rPr lang="zh-CN" altLang="en-US" sz="2000" b="1" dirty="0">
                <a:solidFill>
                  <a:schemeClr val="tx1"/>
                </a:solidFill>
              </a:rPr>
              <a:t>分析用户提交的命令和参数向操作系统发出相应的执行命令，控制转移到操作系统；</a:t>
            </a:r>
            <a:endParaRPr lang="zh-CN" altLang="en-US" sz="2000" b="1" dirty="0">
              <a:solidFill>
                <a:schemeClr val="tx1"/>
              </a:solidFill>
            </a:endParaRPr>
          </a:p>
          <a:p>
            <a:pPr algn="just">
              <a:lnSpc>
                <a:spcPct val="110000"/>
              </a:lnSpc>
              <a:spcBef>
                <a:spcPts val="450"/>
              </a:spcBef>
              <a:buClr>
                <a:schemeClr val="folHlink"/>
              </a:buClr>
              <a:buSzPct val="60000"/>
              <a:buNone/>
            </a:pPr>
            <a:r>
              <a:rPr lang="zh-CN" altLang="en-US" sz="2000" b="1" dirty="0">
                <a:solidFill>
                  <a:schemeClr val="tx1"/>
                </a:solidFill>
              </a:rPr>
              <a:t>（</a:t>
            </a:r>
            <a:r>
              <a:rPr lang="en-US" altLang="zh-CN" sz="2000" b="1" dirty="0">
                <a:solidFill>
                  <a:schemeClr val="tx1"/>
                </a:solidFill>
              </a:rPr>
              <a:t>3</a:t>
            </a:r>
            <a:r>
              <a:rPr lang="zh-CN" altLang="en-US" sz="2000" b="1" dirty="0">
                <a:solidFill>
                  <a:schemeClr val="tx1"/>
                </a:solidFill>
              </a:rPr>
              <a:t>）操作系统分析命令参数，在数据库上实现具体的操作，将操作结果送入系统缓冲区，控制返回给</a:t>
            </a:r>
            <a:r>
              <a:rPr lang="en-US" altLang="zh-CN" sz="2000" b="1" dirty="0">
                <a:solidFill>
                  <a:schemeClr val="tx1"/>
                </a:solidFill>
              </a:rPr>
              <a:t>DBMS</a:t>
            </a:r>
            <a:r>
              <a:rPr lang="zh-CN" altLang="en-US" sz="2000" b="1" dirty="0">
                <a:solidFill>
                  <a:schemeClr val="tx1"/>
                </a:solidFill>
              </a:rPr>
              <a:t>；</a:t>
            </a:r>
            <a:endParaRPr lang="zh-CN" altLang="en-US" sz="2000" b="1" dirty="0">
              <a:solidFill>
                <a:schemeClr val="tx1"/>
              </a:solidFill>
            </a:endParaRPr>
          </a:p>
          <a:p>
            <a:pPr algn="just">
              <a:lnSpc>
                <a:spcPct val="110000"/>
              </a:lnSpc>
              <a:spcBef>
                <a:spcPts val="450"/>
              </a:spcBef>
              <a:buClr>
                <a:schemeClr val="folHlink"/>
              </a:buClr>
              <a:buSzPct val="60000"/>
              <a:buNone/>
            </a:pPr>
            <a:r>
              <a:rPr lang="zh-CN" altLang="en-US" sz="2000" b="1" dirty="0">
                <a:solidFill>
                  <a:schemeClr val="tx1"/>
                </a:solidFill>
              </a:rPr>
              <a:t>（</a:t>
            </a:r>
            <a:r>
              <a:rPr lang="en-US" altLang="zh-CN" sz="2000" b="1" dirty="0">
                <a:solidFill>
                  <a:schemeClr val="tx1"/>
                </a:solidFill>
              </a:rPr>
              <a:t>4</a:t>
            </a:r>
            <a:r>
              <a:rPr lang="zh-CN" altLang="en-US" sz="2000" b="1" dirty="0">
                <a:solidFill>
                  <a:schemeClr val="tx1"/>
                </a:solidFill>
              </a:rPr>
              <a:t>）</a:t>
            </a:r>
            <a:r>
              <a:rPr lang="en-US" altLang="zh-CN" sz="2000" b="1" dirty="0">
                <a:solidFill>
                  <a:schemeClr val="tx1"/>
                </a:solidFill>
              </a:rPr>
              <a:t>DBMS</a:t>
            </a:r>
            <a:r>
              <a:rPr lang="zh-CN" altLang="en-US" sz="2000" b="1" dirty="0">
                <a:solidFill>
                  <a:schemeClr val="tx1"/>
                </a:solidFill>
              </a:rPr>
              <a:t>将系统缓冲区中的数据取出呈现给用户。</a:t>
            </a:r>
            <a:r>
              <a:rPr lang="zh-CN" altLang="en-US" sz="2000" dirty="0">
                <a:solidFill>
                  <a:schemeClr val="tx1"/>
                </a:solidFill>
              </a:rPr>
              <a:t> </a:t>
            </a:r>
            <a:endParaRPr lang="zh-CN" altLang="en-US" sz="2000" dirty="0">
              <a:solidFill>
                <a:schemeClr val="tx1"/>
              </a:solidFill>
            </a:endParaRPr>
          </a:p>
        </p:txBody>
      </p:sp>
      <p:pic>
        <p:nvPicPr>
          <p:cNvPr id="37891"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4964" y="1630834"/>
            <a:ext cx="2351534" cy="3108690"/>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7892" name="Oval 9"/>
          <p:cNvSpPr>
            <a:spLocks noChangeArrowheads="1"/>
          </p:cNvSpPr>
          <p:nvPr/>
        </p:nvSpPr>
        <p:spPr bwMode="auto">
          <a:xfrm>
            <a:off x="381587" y="2959586"/>
            <a:ext cx="1878806" cy="418809"/>
          </a:xfrm>
          <a:prstGeom prst="ellipse">
            <a:avLst/>
          </a:prstGeom>
          <a:solidFill>
            <a:schemeClr val="accent1">
              <a:alpha val="0"/>
            </a:schemeClr>
          </a:solidFill>
          <a:ln w="28575">
            <a:solidFill>
              <a:schemeClr val="folHlink"/>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en-US" sz="1350">
              <a:solidFill>
                <a:schemeClr val="tx1"/>
              </a:solidFill>
              <a:latin typeface="Century Gothic" panose="020B0502020202020204" pitchFamily="34" charset="0"/>
            </a:endParaRPr>
          </a:p>
        </p:txBody>
      </p:sp>
      <p:sp>
        <p:nvSpPr>
          <p:cNvPr id="9" name="标题 1"/>
          <p:cNvSpPr>
            <a:spLocks noGrp="1"/>
          </p:cNvSpPr>
          <p:nvPr>
            <p:ph type="title"/>
          </p:nvPr>
        </p:nvSpPr>
        <p:spPr>
          <a:xfrm>
            <a:off x="444018" y="306131"/>
            <a:ext cx="6032344" cy="567258"/>
          </a:xfrm>
        </p:spPr>
        <p:txBody>
          <a:bodyPr/>
          <a:lstStyle/>
          <a:p>
            <a:pPr>
              <a:lnSpc>
                <a:spcPct val="160000"/>
              </a:lnSpc>
            </a:pPr>
            <a:r>
              <a:rPr kumimoji="1" lang="en-US" altLang="zh-CN" sz="3000" b="1" dirty="0">
                <a:solidFill>
                  <a:schemeClr val="tx1"/>
                </a:solidFill>
                <a:latin typeface="黑体" panose="02010609060101010101" pitchFamily="49" charset="-122"/>
                <a:ea typeface="黑体" panose="02010609060101010101" pitchFamily="49" charset="-122"/>
              </a:rPr>
              <a:t>4.1</a:t>
            </a:r>
            <a:r>
              <a:rPr kumimoji="1" lang="zh-CN" altLang="en-US" sz="3000" b="1" dirty="0">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pic>
        <p:nvPicPr>
          <p:cNvPr id="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3665" y="5083633"/>
            <a:ext cx="3682602" cy="1074588"/>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pic>
      <p:sp>
        <p:nvSpPr>
          <p:cNvPr id="2" name="矩形 1"/>
          <p:cNvSpPr/>
          <p:nvPr/>
        </p:nvSpPr>
        <p:spPr>
          <a:xfrm>
            <a:off x="991876" y="6245817"/>
            <a:ext cx="6351244" cy="430887"/>
          </a:xfrm>
          <a:prstGeom prst="rect">
            <a:avLst/>
          </a:prstGeom>
        </p:spPr>
        <p:txBody>
          <a:bodyPr wrap="square">
            <a:spAutoFit/>
          </a:bodyPr>
          <a:lstStyle/>
          <a:p>
            <a:r>
              <a:rPr lang="zh-CN" altLang="en-US" sz="2200" b="1" dirty="0"/>
              <a:t>从</a:t>
            </a:r>
            <a:r>
              <a:rPr lang="en-US" altLang="zh-CN" sz="2200" b="1" dirty="0"/>
              <a:t>student</a:t>
            </a:r>
            <a:r>
              <a:rPr lang="zh-CN" altLang="en-US" sz="2200" b="1" dirty="0"/>
              <a:t>数据表中查找</a:t>
            </a:r>
            <a:r>
              <a:rPr lang="en-US" altLang="zh-CN" sz="2200" b="1" dirty="0"/>
              <a:t>080401</a:t>
            </a:r>
            <a:r>
              <a:rPr lang="zh-CN" altLang="en-US" sz="2200" b="1" dirty="0"/>
              <a:t>班级的所有学生</a:t>
            </a:r>
            <a:endParaRPr lang="zh-CN" altLang="en-US" sz="2200"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4"/>
          <p:cNvSpPr txBox="1">
            <a:spLocks noChangeArrowheads="1"/>
          </p:cNvSpPr>
          <p:nvPr/>
        </p:nvSpPr>
        <p:spPr bwMode="auto">
          <a:xfrm>
            <a:off x="461192" y="1386459"/>
            <a:ext cx="8070967" cy="1626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lnSpc>
                <a:spcPct val="110000"/>
              </a:lnSpc>
              <a:spcBef>
                <a:spcPts val="900"/>
              </a:spcBef>
              <a:spcAft>
                <a:spcPts val="450"/>
              </a:spcAft>
              <a:buClr>
                <a:srgbClr val="C00000"/>
              </a:buClr>
              <a:buFont typeface="Wingdings" panose="05000000000000000000" pitchFamily="2" charset="2"/>
              <a:buChar char="n"/>
            </a:pPr>
            <a:r>
              <a:rPr lang="zh-CN" altLang="en-US" sz="2000" b="1" dirty="0">
                <a:solidFill>
                  <a:schemeClr val="tx1"/>
                </a:solidFill>
              </a:rPr>
              <a:t>结构化查询语言</a:t>
            </a:r>
            <a:r>
              <a:rPr lang="en-US" altLang="zh-CN" sz="2000" b="1" dirty="0">
                <a:solidFill>
                  <a:schemeClr val="tx1"/>
                </a:solidFill>
              </a:rPr>
              <a:t>SQL</a:t>
            </a:r>
            <a:r>
              <a:rPr lang="zh-CN" altLang="en-US" sz="2000" b="1" dirty="0">
                <a:solidFill>
                  <a:schemeClr val="tx1"/>
                </a:solidFill>
              </a:rPr>
              <a:t>，是一种通用的国际标准数据库语言，用户可以使用</a:t>
            </a:r>
            <a:r>
              <a:rPr lang="en-US" altLang="zh-CN" sz="2000" b="1" dirty="0">
                <a:solidFill>
                  <a:schemeClr val="tx1"/>
                </a:solidFill>
              </a:rPr>
              <a:t>SQL</a:t>
            </a:r>
            <a:r>
              <a:rPr lang="zh-CN" altLang="en-US" sz="2000" b="1" dirty="0">
                <a:solidFill>
                  <a:schemeClr val="tx1"/>
                </a:solidFill>
              </a:rPr>
              <a:t>语言对来自各种不同厂商的数据库进行操作。</a:t>
            </a:r>
            <a:endParaRPr lang="en-US" altLang="zh-CN" sz="2000" b="1" dirty="0">
              <a:solidFill>
                <a:schemeClr val="tx1"/>
              </a:solidFill>
            </a:endParaRPr>
          </a:p>
          <a:p>
            <a:pPr algn="just">
              <a:lnSpc>
                <a:spcPct val="110000"/>
              </a:lnSpc>
              <a:spcBef>
                <a:spcPts val="900"/>
              </a:spcBef>
              <a:spcAft>
                <a:spcPts val="450"/>
              </a:spcAft>
              <a:buClr>
                <a:srgbClr val="C00000"/>
              </a:buClr>
              <a:buFont typeface="Wingdings" panose="05000000000000000000" pitchFamily="2" charset="2"/>
              <a:buChar char="n"/>
            </a:pPr>
            <a:r>
              <a:rPr lang="en-US" altLang="zh-CN" sz="2000" b="1" dirty="0">
                <a:solidFill>
                  <a:schemeClr val="tx1"/>
                </a:solidFill>
                <a:latin typeface="+mn-ea"/>
              </a:rPr>
              <a:t>SQL</a:t>
            </a:r>
            <a:r>
              <a:rPr lang="zh-CN" altLang="en-US" sz="2000" b="1" dirty="0">
                <a:solidFill>
                  <a:schemeClr val="tx1"/>
                </a:solidFill>
                <a:latin typeface="+mn-ea"/>
              </a:rPr>
              <a:t>语言包括四种主要程序设计语言类别的语句：数据定义语言</a:t>
            </a:r>
            <a:r>
              <a:rPr lang="en-US" altLang="zh-CN" sz="2000" b="1" dirty="0">
                <a:solidFill>
                  <a:schemeClr val="tx1"/>
                </a:solidFill>
                <a:latin typeface="+mn-ea"/>
              </a:rPr>
              <a:t>(DDL)</a:t>
            </a:r>
            <a:r>
              <a:rPr lang="zh-CN" altLang="en-US" sz="2000" b="1" dirty="0">
                <a:solidFill>
                  <a:schemeClr val="tx1"/>
                </a:solidFill>
                <a:latin typeface="+mn-ea"/>
              </a:rPr>
              <a:t>，数据操作语言</a:t>
            </a:r>
            <a:r>
              <a:rPr lang="en-US" altLang="zh-CN" sz="2000" b="1" dirty="0">
                <a:solidFill>
                  <a:schemeClr val="tx1"/>
                </a:solidFill>
                <a:latin typeface="+mn-ea"/>
              </a:rPr>
              <a:t>(DML)</a:t>
            </a:r>
            <a:r>
              <a:rPr lang="zh-CN" altLang="en-US" sz="2000" b="1" dirty="0">
                <a:solidFill>
                  <a:schemeClr val="tx1"/>
                </a:solidFill>
                <a:latin typeface="+mn-ea"/>
              </a:rPr>
              <a:t>，数据控制语言</a:t>
            </a:r>
            <a:r>
              <a:rPr lang="en-US" altLang="zh-CN" sz="2000" b="1" dirty="0">
                <a:solidFill>
                  <a:schemeClr val="tx1"/>
                </a:solidFill>
                <a:latin typeface="+mn-ea"/>
              </a:rPr>
              <a:t>(DCL)</a:t>
            </a:r>
            <a:r>
              <a:rPr lang="zh-CN" altLang="en-US" sz="2000" b="1" dirty="0">
                <a:solidFill>
                  <a:schemeClr val="tx1"/>
                </a:solidFill>
                <a:latin typeface="+mn-ea"/>
              </a:rPr>
              <a:t>和事务控制语言（</a:t>
            </a:r>
            <a:r>
              <a:rPr lang="en-US" altLang="zh-CN" sz="2000" b="1" dirty="0">
                <a:solidFill>
                  <a:schemeClr val="tx1"/>
                </a:solidFill>
                <a:latin typeface="+mn-ea"/>
              </a:rPr>
              <a:t>TCL</a:t>
            </a:r>
            <a:r>
              <a:rPr lang="zh-CN" altLang="en-US" sz="2000" b="1" dirty="0">
                <a:solidFill>
                  <a:schemeClr val="tx1"/>
                </a:solidFill>
                <a:latin typeface="+mn-ea"/>
              </a:rPr>
              <a:t>）。</a:t>
            </a:r>
            <a:endParaRPr lang="zh-CN" altLang="en-US" sz="2000" b="1" dirty="0">
              <a:solidFill>
                <a:schemeClr val="tx1"/>
              </a:solidFill>
              <a:latin typeface="+mn-ea"/>
            </a:endParaRPr>
          </a:p>
        </p:txBody>
      </p:sp>
      <p:pic>
        <p:nvPicPr>
          <p:cNvPr id="3891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53991" y="3476067"/>
            <a:ext cx="2291954" cy="2917381"/>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8916" name="Oval 6"/>
          <p:cNvSpPr>
            <a:spLocks noChangeArrowheads="1"/>
          </p:cNvSpPr>
          <p:nvPr/>
        </p:nvSpPr>
        <p:spPr bwMode="auto">
          <a:xfrm>
            <a:off x="4065987" y="4003912"/>
            <a:ext cx="264319" cy="398859"/>
          </a:xfrm>
          <a:prstGeom prst="ellipse">
            <a:avLst/>
          </a:prstGeom>
          <a:solidFill>
            <a:schemeClr val="accent1">
              <a:alpha val="0"/>
            </a:schemeClr>
          </a:solidFill>
          <a:ln w="28575">
            <a:solidFill>
              <a:schemeClr val="folHlink"/>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en-US" sz="1350">
              <a:solidFill>
                <a:schemeClr val="tx1"/>
              </a:solidFill>
              <a:latin typeface="Century Gothic" panose="020B0502020202020204" pitchFamily="34" charset="0"/>
            </a:endParaRPr>
          </a:p>
        </p:txBody>
      </p:sp>
      <p:sp>
        <p:nvSpPr>
          <p:cNvPr id="38917" name="Oval 7"/>
          <p:cNvSpPr>
            <a:spLocks noChangeArrowheads="1"/>
          </p:cNvSpPr>
          <p:nvPr/>
        </p:nvSpPr>
        <p:spPr bwMode="auto">
          <a:xfrm>
            <a:off x="5042300" y="4003910"/>
            <a:ext cx="264319" cy="735806"/>
          </a:xfrm>
          <a:prstGeom prst="ellipse">
            <a:avLst/>
          </a:prstGeom>
          <a:solidFill>
            <a:schemeClr val="accent1">
              <a:alpha val="0"/>
            </a:schemeClr>
          </a:solidFill>
          <a:ln w="28575">
            <a:solidFill>
              <a:schemeClr val="folHlink"/>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en-US" sz="1350">
              <a:solidFill>
                <a:schemeClr val="tx1"/>
              </a:solidFill>
              <a:latin typeface="Century Gothic" panose="020B0502020202020204" pitchFamily="34" charset="0"/>
            </a:endParaRPr>
          </a:p>
        </p:txBody>
      </p:sp>
      <p:sp>
        <p:nvSpPr>
          <p:cNvPr id="38918" name="AutoShape 9"/>
          <p:cNvSpPr>
            <a:spLocks noChangeArrowheads="1"/>
          </p:cNvSpPr>
          <p:nvPr/>
        </p:nvSpPr>
        <p:spPr bwMode="auto">
          <a:xfrm>
            <a:off x="676207" y="3975335"/>
            <a:ext cx="2610270" cy="792956"/>
          </a:xfrm>
          <a:prstGeom prst="wedgeRoundRectCallout">
            <a:avLst>
              <a:gd name="adj1" fmla="val 79637"/>
              <a:gd name="adj2" fmla="val -38037"/>
              <a:gd name="adj3" fmla="val 16667"/>
            </a:avLst>
          </a:prstGeom>
          <a:solidFill>
            <a:srgbClr val="D1D1FF"/>
          </a:solidFill>
          <a:ln w="2857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b="1" dirty="0">
                <a:solidFill>
                  <a:schemeClr val="tx1"/>
                </a:solidFill>
              </a:rPr>
              <a:t>应用程序使用</a:t>
            </a:r>
            <a:r>
              <a:rPr lang="en-US" altLang="zh-CN" b="1" dirty="0">
                <a:solidFill>
                  <a:schemeClr val="tx1"/>
                </a:solidFill>
              </a:rPr>
              <a:t>SQL</a:t>
            </a:r>
            <a:r>
              <a:rPr lang="zh-CN" altLang="en-US" b="1" dirty="0">
                <a:solidFill>
                  <a:schemeClr val="tx1"/>
                </a:solidFill>
              </a:rPr>
              <a:t>语言向</a:t>
            </a:r>
            <a:r>
              <a:rPr lang="en-US" altLang="zh-CN" b="1" dirty="0">
                <a:solidFill>
                  <a:schemeClr val="tx1"/>
                </a:solidFill>
              </a:rPr>
              <a:t>DBMS</a:t>
            </a:r>
            <a:r>
              <a:rPr lang="zh-CN" altLang="en-US" b="1" dirty="0">
                <a:solidFill>
                  <a:schemeClr val="tx1"/>
                </a:solidFill>
              </a:rPr>
              <a:t>提出操作请求</a:t>
            </a:r>
            <a:endParaRPr lang="zh-CN" altLang="en-US" b="1" dirty="0">
              <a:solidFill>
                <a:schemeClr val="tx1"/>
              </a:solidFill>
            </a:endParaRPr>
          </a:p>
        </p:txBody>
      </p:sp>
      <p:sp>
        <p:nvSpPr>
          <p:cNvPr id="38919" name="AutoShape 10"/>
          <p:cNvSpPr>
            <a:spLocks noChangeArrowheads="1"/>
          </p:cNvSpPr>
          <p:nvPr/>
        </p:nvSpPr>
        <p:spPr bwMode="auto">
          <a:xfrm>
            <a:off x="5779364" y="4008672"/>
            <a:ext cx="2752794" cy="788194"/>
          </a:xfrm>
          <a:prstGeom prst="wedgeRoundRectCallout">
            <a:avLst>
              <a:gd name="adj1" fmla="val -66338"/>
              <a:gd name="adj2" fmla="val -934"/>
              <a:gd name="adj3" fmla="val 16667"/>
            </a:avLst>
          </a:prstGeom>
          <a:solidFill>
            <a:srgbClr val="D1D1FF"/>
          </a:solidFill>
          <a:ln w="2857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b="1" dirty="0">
                <a:solidFill>
                  <a:schemeClr val="tx1"/>
                </a:solidFill>
              </a:rPr>
              <a:t>用户使用</a:t>
            </a:r>
            <a:r>
              <a:rPr lang="en-US" altLang="zh-CN" b="1" dirty="0">
                <a:solidFill>
                  <a:schemeClr val="tx1"/>
                </a:solidFill>
              </a:rPr>
              <a:t>SQL</a:t>
            </a:r>
            <a:r>
              <a:rPr lang="zh-CN" altLang="en-US" b="1" dirty="0">
                <a:solidFill>
                  <a:schemeClr val="tx1"/>
                </a:solidFill>
              </a:rPr>
              <a:t>语言向</a:t>
            </a:r>
            <a:r>
              <a:rPr lang="en-US" altLang="zh-CN" b="1" dirty="0">
                <a:solidFill>
                  <a:schemeClr val="tx1"/>
                </a:solidFill>
              </a:rPr>
              <a:t>DBMS</a:t>
            </a:r>
            <a:r>
              <a:rPr lang="zh-CN" altLang="en-US" b="1" dirty="0">
                <a:solidFill>
                  <a:schemeClr val="tx1"/>
                </a:solidFill>
              </a:rPr>
              <a:t>提出操作请求</a:t>
            </a:r>
            <a:endParaRPr lang="zh-CN" altLang="en-US" b="1" dirty="0">
              <a:solidFill>
                <a:schemeClr val="tx1"/>
              </a:solidFill>
            </a:endParaRPr>
          </a:p>
        </p:txBody>
      </p:sp>
      <p:sp>
        <p:nvSpPr>
          <p:cNvPr id="38920" name="Rectangle 11"/>
          <p:cNvSpPr>
            <a:spLocks noChangeArrowheads="1"/>
          </p:cNvSpPr>
          <p:nvPr/>
        </p:nvSpPr>
        <p:spPr bwMode="auto">
          <a:xfrm>
            <a:off x="5816870" y="5173055"/>
            <a:ext cx="2715289" cy="923330"/>
          </a:xfrm>
          <a:prstGeom prst="rect">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b="1">
                <a:solidFill>
                  <a:schemeClr val="tx1"/>
                </a:solidFill>
              </a:rPr>
              <a:t>可以在</a:t>
            </a:r>
            <a:r>
              <a:rPr lang="en-US" altLang="zh-CN" b="1">
                <a:solidFill>
                  <a:schemeClr val="tx1"/>
                </a:solidFill>
              </a:rPr>
              <a:t>DBMS</a:t>
            </a:r>
            <a:r>
              <a:rPr lang="zh-CN" altLang="en-US" b="1">
                <a:solidFill>
                  <a:schemeClr val="tx1"/>
                </a:solidFill>
              </a:rPr>
              <a:t>中直接键入</a:t>
            </a:r>
            <a:r>
              <a:rPr lang="en-US" altLang="zh-CN" b="1">
                <a:solidFill>
                  <a:schemeClr val="tx1"/>
                </a:solidFill>
              </a:rPr>
              <a:t>SQL</a:t>
            </a:r>
            <a:r>
              <a:rPr lang="zh-CN" altLang="en-US" b="1">
                <a:solidFill>
                  <a:schemeClr val="tx1"/>
                </a:solidFill>
              </a:rPr>
              <a:t>命令，还可以嵌入到程序语言中 </a:t>
            </a:r>
            <a:endParaRPr lang="zh-CN" altLang="en-US" b="1">
              <a:solidFill>
                <a:schemeClr val="tx1"/>
              </a:solidFill>
            </a:endParaRPr>
          </a:p>
        </p:txBody>
      </p:sp>
      <p:sp>
        <p:nvSpPr>
          <p:cNvPr id="13" name="标题 1"/>
          <p:cNvSpPr>
            <a:spLocks noGrp="1"/>
          </p:cNvSpPr>
          <p:nvPr>
            <p:ph type="title"/>
          </p:nvPr>
        </p:nvSpPr>
        <p:spPr>
          <a:xfrm>
            <a:off x="444018" y="306131"/>
            <a:ext cx="6032344" cy="567258"/>
          </a:xfrm>
        </p:spPr>
        <p:txBody>
          <a:bodyPr/>
          <a:lstStyle/>
          <a:p>
            <a:pPr>
              <a:lnSpc>
                <a:spcPct val="160000"/>
              </a:lnSpc>
            </a:pPr>
            <a:r>
              <a:rPr kumimoji="1" lang="en-US" altLang="zh-CN" sz="3000" b="1" dirty="0">
                <a:solidFill>
                  <a:schemeClr val="tx1"/>
                </a:solidFill>
                <a:latin typeface="黑体" panose="02010609060101010101" pitchFamily="49" charset="-122"/>
                <a:ea typeface="黑体" panose="02010609060101010101" pitchFamily="49" charset="-122"/>
              </a:rPr>
              <a:t>4.1</a:t>
            </a:r>
            <a:r>
              <a:rPr kumimoji="1" lang="zh-CN" altLang="en-US" sz="3000" b="1" dirty="0">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04813" y="1563860"/>
            <a:ext cx="8388004" cy="3699987"/>
          </a:xfrm>
          <a:prstGeom prst="rect">
            <a:avLst/>
          </a:prstGeom>
        </p:spPr>
        <p:txBody>
          <a:bodyPr wrap="square">
            <a:spAutoFit/>
          </a:bodyPr>
          <a:lstStyle/>
          <a:p>
            <a:pPr algn="just">
              <a:lnSpc>
                <a:spcPct val="120000"/>
              </a:lnSpc>
              <a:spcBef>
                <a:spcPts val="450"/>
              </a:spcBef>
              <a:buClr>
                <a:srgbClr val="C00000"/>
              </a:buClr>
              <a:defRPr/>
            </a:pPr>
            <a:r>
              <a:rPr lang="zh-CN" altLang="en-US" sz="2200" b="1" dirty="0">
                <a:solidFill>
                  <a:srgbClr val="000000"/>
                </a:solidFill>
                <a:latin typeface="宋体" panose="02010600030101010101" pitchFamily="2" charset="-122"/>
              </a:rPr>
              <a:t>数据库系统的基本特征：</a:t>
            </a:r>
            <a:endParaRPr lang="en-US" altLang="zh-CN" sz="2200" b="1" dirty="0">
              <a:solidFill>
                <a:srgbClr val="000000"/>
              </a:solidFill>
              <a:latin typeface="宋体" panose="02010600030101010101" pitchFamily="2" charset="-122"/>
            </a:endParaRPr>
          </a:p>
          <a:p>
            <a:pPr marL="202565" indent="-257175" algn="just">
              <a:lnSpc>
                <a:spcPct val="120000"/>
              </a:lnSpc>
              <a:spcBef>
                <a:spcPts val="450"/>
              </a:spcBef>
              <a:buClr>
                <a:srgbClr val="C00000"/>
              </a:buClr>
              <a:buFont typeface="Wingdings" panose="05000000000000000000" pitchFamily="2" charset="2"/>
              <a:buChar char="n"/>
              <a:defRPr/>
            </a:pPr>
            <a:r>
              <a:rPr lang="zh-CN" altLang="en-US" sz="2000" b="1" dirty="0">
                <a:solidFill>
                  <a:srgbClr val="030DCF"/>
                </a:solidFill>
                <a:latin typeface="宋体" panose="02010600030101010101" pitchFamily="2" charset="-122"/>
              </a:rPr>
              <a:t>整体数据结构化</a:t>
            </a:r>
            <a:r>
              <a:rPr lang="zh-CN" altLang="en-US" sz="2000" b="1" dirty="0">
                <a:solidFill>
                  <a:srgbClr val="000000"/>
                </a:solidFill>
                <a:latin typeface="宋体" panose="02010600030101010101" pitchFamily="2" charset="-122"/>
              </a:rPr>
              <a:t>，数据库中的数据不再仅仅针对某个应用，而是面向整个企业或组织，数据库系统与文件系统的本质区别；</a:t>
            </a:r>
            <a:endParaRPr lang="en-US" altLang="zh-CN" sz="2000" b="1" dirty="0">
              <a:solidFill>
                <a:srgbClr val="000000"/>
              </a:solidFill>
              <a:latin typeface="宋体" panose="02010600030101010101" pitchFamily="2" charset="-122"/>
            </a:endParaRPr>
          </a:p>
          <a:p>
            <a:pPr marL="202565" indent="-257175" algn="just">
              <a:lnSpc>
                <a:spcPct val="120000"/>
              </a:lnSpc>
              <a:spcBef>
                <a:spcPts val="450"/>
              </a:spcBef>
              <a:buClr>
                <a:srgbClr val="C00000"/>
              </a:buClr>
              <a:buFont typeface="Wingdings" panose="05000000000000000000" pitchFamily="2" charset="2"/>
              <a:buChar char="n"/>
              <a:defRPr/>
            </a:pPr>
            <a:r>
              <a:rPr lang="zh-CN" altLang="en-US" sz="2000" b="1" dirty="0">
                <a:solidFill>
                  <a:srgbClr val="030DCF"/>
                </a:solidFill>
                <a:latin typeface="宋体" panose="02010600030101010101" pitchFamily="2" charset="-122"/>
              </a:rPr>
              <a:t>数据共享性高、冗余度低</a:t>
            </a:r>
            <a:r>
              <a:rPr lang="zh-CN" altLang="en-US" sz="2000" b="1" dirty="0">
                <a:solidFill>
                  <a:srgbClr val="000000"/>
                </a:solidFill>
                <a:latin typeface="宋体" panose="02010600030101010101" pitchFamily="2" charset="-122"/>
              </a:rPr>
              <a:t>，当应用需求发生改变和增加应用时，只要重新选取不同的子集或加上一部分数据便可以满足要求，所以数据库系统的弹性大，</a:t>
            </a:r>
            <a:r>
              <a:rPr lang="zh-CN" altLang="en-US" sz="2000" b="1" dirty="0">
                <a:solidFill>
                  <a:srgbClr val="030DCF"/>
                </a:solidFill>
                <a:latin typeface="宋体" panose="02010600030101010101" pitchFamily="2" charset="-122"/>
              </a:rPr>
              <a:t>易于扩充</a:t>
            </a:r>
            <a:r>
              <a:rPr lang="zh-CN" altLang="en-US" sz="2000" b="1" dirty="0">
                <a:solidFill>
                  <a:srgbClr val="000000"/>
                </a:solidFill>
                <a:latin typeface="宋体" panose="02010600030101010101" pitchFamily="2" charset="-122"/>
              </a:rPr>
              <a:t>。</a:t>
            </a:r>
            <a:endParaRPr lang="en-US" altLang="zh-CN" sz="2000" b="1" dirty="0">
              <a:solidFill>
                <a:srgbClr val="000000"/>
              </a:solidFill>
              <a:latin typeface="宋体" panose="02010600030101010101" pitchFamily="2" charset="-122"/>
            </a:endParaRPr>
          </a:p>
          <a:p>
            <a:pPr marL="202565" indent="-257175" algn="just">
              <a:lnSpc>
                <a:spcPct val="120000"/>
              </a:lnSpc>
              <a:spcBef>
                <a:spcPts val="450"/>
              </a:spcBef>
              <a:buClr>
                <a:srgbClr val="C00000"/>
              </a:buClr>
              <a:buFont typeface="Wingdings" panose="05000000000000000000" pitchFamily="2" charset="2"/>
              <a:buChar char="n"/>
              <a:defRPr/>
            </a:pPr>
            <a:r>
              <a:rPr lang="zh-CN" altLang="en-US" sz="2000" b="1" dirty="0">
                <a:solidFill>
                  <a:srgbClr val="030DCF"/>
                </a:solidFill>
                <a:latin typeface="宋体" panose="02010600030101010101" pitchFamily="2" charset="-122"/>
              </a:rPr>
              <a:t>数据独立性高</a:t>
            </a:r>
            <a:endParaRPr lang="en-US" altLang="zh-CN" sz="2000" b="1" dirty="0">
              <a:solidFill>
                <a:srgbClr val="030DCF"/>
              </a:solidFill>
              <a:latin typeface="宋体" panose="02010600030101010101" pitchFamily="2" charset="-122"/>
            </a:endParaRPr>
          </a:p>
          <a:p>
            <a:pPr marL="545465" lvl="1" indent="-257175" algn="just">
              <a:lnSpc>
                <a:spcPct val="120000"/>
              </a:lnSpc>
              <a:spcBef>
                <a:spcPts val="450"/>
              </a:spcBef>
              <a:buClr>
                <a:srgbClr val="C00000"/>
              </a:buClr>
              <a:buFont typeface="Wingdings" panose="05000000000000000000" pitchFamily="2" charset="2"/>
              <a:buChar char="Ø"/>
              <a:defRPr/>
            </a:pPr>
            <a:r>
              <a:rPr lang="zh-CN" altLang="en-US" b="1" dirty="0">
                <a:solidFill>
                  <a:srgbClr val="030DCF"/>
                </a:solidFill>
                <a:latin typeface="宋体" panose="02010600030101010101" pitchFamily="2" charset="-122"/>
              </a:rPr>
              <a:t>物理独立性</a:t>
            </a:r>
            <a:r>
              <a:rPr lang="zh-CN" altLang="en-US" b="1" dirty="0">
                <a:solidFill>
                  <a:srgbClr val="000000"/>
                </a:solidFill>
                <a:latin typeface="宋体" panose="02010600030101010101" pitchFamily="2" charset="-122"/>
              </a:rPr>
              <a:t>：数据的物理存储结构改变时，应用程序不用变化。</a:t>
            </a:r>
            <a:endParaRPr lang="en-US" altLang="zh-CN" b="1" dirty="0">
              <a:solidFill>
                <a:srgbClr val="000000"/>
              </a:solidFill>
              <a:latin typeface="宋体" panose="02010600030101010101" pitchFamily="2" charset="-122"/>
            </a:endParaRPr>
          </a:p>
          <a:p>
            <a:pPr marL="545465" lvl="1" indent="-257175" algn="just">
              <a:lnSpc>
                <a:spcPct val="120000"/>
              </a:lnSpc>
              <a:spcBef>
                <a:spcPts val="450"/>
              </a:spcBef>
              <a:buClr>
                <a:srgbClr val="C00000"/>
              </a:buClr>
              <a:buFont typeface="Wingdings" panose="05000000000000000000" pitchFamily="2" charset="2"/>
              <a:buChar char="Ø"/>
              <a:defRPr/>
            </a:pPr>
            <a:r>
              <a:rPr lang="zh-CN" altLang="en-US" b="1" dirty="0">
                <a:solidFill>
                  <a:srgbClr val="030DCF"/>
                </a:solidFill>
                <a:latin typeface="宋体" panose="02010600030101010101" pitchFamily="2" charset="-122"/>
              </a:rPr>
              <a:t>逻辑独立性</a:t>
            </a:r>
            <a:r>
              <a:rPr lang="zh-CN" altLang="en-US" b="1" dirty="0">
                <a:solidFill>
                  <a:srgbClr val="000000"/>
                </a:solidFill>
                <a:latin typeface="宋体" panose="02010600030101010101" pitchFamily="2" charset="-122"/>
              </a:rPr>
              <a:t>：</a:t>
            </a:r>
            <a:r>
              <a:rPr lang="zh-CN" altLang="en-US" b="1" dirty="0"/>
              <a:t>数据库的逻辑</a:t>
            </a:r>
            <a:r>
              <a:rPr lang="zh-CN" altLang="en-US" b="1" dirty="0" smtClean="0"/>
              <a:t>结构改变时，应用程序</a:t>
            </a:r>
            <a:r>
              <a:rPr lang="zh-CN" altLang="en-US" b="1" dirty="0">
                <a:solidFill>
                  <a:srgbClr val="000000"/>
                </a:solidFill>
                <a:latin typeface="宋体" panose="02010600030101010101" pitchFamily="2" charset="-122"/>
              </a:rPr>
              <a:t>不用变化。</a:t>
            </a:r>
            <a:endParaRPr lang="en-US" altLang="zh-CN" b="1" dirty="0">
              <a:solidFill>
                <a:srgbClr val="000000"/>
              </a:solidFill>
              <a:latin typeface="宋体" panose="02010600030101010101" pitchFamily="2" charset="-122"/>
            </a:endParaRPr>
          </a:p>
        </p:txBody>
      </p:sp>
      <p:sp>
        <p:nvSpPr>
          <p:cNvPr id="7" name="标题 1"/>
          <p:cNvSpPr txBox="1"/>
          <p:nvPr/>
        </p:nvSpPr>
        <p:spPr bwMode="auto">
          <a:xfrm>
            <a:off x="444018" y="306131"/>
            <a:ext cx="6032344" cy="56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lnSpc>
                <a:spcPct val="160000"/>
              </a:lnSpc>
            </a:pPr>
            <a:r>
              <a:rPr kumimoji="1" lang="en-US" altLang="zh-CN" sz="3000" b="1" dirty="0">
                <a:solidFill>
                  <a:schemeClr val="tx1"/>
                </a:solidFill>
                <a:latin typeface="黑体" panose="02010609060101010101" pitchFamily="49" charset="-122"/>
                <a:ea typeface="黑体" panose="02010609060101010101" pitchFamily="49" charset="-122"/>
              </a:rPr>
              <a:t>4.1</a:t>
            </a:r>
            <a:r>
              <a:rPr kumimoji="1" lang="zh-CN" altLang="en-US" sz="3000" b="1" dirty="0">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文本框 4"/>
          <p:cNvSpPr txBox="1">
            <a:spLocks noChangeArrowheads="1"/>
          </p:cNvSpPr>
          <p:nvPr/>
        </p:nvSpPr>
        <p:spPr bwMode="auto">
          <a:xfrm>
            <a:off x="401394" y="1364093"/>
            <a:ext cx="831191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
                <a:srgbClr val="C00000"/>
              </a:buClr>
              <a:buFont typeface="Wingdings" panose="05000000000000000000" pitchFamily="2" charset="2"/>
              <a:buChar char="n"/>
            </a:pPr>
            <a:r>
              <a:rPr lang="zh-CN" altLang="en-US" sz="2000" b="1" dirty="0">
                <a:solidFill>
                  <a:schemeClr val="tx1"/>
                </a:solidFill>
                <a:latin typeface="Century Gothic" panose="020B0502020202020204" pitchFamily="34" charset="0"/>
              </a:rPr>
              <a:t>从数据库应用开发人员角度看，数据库中的数据是按</a:t>
            </a:r>
            <a:r>
              <a:rPr lang="zh-CN" altLang="en-US" sz="2000" b="1" dirty="0">
                <a:solidFill>
                  <a:srgbClr val="C00000"/>
                </a:solidFill>
                <a:latin typeface="Century Gothic" panose="020B0502020202020204" pitchFamily="34" charset="0"/>
              </a:rPr>
              <a:t>三级模式、二级映射</a:t>
            </a:r>
            <a:r>
              <a:rPr lang="zh-CN" altLang="en-US" sz="2000" b="1" dirty="0">
                <a:solidFill>
                  <a:schemeClr val="tx1"/>
                </a:solidFill>
                <a:latin typeface="Century Gothic" panose="020B0502020202020204" pitchFamily="34" charset="0"/>
              </a:rPr>
              <a:t>组织的，这种组织形式是不同层次的用户对数据的需求和抽象。但物理上，仍</a:t>
            </a:r>
            <a:r>
              <a:rPr lang="zh-CN" altLang="en-US" sz="2000" b="1" dirty="0">
                <a:solidFill>
                  <a:srgbClr val="030DCF"/>
                </a:solidFill>
                <a:latin typeface="Century Gothic" panose="020B0502020202020204" pitchFamily="34" charset="0"/>
              </a:rPr>
              <a:t>以文件的形式存在</a:t>
            </a:r>
            <a:r>
              <a:rPr lang="zh-CN" altLang="en-US" sz="2000" b="1" dirty="0">
                <a:solidFill>
                  <a:schemeClr val="tx1"/>
                </a:solidFill>
                <a:latin typeface="Century Gothic" panose="020B0502020202020204" pitchFamily="34" charset="0"/>
              </a:rPr>
              <a:t>。</a:t>
            </a:r>
            <a:endParaRPr lang="zh-CN" altLang="en-US" sz="2000" b="1" dirty="0">
              <a:solidFill>
                <a:schemeClr val="tx1"/>
              </a:solidFill>
              <a:latin typeface="Century Gothic" panose="020B0502020202020204" pitchFamily="34" charset="0"/>
            </a:endParaRPr>
          </a:p>
        </p:txBody>
      </p:sp>
      <p:sp>
        <p:nvSpPr>
          <p:cNvPr id="6" name="矩形 5"/>
          <p:cNvSpPr/>
          <p:nvPr/>
        </p:nvSpPr>
        <p:spPr bwMode="auto">
          <a:xfrm>
            <a:off x="4238528" y="5457157"/>
            <a:ext cx="934166" cy="35947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a:p>
        </p:txBody>
      </p:sp>
      <p:sp>
        <p:nvSpPr>
          <p:cNvPr id="3" name="文本框 6"/>
          <p:cNvSpPr txBox="1">
            <a:spLocks noChangeArrowheads="1"/>
          </p:cNvSpPr>
          <p:nvPr/>
        </p:nvSpPr>
        <p:spPr bwMode="auto">
          <a:xfrm>
            <a:off x="4306313" y="5457159"/>
            <a:ext cx="8750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400" b="1" dirty="0">
                <a:solidFill>
                  <a:schemeClr val="tx1"/>
                </a:solidFill>
                <a:latin typeface="+mn-lt"/>
              </a:rPr>
              <a:t>内模式</a:t>
            </a:r>
            <a:endParaRPr lang="zh-CN" altLang="en-US" sz="1400" b="1" dirty="0">
              <a:solidFill>
                <a:schemeClr val="tx1"/>
              </a:solidFill>
              <a:latin typeface="+mn-lt"/>
            </a:endParaRPr>
          </a:p>
        </p:txBody>
      </p:sp>
      <p:sp>
        <p:nvSpPr>
          <p:cNvPr id="8" name="矩形 7"/>
          <p:cNvSpPr/>
          <p:nvPr/>
        </p:nvSpPr>
        <p:spPr bwMode="auto">
          <a:xfrm>
            <a:off x="4239806" y="4353121"/>
            <a:ext cx="934166" cy="35303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a:p>
        </p:txBody>
      </p:sp>
      <p:sp>
        <p:nvSpPr>
          <p:cNvPr id="10" name="矩形 9"/>
          <p:cNvSpPr/>
          <p:nvPr/>
        </p:nvSpPr>
        <p:spPr bwMode="auto">
          <a:xfrm>
            <a:off x="2869367" y="3198552"/>
            <a:ext cx="934166" cy="33499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400" b="1" dirty="0">
                <a:solidFill>
                  <a:schemeClr val="tx1"/>
                </a:solidFill>
              </a:rPr>
              <a:t>外模式</a:t>
            </a:r>
            <a:r>
              <a:rPr lang="en-US" altLang="zh-CN" sz="1400" b="1" dirty="0">
                <a:solidFill>
                  <a:schemeClr val="tx1"/>
                </a:solidFill>
              </a:rPr>
              <a:t>1</a:t>
            </a:r>
            <a:endParaRPr lang="zh-CN" altLang="en-US" sz="1400" b="1" dirty="0">
              <a:solidFill>
                <a:schemeClr val="tx1"/>
              </a:solidFill>
            </a:endParaRPr>
          </a:p>
        </p:txBody>
      </p:sp>
      <p:grpSp>
        <p:nvGrpSpPr>
          <p:cNvPr id="32777" name="组合 12"/>
          <p:cNvGrpSpPr/>
          <p:nvPr/>
        </p:nvGrpSpPr>
        <p:grpSpPr bwMode="auto">
          <a:xfrm>
            <a:off x="5623801" y="3179226"/>
            <a:ext cx="1066034" cy="337568"/>
            <a:chOff x="6103984" y="2237142"/>
            <a:chExt cx="1372312" cy="428060"/>
          </a:xfrm>
        </p:grpSpPr>
        <p:sp>
          <p:nvSpPr>
            <p:cNvPr id="14" name="矩形 13"/>
            <p:cNvSpPr/>
            <p:nvPr/>
          </p:nvSpPr>
          <p:spPr>
            <a:xfrm>
              <a:off x="6103984" y="2237142"/>
              <a:ext cx="1202558" cy="42806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a:p>
          </p:txBody>
        </p:sp>
        <p:sp>
          <p:nvSpPr>
            <p:cNvPr id="36894" name="文本框 14"/>
            <p:cNvSpPr txBox="1">
              <a:spLocks noChangeArrowheads="1"/>
            </p:cNvSpPr>
            <p:nvPr/>
          </p:nvSpPr>
          <p:spPr bwMode="auto">
            <a:xfrm>
              <a:off x="6176961" y="2245312"/>
              <a:ext cx="1299335" cy="390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400" b="1" dirty="0">
                  <a:solidFill>
                    <a:schemeClr val="tx1"/>
                  </a:solidFill>
                  <a:latin typeface="+mn-lt"/>
                </a:rPr>
                <a:t>外模式</a:t>
              </a:r>
              <a:r>
                <a:rPr lang="en-US" altLang="zh-CN" sz="1400" b="1" dirty="0">
                  <a:solidFill>
                    <a:schemeClr val="tx1"/>
                  </a:solidFill>
                  <a:latin typeface="+mn-lt"/>
                </a:rPr>
                <a:t>3</a:t>
              </a:r>
              <a:endParaRPr lang="zh-CN" altLang="en-US" sz="1400" b="1" dirty="0">
                <a:solidFill>
                  <a:schemeClr val="tx1"/>
                </a:solidFill>
                <a:latin typeface="+mn-lt"/>
              </a:endParaRPr>
            </a:p>
          </p:txBody>
        </p:sp>
      </p:grpSp>
      <p:cxnSp>
        <p:nvCxnSpPr>
          <p:cNvPr id="21" name="直接连接符 20"/>
          <p:cNvCxnSpPr>
            <a:stCxn id="6" idx="0"/>
            <a:endCxn id="8" idx="2"/>
          </p:cNvCxnSpPr>
          <p:nvPr/>
        </p:nvCxnSpPr>
        <p:spPr bwMode="auto">
          <a:xfrm flipV="1">
            <a:off x="4705611" y="4706151"/>
            <a:ext cx="1278" cy="751006"/>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auto">
          <a:xfrm flipV="1">
            <a:off x="4927515" y="3497101"/>
            <a:ext cx="1159235" cy="403340"/>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0" idx="2"/>
          </p:cNvCxnSpPr>
          <p:nvPr/>
        </p:nvCxnSpPr>
        <p:spPr bwMode="auto">
          <a:xfrm>
            <a:off x="3336452" y="3533546"/>
            <a:ext cx="1106089" cy="378533"/>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流程图: 磁盘 15"/>
          <p:cNvSpPr/>
          <p:nvPr/>
        </p:nvSpPr>
        <p:spPr bwMode="auto">
          <a:xfrm>
            <a:off x="4252087" y="6066215"/>
            <a:ext cx="942793" cy="421316"/>
          </a:xfrm>
          <a:prstGeom prst="flowChartMagneticDisk">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dirty="0">
                <a:solidFill>
                  <a:schemeClr val="tx1"/>
                </a:solidFill>
              </a:rPr>
              <a:t>数据库</a:t>
            </a:r>
            <a:endParaRPr lang="zh-CN" altLang="en-US" sz="1400" b="1" dirty="0">
              <a:solidFill>
                <a:schemeClr val="tx1"/>
              </a:solidFill>
            </a:endParaRPr>
          </a:p>
        </p:txBody>
      </p:sp>
      <p:cxnSp>
        <p:nvCxnSpPr>
          <p:cNvPr id="32" name="直接连接符 31"/>
          <p:cNvCxnSpPr/>
          <p:nvPr/>
        </p:nvCxnSpPr>
        <p:spPr bwMode="auto">
          <a:xfrm flipH="1" flipV="1">
            <a:off x="4715311" y="5801185"/>
            <a:ext cx="2465" cy="251244"/>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879" name="文本框 16"/>
          <p:cNvSpPr txBox="1">
            <a:spLocks noChangeArrowheads="1"/>
          </p:cNvSpPr>
          <p:nvPr/>
        </p:nvSpPr>
        <p:spPr bwMode="auto">
          <a:xfrm>
            <a:off x="5427855" y="4913582"/>
            <a:ext cx="3088992"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defRPr/>
            </a:pPr>
            <a:r>
              <a:rPr lang="zh-CN" altLang="en-US" sz="1400" b="1" dirty="0">
                <a:latin typeface="+mn-lt"/>
              </a:rPr>
              <a:t>模式</a:t>
            </a:r>
            <a:r>
              <a:rPr lang="en-US" altLang="zh-CN" sz="1400" b="1" dirty="0">
                <a:latin typeface="+mn-lt"/>
              </a:rPr>
              <a:t>/</a:t>
            </a:r>
            <a:r>
              <a:rPr lang="zh-CN" altLang="en-US" sz="1400" b="1" dirty="0">
                <a:latin typeface="+mn-lt"/>
              </a:rPr>
              <a:t>内模式映射（物理数据独立性）</a:t>
            </a:r>
            <a:endParaRPr lang="zh-CN" altLang="en-US" sz="1400" b="1" dirty="0">
              <a:latin typeface="+mn-lt"/>
            </a:endParaRPr>
          </a:p>
        </p:txBody>
      </p:sp>
      <p:sp>
        <p:nvSpPr>
          <p:cNvPr id="36880" name="文本框 33"/>
          <p:cNvSpPr txBox="1">
            <a:spLocks noChangeArrowheads="1"/>
          </p:cNvSpPr>
          <p:nvPr/>
        </p:nvSpPr>
        <p:spPr bwMode="auto">
          <a:xfrm>
            <a:off x="5418014" y="3791026"/>
            <a:ext cx="30236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eaLnBrk="0" fontAlgn="base" hangingPunct="0">
              <a:spcBef>
                <a:spcPct val="0"/>
              </a:spcBef>
              <a:spcAft>
                <a:spcPct val="0"/>
              </a:spcAft>
              <a:defRPr>
                <a:solidFill>
                  <a:schemeClr val="tx1"/>
                </a:solidFill>
                <a:latin typeface="Century Gothic" panose="020B0502020202020204" pitchFamily="34" charset="0"/>
              </a:defRPr>
            </a:lvl6pPr>
            <a:lvl7pPr marL="2971800" indent="-228600" defTabSz="457200" eaLnBrk="0" fontAlgn="base" hangingPunct="0">
              <a:spcBef>
                <a:spcPct val="0"/>
              </a:spcBef>
              <a:spcAft>
                <a:spcPct val="0"/>
              </a:spcAft>
              <a:defRPr>
                <a:solidFill>
                  <a:schemeClr val="tx1"/>
                </a:solidFill>
                <a:latin typeface="Century Gothic" panose="020B0502020202020204" pitchFamily="34" charset="0"/>
              </a:defRPr>
            </a:lvl7pPr>
            <a:lvl8pPr marL="3429000" indent="-228600" defTabSz="457200" eaLnBrk="0" fontAlgn="base" hangingPunct="0">
              <a:spcBef>
                <a:spcPct val="0"/>
              </a:spcBef>
              <a:spcAft>
                <a:spcPct val="0"/>
              </a:spcAft>
              <a:defRPr>
                <a:solidFill>
                  <a:schemeClr val="tx1"/>
                </a:solidFill>
                <a:latin typeface="Century Gothic" panose="020B0502020202020204" pitchFamily="34" charset="0"/>
              </a:defRPr>
            </a:lvl8pPr>
            <a:lvl9pPr marL="3886200" indent="-228600" defTabSz="457200" eaLnBrk="0" fontAlgn="base" hangingPunct="0">
              <a:spcBef>
                <a:spcPct val="0"/>
              </a:spcBef>
              <a:spcAft>
                <a:spcPct val="0"/>
              </a:spcAft>
              <a:defRPr>
                <a:solidFill>
                  <a:schemeClr val="tx1"/>
                </a:solidFill>
                <a:latin typeface="Century Gothic" panose="020B0502020202020204" pitchFamily="34" charset="0"/>
              </a:defRPr>
            </a:lvl9pPr>
          </a:lstStyle>
          <a:p>
            <a:pPr>
              <a:defRPr/>
            </a:pPr>
            <a:r>
              <a:rPr lang="zh-CN" altLang="en-US" sz="1400" b="1" dirty="0">
                <a:latin typeface="+mn-lt"/>
              </a:rPr>
              <a:t>外模式</a:t>
            </a:r>
            <a:r>
              <a:rPr lang="en-US" altLang="zh-CN" sz="1400" b="1" dirty="0">
                <a:latin typeface="+mn-lt"/>
              </a:rPr>
              <a:t>/</a:t>
            </a:r>
            <a:r>
              <a:rPr lang="zh-CN" altLang="en-US" sz="1400" b="1" dirty="0">
                <a:latin typeface="+mn-lt"/>
              </a:rPr>
              <a:t>模式映射（逻辑数据独立性）</a:t>
            </a:r>
            <a:endParaRPr lang="zh-CN" altLang="en-US" sz="1400" b="1" dirty="0">
              <a:latin typeface="+mn-lt"/>
            </a:endParaRPr>
          </a:p>
        </p:txBody>
      </p:sp>
      <p:sp>
        <p:nvSpPr>
          <p:cNvPr id="36" name="矩形 35"/>
          <p:cNvSpPr/>
          <p:nvPr/>
        </p:nvSpPr>
        <p:spPr bwMode="auto">
          <a:xfrm>
            <a:off x="4216390" y="3179224"/>
            <a:ext cx="942794" cy="346588"/>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400" b="1" dirty="0">
                <a:solidFill>
                  <a:schemeClr val="tx1"/>
                </a:solidFill>
              </a:rPr>
              <a:t>外模式</a:t>
            </a:r>
            <a:r>
              <a:rPr lang="en-US" altLang="zh-CN" sz="1400" b="1" dirty="0">
                <a:solidFill>
                  <a:schemeClr val="tx1"/>
                </a:solidFill>
              </a:rPr>
              <a:t>2</a:t>
            </a:r>
            <a:endParaRPr lang="zh-CN" altLang="en-US" sz="1400" b="1" dirty="0">
              <a:solidFill>
                <a:schemeClr val="tx1"/>
              </a:solidFill>
            </a:endParaRPr>
          </a:p>
        </p:txBody>
      </p:sp>
      <p:cxnSp>
        <p:nvCxnSpPr>
          <p:cNvPr id="38" name="直接连接符 37"/>
          <p:cNvCxnSpPr>
            <a:stCxn id="36" idx="2"/>
            <a:endCxn id="8" idx="0"/>
          </p:cNvCxnSpPr>
          <p:nvPr/>
        </p:nvCxnSpPr>
        <p:spPr bwMode="auto">
          <a:xfrm>
            <a:off x="4687787" y="3525814"/>
            <a:ext cx="19102" cy="827309"/>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矩形 49"/>
          <p:cNvSpPr/>
          <p:nvPr/>
        </p:nvSpPr>
        <p:spPr bwMode="auto">
          <a:xfrm>
            <a:off x="1635725" y="2630353"/>
            <a:ext cx="1126422" cy="33499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dirty="0">
                <a:solidFill>
                  <a:schemeClr val="tx1"/>
                </a:solidFill>
              </a:rPr>
              <a:t>应用程序</a:t>
            </a:r>
            <a:r>
              <a:rPr lang="en-US" altLang="zh-CN" sz="1400" b="1" dirty="0">
                <a:solidFill>
                  <a:schemeClr val="tx1"/>
                </a:solidFill>
              </a:rPr>
              <a:t>A</a:t>
            </a:r>
            <a:endParaRPr lang="zh-CN" altLang="en-US" sz="1400" b="1" dirty="0">
              <a:solidFill>
                <a:schemeClr val="tx1"/>
              </a:solidFill>
            </a:endParaRPr>
          </a:p>
        </p:txBody>
      </p:sp>
      <p:sp>
        <p:nvSpPr>
          <p:cNvPr id="54" name="矩形 53"/>
          <p:cNvSpPr/>
          <p:nvPr/>
        </p:nvSpPr>
        <p:spPr bwMode="auto">
          <a:xfrm>
            <a:off x="2873067" y="2630355"/>
            <a:ext cx="1114097" cy="34529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dirty="0">
                <a:solidFill>
                  <a:schemeClr val="tx1"/>
                </a:solidFill>
              </a:rPr>
              <a:t>应用程序</a:t>
            </a:r>
            <a:r>
              <a:rPr lang="en-US" altLang="zh-CN" sz="1400" b="1" dirty="0">
                <a:solidFill>
                  <a:schemeClr val="tx1"/>
                </a:solidFill>
              </a:rPr>
              <a:t>B</a:t>
            </a:r>
            <a:endParaRPr lang="zh-CN" altLang="en-US" sz="1400" b="1" dirty="0">
              <a:solidFill>
                <a:schemeClr val="tx1"/>
              </a:solidFill>
            </a:endParaRPr>
          </a:p>
        </p:txBody>
      </p:sp>
      <p:sp>
        <p:nvSpPr>
          <p:cNvPr id="57" name="矩形 56"/>
          <p:cNvSpPr/>
          <p:nvPr/>
        </p:nvSpPr>
        <p:spPr bwMode="auto">
          <a:xfrm>
            <a:off x="5556021" y="2622623"/>
            <a:ext cx="1111633" cy="346588"/>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dirty="0">
                <a:solidFill>
                  <a:schemeClr val="tx1"/>
                </a:solidFill>
              </a:rPr>
              <a:t>应用程序</a:t>
            </a:r>
            <a:r>
              <a:rPr lang="en-US" altLang="zh-CN" sz="1400" b="1" dirty="0">
                <a:solidFill>
                  <a:schemeClr val="tx1"/>
                </a:solidFill>
              </a:rPr>
              <a:t>D</a:t>
            </a:r>
            <a:endParaRPr lang="zh-CN" altLang="en-US" sz="1400" b="1" dirty="0">
              <a:solidFill>
                <a:schemeClr val="tx1"/>
              </a:solidFill>
            </a:endParaRPr>
          </a:p>
        </p:txBody>
      </p:sp>
      <p:sp>
        <p:nvSpPr>
          <p:cNvPr id="63" name="矩形 62"/>
          <p:cNvSpPr/>
          <p:nvPr/>
        </p:nvSpPr>
        <p:spPr bwMode="auto">
          <a:xfrm>
            <a:off x="4153537" y="2626491"/>
            <a:ext cx="1109168" cy="35045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dirty="0">
                <a:solidFill>
                  <a:schemeClr val="tx1"/>
                </a:solidFill>
              </a:rPr>
              <a:t>应用程序</a:t>
            </a:r>
            <a:r>
              <a:rPr lang="en-US" altLang="zh-CN" sz="1400" b="1" dirty="0">
                <a:solidFill>
                  <a:schemeClr val="tx1"/>
                </a:solidFill>
              </a:rPr>
              <a:t>C</a:t>
            </a:r>
            <a:endParaRPr lang="zh-CN" altLang="en-US" sz="1400" b="1" dirty="0">
              <a:solidFill>
                <a:schemeClr val="tx1"/>
              </a:solidFill>
            </a:endParaRPr>
          </a:p>
        </p:txBody>
      </p:sp>
      <p:cxnSp>
        <p:nvCxnSpPr>
          <p:cNvPr id="65" name="直接连接符 64"/>
          <p:cNvCxnSpPr/>
          <p:nvPr/>
        </p:nvCxnSpPr>
        <p:spPr bwMode="auto">
          <a:xfrm>
            <a:off x="2571127" y="2975655"/>
            <a:ext cx="496661" cy="222899"/>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6" name="直接连接符 65"/>
          <p:cNvCxnSpPr>
            <a:endCxn id="10" idx="0"/>
          </p:cNvCxnSpPr>
          <p:nvPr/>
        </p:nvCxnSpPr>
        <p:spPr bwMode="auto">
          <a:xfrm flipH="1">
            <a:off x="3336450" y="2956326"/>
            <a:ext cx="198418" cy="242224"/>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bwMode="auto">
          <a:xfrm>
            <a:off x="4687170" y="2956326"/>
            <a:ext cx="0" cy="242224"/>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直接连接符 69"/>
          <p:cNvCxnSpPr>
            <a:endCxn id="14" idx="0"/>
          </p:cNvCxnSpPr>
          <p:nvPr/>
        </p:nvCxnSpPr>
        <p:spPr bwMode="auto">
          <a:xfrm>
            <a:off x="6084723" y="2956326"/>
            <a:ext cx="6162" cy="222898"/>
          </a:xfrm>
          <a:prstGeom prst="line">
            <a:avLst/>
          </a:prstGeom>
          <a:ln w="28575">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bwMode="auto">
          <a:xfrm>
            <a:off x="1468118" y="3201130"/>
            <a:ext cx="1520794" cy="307777"/>
          </a:xfrm>
          <a:prstGeom prst="rect">
            <a:avLst/>
          </a:prstGeom>
          <a:noFill/>
        </p:spPr>
        <p:txBody>
          <a:bodyPr>
            <a:spAutoFit/>
          </a:bodyPr>
          <a:lstStyle/>
          <a:p>
            <a:pPr>
              <a:defRPr/>
            </a:pPr>
            <a:r>
              <a:rPr lang="zh-CN" altLang="en-US" sz="1400" b="1" dirty="0"/>
              <a:t>用户的数据视图</a:t>
            </a:r>
            <a:endParaRPr lang="zh-CN" altLang="en-US" sz="1400" b="1" dirty="0"/>
          </a:p>
        </p:txBody>
      </p:sp>
      <p:sp>
        <p:nvSpPr>
          <p:cNvPr id="33" name="文本框 32"/>
          <p:cNvSpPr txBox="1"/>
          <p:nvPr/>
        </p:nvSpPr>
        <p:spPr bwMode="auto">
          <a:xfrm>
            <a:off x="2869367" y="4398006"/>
            <a:ext cx="1540170" cy="307777"/>
          </a:xfrm>
          <a:prstGeom prst="rect">
            <a:avLst/>
          </a:prstGeom>
          <a:noFill/>
        </p:spPr>
        <p:txBody>
          <a:bodyPr wrap="square">
            <a:spAutoFit/>
          </a:bodyPr>
          <a:lstStyle/>
          <a:p>
            <a:pPr>
              <a:defRPr/>
            </a:pPr>
            <a:r>
              <a:rPr lang="zh-CN" altLang="en-US" sz="1400" b="1" dirty="0"/>
              <a:t>公共数据视图</a:t>
            </a:r>
            <a:endParaRPr lang="zh-CN" altLang="en-US" sz="1400" b="1" dirty="0"/>
          </a:p>
        </p:txBody>
      </p:sp>
      <p:sp>
        <p:nvSpPr>
          <p:cNvPr id="34" name="文本框 33"/>
          <p:cNvSpPr txBox="1"/>
          <p:nvPr/>
        </p:nvSpPr>
        <p:spPr bwMode="auto">
          <a:xfrm>
            <a:off x="3293272" y="5489369"/>
            <a:ext cx="910750" cy="307777"/>
          </a:xfrm>
          <a:prstGeom prst="rect">
            <a:avLst/>
          </a:prstGeom>
          <a:noFill/>
        </p:spPr>
        <p:txBody>
          <a:bodyPr>
            <a:spAutoFit/>
          </a:bodyPr>
          <a:lstStyle/>
          <a:p>
            <a:pPr>
              <a:defRPr/>
            </a:pPr>
            <a:r>
              <a:rPr lang="zh-CN" altLang="en-US" sz="1400" b="1" dirty="0"/>
              <a:t>存储模式</a:t>
            </a:r>
            <a:endParaRPr lang="zh-CN" altLang="en-US" sz="1400" b="1" dirty="0"/>
          </a:p>
        </p:txBody>
      </p:sp>
      <p:sp>
        <p:nvSpPr>
          <p:cNvPr id="32798" name="矩形 40"/>
          <p:cNvSpPr>
            <a:spLocks noChangeArrowheads="1"/>
          </p:cNvSpPr>
          <p:nvPr/>
        </p:nvSpPr>
        <p:spPr bwMode="auto">
          <a:xfrm>
            <a:off x="4433743" y="4373094"/>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1400" b="1" dirty="0">
                <a:solidFill>
                  <a:schemeClr val="tx1"/>
                </a:solidFill>
                <a:latin typeface="Century Gothic" panose="020B0502020202020204" pitchFamily="34" charset="0"/>
              </a:rPr>
              <a:t>模式</a:t>
            </a:r>
            <a:endParaRPr lang="zh-CN" altLang="en-US" sz="1400" b="1" dirty="0">
              <a:solidFill>
                <a:schemeClr val="tx1"/>
              </a:solidFill>
              <a:latin typeface="Century Gothic" panose="020B0502020202020204" pitchFamily="34" charset="0"/>
            </a:endParaRPr>
          </a:p>
        </p:txBody>
      </p:sp>
      <p:sp>
        <p:nvSpPr>
          <p:cNvPr id="9" name="菱形 8"/>
          <p:cNvSpPr/>
          <p:nvPr/>
        </p:nvSpPr>
        <p:spPr>
          <a:xfrm>
            <a:off x="4041913" y="4978951"/>
            <a:ext cx="1345096" cy="24240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菱形 38"/>
          <p:cNvSpPr/>
          <p:nvPr/>
        </p:nvSpPr>
        <p:spPr>
          <a:xfrm>
            <a:off x="4033062" y="3864366"/>
            <a:ext cx="1345096" cy="24240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标题 1"/>
          <p:cNvSpPr txBox="1"/>
          <p:nvPr/>
        </p:nvSpPr>
        <p:spPr bwMode="auto">
          <a:xfrm>
            <a:off x="444018" y="306131"/>
            <a:ext cx="6032344" cy="56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lnSpc>
                <a:spcPct val="160000"/>
              </a:lnSpc>
            </a:pPr>
            <a:r>
              <a:rPr kumimoji="1" lang="en-US" altLang="zh-CN" sz="3000" b="1" dirty="0">
                <a:solidFill>
                  <a:schemeClr val="tx1"/>
                </a:solidFill>
                <a:latin typeface="黑体" panose="02010609060101010101" pitchFamily="49" charset="-122"/>
                <a:ea typeface="黑体" panose="02010609060101010101" pitchFamily="49" charset="-122"/>
              </a:rPr>
              <a:t>4.1</a:t>
            </a:r>
            <a:r>
              <a:rPr kumimoji="1" lang="zh-CN" altLang="en-US" sz="3000" b="1" dirty="0">
                <a:solidFill>
                  <a:schemeClr val="tx1"/>
                </a:solidFill>
                <a:latin typeface="黑体" panose="02010609060101010101" pitchFamily="49" charset="-122"/>
                <a:ea typeface="黑体" panose="02010609060101010101" pitchFamily="49" charset="-122"/>
              </a:rPr>
              <a:t>数据管理基本概念</a:t>
            </a:r>
            <a:endParaRPr kumimoji="1" lang="zh-CN" altLang="en-US" sz="3000" b="1" dirty="0">
              <a:solidFill>
                <a:schemeClr val="tx1"/>
              </a:solidFill>
              <a:latin typeface="黑体" panose="02010609060101010101" pitchFamily="49" charset="-122"/>
              <a:ea typeface="黑体" panose="02010609060101010101" pitchFamily="49" charset="-122"/>
            </a:endParaRPr>
          </a:p>
        </p:txBody>
      </p:sp>
      <p:sp>
        <p:nvSpPr>
          <p:cNvPr id="4" name="文本框 3"/>
          <p:cNvSpPr txBox="1"/>
          <p:nvPr/>
        </p:nvSpPr>
        <p:spPr>
          <a:xfrm>
            <a:off x="347345" y="3864610"/>
            <a:ext cx="2597785" cy="2245360"/>
          </a:xfrm>
          <a:prstGeom prst="rect">
            <a:avLst/>
          </a:prstGeom>
          <a:noFill/>
        </p:spPr>
        <p:txBody>
          <a:bodyPr wrap="square" rtlCol="0">
            <a:spAutoFit/>
          </a:bodyPr>
          <a:p>
            <a:r>
              <a:rPr lang="zh-CN" altLang="en-US" sz="2000" b="1">
                <a:solidFill>
                  <a:srgbClr val="FF0000"/>
                </a:solidFill>
              </a:rPr>
              <a:t>三级模式：</a:t>
            </a:r>
            <a:endParaRPr lang="zh-CN" altLang="en-US" sz="2000" b="1">
              <a:solidFill>
                <a:srgbClr val="FF0000"/>
              </a:solidFill>
            </a:endParaRPr>
          </a:p>
          <a:p>
            <a:r>
              <a:rPr lang="en-US" altLang="zh-CN" sz="2000" b="1">
                <a:solidFill>
                  <a:srgbClr val="3333FF"/>
                </a:solidFill>
              </a:rPr>
              <a:t>    </a:t>
            </a:r>
            <a:r>
              <a:rPr lang="zh-CN" altLang="en-US" sz="2000" b="1">
                <a:solidFill>
                  <a:srgbClr val="3333FF"/>
                </a:solidFill>
              </a:rPr>
              <a:t>外模式</a:t>
            </a:r>
            <a:endParaRPr lang="zh-CN" altLang="en-US" sz="2000" b="1">
              <a:solidFill>
                <a:srgbClr val="3333FF"/>
              </a:solidFill>
            </a:endParaRPr>
          </a:p>
          <a:p>
            <a:r>
              <a:rPr lang="zh-CN" altLang="en-US" sz="2000" b="1">
                <a:solidFill>
                  <a:srgbClr val="3333FF"/>
                </a:solidFill>
              </a:rPr>
              <a:t> </a:t>
            </a:r>
            <a:r>
              <a:rPr lang="en-US" altLang="zh-CN" sz="2000" b="1">
                <a:solidFill>
                  <a:srgbClr val="3333FF"/>
                </a:solidFill>
              </a:rPr>
              <a:t>   </a:t>
            </a:r>
            <a:r>
              <a:rPr lang="zh-CN" altLang="en-US" sz="2000" b="1">
                <a:solidFill>
                  <a:srgbClr val="3333FF"/>
                </a:solidFill>
              </a:rPr>
              <a:t>模式</a:t>
            </a:r>
            <a:endParaRPr lang="zh-CN" altLang="en-US" sz="2000" b="1">
              <a:solidFill>
                <a:srgbClr val="3333FF"/>
              </a:solidFill>
            </a:endParaRPr>
          </a:p>
          <a:p>
            <a:r>
              <a:rPr lang="zh-CN" altLang="en-US" sz="2000" b="1">
                <a:solidFill>
                  <a:srgbClr val="3333FF"/>
                </a:solidFill>
              </a:rPr>
              <a:t> </a:t>
            </a:r>
            <a:r>
              <a:rPr lang="en-US" altLang="zh-CN" sz="2000" b="1">
                <a:solidFill>
                  <a:srgbClr val="3333FF"/>
                </a:solidFill>
              </a:rPr>
              <a:t>   </a:t>
            </a:r>
            <a:r>
              <a:rPr lang="zh-CN" altLang="en-US" sz="2000" b="1">
                <a:solidFill>
                  <a:srgbClr val="3333FF"/>
                </a:solidFill>
              </a:rPr>
              <a:t>内模式</a:t>
            </a:r>
            <a:endParaRPr lang="zh-CN" altLang="en-US" sz="2000" b="1">
              <a:solidFill>
                <a:srgbClr val="3333FF"/>
              </a:solidFill>
            </a:endParaRPr>
          </a:p>
          <a:p>
            <a:r>
              <a:rPr lang="zh-CN" altLang="en-US" sz="2000" b="1">
                <a:solidFill>
                  <a:srgbClr val="FF0000"/>
                </a:solidFill>
              </a:rPr>
              <a:t>两级映射：</a:t>
            </a:r>
            <a:endParaRPr lang="zh-CN" altLang="en-US" sz="2000" b="1">
              <a:solidFill>
                <a:srgbClr val="FF0000"/>
              </a:solidFill>
            </a:endParaRPr>
          </a:p>
          <a:p>
            <a:r>
              <a:rPr lang="en-US" altLang="zh-CN" sz="2000">
                <a:solidFill>
                  <a:srgbClr val="3333FF"/>
                </a:solidFill>
              </a:rPr>
              <a:t>    </a:t>
            </a:r>
            <a:r>
              <a:rPr lang="zh-CN" altLang="en-US" sz="2000" b="1" dirty="0">
                <a:solidFill>
                  <a:srgbClr val="3333FF"/>
                </a:solidFill>
                <a:sym typeface="+mn-ea"/>
              </a:rPr>
              <a:t>外模式</a:t>
            </a:r>
            <a:r>
              <a:rPr lang="en-US" altLang="zh-CN" sz="2000" b="1" dirty="0">
                <a:solidFill>
                  <a:srgbClr val="3333FF"/>
                </a:solidFill>
                <a:sym typeface="+mn-ea"/>
              </a:rPr>
              <a:t>/</a:t>
            </a:r>
            <a:r>
              <a:rPr lang="zh-CN" altLang="en-US" sz="2000" b="1" dirty="0">
                <a:solidFill>
                  <a:srgbClr val="3333FF"/>
                </a:solidFill>
                <a:sym typeface="+mn-ea"/>
              </a:rPr>
              <a:t>模式映射</a:t>
            </a:r>
            <a:endParaRPr lang="zh-CN" altLang="en-US" sz="2000" b="1" dirty="0">
              <a:solidFill>
                <a:srgbClr val="3333FF"/>
              </a:solidFill>
              <a:sym typeface="+mn-ea"/>
            </a:endParaRPr>
          </a:p>
          <a:p>
            <a:r>
              <a:rPr lang="en-US" altLang="zh-CN" sz="2000">
                <a:solidFill>
                  <a:srgbClr val="3333FF"/>
                </a:solidFill>
              </a:rPr>
              <a:t>    </a:t>
            </a:r>
            <a:r>
              <a:rPr lang="zh-CN" altLang="en-US" sz="2000" b="1" dirty="0">
                <a:solidFill>
                  <a:srgbClr val="3333FF"/>
                </a:solidFill>
                <a:sym typeface="+mn-ea"/>
              </a:rPr>
              <a:t>模式</a:t>
            </a:r>
            <a:r>
              <a:rPr lang="en-US" altLang="zh-CN" sz="2000" b="1" dirty="0">
                <a:solidFill>
                  <a:srgbClr val="3333FF"/>
                </a:solidFill>
                <a:sym typeface="+mn-ea"/>
              </a:rPr>
              <a:t>/</a:t>
            </a:r>
            <a:r>
              <a:rPr lang="zh-CN" altLang="en-US" sz="2000" b="1" dirty="0">
                <a:solidFill>
                  <a:srgbClr val="3333FF"/>
                </a:solidFill>
                <a:sym typeface="+mn-ea"/>
              </a:rPr>
              <a:t>内模式映射</a:t>
            </a:r>
            <a:endParaRPr lang="zh-CN" altLang="en-US" sz="2000" b="1" dirty="0">
              <a:solidFill>
                <a:srgbClr val="3333FF"/>
              </a:solidFill>
              <a:sym typeface="+mn-ea"/>
            </a:endParaRPr>
          </a:p>
        </p:txBody>
      </p:sp>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728227" y="2898323"/>
            <a:ext cx="6109776" cy="920775"/>
            <a:chOff x="3076803" y="2743200"/>
            <a:chExt cx="5264151" cy="699512"/>
          </a:xfrm>
        </p:grpSpPr>
        <p:grpSp>
          <p:nvGrpSpPr>
            <p:cNvPr id="4" name="Group 6"/>
            <p:cNvGrpSpPr/>
            <p:nvPr/>
          </p:nvGrpSpPr>
          <p:grpSpPr bwMode="auto">
            <a:xfrm>
              <a:off x="3413353" y="2828925"/>
              <a:ext cx="4927601" cy="531813"/>
              <a:chOff x="1341" y="1723"/>
              <a:chExt cx="3104" cy="335"/>
            </a:xfrm>
          </p:grpSpPr>
          <p:sp>
            <p:nvSpPr>
              <p:cNvPr id="5" name="AutoShape 7"/>
              <p:cNvSpPr>
                <a:spLocks noChangeArrowheads="1"/>
              </p:cNvSpPr>
              <p:nvPr/>
            </p:nvSpPr>
            <p:spPr bwMode="ltGray">
              <a:xfrm>
                <a:off x="1341" y="1723"/>
                <a:ext cx="3104" cy="335"/>
              </a:xfrm>
              <a:prstGeom prst="roundRect">
                <a:avLst>
                  <a:gd name="adj" fmla="val 16667"/>
                </a:avLst>
              </a:prstGeom>
              <a:solidFill>
                <a:srgbClr val="FCA304"/>
              </a:solidFill>
              <a:ln w="28575" algn="ctr">
                <a:solidFill>
                  <a:srgbClr val="FFFFFF"/>
                </a:solidFill>
                <a:round/>
              </a:ln>
              <a:effectLst>
                <a:outerShdw dist="71842" dir="2700000" algn="ctr" rotWithShape="0">
                  <a:srgbClr val="808080">
                    <a:alpha val="50000"/>
                  </a:srgbClr>
                </a:outerShdw>
              </a:effectLst>
            </p:spPr>
            <p:txBody>
              <a:bodyPr wrap="none" anchor="ctr"/>
              <a:lstStyle/>
              <a:p>
                <a:pPr defTabSz="685800">
                  <a:defRPr/>
                </a:pPr>
                <a:endParaRPr lang="zh-CN" altLang="en-US" sz="3000" kern="0">
                  <a:solidFill>
                    <a:sysClr val="windowText" lastClr="000000"/>
                  </a:solidFill>
                </a:endParaRPr>
              </a:p>
            </p:txBody>
          </p:sp>
          <p:sp>
            <p:nvSpPr>
              <p:cNvPr id="6" name="AutoShape 8"/>
              <p:cNvSpPr>
                <a:spLocks noChangeArrowheads="1"/>
              </p:cNvSpPr>
              <p:nvPr/>
            </p:nvSpPr>
            <p:spPr bwMode="ltGray">
              <a:xfrm>
                <a:off x="1366" y="1735"/>
                <a:ext cx="3068" cy="148"/>
              </a:xfrm>
              <a:prstGeom prst="roundRect">
                <a:avLst>
                  <a:gd name="adj" fmla="val 31505"/>
                </a:avLst>
              </a:prstGeom>
              <a:gradFill rotWithShape="1">
                <a:gsLst>
                  <a:gs pos="0">
                    <a:srgbClr val="FFFFFF">
                      <a:alpha val="70000"/>
                    </a:srgbClr>
                  </a:gs>
                  <a:gs pos="100000">
                    <a:srgbClr val="FCA304">
                      <a:alpha val="70000"/>
                    </a:srgbClr>
                  </a:gs>
                </a:gsLst>
                <a:lin ang="5400000" scaled="1"/>
              </a:gradFill>
              <a:ln w="9525" algn="ctr">
                <a:noFill/>
                <a:round/>
              </a:ln>
              <a:effectLst/>
            </p:spPr>
            <p:txBody>
              <a:bodyPr wrap="none" anchor="ctr"/>
              <a:lstStyle/>
              <a:p>
                <a:pPr defTabSz="685800">
                  <a:defRPr/>
                </a:pPr>
                <a:endParaRPr lang="zh-CN" altLang="en-US" sz="3000" kern="0">
                  <a:solidFill>
                    <a:sysClr val="windowText" lastClr="000000"/>
                  </a:solidFill>
                </a:endParaRPr>
              </a:p>
            </p:txBody>
          </p:sp>
        </p:grpSp>
        <p:sp>
          <p:nvSpPr>
            <p:cNvPr id="7" name="Text Box 9"/>
            <p:cNvSpPr txBox="1">
              <a:spLocks noChangeArrowheads="1"/>
            </p:cNvSpPr>
            <p:nvPr/>
          </p:nvSpPr>
          <p:spPr bwMode="black">
            <a:xfrm>
              <a:off x="3860525" y="2811404"/>
              <a:ext cx="4114800" cy="631308"/>
            </a:xfrm>
            <a:prstGeom prst="rect">
              <a:avLst/>
            </a:prstGeom>
            <a:noFill/>
            <a:ln w="9525" algn="ctr">
              <a:noFill/>
              <a:miter lim="800000"/>
            </a:ln>
            <a:effectLst>
              <a:outerShdw dist="17961" dir="2700000" algn="ctr" rotWithShape="0">
                <a:srgbClr val="000000">
                  <a:alpha val="50000"/>
                </a:srgbClr>
              </a:outerShdw>
            </a:effectLst>
          </p:spPr>
          <p:txBody>
            <a:bodyPr>
              <a:spAutoFit/>
            </a:bodyPr>
            <a:lstStyle/>
            <a:p>
              <a:pPr algn="ctr">
                <a:lnSpc>
                  <a:spcPct val="160000"/>
                </a:lnSpc>
                <a:spcBef>
                  <a:spcPct val="0"/>
                </a:spcBef>
                <a:buNone/>
              </a:pPr>
              <a:r>
                <a:rPr kumimoji="1" lang="en-US" altLang="zh-CN" sz="3000" b="1" dirty="0">
                  <a:solidFill>
                    <a:srgbClr val="FF0000"/>
                  </a:solidFill>
                  <a:latin typeface="微软雅黑" panose="020B0503020204020204" charset="-122"/>
                  <a:ea typeface="微软雅黑" panose="020B0503020204020204" charset="-122"/>
                </a:rPr>
                <a:t>4.</a:t>
              </a:r>
              <a:r>
                <a:rPr kumimoji="1" lang="zh-CN" altLang="en-US" sz="3000" b="1" dirty="0">
                  <a:solidFill>
                    <a:srgbClr val="FF0000"/>
                  </a:solidFill>
                  <a:latin typeface="微软雅黑" panose="020B0503020204020204" charset="-122"/>
                  <a:ea typeface="微软雅黑" panose="020B0503020204020204" charset="-122"/>
                </a:rPr>
                <a:t>２</a:t>
              </a:r>
              <a:r>
                <a:rPr kumimoji="1" lang="en-US" altLang="zh-CN" sz="3000" b="1" dirty="0">
                  <a:solidFill>
                    <a:srgbClr val="FF0000"/>
                  </a:solidFill>
                  <a:latin typeface="微软雅黑" panose="020B0503020204020204" charset="-122"/>
                  <a:ea typeface="微软雅黑" panose="020B0503020204020204" charset="-122"/>
                </a:rPr>
                <a:t> </a:t>
              </a:r>
              <a:r>
                <a:rPr kumimoji="1" lang="zh-CN" altLang="en-US" sz="3000" b="1" dirty="0">
                  <a:solidFill>
                    <a:srgbClr val="FF0000"/>
                  </a:solidFill>
                  <a:latin typeface="微软雅黑" panose="020B0503020204020204" charset="-122"/>
                  <a:ea typeface="微软雅黑" panose="020B0503020204020204" charset="-122"/>
                </a:rPr>
                <a:t>数据表示</a:t>
              </a:r>
              <a:endParaRPr kumimoji="1" lang="en-US" altLang="zh-CN" sz="3000" b="1" dirty="0">
                <a:solidFill>
                  <a:srgbClr val="FF0000"/>
                </a:solidFill>
                <a:latin typeface="微软雅黑" panose="020B0503020204020204" charset="-122"/>
                <a:ea typeface="微软雅黑" panose="020B0503020204020204" charset="-122"/>
              </a:endParaRPr>
            </a:p>
          </p:txBody>
        </p:sp>
        <p:sp>
          <p:nvSpPr>
            <p:cNvPr id="8" name="AutoShape 18"/>
            <p:cNvSpPr>
              <a:spLocks noChangeArrowheads="1"/>
            </p:cNvSpPr>
            <p:nvPr/>
          </p:nvSpPr>
          <p:spPr bwMode="ltGray">
            <a:xfrm>
              <a:off x="3076803" y="2743200"/>
              <a:ext cx="685800" cy="685800"/>
            </a:xfrm>
            <a:prstGeom prst="diamond">
              <a:avLst/>
            </a:prstGeom>
            <a:solidFill>
              <a:srgbClr val="FCA304"/>
            </a:solidFill>
            <a:ln w="25400" algn="ctr">
              <a:solidFill>
                <a:srgbClr val="FFFFFF"/>
              </a:solidFill>
              <a:miter lim="800000"/>
            </a:ln>
            <a:effectLst>
              <a:outerShdw dist="76200" algn="ctr" rotWithShape="0">
                <a:srgbClr val="808080">
                  <a:alpha val="50000"/>
                </a:srgbClr>
              </a:outerShdw>
            </a:effectLst>
          </p:spPr>
          <p:txBody>
            <a:bodyPr wrap="none" anchor="ctr"/>
            <a:lstStyle/>
            <a:p>
              <a:pPr defTabSz="685800">
                <a:defRPr/>
              </a:pPr>
              <a:endParaRPr lang="zh-CN" altLang="en-US" sz="3000" kern="0">
                <a:solidFill>
                  <a:sysClr val="windowText" lastClr="000000"/>
                </a:solidFill>
              </a:endParaRPr>
            </a:p>
          </p:txBody>
        </p:sp>
        <p:sp>
          <p:nvSpPr>
            <p:cNvPr id="9" name="Text Box 19"/>
            <p:cNvSpPr txBox="1">
              <a:spLocks noChangeArrowheads="1"/>
            </p:cNvSpPr>
            <p:nvPr/>
          </p:nvSpPr>
          <p:spPr bwMode="black">
            <a:xfrm>
              <a:off x="3328215" y="2841625"/>
              <a:ext cx="159163" cy="420872"/>
            </a:xfrm>
            <a:prstGeom prst="rect">
              <a:avLst/>
            </a:prstGeom>
            <a:noFill/>
            <a:ln w="9525" algn="ctr">
              <a:noFill/>
              <a:miter lim="800000"/>
            </a:ln>
            <a:effectLst/>
          </p:spPr>
          <p:txBody>
            <a:bodyPr wrap="none">
              <a:spAutoFit/>
            </a:bodyPr>
            <a:lstStyle/>
            <a:p>
              <a:pPr algn="ctr" defTabSz="685800" eaLnBrk="0" hangingPunct="0">
                <a:defRPr/>
              </a:pPr>
              <a:endParaRPr lang="en-US" altLang="zh-CN" sz="3000" b="1" kern="0" dirty="0">
                <a:solidFill>
                  <a:srgbClr val="FFFFFF"/>
                </a:solidFill>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a:xfrm>
            <a:off x="812532" y="331720"/>
            <a:ext cx="3893344" cy="517922"/>
          </a:xfrm>
        </p:spPr>
        <p:txBody>
          <a:bodyPr/>
          <a:lstStyle/>
          <a:p>
            <a:pPr eaLnBrk="1" hangingPunct="1">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.2 </a:t>
            </a:r>
            <a:r>
              <a:rPr lang="zh-CN" altLang="en-US" sz="3000" b="1" dirty="0">
                <a:latin typeface="黑体" panose="02010609060101010101" pitchFamily="49" charset="-122"/>
                <a:ea typeface="黑体" panose="02010609060101010101" pitchFamily="49" charset="-122"/>
              </a:rPr>
              <a:t>数据表示</a:t>
            </a:r>
            <a:endParaRPr lang="zh-CN" altLang="en-US" sz="3000" b="1" dirty="0">
              <a:latin typeface="黑体" panose="02010609060101010101" pitchFamily="49" charset="-122"/>
              <a:ea typeface="黑体" panose="02010609060101010101" pitchFamily="49" charset="-122"/>
            </a:endParaRPr>
          </a:p>
        </p:txBody>
      </p:sp>
      <p:sp>
        <p:nvSpPr>
          <p:cNvPr id="39939" name="文本框 1"/>
          <p:cNvSpPr txBox="1">
            <a:spLocks noChangeArrowheads="1"/>
          </p:cNvSpPr>
          <p:nvPr/>
        </p:nvSpPr>
        <p:spPr bwMode="auto">
          <a:xfrm>
            <a:off x="626444" y="1338902"/>
            <a:ext cx="4079432"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
                <a:srgbClr val="C00000"/>
              </a:buClr>
              <a:buFont typeface="Wingdings" panose="05000000000000000000" pitchFamily="2" charset="2"/>
              <a:buChar char="n"/>
            </a:pPr>
            <a:r>
              <a:rPr lang="zh-CN" altLang="en-US" sz="1950" b="1" dirty="0">
                <a:solidFill>
                  <a:schemeClr val="tx1"/>
                </a:solidFill>
                <a:latin typeface="Century Gothic" panose="020B0502020202020204" pitchFamily="34" charset="0"/>
              </a:rPr>
              <a:t>数据库系统的设计</a:t>
            </a:r>
            <a:endParaRPr lang="zh-CN" altLang="en-US" sz="1950" b="1" dirty="0">
              <a:solidFill>
                <a:schemeClr val="tx1"/>
              </a:solidFill>
              <a:latin typeface="Century Gothic" panose="020B0502020202020204" pitchFamily="34" charset="0"/>
            </a:endParaRPr>
          </a:p>
        </p:txBody>
      </p:sp>
      <p:sp>
        <p:nvSpPr>
          <p:cNvPr id="3" name="矩形 2"/>
          <p:cNvSpPr/>
          <p:nvPr/>
        </p:nvSpPr>
        <p:spPr>
          <a:xfrm>
            <a:off x="1876777" y="2373616"/>
            <a:ext cx="1310878" cy="3238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941" name="文本框 3"/>
          <p:cNvSpPr txBox="1">
            <a:spLocks noChangeArrowheads="1"/>
          </p:cNvSpPr>
          <p:nvPr/>
        </p:nvSpPr>
        <p:spPr bwMode="auto">
          <a:xfrm>
            <a:off x="2026795" y="2373617"/>
            <a:ext cx="11501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b="1" dirty="0">
                <a:solidFill>
                  <a:schemeClr val="tx1"/>
                </a:solidFill>
                <a:latin typeface="Century Gothic" panose="020B0502020202020204" pitchFamily="34" charset="0"/>
              </a:rPr>
              <a:t>需求分析</a:t>
            </a:r>
            <a:endParaRPr lang="zh-CN" altLang="en-US" b="1" dirty="0">
              <a:solidFill>
                <a:schemeClr val="tx1"/>
              </a:solidFill>
              <a:latin typeface="Century Gothic" panose="020B0502020202020204" pitchFamily="34" charset="0"/>
            </a:endParaRPr>
          </a:p>
        </p:txBody>
      </p:sp>
      <p:sp>
        <p:nvSpPr>
          <p:cNvPr id="9" name="矩形 8"/>
          <p:cNvSpPr/>
          <p:nvPr/>
        </p:nvSpPr>
        <p:spPr>
          <a:xfrm>
            <a:off x="1888685" y="3012527"/>
            <a:ext cx="1320403" cy="3238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943" name="文本框 9"/>
          <p:cNvSpPr txBox="1">
            <a:spLocks noChangeArrowheads="1"/>
          </p:cNvSpPr>
          <p:nvPr/>
        </p:nvSpPr>
        <p:spPr bwMode="auto">
          <a:xfrm>
            <a:off x="2026797" y="3003997"/>
            <a:ext cx="1278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b="1" dirty="0">
                <a:solidFill>
                  <a:schemeClr val="tx1"/>
                </a:solidFill>
                <a:latin typeface="Century Gothic" panose="020B0502020202020204" pitchFamily="34" charset="0"/>
              </a:rPr>
              <a:t>概念设计</a:t>
            </a:r>
            <a:endParaRPr lang="zh-CN" altLang="en-US" b="1" dirty="0">
              <a:solidFill>
                <a:schemeClr val="tx1"/>
              </a:solidFill>
              <a:latin typeface="Century Gothic" panose="020B0502020202020204" pitchFamily="34" charset="0"/>
            </a:endParaRPr>
          </a:p>
        </p:txBody>
      </p:sp>
      <p:sp>
        <p:nvSpPr>
          <p:cNvPr id="11" name="矩形 10"/>
          <p:cNvSpPr/>
          <p:nvPr/>
        </p:nvSpPr>
        <p:spPr>
          <a:xfrm>
            <a:off x="1876777" y="3776600"/>
            <a:ext cx="1310878" cy="3238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945" name="文本框 11"/>
          <p:cNvSpPr txBox="1">
            <a:spLocks noChangeArrowheads="1"/>
          </p:cNvSpPr>
          <p:nvPr/>
        </p:nvSpPr>
        <p:spPr bwMode="auto">
          <a:xfrm>
            <a:off x="1949405" y="3783705"/>
            <a:ext cx="11751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b="1" dirty="0">
                <a:solidFill>
                  <a:schemeClr val="tx1"/>
                </a:solidFill>
                <a:latin typeface="Century Gothic" panose="020B0502020202020204" pitchFamily="34" charset="0"/>
              </a:rPr>
              <a:t>逻辑设计</a:t>
            </a:r>
            <a:endParaRPr lang="zh-CN" altLang="en-US" b="1" dirty="0">
              <a:solidFill>
                <a:schemeClr val="tx1"/>
              </a:solidFill>
              <a:latin typeface="Century Gothic" panose="020B0502020202020204" pitchFamily="34" charset="0"/>
            </a:endParaRPr>
          </a:p>
        </p:txBody>
      </p:sp>
      <p:sp>
        <p:nvSpPr>
          <p:cNvPr id="13" name="矩形 12"/>
          <p:cNvSpPr/>
          <p:nvPr/>
        </p:nvSpPr>
        <p:spPr>
          <a:xfrm>
            <a:off x="1878143" y="4661242"/>
            <a:ext cx="1301353" cy="32385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9947" name="文本框 13"/>
          <p:cNvSpPr txBox="1">
            <a:spLocks noChangeArrowheads="1"/>
          </p:cNvSpPr>
          <p:nvPr/>
        </p:nvSpPr>
        <p:spPr bwMode="auto">
          <a:xfrm>
            <a:off x="1907139" y="4627063"/>
            <a:ext cx="12596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ctr">
              <a:spcBef>
                <a:spcPct val="0"/>
              </a:spcBef>
              <a:buClrTx/>
              <a:buFontTx/>
              <a:buNone/>
            </a:pPr>
            <a:r>
              <a:rPr lang="zh-CN" altLang="en-US" b="1" dirty="0">
                <a:solidFill>
                  <a:schemeClr val="tx1"/>
                </a:solidFill>
                <a:latin typeface="Century Gothic" panose="020B0502020202020204" pitchFamily="34" charset="0"/>
              </a:rPr>
              <a:t>物理设计</a:t>
            </a:r>
            <a:endParaRPr lang="zh-CN" altLang="en-US" b="1" dirty="0">
              <a:solidFill>
                <a:schemeClr val="tx1"/>
              </a:solidFill>
              <a:latin typeface="Century Gothic" panose="020B0502020202020204" pitchFamily="34" charset="0"/>
            </a:endParaRPr>
          </a:p>
        </p:txBody>
      </p:sp>
      <p:cxnSp>
        <p:nvCxnSpPr>
          <p:cNvPr id="6" name="直接箭头连接符 5"/>
          <p:cNvCxnSpPr/>
          <p:nvPr/>
        </p:nvCxnSpPr>
        <p:spPr>
          <a:xfrm>
            <a:off x="2522094" y="2095902"/>
            <a:ext cx="0" cy="2765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949" name="文本框 7"/>
          <p:cNvSpPr txBox="1">
            <a:spLocks noChangeArrowheads="1"/>
          </p:cNvSpPr>
          <p:nvPr/>
        </p:nvSpPr>
        <p:spPr bwMode="auto">
          <a:xfrm>
            <a:off x="1949403" y="1732914"/>
            <a:ext cx="13596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b="1" dirty="0">
                <a:solidFill>
                  <a:schemeClr val="tx1"/>
                </a:solidFill>
                <a:latin typeface="Century Gothic" panose="020B0502020202020204" pitchFamily="34" charset="0"/>
              </a:rPr>
              <a:t>现实世界</a:t>
            </a:r>
            <a:endParaRPr lang="zh-CN" altLang="en-US" b="1" dirty="0">
              <a:solidFill>
                <a:schemeClr val="tx1"/>
              </a:solidFill>
              <a:latin typeface="Century Gothic" panose="020B0502020202020204" pitchFamily="34" charset="0"/>
            </a:endParaRPr>
          </a:p>
        </p:txBody>
      </p:sp>
      <p:cxnSp>
        <p:nvCxnSpPr>
          <p:cNvPr id="16" name="直接箭头连接符 15"/>
          <p:cNvCxnSpPr/>
          <p:nvPr/>
        </p:nvCxnSpPr>
        <p:spPr>
          <a:xfrm>
            <a:off x="2522094" y="2696277"/>
            <a:ext cx="0" cy="3077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11" idx="0"/>
          </p:cNvCxnSpPr>
          <p:nvPr/>
        </p:nvCxnSpPr>
        <p:spPr>
          <a:xfrm flipH="1">
            <a:off x="2532216" y="3329191"/>
            <a:ext cx="4760" cy="4474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1" idx="2"/>
            <a:endCxn id="13" idx="0"/>
          </p:cNvCxnSpPr>
          <p:nvPr/>
        </p:nvCxnSpPr>
        <p:spPr>
          <a:xfrm flipH="1">
            <a:off x="2528818" y="4100450"/>
            <a:ext cx="3398" cy="5607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953" name="文本框 23"/>
          <p:cNvSpPr txBox="1">
            <a:spLocks noChangeArrowheads="1"/>
          </p:cNvSpPr>
          <p:nvPr/>
        </p:nvSpPr>
        <p:spPr bwMode="auto">
          <a:xfrm>
            <a:off x="3244804" y="2911780"/>
            <a:ext cx="54151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b="1" dirty="0">
                <a:solidFill>
                  <a:schemeClr val="tx1"/>
                </a:solidFill>
                <a:latin typeface="Century Gothic" panose="020B0502020202020204" pitchFamily="34" charset="0"/>
              </a:rPr>
              <a:t>概念数据模型，如</a:t>
            </a:r>
            <a:r>
              <a:rPr lang="en-US" altLang="zh-CN" b="1" dirty="0">
                <a:solidFill>
                  <a:schemeClr val="tx1"/>
                </a:solidFill>
                <a:latin typeface="Century Gothic" panose="020B0502020202020204" pitchFamily="34" charset="0"/>
              </a:rPr>
              <a:t>E-R</a:t>
            </a:r>
            <a:r>
              <a:rPr lang="zh-CN" altLang="en-US" b="1" dirty="0">
                <a:solidFill>
                  <a:schemeClr val="tx1"/>
                </a:solidFill>
                <a:latin typeface="Century Gothic" panose="020B0502020202020204" pitchFamily="34" charset="0"/>
              </a:rPr>
              <a:t>图模型，数据字典</a:t>
            </a:r>
            <a:r>
              <a:rPr lang="en-US" altLang="zh-CN" b="1" dirty="0">
                <a:solidFill>
                  <a:schemeClr val="tx1"/>
                </a:solidFill>
                <a:latin typeface="Century Gothic" panose="020B0502020202020204" pitchFamily="34" charset="0"/>
              </a:rPr>
              <a:t>…</a:t>
            </a:r>
            <a:r>
              <a:rPr lang="zh-CN" altLang="en-US" b="1" dirty="0">
                <a:solidFill>
                  <a:schemeClr val="tx1"/>
                </a:solidFill>
                <a:latin typeface="Century Gothic" panose="020B0502020202020204" pitchFamily="34" charset="0"/>
              </a:rPr>
              <a:t>。</a:t>
            </a:r>
            <a:endParaRPr lang="en-US" altLang="zh-CN" b="1" dirty="0">
              <a:solidFill>
                <a:schemeClr val="tx1"/>
              </a:solidFill>
              <a:latin typeface="Century Gothic" panose="020B0502020202020204" pitchFamily="34" charset="0"/>
            </a:endParaRPr>
          </a:p>
        </p:txBody>
      </p:sp>
      <p:sp>
        <p:nvSpPr>
          <p:cNvPr id="39954" name="文本框 30"/>
          <p:cNvSpPr txBox="1">
            <a:spLocks noChangeArrowheads="1"/>
          </p:cNvSpPr>
          <p:nvPr/>
        </p:nvSpPr>
        <p:spPr bwMode="auto">
          <a:xfrm>
            <a:off x="3226947" y="3699123"/>
            <a:ext cx="56548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b="1" dirty="0">
                <a:solidFill>
                  <a:schemeClr val="tx1"/>
                </a:solidFill>
                <a:latin typeface="Century Gothic" panose="020B0502020202020204" pitchFamily="34" charset="0"/>
              </a:rPr>
              <a:t>转化为</a:t>
            </a:r>
            <a:r>
              <a:rPr lang="en-US" altLang="zh-CN" b="1" dirty="0">
                <a:solidFill>
                  <a:srgbClr val="030DCF"/>
                </a:solidFill>
                <a:latin typeface="Century Gothic" panose="020B0502020202020204" pitchFamily="34" charset="0"/>
              </a:rPr>
              <a:t>DBMS</a:t>
            </a:r>
            <a:r>
              <a:rPr lang="zh-CN" altLang="en-US" b="1" dirty="0">
                <a:solidFill>
                  <a:srgbClr val="030DCF"/>
                </a:solidFill>
                <a:latin typeface="Century Gothic" panose="020B0502020202020204" pitchFamily="34" charset="0"/>
              </a:rPr>
              <a:t>支持的</a:t>
            </a:r>
            <a:r>
              <a:rPr lang="zh-CN" altLang="en-US" b="1" dirty="0">
                <a:solidFill>
                  <a:schemeClr val="tx1"/>
                </a:solidFill>
                <a:latin typeface="Century Gothic" panose="020B0502020202020204" pitchFamily="34" charset="0"/>
              </a:rPr>
              <a:t>某类逻辑数据模型，如层次模型、网状模型、</a:t>
            </a:r>
            <a:r>
              <a:rPr lang="zh-CN" altLang="en-US" b="1" dirty="0">
                <a:solidFill>
                  <a:srgbClr val="030DCF"/>
                </a:solidFill>
                <a:latin typeface="Century Gothic" panose="020B0502020202020204" pitchFamily="34" charset="0"/>
              </a:rPr>
              <a:t>关系模型（二维表）</a:t>
            </a:r>
            <a:r>
              <a:rPr lang="en-US" altLang="zh-CN" b="1" dirty="0">
                <a:solidFill>
                  <a:schemeClr val="tx1"/>
                </a:solidFill>
                <a:latin typeface="Century Gothic" panose="020B0502020202020204" pitchFamily="34" charset="0"/>
              </a:rPr>
              <a:t>…</a:t>
            </a:r>
            <a:endParaRPr lang="en-US" altLang="zh-CN" b="1" dirty="0">
              <a:solidFill>
                <a:schemeClr val="tx1"/>
              </a:solidFill>
              <a:latin typeface="Century Gothic" panose="020B0502020202020204" pitchFamily="34" charset="0"/>
            </a:endParaRPr>
          </a:p>
        </p:txBody>
      </p:sp>
      <p:sp>
        <p:nvSpPr>
          <p:cNvPr id="39955" name="文本框 24"/>
          <p:cNvSpPr txBox="1">
            <a:spLocks noChangeArrowheads="1"/>
          </p:cNvSpPr>
          <p:nvPr/>
        </p:nvSpPr>
        <p:spPr bwMode="auto">
          <a:xfrm>
            <a:off x="3216528" y="4594596"/>
            <a:ext cx="555475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b="1" dirty="0">
                <a:solidFill>
                  <a:schemeClr val="tx1"/>
                </a:solidFill>
                <a:latin typeface="Century Gothic" panose="020B0502020202020204" pitchFamily="34" charset="0"/>
              </a:rPr>
              <a:t>选取合适的物理模式，即文件结构、存储空间分配、记录的存储格式</a:t>
            </a:r>
            <a:r>
              <a:rPr lang="en-US" altLang="zh-CN" b="1" dirty="0">
                <a:solidFill>
                  <a:schemeClr val="tx1"/>
                </a:solidFill>
                <a:latin typeface="Century Gothic" panose="020B0502020202020204" pitchFamily="34" charset="0"/>
              </a:rPr>
              <a:t>…</a:t>
            </a:r>
            <a:endParaRPr lang="zh-CN" altLang="en-US" b="1" dirty="0">
              <a:solidFill>
                <a:schemeClr val="tx1"/>
              </a:solidFill>
              <a:latin typeface="Century Gothic" panose="020B0502020202020204" pitchFamily="34" charset="0"/>
            </a:endParaRPr>
          </a:p>
        </p:txBody>
      </p:sp>
      <p:sp>
        <p:nvSpPr>
          <p:cNvPr id="4" name="左大括号 3"/>
          <p:cNvSpPr/>
          <p:nvPr/>
        </p:nvSpPr>
        <p:spPr>
          <a:xfrm>
            <a:off x="1657702" y="2372426"/>
            <a:ext cx="89297" cy="93226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39957" name="文本框 4"/>
          <p:cNvSpPr txBox="1">
            <a:spLocks noChangeArrowheads="1"/>
          </p:cNvSpPr>
          <p:nvPr/>
        </p:nvSpPr>
        <p:spPr bwMode="auto">
          <a:xfrm>
            <a:off x="169666" y="2610120"/>
            <a:ext cx="139159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b="1" dirty="0">
                <a:solidFill>
                  <a:schemeClr val="tx1"/>
                </a:solidFill>
                <a:latin typeface="Century Gothic" panose="020B0502020202020204" pitchFamily="34" charset="0"/>
              </a:rPr>
              <a:t>独立于任何</a:t>
            </a:r>
            <a:r>
              <a:rPr lang="en-US" altLang="zh-CN" b="1" dirty="0">
                <a:solidFill>
                  <a:schemeClr val="tx1"/>
                </a:solidFill>
                <a:latin typeface="Century Gothic" panose="020B0502020202020204" pitchFamily="34" charset="0"/>
              </a:rPr>
              <a:t>DBMS</a:t>
            </a:r>
            <a:endParaRPr lang="zh-CN" altLang="en-US" b="1" dirty="0">
              <a:solidFill>
                <a:schemeClr val="tx1"/>
              </a:solidFill>
              <a:latin typeface="Century Gothic" panose="020B0502020202020204" pitchFamily="34" charset="0"/>
            </a:endParaRPr>
          </a:p>
        </p:txBody>
      </p:sp>
      <p:sp>
        <p:nvSpPr>
          <p:cNvPr id="24" name="左大括号 23"/>
          <p:cNvSpPr/>
          <p:nvPr/>
        </p:nvSpPr>
        <p:spPr>
          <a:xfrm>
            <a:off x="1617169" y="3861784"/>
            <a:ext cx="129778" cy="95250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39959" name="文本框 24"/>
          <p:cNvSpPr txBox="1">
            <a:spLocks noChangeArrowheads="1"/>
          </p:cNvSpPr>
          <p:nvPr/>
        </p:nvSpPr>
        <p:spPr bwMode="auto">
          <a:xfrm>
            <a:off x="158599" y="4136218"/>
            <a:ext cx="15358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b="1" dirty="0">
                <a:solidFill>
                  <a:schemeClr val="tx1"/>
                </a:solidFill>
                <a:latin typeface="Century Gothic" panose="020B0502020202020204" pitchFamily="34" charset="0"/>
              </a:rPr>
              <a:t>与</a:t>
            </a:r>
            <a:r>
              <a:rPr lang="en-US" altLang="zh-CN" b="1" dirty="0">
                <a:solidFill>
                  <a:schemeClr val="tx1"/>
                </a:solidFill>
                <a:latin typeface="Century Gothic" panose="020B0502020202020204" pitchFamily="34" charset="0"/>
              </a:rPr>
              <a:t>DBMS</a:t>
            </a:r>
            <a:r>
              <a:rPr lang="zh-CN" altLang="en-US" b="1" dirty="0">
                <a:solidFill>
                  <a:schemeClr val="tx1"/>
                </a:solidFill>
                <a:latin typeface="Century Gothic" panose="020B0502020202020204" pitchFamily="34" charset="0"/>
              </a:rPr>
              <a:t>相关</a:t>
            </a:r>
            <a:endParaRPr lang="zh-CN" altLang="en-US" b="1" dirty="0">
              <a:solidFill>
                <a:schemeClr val="tx1"/>
              </a:solidFill>
              <a:latin typeface="Century Gothic" panose="020B0502020202020204" pitchFamily="34" charset="0"/>
            </a:endParaRPr>
          </a:p>
        </p:txBody>
      </p:sp>
      <p:sp>
        <p:nvSpPr>
          <p:cNvPr id="39960" name="文本框 23"/>
          <p:cNvSpPr txBox="1">
            <a:spLocks noChangeArrowheads="1"/>
          </p:cNvSpPr>
          <p:nvPr/>
        </p:nvSpPr>
        <p:spPr bwMode="auto">
          <a:xfrm>
            <a:off x="3244803" y="2345042"/>
            <a:ext cx="48503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b="1" dirty="0">
                <a:solidFill>
                  <a:schemeClr val="tx1"/>
                </a:solidFill>
                <a:latin typeface="Century Gothic" panose="020B0502020202020204" pitchFamily="34" charset="0"/>
              </a:rPr>
              <a:t>调查各部门工作流程，确定用户的需求。</a:t>
            </a:r>
            <a:endParaRPr lang="en-US" altLang="zh-CN" b="1" dirty="0">
              <a:solidFill>
                <a:schemeClr val="tx1"/>
              </a:solidFill>
              <a:latin typeface="Century Gothic" panose="020B0502020202020204" pitchFamily="34" charset="0"/>
            </a:endParaRPr>
          </a:p>
        </p:txBody>
      </p:sp>
      <p:pic>
        <p:nvPicPr>
          <p:cNvPr id="39961"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67132" y="5424588"/>
            <a:ext cx="6627999" cy="1060067"/>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矩形 1"/>
          <p:cNvSpPr>
            <a:spLocks noChangeArrowheads="1"/>
          </p:cNvSpPr>
          <p:nvPr/>
        </p:nvSpPr>
        <p:spPr bwMode="auto">
          <a:xfrm>
            <a:off x="531513" y="1750398"/>
            <a:ext cx="68916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
                <a:srgbClr val="C00000"/>
              </a:buClr>
              <a:buFont typeface="Wingdings" panose="05000000000000000000" pitchFamily="2" charset="2"/>
              <a:buChar char="n"/>
            </a:pPr>
            <a:r>
              <a:rPr lang="zh-CN" altLang="en-US" sz="2400" b="1" dirty="0">
                <a:solidFill>
                  <a:schemeClr val="tx1"/>
                </a:solidFill>
                <a:latin typeface="Century Gothic" panose="020B0502020202020204" pitchFamily="34" charset="0"/>
              </a:rPr>
              <a:t>概念数据模型</a:t>
            </a:r>
            <a:r>
              <a:rPr lang="en-US" altLang="zh-CN" sz="2400" b="1" dirty="0">
                <a:solidFill>
                  <a:schemeClr val="tx1"/>
                </a:solidFill>
                <a:latin typeface="Century Gothic" panose="020B0502020202020204" pitchFamily="34" charset="0"/>
              </a:rPr>
              <a:t>——</a:t>
            </a:r>
            <a:r>
              <a:rPr lang="en-US" altLang="zh-CN" sz="2400" b="1" dirty="0">
                <a:solidFill>
                  <a:srgbClr val="FF0000"/>
                </a:solidFill>
                <a:latin typeface="Century Gothic" panose="020B0502020202020204" pitchFamily="34" charset="0"/>
              </a:rPr>
              <a:t>E</a:t>
            </a:r>
            <a:r>
              <a:rPr lang="en-US" altLang="zh-CN" sz="2400" b="1" dirty="0">
                <a:solidFill>
                  <a:schemeClr val="tx1"/>
                </a:solidFill>
                <a:latin typeface="Century Gothic" panose="020B0502020202020204" pitchFamily="34" charset="0"/>
              </a:rPr>
              <a:t>ntity-</a:t>
            </a:r>
            <a:r>
              <a:rPr lang="en-US" altLang="zh-CN" sz="2400" b="1" dirty="0">
                <a:solidFill>
                  <a:srgbClr val="FF0000"/>
                </a:solidFill>
                <a:latin typeface="Century Gothic" panose="020B0502020202020204" pitchFamily="34" charset="0"/>
              </a:rPr>
              <a:t>R</a:t>
            </a:r>
            <a:r>
              <a:rPr lang="en-US" altLang="zh-CN" sz="2400" b="1" dirty="0">
                <a:solidFill>
                  <a:schemeClr val="tx1"/>
                </a:solidFill>
                <a:latin typeface="Century Gothic" panose="020B0502020202020204" pitchFamily="34" charset="0"/>
              </a:rPr>
              <a:t>elationship</a:t>
            </a:r>
            <a:r>
              <a:rPr lang="zh-CN" altLang="en-US" sz="2400" b="1" dirty="0">
                <a:solidFill>
                  <a:schemeClr val="tx1"/>
                </a:solidFill>
                <a:latin typeface="Century Gothic" panose="020B0502020202020204" pitchFamily="34" charset="0"/>
              </a:rPr>
              <a:t>数据模型</a:t>
            </a:r>
            <a:endParaRPr lang="en-US" altLang="zh-CN" sz="2400" b="1" dirty="0">
              <a:solidFill>
                <a:schemeClr val="tx1"/>
              </a:solidFill>
              <a:latin typeface="Century Gothic" panose="020B0502020202020204" pitchFamily="34" charset="0"/>
            </a:endParaRPr>
          </a:p>
        </p:txBody>
      </p:sp>
      <p:sp>
        <p:nvSpPr>
          <p:cNvPr id="3" name="文本框 2"/>
          <p:cNvSpPr txBox="1"/>
          <p:nvPr/>
        </p:nvSpPr>
        <p:spPr>
          <a:xfrm>
            <a:off x="252762" y="2442533"/>
            <a:ext cx="8292846" cy="3363293"/>
          </a:xfrm>
          <a:prstGeom prst="rect">
            <a:avLst/>
          </a:prstGeom>
          <a:noFill/>
        </p:spPr>
        <p:txBody>
          <a:bodyPr wrap="square">
            <a:spAutoFit/>
          </a:bodyPr>
          <a:lstStyle/>
          <a:p>
            <a:pPr marL="257175" indent="342900" algn="just">
              <a:lnSpc>
                <a:spcPct val="110000"/>
              </a:lnSpc>
              <a:spcBef>
                <a:spcPts val="450"/>
              </a:spcBef>
              <a:spcAft>
                <a:spcPts val="450"/>
              </a:spcAft>
              <a:buClr>
                <a:srgbClr val="C00000"/>
              </a:buClr>
              <a:buFont typeface="Wingdings" panose="05000000000000000000" pitchFamily="2" charset="2"/>
              <a:buChar char="Ø"/>
              <a:defRPr/>
            </a:pPr>
            <a:r>
              <a:rPr lang="zh-CN" altLang="en-US" sz="2200" b="1" dirty="0">
                <a:solidFill>
                  <a:srgbClr val="030DCF"/>
                </a:solidFill>
              </a:rPr>
              <a:t>实体</a:t>
            </a:r>
            <a:r>
              <a:rPr lang="zh-CN" altLang="en-US" sz="2200" b="1" dirty="0"/>
              <a:t>：客观存在并可以区分的事物。可以是具体的人、事、物或者抽象的概念或联系。例如，一个学生、一门课、学生选课等。</a:t>
            </a:r>
            <a:endParaRPr lang="en-US" altLang="zh-CN" sz="2200" b="1" dirty="0"/>
          </a:p>
          <a:p>
            <a:pPr marL="257175" indent="342900" algn="just">
              <a:lnSpc>
                <a:spcPct val="110000"/>
              </a:lnSpc>
              <a:spcBef>
                <a:spcPts val="450"/>
              </a:spcBef>
              <a:spcAft>
                <a:spcPts val="450"/>
              </a:spcAft>
              <a:buClr>
                <a:srgbClr val="C00000"/>
              </a:buClr>
              <a:buFont typeface="Wingdings" panose="05000000000000000000" pitchFamily="2" charset="2"/>
              <a:buChar char="Ø"/>
              <a:defRPr/>
            </a:pPr>
            <a:r>
              <a:rPr lang="zh-CN" altLang="en-US" sz="2200" b="1" dirty="0" smtClean="0">
                <a:solidFill>
                  <a:srgbClr val="030DCF"/>
                </a:solidFill>
              </a:rPr>
              <a:t>联系</a:t>
            </a:r>
            <a:r>
              <a:rPr lang="zh-CN" altLang="en-US" sz="2200" b="1" dirty="0" smtClean="0"/>
              <a:t>：实体与实体间的关系。可以是</a:t>
            </a:r>
            <a:r>
              <a:rPr lang="zh-CN" altLang="en-US" sz="2200" b="1" dirty="0" smtClean="0">
                <a:solidFill>
                  <a:srgbClr val="FF0000"/>
                </a:solidFill>
              </a:rPr>
              <a:t>一对一、一对多、多对多联系</a:t>
            </a:r>
            <a:r>
              <a:rPr lang="zh-CN" altLang="en-US" sz="2200" b="1" dirty="0" smtClean="0"/>
              <a:t>。</a:t>
            </a:r>
            <a:endParaRPr lang="en-US" altLang="zh-CN" sz="2200" b="1" dirty="0" smtClean="0"/>
          </a:p>
          <a:p>
            <a:pPr marL="257175" indent="342900" algn="just">
              <a:lnSpc>
                <a:spcPct val="110000"/>
              </a:lnSpc>
              <a:spcBef>
                <a:spcPts val="450"/>
              </a:spcBef>
              <a:spcAft>
                <a:spcPts val="450"/>
              </a:spcAft>
              <a:buClr>
                <a:srgbClr val="C00000"/>
              </a:buClr>
              <a:buFont typeface="Wingdings" panose="05000000000000000000" pitchFamily="2" charset="2"/>
              <a:buChar char="Ø"/>
              <a:defRPr/>
            </a:pPr>
            <a:r>
              <a:rPr lang="zh-CN" altLang="en-US" sz="2200" b="1" dirty="0" smtClean="0">
                <a:solidFill>
                  <a:srgbClr val="030DCF"/>
                </a:solidFill>
              </a:rPr>
              <a:t>属性</a:t>
            </a:r>
            <a:r>
              <a:rPr lang="zh-CN" altLang="en-US" sz="2200" b="1" dirty="0"/>
              <a:t>：</a:t>
            </a:r>
            <a:r>
              <a:rPr lang="zh-CN" altLang="en-US" sz="2200" b="1" dirty="0">
                <a:solidFill>
                  <a:srgbClr val="FF0000"/>
                </a:solidFill>
              </a:rPr>
              <a:t>实体或联系</a:t>
            </a:r>
            <a:r>
              <a:rPr lang="zh-CN" altLang="en-US" sz="2200" b="1" dirty="0"/>
              <a:t>所具有的特征。如学生具有学号、姓名等属性，学生和课程建立选课联系后具有成绩属性。</a:t>
            </a:r>
            <a:endParaRPr lang="zh-CN" altLang="en-US" sz="2200" b="1" dirty="0"/>
          </a:p>
          <a:p>
            <a:pPr algn="just">
              <a:lnSpc>
                <a:spcPct val="110000"/>
              </a:lnSpc>
              <a:defRPr/>
            </a:pPr>
            <a:endParaRPr lang="zh-CN" altLang="en-US" sz="2200" b="1" dirty="0"/>
          </a:p>
        </p:txBody>
      </p:sp>
      <p:sp>
        <p:nvSpPr>
          <p:cNvPr id="7" name="Rectangle 2"/>
          <p:cNvSpPr>
            <a:spLocks noGrp="1" noChangeArrowheads="1"/>
          </p:cNvSpPr>
          <p:nvPr>
            <p:ph type="title"/>
          </p:nvPr>
        </p:nvSpPr>
        <p:spPr>
          <a:xfrm>
            <a:off x="1182222" y="318403"/>
            <a:ext cx="3893344" cy="517922"/>
          </a:xfrm>
        </p:spPr>
        <p:txBody>
          <a:bodyPr/>
          <a:lstStyle/>
          <a:p>
            <a:pPr eaLnBrk="1" hangingPunct="1">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.2 </a:t>
            </a:r>
            <a:r>
              <a:rPr lang="zh-CN" altLang="en-US" sz="3000" b="1" dirty="0">
                <a:latin typeface="黑体" panose="02010609060101010101" pitchFamily="49" charset="-122"/>
                <a:ea typeface="黑体" panose="02010609060101010101" pitchFamily="49" charset="-122"/>
              </a:rPr>
              <a:t>数据表示</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2763" y="1292452"/>
            <a:ext cx="8478262" cy="4943405"/>
          </a:xfrm>
          <a:prstGeom prst="rect">
            <a:avLst/>
          </a:prstGeom>
          <a:noFill/>
        </p:spPr>
        <p:txBody>
          <a:bodyPr wrap="square">
            <a:spAutoFit/>
          </a:bodyPr>
          <a:lstStyle/>
          <a:p>
            <a:pPr marL="214630" indent="-214630" algn="just">
              <a:lnSpc>
                <a:spcPct val="110000"/>
              </a:lnSpc>
              <a:spcBef>
                <a:spcPts val="450"/>
              </a:spcBef>
              <a:spcAft>
                <a:spcPts val="1200"/>
              </a:spcAft>
              <a:buClr>
                <a:srgbClr val="C00000"/>
              </a:buClr>
              <a:buFont typeface="Wingdings" panose="05000000000000000000" pitchFamily="2" charset="2"/>
              <a:buChar char="n"/>
              <a:defRPr/>
            </a:pPr>
            <a:r>
              <a:rPr lang="zh-CN" altLang="en-US" sz="2200" b="1" dirty="0"/>
              <a:t> </a:t>
            </a:r>
            <a:r>
              <a:rPr lang="zh-CN" altLang="en-US" sz="2200" b="1" dirty="0" smtClean="0"/>
              <a:t>实体</a:t>
            </a:r>
            <a:r>
              <a:rPr lang="zh-CN" altLang="en-US" sz="2200" b="1" dirty="0"/>
              <a:t>间的联系可以分为三种：</a:t>
            </a:r>
            <a:endParaRPr lang="en-US" altLang="zh-CN" sz="2200" b="1" dirty="0"/>
          </a:p>
          <a:p>
            <a:pPr marL="342900" indent="-342900" algn="just">
              <a:lnSpc>
                <a:spcPct val="110000"/>
              </a:lnSpc>
              <a:spcBef>
                <a:spcPts val="450"/>
              </a:spcBef>
              <a:buClr>
                <a:srgbClr val="C00000"/>
              </a:buClr>
              <a:buFont typeface="+mj-ea"/>
              <a:buAutoNum type="circleNumDbPlain"/>
              <a:defRPr/>
            </a:pPr>
            <a:r>
              <a:rPr lang="zh-CN" altLang="en-US" sz="2100" b="1" dirty="0"/>
              <a:t>一对一联系（</a:t>
            </a:r>
            <a:r>
              <a:rPr lang="en-US" altLang="zh-CN" sz="2100" b="1" dirty="0"/>
              <a:t>1:1</a:t>
            </a:r>
            <a:r>
              <a:rPr lang="zh-CN" altLang="en-US" sz="2100" b="1" dirty="0"/>
              <a:t>）</a:t>
            </a:r>
            <a:endParaRPr lang="en-US" altLang="zh-CN" sz="2100" b="1" dirty="0"/>
          </a:p>
          <a:p>
            <a:pPr marL="600075" lvl="1" indent="-257175" algn="just">
              <a:lnSpc>
                <a:spcPct val="110000"/>
              </a:lnSpc>
              <a:spcBef>
                <a:spcPts val="450"/>
              </a:spcBef>
              <a:buClr>
                <a:srgbClr val="C00000"/>
              </a:buClr>
              <a:buFont typeface="Wingdings" panose="05000000000000000000" pitchFamily="2" charset="2"/>
              <a:buChar char="ü"/>
              <a:defRPr/>
            </a:pPr>
            <a:r>
              <a:rPr lang="zh-CN" altLang="en-US" b="1" dirty="0"/>
              <a:t>如果对于实体集</a:t>
            </a:r>
            <a:r>
              <a:rPr lang="en-US" altLang="zh-CN" b="1" dirty="0"/>
              <a:t>A</a:t>
            </a:r>
            <a:r>
              <a:rPr lang="zh-CN" altLang="en-US" b="1" dirty="0"/>
              <a:t>中的每一个实体，实体集</a:t>
            </a:r>
            <a:r>
              <a:rPr lang="en-US" altLang="zh-CN" b="1" dirty="0"/>
              <a:t>B</a:t>
            </a:r>
            <a:r>
              <a:rPr lang="zh-CN" altLang="en-US" b="1" dirty="0"/>
              <a:t>中至多有一个（或者没有）实体与之联系，反之亦然。</a:t>
            </a:r>
            <a:endParaRPr lang="en-US" altLang="zh-CN" b="1" dirty="0"/>
          </a:p>
          <a:p>
            <a:pPr marL="342900" indent="-342900" algn="just">
              <a:lnSpc>
                <a:spcPct val="110000"/>
              </a:lnSpc>
              <a:spcBef>
                <a:spcPts val="1200"/>
              </a:spcBef>
              <a:buClr>
                <a:srgbClr val="C00000"/>
              </a:buClr>
              <a:buFont typeface="+mj-ea"/>
              <a:buAutoNum type="circleNumDbPlain"/>
              <a:defRPr/>
            </a:pPr>
            <a:r>
              <a:rPr lang="zh-CN" altLang="en-US" sz="2100" b="1" dirty="0"/>
              <a:t>一对多联系（</a:t>
            </a:r>
            <a:r>
              <a:rPr lang="en-US" altLang="zh-CN" sz="2100" b="1" dirty="0"/>
              <a:t>1:n</a:t>
            </a:r>
            <a:r>
              <a:rPr lang="zh-CN" altLang="en-US" sz="2100" b="1" dirty="0"/>
              <a:t>）</a:t>
            </a:r>
            <a:endParaRPr lang="en-US" altLang="zh-CN" sz="2100" b="1" dirty="0"/>
          </a:p>
          <a:p>
            <a:pPr marL="600075" lvl="1" indent="-257175" algn="just">
              <a:lnSpc>
                <a:spcPct val="110000"/>
              </a:lnSpc>
              <a:spcBef>
                <a:spcPts val="450"/>
              </a:spcBef>
              <a:buClr>
                <a:srgbClr val="C00000"/>
              </a:buClr>
              <a:buFont typeface="Wingdings" panose="05000000000000000000" pitchFamily="2" charset="2"/>
              <a:buChar char="ü"/>
              <a:defRPr/>
            </a:pPr>
            <a:r>
              <a:rPr lang="zh-CN" altLang="en-US" b="1" dirty="0"/>
              <a:t>如果对于实体集</a:t>
            </a:r>
            <a:r>
              <a:rPr lang="en-US" altLang="zh-CN" b="1" dirty="0"/>
              <a:t>A</a:t>
            </a:r>
            <a:r>
              <a:rPr lang="zh-CN" altLang="en-US" b="1" dirty="0"/>
              <a:t>中的每一个实体，实体集</a:t>
            </a:r>
            <a:r>
              <a:rPr lang="en-US" altLang="zh-CN" b="1" dirty="0"/>
              <a:t>B</a:t>
            </a:r>
            <a:r>
              <a:rPr lang="zh-CN" altLang="en-US" b="1" dirty="0"/>
              <a:t>中有</a:t>
            </a:r>
            <a:r>
              <a:rPr lang="en-US" altLang="zh-CN" b="1" dirty="0"/>
              <a:t>n</a:t>
            </a:r>
            <a:r>
              <a:rPr lang="zh-CN" altLang="en-US" b="1" dirty="0"/>
              <a:t>个实体与之联系</a:t>
            </a:r>
            <a:r>
              <a:rPr lang="en-US" altLang="zh-CN" b="1" dirty="0"/>
              <a:t>;</a:t>
            </a:r>
            <a:endParaRPr lang="en-US" altLang="zh-CN" b="1" dirty="0"/>
          </a:p>
          <a:p>
            <a:pPr marL="600075" lvl="1" indent="-257175" algn="just">
              <a:lnSpc>
                <a:spcPct val="110000"/>
              </a:lnSpc>
              <a:spcBef>
                <a:spcPts val="450"/>
              </a:spcBef>
              <a:buClr>
                <a:srgbClr val="C00000"/>
              </a:buClr>
              <a:buFont typeface="Wingdings" panose="05000000000000000000" pitchFamily="2" charset="2"/>
              <a:buChar char="ü"/>
              <a:defRPr/>
            </a:pPr>
            <a:r>
              <a:rPr lang="zh-CN" altLang="en-US" b="1" dirty="0"/>
              <a:t>对于实体集</a:t>
            </a:r>
            <a:r>
              <a:rPr lang="en-US" altLang="zh-CN" b="1" dirty="0"/>
              <a:t>B</a:t>
            </a:r>
            <a:r>
              <a:rPr lang="zh-CN" altLang="en-US" b="1" dirty="0"/>
              <a:t>中的每一个实体，实体</a:t>
            </a:r>
            <a:r>
              <a:rPr lang="en-US" altLang="zh-CN" b="1" dirty="0"/>
              <a:t>A</a:t>
            </a:r>
            <a:r>
              <a:rPr lang="zh-CN" altLang="en-US" b="1" dirty="0"/>
              <a:t>中至多只有一个实体与之联系</a:t>
            </a:r>
            <a:r>
              <a:rPr lang="en-US" altLang="zh-CN" b="1" dirty="0"/>
              <a:t>;</a:t>
            </a:r>
            <a:endParaRPr lang="en-US" altLang="zh-CN" b="1" dirty="0"/>
          </a:p>
          <a:p>
            <a:pPr marL="600075" lvl="1" indent="-257175" algn="just">
              <a:lnSpc>
                <a:spcPct val="110000"/>
              </a:lnSpc>
              <a:spcBef>
                <a:spcPts val="450"/>
              </a:spcBef>
              <a:buClr>
                <a:srgbClr val="C00000"/>
              </a:buClr>
              <a:buFont typeface="Wingdings" panose="05000000000000000000" pitchFamily="2" charset="2"/>
              <a:buChar char="ü"/>
              <a:defRPr/>
            </a:pPr>
            <a:r>
              <a:rPr lang="zh-CN" altLang="en-US" b="1" dirty="0"/>
              <a:t>则称</a:t>
            </a:r>
            <a:r>
              <a:rPr lang="en-US" altLang="zh-CN" b="1" dirty="0"/>
              <a:t>A</a:t>
            </a:r>
            <a:r>
              <a:rPr lang="zh-CN" altLang="en-US" b="1" dirty="0"/>
              <a:t>与</a:t>
            </a:r>
            <a:r>
              <a:rPr lang="en-US" altLang="zh-CN" b="1" dirty="0"/>
              <a:t>B</a:t>
            </a:r>
            <a:r>
              <a:rPr lang="zh-CN" altLang="en-US" b="1" dirty="0"/>
              <a:t>有一对多联系，即为</a:t>
            </a:r>
            <a:r>
              <a:rPr lang="en-US" altLang="zh-CN" b="1" dirty="0"/>
              <a:t>1:n</a:t>
            </a:r>
            <a:r>
              <a:rPr lang="zh-CN" altLang="en-US" b="1" dirty="0"/>
              <a:t>。</a:t>
            </a:r>
            <a:endParaRPr lang="en-US" altLang="zh-CN" b="1" dirty="0"/>
          </a:p>
          <a:p>
            <a:pPr marL="342900" indent="-342900" algn="just">
              <a:lnSpc>
                <a:spcPct val="110000"/>
              </a:lnSpc>
              <a:spcBef>
                <a:spcPts val="1200"/>
              </a:spcBef>
              <a:buClr>
                <a:srgbClr val="C00000"/>
              </a:buClr>
              <a:buFont typeface="+mj-ea"/>
              <a:buAutoNum type="circleNumDbPlain"/>
              <a:defRPr/>
            </a:pPr>
            <a:r>
              <a:rPr lang="zh-CN" altLang="en-US" sz="2100" b="1" dirty="0"/>
              <a:t>多对多联系（</a:t>
            </a:r>
            <a:r>
              <a:rPr lang="en-US" altLang="zh-CN" sz="2100" b="1" dirty="0"/>
              <a:t>m:n</a:t>
            </a:r>
            <a:r>
              <a:rPr lang="zh-CN" altLang="en-US" sz="2100" b="1" dirty="0"/>
              <a:t>）</a:t>
            </a:r>
            <a:endParaRPr lang="en-US" altLang="zh-CN" sz="2100" b="1" dirty="0"/>
          </a:p>
          <a:p>
            <a:pPr marL="599440" lvl="1" indent="-256540" algn="just">
              <a:lnSpc>
                <a:spcPct val="110000"/>
              </a:lnSpc>
              <a:spcBef>
                <a:spcPts val="450"/>
              </a:spcBef>
              <a:buClr>
                <a:srgbClr val="C00000"/>
              </a:buClr>
              <a:buFont typeface="Wingdings" panose="05000000000000000000" pitchFamily="2" charset="2"/>
              <a:buChar char="ü"/>
              <a:defRPr/>
            </a:pPr>
            <a:r>
              <a:rPr lang="zh-CN" altLang="en-US" b="1" dirty="0"/>
              <a:t>如果实体集</a:t>
            </a:r>
            <a:r>
              <a:rPr lang="en-US" altLang="zh-CN" b="1" dirty="0"/>
              <a:t>A</a:t>
            </a:r>
            <a:r>
              <a:rPr lang="zh-CN" altLang="en-US" b="1" dirty="0"/>
              <a:t>中的每一个实体，实体集</a:t>
            </a:r>
            <a:r>
              <a:rPr lang="en-US" altLang="zh-CN" b="1" dirty="0"/>
              <a:t>B</a:t>
            </a:r>
            <a:r>
              <a:rPr lang="zh-CN" altLang="en-US" b="1" dirty="0"/>
              <a:t>中也有</a:t>
            </a:r>
            <a:r>
              <a:rPr lang="en-US" altLang="zh-CN" b="1" dirty="0"/>
              <a:t>n</a:t>
            </a:r>
            <a:r>
              <a:rPr lang="zh-CN" altLang="en-US" b="1" dirty="0"/>
              <a:t>个实体与之联系</a:t>
            </a:r>
            <a:r>
              <a:rPr lang="en-US" altLang="zh-CN" b="1" dirty="0"/>
              <a:t>;</a:t>
            </a:r>
            <a:endParaRPr lang="en-US" altLang="zh-CN" b="1" dirty="0"/>
          </a:p>
          <a:p>
            <a:pPr marL="599440" lvl="1" indent="-256540" algn="just">
              <a:lnSpc>
                <a:spcPct val="110000"/>
              </a:lnSpc>
              <a:spcBef>
                <a:spcPts val="450"/>
              </a:spcBef>
              <a:buClr>
                <a:srgbClr val="C00000"/>
              </a:buClr>
              <a:buFont typeface="Wingdings" panose="05000000000000000000" pitchFamily="2" charset="2"/>
              <a:buChar char="ü"/>
              <a:defRPr/>
            </a:pPr>
            <a:r>
              <a:rPr lang="zh-CN" altLang="en-US" b="1" dirty="0"/>
              <a:t>对于实体集</a:t>
            </a:r>
            <a:r>
              <a:rPr lang="en-US" altLang="zh-CN" b="1" dirty="0"/>
              <a:t>B</a:t>
            </a:r>
            <a:r>
              <a:rPr lang="zh-CN" altLang="en-US" b="1" dirty="0"/>
              <a:t>中的每一个实体，实体</a:t>
            </a:r>
            <a:r>
              <a:rPr lang="en-US" altLang="zh-CN" b="1" dirty="0"/>
              <a:t>A</a:t>
            </a:r>
            <a:r>
              <a:rPr lang="zh-CN" altLang="en-US" b="1" dirty="0"/>
              <a:t>中也有</a:t>
            </a:r>
            <a:r>
              <a:rPr lang="en-US" altLang="zh-CN" b="1" dirty="0"/>
              <a:t>m</a:t>
            </a:r>
            <a:r>
              <a:rPr lang="zh-CN" altLang="en-US" b="1" dirty="0"/>
              <a:t>个实体与之联系</a:t>
            </a:r>
            <a:r>
              <a:rPr lang="en-US" altLang="zh-CN" b="1" dirty="0"/>
              <a:t>;</a:t>
            </a:r>
            <a:endParaRPr lang="en-US" altLang="zh-CN" b="1" dirty="0"/>
          </a:p>
          <a:p>
            <a:pPr marL="599440" lvl="1" indent="-256540" algn="just">
              <a:lnSpc>
                <a:spcPct val="110000"/>
              </a:lnSpc>
              <a:spcBef>
                <a:spcPts val="450"/>
              </a:spcBef>
              <a:buClr>
                <a:srgbClr val="C00000"/>
              </a:buClr>
              <a:buFont typeface="Wingdings" panose="05000000000000000000" pitchFamily="2" charset="2"/>
              <a:buChar char="ü"/>
              <a:defRPr/>
            </a:pPr>
            <a:r>
              <a:rPr lang="zh-CN" altLang="en-US" b="1" dirty="0"/>
              <a:t>则称</a:t>
            </a:r>
            <a:r>
              <a:rPr lang="en-US" altLang="zh-CN" b="1" dirty="0"/>
              <a:t>A</a:t>
            </a:r>
            <a:r>
              <a:rPr lang="zh-CN" altLang="en-US" b="1" dirty="0"/>
              <a:t>与</a:t>
            </a:r>
            <a:r>
              <a:rPr lang="en-US" altLang="zh-CN" b="1" dirty="0"/>
              <a:t>B</a:t>
            </a:r>
            <a:r>
              <a:rPr lang="zh-CN" altLang="en-US" b="1" dirty="0"/>
              <a:t>有多对多联系，即为</a:t>
            </a:r>
            <a:r>
              <a:rPr lang="en-US" altLang="zh-CN" b="1" dirty="0"/>
              <a:t>m:n</a:t>
            </a:r>
            <a:r>
              <a:rPr lang="zh-CN" altLang="en-US" b="1" dirty="0"/>
              <a:t>。</a:t>
            </a:r>
            <a:r>
              <a:rPr lang="en-US" altLang="zh-CN" b="1" dirty="0"/>
              <a:t>      </a:t>
            </a:r>
            <a:endParaRPr lang="zh-CN" altLang="en-US" b="1" dirty="0"/>
          </a:p>
        </p:txBody>
      </p:sp>
      <p:sp>
        <p:nvSpPr>
          <p:cNvPr id="3" name="文本框 2"/>
          <p:cNvSpPr txBox="1">
            <a:spLocks noChangeArrowheads="1"/>
          </p:cNvSpPr>
          <p:nvPr/>
        </p:nvSpPr>
        <p:spPr bwMode="auto">
          <a:xfrm>
            <a:off x="4162916" y="1788085"/>
            <a:ext cx="183713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2100" b="1" dirty="0">
                <a:solidFill>
                  <a:srgbClr val="FF0000"/>
                </a:solidFill>
                <a:latin typeface="Century Gothic" panose="020B0502020202020204" pitchFamily="34" charset="0"/>
              </a:rPr>
              <a:t>班级和班长</a:t>
            </a:r>
            <a:endParaRPr lang="zh-CN" altLang="en-US" sz="2100" b="1" dirty="0">
              <a:solidFill>
                <a:srgbClr val="FF0000"/>
              </a:solidFill>
              <a:latin typeface="Century Gothic" panose="020B0502020202020204" pitchFamily="34" charset="0"/>
            </a:endParaRPr>
          </a:p>
        </p:txBody>
      </p:sp>
      <p:sp>
        <p:nvSpPr>
          <p:cNvPr id="5" name="文本框 4"/>
          <p:cNvSpPr txBox="1">
            <a:spLocks noChangeArrowheads="1"/>
          </p:cNvSpPr>
          <p:nvPr/>
        </p:nvSpPr>
        <p:spPr bwMode="auto">
          <a:xfrm>
            <a:off x="4262402" y="2989353"/>
            <a:ext cx="183713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2100" b="1" dirty="0">
                <a:solidFill>
                  <a:srgbClr val="FF0000"/>
                </a:solidFill>
                <a:latin typeface="Century Gothic" panose="020B0502020202020204" pitchFamily="34" charset="0"/>
              </a:rPr>
              <a:t>班级和学生</a:t>
            </a:r>
            <a:endParaRPr lang="zh-CN" altLang="en-US" sz="2100" b="1" dirty="0">
              <a:solidFill>
                <a:srgbClr val="FF0000"/>
              </a:solidFill>
              <a:latin typeface="Century Gothic" panose="020B0502020202020204" pitchFamily="34" charset="0"/>
            </a:endParaRPr>
          </a:p>
        </p:txBody>
      </p:sp>
      <p:sp>
        <p:nvSpPr>
          <p:cNvPr id="6" name="文本框 5"/>
          <p:cNvSpPr txBox="1">
            <a:spLocks noChangeArrowheads="1"/>
          </p:cNvSpPr>
          <p:nvPr/>
        </p:nvSpPr>
        <p:spPr bwMode="auto">
          <a:xfrm>
            <a:off x="4262402" y="4630908"/>
            <a:ext cx="183713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2100" b="1" dirty="0">
                <a:solidFill>
                  <a:srgbClr val="FF0000"/>
                </a:solidFill>
                <a:latin typeface="Century Gothic" panose="020B0502020202020204" pitchFamily="34" charset="0"/>
              </a:rPr>
              <a:t>课程和学生</a:t>
            </a:r>
            <a:endParaRPr lang="zh-CN" altLang="en-US" sz="2100" b="1" dirty="0">
              <a:solidFill>
                <a:srgbClr val="FF0000"/>
              </a:solidFill>
              <a:latin typeface="Century Gothic" panose="020B0502020202020204" pitchFamily="34" charset="0"/>
            </a:endParaRPr>
          </a:p>
        </p:txBody>
      </p:sp>
      <p:sp>
        <p:nvSpPr>
          <p:cNvPr id="8" name="Rectangle 2"/>
          <p:cNvSpPr>
            <a:spLocks noGrp="1" noChangeArrowheads="1"/>
          </p:cNvSpPr>
          <p:nvPr>
            <p:ph type="title"/>
          </p:nvPr>
        </p:nvSpPr>
        <p:spPr>
          <a:xfrm>
            <a:off x="1182222" y="318403"/>
            <a:ext cx="3893344" cy="517922"/>
          </a:xfrm>
        </p:spPr>
        <p:txBody>
          <a:bodyPr/>
          <a:lstStyle/>
          <a:p>
            <a:pPr eaLnBrk="1" hangingPunct="1">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.2 </a:t>
            </a:r>
            <a:r>
              <a:rPr lang="zh-CN" altLang="en-US" sz="3000" b="1" dirty="0">
                <a:latin typeface="黑体" panose="02010609060101010101" pitchFamily="49" charset="-122"/>
                <a:ea typeface="黑体" panose="02010609060101010101" pitchFamily="49" charset="-122"/>
              </a:rPr>
              <a:t>数据表示</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1000"/>
                                        <p:tgtEl>
                                          <p:spTgt spid="2">
                                            <p:txEl>
                                              <p:pRg st="4" end="4"/>
                                            </p:txEl>
                                          </p:spTgt>
                                        </p:tgtEl>
                                      </p:cBhvr>
                                    </p:animEffect>
                                    <p:anim calcmode="lin" valueType="num">
                                      <p:cBhvr>
                                        <p:cTn id="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fade">
                                      <p:cBhvr>
                                        <p:cTn id="12" dur="1000"/>
                                        <p:tgtEl>
                                          <p:spTgt spid="2">
                                            <p:txEl>
                                              <p:pRg st="5" end="5"/>
                                            </p:txEl>
                                          </p:spTgt>
                                        </p:tgtEl>
                                      </p:cBhvr>
                                    </p:animEffect>
                                    <p:anim calcmode="lin" valueType="num">
                                      <p:cBhvr>
                                        <p:cTn id="1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fade">
                                      <p:cBhvr>
                                        <p:cTn id="17" dur="1000"/>
                                        <p:tgtEl>
                                          <p:spTgt spid="2">
                                            <p:txEl>
                                              <p:pRg st="6" end="6"/>
                                            </p:txEl>
                                          </p:spTgt>
                                        </p:tgtEl>
                                      </p:cBhvr>
                                    </p:animEffect>
                                    <p:anim calcmode="lin" valueType="num">
                                      <p:cBhvr>
                                        <p:cTn id="18"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Effect transition="in" filter="fade">
                                      <p:cBhvr>
                                        <p:cTn id="28" dur="1000"/>
                                        <p:tgtEl>
                                          <p:spTgt spid="2">
                                            <p:txEl>
                                              <p:pRg st="8" end="8"/>
                                            </p:txEl>
                                          </p:spTgt>
                                        </p:tgtEl>
                                      </p:cBhvr>
                                    </p:animEffect>
                                    <p:anim calcmode="lin" valueType="num">
                                      <p:cBhvr>
                                        <p:cTn id="29"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8" end="8"/>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Effect transition="in" filter="fade">
                                      <p:cBhvr>
                                        <p:cTn id="33" dur="1000"/>
                                        <p:tgtEl>
                                          <p:spTgt spid="2">
                                            <p:txEl>
                                              <p:pRg st="9" end="9"/>
                                            </p:txEl>
                                          </p:spTgt>
                                        </p:tgtEl>
                                      </p:cBhvr>
                                    </p:animEffect>
                                    <p:anim calcmode="lin" valueType="num">
                                      <p:cBhvr>
                                        <p:cTn id="34"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9" end="9"/>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
                                            <p:txEl>
                                              <p:pRg st="10" end="10"/>
                                            </p:txEl>
                                          </p:spTgt>
                                        </p:tgtEl>
                                        <p:attrNameLst>
                                          <p:attrName>style.visibility</p:attrName>
                                        </p:attrNameLst>
                                      </p:cBhvr>
                                      <p:to>
                                        <p:strVal val="visible"/>
                                      </p:to>
                                    </p:set>
                                    <p:animEffect transition="in" filter="fade">
                                      <p:cBhvr>
                                        <p:cTn id="38" dur="1000"/>
                                        <p:tgtEl>
                                          <p:spTgt spid="2">
                                            <p:txEl>
                                              <p:pRg st="10" end="10"/>
                                            </p:txEl>
                                          </p:spTgt>
                                        </p:tgtEl>
                                      </p:cBhvr>
                                    </p:animEffect>
                                    <p:anim calcmode="lin" valueType="num">
                                      <p:cBhvr>
                                        <p:cTn id="39"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2" name="Rectangle 4"/>
          <p:cNvSpPr>
            <a:spLocks noChangeArrowheads="1"/>
          </p:cNvSpPr>
          <p:nvPr/>
        </p:nvSpPr>
        <p:spPr bwMode="auto">
          <a:xfrm>
            <a:off x="198813" y="1328809"/>
            <a:ext cx="8489728" cy="2786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257175" indent="-257175" algn="just">
              <a:lnSpc>
                <a:spcPct val="110000"/>
              </a:lnSpc>
              <a:spcBef>
                <a:spcPts val="450"/>
              </a:spcBef>
              <a:buClr>
                <a:srgbClr val="C00000"/>
              </a:buClr>
              <a:buSzPct val="100000"/>
              <a:buFont typeface="Wingdings" panose="05000000000000000000" pitchFamily="2" charset="2"/>
              <a:buChar char="n"/>
              <a:defRPr/>
            </a:pPr>
            <a:r>
              <a:rPr lang="zh-CN" altLang="en-US" sz="2400" b="1" dirty="0">
                <a:latin typeface="Times New Roman" panose="02020603050405020304" pitchFamily="18" charset="0"/>
              </a:rPr>
              <a:t>通常用实体</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联系图（</a:t>
            </a:r>
            <a:r>
              <a:rPr lang="en-US" altLang="zh-CN" sz="2400" b="1" dirty="0">
                <a:latin typeface="Times New Roman" panose="02020603050405020304" pitchFamily="18" charset="0"/>
              </a:rPr>
              <a:t>E-R</a:t>
            </a:r>
            <a:r>
              <a:rPr lang="zh-CN" altLang="en-US" sz="2400" b="1" dirty="0">
                <a:latin typeface="Times New Roman" panose="02020603050405020304" pitchFamily="18" charset="0"/>
              </a:rPr>
              <a:t>图）来描述现实世界的概念模型，即实体以及实体之间的联系。</a:t>
            </a:r>
            <a:r>
              <a:rPr lang="zh-CN" altLang="en-US" sz="2400" dirty="0">
                <a:latin typeface="Times New Roman" panose="02020603050405020304" pitchFamily="18" charset="0"/>
              </a:rPr>
              <a:t> </a:t>
            </a:r>
            <a:endParaRPr lang="en-US" altLang="zh-CN" sz="2400" dirty="0">
              <a:latin typeface="Times New Roman" panose="02020603050405020304" pitchFamily="18" charset="0"/>
            </a:endParaRPr>
          </a:p>
          <a:p>
            <a:pPr marL="600075" lvl="1" indent="-257175" algn="just">
              <a:lnSpc>
                <a:spcPct val="110000"/>
              </a:lnSpc>
              <a:spcBef>
                <a:spcPts val="450"/>
              </a:spcBef>
              <a:buClr>
                <a:srgbClr val="C00000"/>
              </a:buClr>
              <a:buSzPct val="100000"/>
              <a:buFont typeface="Wingdings" panose="05000000000000000000" pitchFamily="2" charset="2"/>
              <a:buChar char="n"/>
              <a:defRPr/>
            </a:pPr>
            <a:r>
              <a:rPr lang="zh-CN" altLang="en-US" sz="2400" b="1" dirty="0">
                <a:latin typeface="Times New Roman" panose="02020603050405020304" pitchFamily="18" charset="0"/>
              </a:rPr>
              <a:t>矩形框代表实体；</a:t>
            </a:r>
            <a:endParaRPr lang="en-US" altLang="zh-CN" sz="2400" b="1" dirty="0">
              <a:latin typeface="Times New Roman" panose="02020603050405020304" pitchFamily="18" charset="0"/>
            </a:endParaRPr>
          </a:p>
          <a:p>
            <a:pPr marL="600075" lvl="1" indent="-257175" algn="just">
              <a:lnSpc>
                <a:spcPct val="110000"/>
              </a:lnSpc>
              <a:spcBef>
                <a:spcPts val="450"/>
              </a:spcBef>
              <a:buClr>
                <a:srgbClr val="C00000"/>
              </a:buClr>
              <a:buSzPct val="100000"/>
              <a:buFont typeface="Wingdings" panose="05000000000000000000" pitchFamily="2" charset="2"/>
              <a:buChar char="n"/>
              <a:defRPr/>
            </a:pPr>
            <a:r>
              <a:rPr lang="zh-CN" altLang="en-US" sz="2400" b="1" dirty="0">
                <a:latin typeface="Times New Roman" panose="02020603050405020304" pitchFamily="18" charset="0"/>
              </a:rPr>
              <a:t>椭圆形框代表属性；</a:t>
            </a:r>
            <a:endParaRPr lang="en-US" altLang="zh-CN" sz="2400" b="1" dirty="0">
              <a:latin typeface="Times New Roman" panose="02020603050405020304" pitchFamily="18" charset="0"/>
            </a:endParaRPr>
          </a:p>
          <a:p>
            <a:pPr marL="600075" lvl="1" indent="-257175" algn="just">
              <a:lnSpc>
                <a:spcPct val="110000"/>
              </a:lnSpc>
              <a:spcBef>
                <a:spcPts val="450"/>
              </a:spcBef>
              <a:buClr>
                <a:srgbClr val="C00000"/>
              </a:buClr>
              <a:buSzPct val="100000"/>
              <a:buFont typeface="Wingdings" panose="05000000000000000000" pitchFamily="2" charset="2"/>
              <a:buChar char="n"/>
              <a:defRPr/>
            </a:pPr>
            <a:r>
              <a:rPr lang="zh-CN" altLang="en-US" sz="2400" b="1" dirty="0">
                <a:latin typeface="Times New Roman" panose="02020603050405020304" pitchFamily="18" charset="0"/>
              </a:rPr>
              <a:t>菱形框代表联系；</a:t>
            </a:r>
            <a:endParaRPr lang="en-US" altLang="zh-CN" sz="2400" b="1" dirty="0">
              <a:latin typeface="Times New Roman" panose="02020603050405020304" pitchFamily="18" charset="0"/>
            </a:endParaRPr>
          </a:p>
          <a:p>
            <a:pPr lvl="1" algn="just">
              <a:lnSpc>
                <a:spcPct val="110000"/>
              </a:lnSpc>
              <a:spcBef>
                <a:spcPts val="450"/>
              </a:spcBef>
              <a:buClr>
                <a:srgbClr val="C00000"/>
              </a:buClr>
              <a:buSzPct val="100000"/>
              <a:defRPr/>
            </a:pPr>
            <a:r>
              <a:rPr lang="zh-CN" altLang="en-US" sz="2400" b="1" dirty="0">
                <a:latin typeface="Times New Roman" panose="02020603050405020304" pitchFamily="18" charset="0"/>
              </a:rPr>
              <a:t>实体和联系相连的</a:t>
            </a:r>
            <a:r>
              <a:rPr lang="zh-CN" altLang="en-US" sz="2400" b="1" dirty="0">
                <a:solidFill>
                  <a:srgbClr val="030DCF"/>
                </a:solidFill>
                <a:latin typeface="Times New Roman" panose="02020603050405020304" pitchFamily="18" charset="0"/>
              </a:rPr>
              <a:t>弧线上注明联系的类型</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1:1</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1:n</a:t>
            </a:r>
            <a:r>
              <a:rPr lang="zh-CN" altLang="en-US" sz="2400" b="1" dirty="0">
                <a:latin typeface="Times New Roman" panose="02020603050405020304" pitchFamily="18" charset="0"/>
              </a:rPr>
              <a:t>或</a:t>
            </a:r>
            <a:r>
              <a:rPr lang="en-US" altLang="zh-CN" sz="2400" b="1" dirty="0">
                <a:latin typeface="Times New Roman" panose="02020603050405020304" pitchFamily="18" charset="0"/>
              </a:rPr>
              <a:t>m:n</a:t>
            </a:r>
            <a:r>
              <a:rPr lang="zh-CN" altLang="en-US"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45059" name="Rectangle 12"/>
          <p:cNvSpPr>
            <a:spLocks noChangeArrowheads="1"/>
          </p:cNvSpPr>
          <p:nvPr/>
        </p:nvSpPr>
        <p:spPr bwMode="auto">
          <a:xfrm>
            <a:off x="2016084" y="4439977"/>
            <a:ext cx="809625" cy="404813"/>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ctr">
              <a:spcBef>
                <a:spcPct val="0"/>
              </a:spcBef>
              <a:buClrTx/>
              <a:buFontTx/>
              <a:buNone/>
            </a:pPr>
            <a:r>
              <a:rPr lang="zh-CN" altLang="en-US" sz="2000" b="1">
                <a:solidFill>
                  <a:schemeClr val="tx1"/>
                </a:solidFill>
                <a:latin typeface="Century Gothic" panose="020B0502020202020204" pitchFamily="34" charset="0"/>
              </a:rPr>
              <a:t>实体</a:t>
            </a:r>
            <a:endParaRPr lang="zh-CN" altLang="en-US" sz="2000" b="1">
              <a:solidFill>
                <a:schemeClr val="tx1"/>
              </a:solidFill>
              <a:latin typeface="Century Gothic" panose="020B0502020202020204" pitchFamily="34" charset="0"/>
            </a:endParaRPr>
          </a:p>
        </p:txBody>
      </p:sp>
      <p:sp>
        <p:nvSpPr>
          <p:cNvPr id="45060" name="AutoShape 13"/>
          <p:cNvSpPr>
            <a:spLocks noChangeArrowheads="1"/>
          </p:cNvSpPr>
          <p:nvPr/>
        </p:nvSpPr>
        <p:spPr bwMode="auto">
          <a:xfrm>
            <a:off x="3559134" y="4430452"/>
            <a:ext cx="809625" cy="404813"/>
          </a:xfrm>
          <a:prstGeom prst="roundRect">
            <a:avLst>
              <a:gd name="adj" fmla="val 16667"/>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ctr">
              <a:spcBef>
                <a:spcPct val="0"/>
              </a:spcBef>
              <a:buClrTx/>
              <a:buFontTx/>
              <a:buNone/>
            </a:pPr>
            <a:r>
              <a:rPr lang="zh-CN" altLang="en-US" sz="2000" b="1">
                <a:solidFill>
                  <a:schemeClr val="tx1"/>
                </a:solidFill>
                <a:latin typeface="Century Gothic" panose="020B0502020202020204" pitchFamily="34" charset="0"/>
              </a:rPr>
              <a:t>属性</a:t>
            </a:r>
            <a:endParaRPr lang="zh-CN" altLang="en-US" sz="2000" b="1">
              <a:solidFill>
                <a:schemeClr val="tx1"/>
              </a:solidFill>
              <a:latin typeface="Century Gothic" panose="020B0502020202020204" pitchFamily="34" charset="0"/>
            </a:endParaRPr>
          </a:p>
        </p:txBody>
      </p:sp>
      <p:sp>
        <p:nvSpPr>
          <p:cNvPr id="45061" name="Oval 14"/>
          <p:cNvSpPr>
            <a:spLocks noChangeArrowheads="1"/>
          </p:cNvSpPr>
          <p:nvPr/>
        </p:nvSpPr>
        <p:spPr bwMode="auto">
          <a:xfrm>
            <a:off x="4509251" y="4428070"/>
            <a:ext cx="810816" cy="404813"/>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ctr">
              <a:spcBef>
                <a:spcPct val="0"/>
              </a:spcBef>
              <a:buClrTx/>
              <a:buFontTx/>
              <a:buNone/>
            </a:pPr>
            <a:r>
              <a:rPr lang="zh-CN" altLang="en-US" sz="2000" b="1">
                <a:solidFill>
                  <a:schemeClr val="tx1"/>
                </a:solidFill>
                <a:latin typeface="Century Gothic" panose="020B0502020202020204" pitchFamily="34" charset="0"/>
              </a:rPr>
              <a:t>属性</a:t>
            </a:r>
            <a:endParaRPr lang="zh-CN" altLang="en-US" sz="2000" b="1">
              <a:solidFill>
                <a:schemeClr val="tx1"/>
              </a:solidFill>
              <a:latin typeface="Century Gothic" panose="020B0502020202020204" pitchFamily="34" charset="0"/>
            </a:endParaRPr>
          </a:p>
        </p:txBody>
      </p:sp>
      <p:sp>
        <p:nvSpPr>
          <p:cNvPr id="45062" name="AutoShape 17"/>
          <p:cNvSpPr>
            <a:spLocks noChangeArrowheads="1"/>
          </p:cNvSpPr>
          <p:nvPr/>
        </p:nvSpPr>
        <p:spPr bwMode="auto">
          <a:xfrm>
            <a:off x="5877283" y="4434023"/>
            <a:ext cx="944165" cy="404813"/>
          </a:xfrm>
          <a:prstGeom prst="diamond">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ctr">
              <a:spcBef>
                <a:spcPct val="0"/>
              </a:spcBef>
              <a:buClrTx/>
              <a:buFontTx/>
              <a:buNone/>
            </a:pPr>
            <a:r>
              <a:rPr lang="zh-CN" altLang="en-US" sz="2000" b="1">
                <a:solidFill>
                  <a:schemeClr val="tx1"/>
                </a:solidFill>
                <a:latin typeface="Century Gothic" panose="020B0502020202020204" pitchFamily="34" charset="0"/>
              </a:rPr>
              <a:t>联系</a:t>
            </a:r>
            <a:endParaRPr lang="zh-CN" altLang="en-US" sz="2000" b="1">
              <a:solidFill>
                <a:schemeClr val="tx1"/>
              </a:solidFill>
              <a:latin typeface="Century Gothic" panose="020B0502020202020204" pitchFamily="34" charset="0"/>
            </a:endParaRPr>
          </a:p>
        </p:txBody>
      </p:sp>
      <p:sp>
        <p:nvSpPr>
          <p:cNvPr id="8" name="Rectangle 12"/>
          <p:cNvSpPr>
            <a:spLocks noChangeArrowheads="1"/>
          </p:cNvSpPr>
          <p:nvPr/>
        </p:nvSpPr>
        <p:spPr bwMode="auto">
          <a:xfrm>
            <a:off x="1983795" y="5458598"/>
            <a:ext cx="809625" cy="404813"/>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ctr">
              <a:spcBef>
                <a:spcPct val="0"/>
              </a:spcBef>
              <a:buClrTx/>
              <a:buFontTx/>
              <a:buNone/>
              <a:defRPr/>
            </a:pPr>
            <a:r>
              <a:rPr lang="zh-CN" altLang="en-US" sz="2000" b="1" dirty="0">
                <a:solidFill>
                  <a:schemeClr val="tx1"/>
                </a:solidFill>
                <a:latin typeface="+mn-lt"/>
              </a:rPr>
              <a:t>班级</a:t>
            </a:r>
            <a:endParaRPr lang="zh-CN" altLang="en-US" sz="2000" b="1" dirty="0">
              <a:solidFill>
                <a:schemeClr val="tx1"/>
              </a:solidFill>
              <a:latin typeface="+mn-lt"/>
            </a:endParaRPr>
          </a:p>
        </p:txBody>
      </p:sp>
      <p:sp>
        <p:nvSpPr>
          <p:cNvPr id="9" name="Rectangle 12"/>
          <p:cNvSpPr>
            <a:spLocks noChangeArrowheads="1"/>
          </p:cNvSpPr>
          <p:nvPr/>
        </p:nvSpPr>
        <p:spPr bwMode="auto">
          <a:xfrm>
            <a:off x="5373502" y="5458598"/>
            <a:ext cx="810816" cy="404813"/>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ctr">
              <a:spcBef>
                <a:spcPct val="0"/>
              </a:spcBef>
              <a:buClrTx/>
              <a:buFontTx/>
              <a:buNone/>
              <a:defRPr/>
            </a:pPr>
            <a:r>
              <a:rPr lang="zh-CN" altLang="en-US" sz="2000" b="1" dirty="0">
                <a:solidFill>
                  <a:schemeClr val="tx1"/>
                </a:solidFill>
                <a:latin typeface="+mn-lt"/>
              </a:rPr>
              <a:t>学生</a:t>
            </a:r>
            <a:endParaRPr lang="zh-CN" altLang="en-US" sz="2000" b="1" dirty="0">
              <a:solidFill>
                <a:schemeClr val="tx1"/>
              </a:solidFill>
              <a:latin typeface="+mn-lt"/>
            </a:endParaRPr>
          </a:p>
        </p:txBody>
      </p:sp>
      <p:sp>
        <p:nvSpPr>
          <p:cNvPr id="45066" name="AutoShape 17"/>
          <p:cNvSpPr>
            <a:spLocks noChangeArrowheads="1"/>
          </p:cNvSpPr>
          <p:nvPr/>
        </p:nvSpPr>
        <p:spPr bwMode="auto">
          <a:xfrm>
            <a:off x="3587563" y="5374064"/>
            <a:ext cx="991793" cy="566149"/>
          </a:xfrm>
          <a:prstGeom prst="diamond">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ctr">
              <a:spcBef>
                <a:spcPct val="0"/>
              </a:spcBef>
              <a:buClrTx/>
              <a:buFontTx/>
              <a:buNone/>
            </a:pPr>
            <a:r>
              <a:rPr lang="zh-CN" altLang="en-US" sz="2000" b="1">
                <a:solidFill>
                  <a:schemeClr val="tx1"/>
                </a:solidFill>
                <a:latin typeface="Century Gothic" panose="020B0502020202020204" pitchFamily="34" charset="0"/>
              </a:rPr>
              <a:t>联系</a:t>
            </a:r>
            <a:endParaRPr lang="zh-CN" altLang="en-US" sz="2000" b="1">
              <a:solidFill>
                <a:schemeClr val="tx1"/>
              </a:solidFill>
              <a:latin typeface="Century Gothic" panose="020B0502020202020204" pitchFamily="34" charset="0"/>
            </a:endParaRPr>
          </a:p>
        </p:txBody>
      </p:sp>
      <p:cxnSp>
        <p:nvCxnSpPr>
          <p:cNvPr id="3" name="直接连接符 2"/>
          <p:cNvCxnSpPr>
            <a:stCxn id="8" idx="3"/>
            <a:endCxn id="45066" idx="1"/>
          </p:cNvCxnSpPr>
          <p:nvPr/>
        </p:nvCxnSpPr>
        <p:spPr>
          <a:xfrm flipV="1">
            <a:off x="2793420" y="5657139"/>
            <a:ext cx="794143" cy="38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555544" y="5661004"/>
            <a:ext cx="804863" cy="11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080358" y="5280159"/>
            <a:ext cx="507206" cy="400110"/>
          </a:xfrm>
          <a:prstGeom prst="rect">
            <a:avLst/>
          </a:prstGeom>
          <a:noFill/>
        </p:spPr>
        <p:txBody>
          <a:bodyPr>
            <a:spAutoFit/>
          </a:bodyPr>
          <a:lstStyle/>
          <a:p>
            <a:pPr>
              <a:defRPr/>
            </a:pPr>
            <a:r>
              <a:rPr lang="en-US" altLang="zh-CN" sz="2000" b="1" dirty="0"/>
              <a:t>1</a:t>
            </a:r>
            <a:endParaRPr lang="zh-CN" altLang="en-US" sz="2000" b="1" dirty="0"/>
          </a:p>
        </p:txBody>
      </p:sp>
      <p:sp>
        <p:nvSpPr>
          <p:cNvPr id="15" name="文本框 14"/>
          <p:cNvSpPr txBox="1"/>
          <p:nvPr/>
        </p:nvSpPr>
        <p:spPr>
          <a:xfrm>
            <a:off x="4814051" y="5280159"/>
            <a:ext cx="506016" cy="400110"/>
          </a:xfrm>
          <a:prstGeom prst="rect">
            <a:avLst/>
          </a:prstGeom>
          <a:noFill/>
        </p:spPr>
        <p:txBody>
          <a:bodyPr>
            <a:spAutoFit/>
          </a:bodyPr>
          <a:lstStyle/>
          <a:p>
            <a:pPr>
              <a:defRPr/>
            </a:pPr>
            <a:r>
              <a:rPr lang="en-US" altLang="zh-CN" sz="2000" b="1" dirty="0"/>
              <a:t>n</a:t>
            </a:r>
            <a:endParaRPr lang="zh-CN" altLang="en-US" sz="2000" b="1" dirty="0"/>
          </a:p>
        </p:txBody>
      </p:sp>
      <p:sp>
        <p:nvSpPr>
          <p:cNvPr id="17" name="Rectangle 2"/>
          <p:cNvSpPr>
            <a:spLocks noGrp="1" noChangeArrowheads="1"/>
          </p:cNvSpPr>
          <p:nvPr>
            <p:ph type="title"/>
          </p:nvPr>
        </p:nvSpPr>
        <p:spPr>
          <a:xfrm>
            <a:off x="1182222" y="318403"/>
            <a:ext cx="3893344" cy="517922"/>
          </a:xfrm>
        </p:spPr>
        <p:txBody>
          <a:bodyPr/>
          <a:lstStyle/>
          <a:p>
            <a:pPr eaLnBrk="1" hangingPunct="1">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.2 </a:t>
            </a:r>
            <a:r>
              <a:rPr lang="zh-CN" altLang="en-US" sz="3000" b="1" dirty="0">
                <a:latin typeface="黑体" panose="02010609060101010101" pitchFamily="49" charset="-122"/>
                <a:ea typeface="黑体" panose="02010609060101010101" pitchFamily="49" charset="-122"/>
              </a:rPr>
              <a:t>数据表示</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ChangeArrowheads="1"/>
          </p:cNvSpPr>
          <p:nvPr/>
        </p:nvSpPr>
        <p:spPr bwMode="auto">
          <a:xfrm>
            <a:off x="135468" y="1269699"/>
            <a:ext cx="529709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20000"/>
              </a:spcBef>
              <a:buClr>
                <a:schemeClr val="folHlink"/>
              </a:buClr>
              <a:buSzPct val="60000"/>
              <a:buFont typeface="Wingdings" panose="05000000000000000000" pitchFamily="2" charset="2"/>
              <a:buNone/>
            </a:pPr>
            <a:r>
              <a:rPr lang="zh-CN" altLang="en-US" sz="2200" b="1" dirty="0">
                <a:solidFill>
                  <a:schemeClr val="tx1"/>
                </a:solidFill>
              </a:rPr>
              <a:t>例</a:t>
            </a:r>
            <a:r>
              <a:rPr lang="en-US" altLang="zh-CN" sz="2200" b="1" dirty="0">
                <a:solidFill>
                  <a:schemeClr val="tx1"/>
                </a:solidFill>
              </a:rPr>
              <a:t>:</a:t>
            </a:r>
            <a:r>
              <a:rPr lang="zh-CN" altLang="en-US" sz="2200" b="1" dirty="0">
                <a:solidFill>
                  <a:schemeClr val="tx1"/>
                </a:solidFill>
              </a:rPr>
              <a:t>为学生选课系统建立实体</a:t>
            </a:r>
            <a:r>
              <a:rPr lang="en-US" altLang="zh-CN" sz="2200" b="1" dirty="0">
                <a:solidFill>
                  <a:schemeClr val="tx1"/>
                </a:solidFill>
              </a:rPr>
              <a:t>-</a:t>
            </a:r>
            <a:r>
              <a:rPr lang="zh-CN" altLang="en-US" sz="2200" b="1" dirty="0">
                <a:solidFill>
                  <a:schemeClr val="tx1"/>
                </a:solidFill>
              </a:rPr>
              <a:t>联系图。</a:t>
            </a:r>
            <a:endParaRPr lang="zh-CN" altLang="en-US" sz="2200" b="1" dirty="0">
              <a:solidFill>
                <a:schemeClr val="tx1"/>
              </a:solidFill>
            </a:endParaRPr>
          </a:p>
        </p:txBody>
      </p:sp>
      <p:pic>
        <p:nvPicPr>
          <p:cNvPr id="47108"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17068" y="3903904"/>
            <a:ext cx="4528052" cy="2697983"/>
          </a:xfrm>
          <a:prstGeom prst="rect">
            <a:avLst/>
          </a:prstGeom>
          <a:noFill/>
          <a:ln w="28575">
            <a:solidFill>
              <a:srgbClr val="C00000"/>
            </a:solidFill>
            <a:miter lim="800000"/>
            <a:headEnd/>
            <a:tailEnd/>
          </a:ln>
          <a:extLst>
            <a:ext uri="{909E8E84-426E-40DD-AFC4-6F175D3DCCD1}">
              <a14:hiddenFill xmlns:a14="http://schemas.microsoft.com/office/drawing/2010/main">
                <a:solidFill>
                  <a:srgbClr val="FFFFFF"/>
                </a:solidFill>
              </a14:hiddenFill>
            </a:ext>
          </a:extLst>
        </p:spPr>
      </p:pic>
      <p:sp>
        <p:nvSpPr>
          <p:cNvPr id="46085" name="文本框 1"/>
          <p:cNvSpPr txBox="1">
            <a:spLocks noChangeArrowheads="1"/>
          </p:cNvSpPr>
          <p:nvPr/>
        </p:nvSpPr>
        <p:spPr bwMode="auto">
          <a:xfrm>
            <a:off x="135468" y="1783565"/>
            <a:ext cx="8778240" cy="1954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marL="342900" indent="-342900" algn="just">
              <a:lnSpc>
                <a:spcPct val="110000"/>
              </a:lnSpc>
              <a:spcBef>
                <a:spcPct val="0"/>
              </a:spcBef>
              <a:buClrTx/>
              <a:buFont typeface="Wingdings" panose="05000000000000000000" pitchFamily="2" charset="2"/>
              <a:buChar char="n"/>
            </a:pPr>
            <a:r>
              <a:rPr lang="zh-CN" altLang="en-US" sz="2200" b="1" dirty="0">
                <a:solidFill>
                  <a:schemeClr val="tx1"/>
                </a:solidFill>
                <a:latin typeface="Century Gothic" panose="020B0502020202020204" pitchFamily="34" charset="0"/>
              </a:rPr>
              <a:t>学生选课系统包含学生和课程两个实体，</a:t>
            </a:r>
            <a:r>
              <a:rPr lang="zh-CN" altLang="en-US" sz="2200" b="1" dirty="0">
                <a:solidFill>
                  <a:srgbClr val="030DCF"/>
                </a:solidFill>
                <a:latin typeface="Century Gothic" panose="020B0502020202020204" pitchFamily="34" charset="0"/>
              </a:rPr>
              <a:t>学生</a:t>
            </a:r>
            <a:r>
              <a:rPr lang="zh-CN" altLang="en-US" sz="2200" b="1" dirty="0">
                <a:solidFill>
                  <a:schemeClr val="tx1"/>
                </a:solidFill>
                <a:latin typeface="Century Gothic" panose="020B0502020202020204" pitchFamily="34" charset="0"/>
              </a:rPr>
              <a:t>用学号、姓名、所在学院、所学专业、班级这几个属性描述，</a:t>
            </a:r>
            <a:r>
              <a:rPr lang="zh-CN" altLang="en-US" sz="2200" b="1" dirty="0">
                <a:solidFill>
                  <a:srgbClr val="030DCF"/>
                </a:solidFill>
                <a:latin typeface="Century Gothic" panose="020B0502020202020204" pitchFamily="34" charset="0"/>
              </a:rPr>
              <a:t>课程</a:t>
            </a:r>
            <a:r>
              <a:rPr lang="zh-CN" altLang="en-US" sz="2200" b="1" dirty="0">
                <a:solidFill>
                  <a:schemeClr val="tx1"/>
                </a:solidFill>
                <a:latin typeface="Century Gothic" panose="020B0502020202020204" pitchFamily="34" charset="0"/>
              </a:rPr>
              <a:t>包含属性：课程号、课程名、学时、学分</a:t>
            </a:r>
            <a:r>
              <a:rPr lang="zh-CN" altLang="en-US" sz="2200" b="1" dirty="0" smtClean="0">
                <a:solidFill>
                  <a:schemeClr val="tx1"/>
                </a:solidFill>
                <a:latin typeface="Century Gothic" panose="020B0502020202020204" pitchFamily="34" charset="0"/>
              </a:rPr>
              <a:t>。</a:t>
            </a:r>
            <a:endParaRPr lang="en-US" altLang="zh-CN" sz="2200" b="1" dirty="0" smtClean="0">
              <a:solidFill>
                <a:schemeClr val="tx1"/>
              </a:solidFill>
              <a:latin typeface="Century Gothic" panose="020B0502020202020204" pitchFamily="34" charset="0"/>
            </a:endParaRPr>
          </a:p>
          <a:p>
            <a:pPr marL="342900" indent="-342900" algn="just">
              <a:lnSpc>
                <a:spcPct val="110000"/>
              </a:lnSpc>
              <a:spcBef>
                <a:spcPct val="0"/>
              </a:spcBef>
              <a:buClrTx/>
              <a:buFont typeface="Wingdings" panose="05000000000000000000" pitchFamily="2" charset="2"/>
              <a:buChar char="n"/>
            </a:pPr>
            <a:r>
              <a:rPr lang="zh-CN" altLang="en-US" sz="2200" b="1" dirty="0" smtClean="0">
                <a:solidFill>
                  <a:schemeClr val="tx1"/>
                </a:solidFill>
                <a:latin typeface="Century Gothic" panose="020B0502020202020204" pitchFamily="34" charset="0"/>
              </a:rPr>
              <a:t>学生</a:t>
            </a:r>
            <a:r>
              <a:rPr lang="zh-CN" altLang="en-US" sz="2200" b="1" dirty="0">
                <a:solidFill>
                  <a:schemeClr val="tx1"/>
                </a:solidFill>
                <a:latin typeface="Century Gothic" panose="020B0502020202020204" pitchFamily="34" charset="0"/>
              </a:rPr>
              <a:t>实体和课程实体间的</a:t>
            </a:r>
            <a:r>
              <a:rPr lang="zh-CN" altLang="en-US" sz="2200" b="1" dirty="0">
                <a:solidFill>
                  <a:srgbClr val="FF0000"/>
                </a:solidFill>
                <a:latin typeface="Century Gothic" panose="020B0502020202020204" pitchFamily="34" charset="0"/>
              </a:rPr>
              <a:t>联系</a:t>
            </a:r>
            <a:r>
              <a:rPr lang="zh-CN" altLang="en-US" sz="2200" b="1" dirty="0">
                <a:solidFill>
                  <a:schemeClr val="tx1"/>
                </a:solidFill>
                <a:latin typeface="Century Gothic" panose="020B0502020202020204" pitchFamily="34" charset="0"/>
              </a:rPr>
              <a:t>为：一名学生可以选修若干门课程，一门课程可以有多名学生选修，学生选修了某门课程就应该有成绩。</a:t>
            </a:r>
            <a:endParaRPr lang="zh-CN" altLang="en-US" sz="2200" b="1" dirty="0">
              <a:solidFill>
                <a:schemeClr val="tx1"/>
              </a:solidFill>
              <a:latin typeface="Century Gothic" panose="020B0502020202020204" pitchFamily="34" charset="0"/>
            </a:endParaRPr>
          </a:p>
        </p:txBody>
      </p:sp>
      <p:sp>
        <p:nvSpPr>
          <p:cNvPr id="7" name="Rectangle 2"/>
          <p:cNvSpPr>
            <a:spLocks noGrp="1" noChangeArrowheads="1"/>
          </p:cNvSpPr>
          <p:nvPr>
            <p:ph type="title"/>
          </p:nvPr>
        </p:nvSpPr>
        <p:spPr>
          <a:xfrm>
            <a:off x="1182222" y="318403"/>
            <a:ext cx="3893344" cy="517922"/>
          </a:xfrm>
        </p:spPr>
        <p:txBody>
          <a:bodyPr/>
          <a:lstStyle/>
          <a:p>
            <a:pPr eaLnBrk="1" hangingPunct="1">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.2 </a:t>
            </a:r>
            <a:r>
              <a:rPr lang="zh-CN" altLang="en-US" sz="3000" b="1" dirty="0">
                <a:latin typeface="黑体" panose="02010609060101010101" pitchFamily="49" charset="-122"/>
                <a:ea typeface="黑体" panose="02010609060101010101" pitchFamily="49" charset="-122"/>
              </a:rPr>
              <a:t>数据表示</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Text Box 3"/>
          <p:cNvSpPr txBox="1">
            <a:spLocks noChangeArrowheads="1"/>
          </p:cNvSpPr>
          <p:nvPr/>
        </p:nvSpPr>
        <p:spPr bwMode="auto">
          <a:xfrm>
            <a:off x="760335" y="1455190"/>
            <a:ext cx="18677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50000"/>
              </a:spcBef>
              <a:buClrTx/>
              <a:buFontTx/>
              <a:buNone/>
              <a:defRPr/>
            </a:pPr>
            <a:r>
              <a:rPr lang="zh-CN" altLang="en-US" sz="2400" b="1" dirty="0">
                <a:solidFill>
                  <a:schemeClr val="tx1"/>
                </a:solidFill>
                <a:latin typeface="+mn-lt"/>
              </a:rPr>
              <a:t>概念模型 </a:t>
            </a:r>
            <a:endParaRPr lang="zh-CN" altLang="en-US" sz="2400" dirty="0">
              <a:solidFill>
                <a:schemeClr val="tx1"/>
              </a:solidFill>
              <a:latin typeface="+mn-lt"/>
            </a:endParaRPr>
          </a:p>
        </p:txBody>
      </p:sp>
      <p:sp>
        <p:nvSpPr>
          <p:cNvPr id="14" name="Rectangle 2"/>
          <p:cNvSpPr>
            <a:spLocks noGrp="1" noChangeArrowheads="1"/>
          </p:cNvSpPr>
          <p:nvPr>
            <p:ph type="title"/>
          </p:nvPr>
        </p:nvSpPr>
        <p:spPr>
          <a:xfrm>
            <a:off x="1182222" y="318403"/>
            <a:ext cx="3893344" cy="517922"/>
          </a:xfrm>
        </p:spPr>
        <p:txBody>
          <a:bodyPr/>
          <a:lstStyle/>
          <a:p>
            <a:pPr eaLnBrk="1" hangingPunct="1">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pic>
        <p:nvPicPr>
          <p:cNvPr id="15" name="Picture 7" descr="1t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3116" y="2414742"/>
            <a:ext cx="6273988" cy="171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 name="直接箭头连接符 1"/>
          <p:cNvCxnSpPr/>
          <p:nvPr/>
        </p:nvCxnSpPr>
        <p:spPr>
          <a:xfrm>
            <a:off x="2404533" y="1675052"/>
            <a:ext cx="60244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053167" y="1418967"/>
            <a:ext cx="4572000" cy="461665"/>
          </a:xfrm>
          <a:prstGeom prst="rect">
            <a:avLst/>
          </a:prstGeom>
          <a:noFill/>
        </p:spPr>
        <p:txBody>
          <a:bodyPr wrap="square">
            <a:spAutoFit/>
          </a:bodyPr>
          <a:lstStyle/>
          <a:p>
            <a:r>
              <a:rPr lang="zh-CN" altLang="en-US" sz="2400" b="1" dirty="0">
                <a:latin typeface="Century Gothic" panose="020B0502020202020204" pitchFamily="34" charset="0"/>
              </a:rPr>
              <a:t>逻辑数据模型</a:t>
            </a:r>
            <a:endParaRPr lang="zh-CN" altLang="en-US" sz="2400" dirty="0"/>
          </a:p>
        </p:txBody>
      </p:sp>
      <p:sp>
        <p:nvSpPr>
          <p:cNvPr id="6" name="文本框 5"/>
          <p:cNvSpPr txBox="1"/>
          <p:nvPr/>
        </p:nvSpPr>
        <p:spPr>
          <a:xfrm>
            <a:off x="704426" y="4415407"/>
            <a:ext cx="7565814" cy="1754326"/>
          </a:xfrm>
          <a:prstGeom prst="rect">
            <a:avLst/>
          </a:prstGeom>
          <a:noFill/>
        </p:spPr>
        <p:txBody>
          <a:bodyPr wrap="square">
            <a:spAutoFit/>
          </a:bodyPr>
          <a:lstStyle/>
          <a:p>
            <a:pPr>
              <a:lnSpc>
                <a:spcPct val="150000"/>
              </a:lnSpc>
            </a:pPr>
            <a:r>
              <a:rPr lang="zh-CN" altLang="en-US" sz="2400" b="1" dirty="0"/>
              <a:t>数据模型从抽象层次上描述了系统的</a:t>
            </a:r>
            <a:r>
              <a:rPr lang="zh-CN" altLang="en-US" sz="2400" b="1" dirty="0">
                <a:solidFill>
                  <a:srgbClr val="C00000"/>
                </a:solidFill>
              </a:rPr>
              <a:t>静态特征</a:t>
            </a:r>
            <a:r>
              <a:rPr lang="zh-CN" altLang="en-US" sz="2400" b="1" dirty="0"/>
              <a:t>、</a:t>
            </a:r>
            <a:r>
              <a:rPr lang="zh-CN" altLang="en-US" sz="2400" b="1" dirty="0">
                <a:solidFill>
                  <a:srgbClr val="C00000"/>
                </a:solidFill>
              </a:rPr>
              <a:t>动态行为和约束条件</a:t>
            </a:r>
            <a:r>
              <a:rPr lang="zh-CN" altLang="en-US" sz="2400" b="1" dirty="0"/>
              <a:t>，为数据库系统的信息表示与操作提供了一个形式框架。</a:t>
            </a:r>
            <a:endParaRPr lang="zh-CN" altLang="en-US" sz="2400" b="1" dirty="0"/>
          </a:p>
        </p:txBody>
      </p:sp>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0"/>
          <p:cNvGrpSpPr/>
          <p:nvPr/>
        </p:nvGrpSpPr>
        <p:grpSpPr bwMode="auto">
          <a:xfrm>
            <a:off x="519995" y="2308234"/>
            <a:ext cx="7828218" cy="3646884"/>
            <a:chOff x="261" y="639"/>
            <a:chExt cx="5367" cy="3063"/>
          </a:xfrm>
        </p:grpSpPr>
        <p:sp>
          <p:nvSpPr>
            <p:cNvPr id="25606" name="Text Box 5"/>
            <p:cNvSpPr txBox="1">
              <a:spLocks noChangeArrowheads="1"/>
            </p:cNvSpPr>
            <p:nvPr/>
          </p:nvSpPr>
          <p:spPr bwMode="auto">
            <a:xfrm>
              <a:off x="261" y="1492"/>
              <a:ext cx="348" cy="1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kumimoji="1" lang="zh-CN" altLang="en-US" sz="2100" dirty="0">
                  <a:solidFill>
                    <a:srgbClr val="0000FF"/>
                  </a:solidFill>
                  <a:latin typeface="黑体" panose="02010609060101010101" pitchFamily="49" charset="-122"/>
                  <a:ea typeface="黑体" panose="02010609060101010101" pitchFamily="49" charset="-122"/>
                </a:rPr>
                <a:t>三个要素</a:t>
              </a:r>
              <a:endParaRPr kumimoji="1" lang="zh-CN" altLang="en-US" sz="2100" dirty="0">
                <a:solidFill>
                  <a:srgbClr val="0000FF"/>
                </a:solidFill>
                <a:latin typeface="黑体" panose="02010609060101010101" pitchFamily="49" charset="-122"/>
                <a:ea typeface="黑体" panose="02010609060101010101" pitchFamily="49" charset="-122"/>
              </a:endParaRPr>
            </a:p>
          </p:txBody>
        </p:sp>
        <p:sp>
          <p:nvSpPr>
            <p:cNvPr id="25607" name="AutoShape 6"/>
            <p:cNvSpPr/>
            <p:nvPr/>
          </p:nvSpPr>
          <p:spPr bwMode="auto">
            <a:xfrm>
              <a:off x="605" y="923"/>
              <a:ext cx="188" cy="2228"/>
            </a:xfrm>
            <a:prstGeom prst="leftBrace">
              <a:avLst>
                <a:gd name="adj1" fmla="val 169558"/>
                <a:gd name="adj2" fmla="val 50000"/>
              </a:avLst>
            </a:prstGeom>
            <a:noFill/>
            <a:ln w="38100">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2100"/>
            </a:p>
          </p:txBody>
        </p:sp>
        <p:sp>
          <p:nvSpPr>
            <p:cNvPr id="25608" name="Text Box 7"/>
            <p:cNvSpPr txBox="1">
              <a:spLocks noChangeArrowheads="1"/>
            </p:cNvSpPr>
            <p:nvPr/>
          </p:nvSpPr>
          <p:spPr bwMode="auto">
            <a:xfrm>
              <a:off x="793" y="639"/>
              <a:ext cx="4835" cy="733"/>
            </a:xfrm>
            <a:prstGeom prst="rect">
              <a:avLst/>
            </a:prstGeom>
            <a:noFill/>
            <a:ln w="12700" cap="sq">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0"/>
                </a:spcBef>
                <a:buClrTx/>
                <a:buSzTx/>
                <a:buNone/>
              </a:pPr>
              <a:r>
                <a:rPr kumimoji="1" lang="zh-CN" altLang="en-US" sz="2100" dirty="0">
                  <a:solidFill>
                    <a:srgbClr val="0000FF"/>
                  </a:solidFill>
                  <a:latin typeface="黑体" panose="02010609060101010101" pitchFamily="49" charset="-122"/>
                  <a:ea typeface="黑体" panose="02010609060101010101" pitchFamily="49" charset="-122"/>
                </a:rPr>
                <a:t>数据结构</a:t>
              </a:r>
              <a:r>
                <a:rPr kumimoji="1" lang="zh-CN" altLang="en-US" sz="2100" dirty="0">
                  <a:latin typeface="黑体" panose="02010609060101010101" pitchFamily="49" charset="-122"/>
                  <a:ea typeface="黑体" panose="02010609060101010101" pitchFamily="49" charset="-122"/>
                </a:rPr>
                <a:t>：主要描述数据的类型、内容、性质以及数据间的联系等</a:t>
              </a:r>
              <a:r>
                <a:rPr kumimoji="1" lang="zh-CN" altLang="en-US" sz="2100" dirty="0" smtClean="0">
                  <a:latin typeface="黑体" panose="02010609060101010101" pitchFamily="49" charset="-122"/>
                  <a:ea typeface="黑体" panose="02010609060101010101" pitchFamily="49" charset="-122"/>
                </a:rPr>
                <a:t>。数据结构用来描述系统的静态特性。</a:t>
              </a:r>
              <a:endParaRPr kumimoji="1" lang="zh-CN" altLang="en-US" sz="2100" dirty="0">
                <a:latin typeface="黑体" panose="02010609060101010101" pitchFamily="49" charset="-122"/>
                <a:ea typeface="黑体" panose="02010609060101010101" pitchFamily="49" charset="-122"/>
              </a:endParaRPr>
            </a:p>
          </p:txBody>
        </p:sp>
        <p:sp>
          <p:nvSpPr>
            <p:cNvPr id="25609" name="Text Box 8"/>
            <p:cNvSpPr txBox="1">
              <a:spLocks noChangeArrowheads="1"/>
            </p:cNvSpPr>
            <p:nvPr/>
          </p:nvSpPr>
          <p:spPr bwMode="auto">
            <a:xfrm>
              <a:off x="793" y="1426"/>
              <a:ext cx="4828" cy="1136"/>
            </a:xfrm>
            <a:prstGeom prst="rect">
              <a:avLst/>
            </a:prstGeom>
            <a:noFill/>
            <a:ln w="12700" cap="sq" algn="ctr">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0"/>
                </a:spcBef>
                <a:buClrTx/>
                <a:buSzTx/>
                <a:buNone/>
              </a:pPr>
              <a:r>
                <a:rPr kumimoji="1" lang="zh-CN" altLang="en-US" sz="2100" dirty="0">
                  <a:solidFill>
                    <a:srgbClr val="0000FF"/>
                  </a:solidFill>
                  <a:latin typeface="黑体" panose="02010609060101010101" pitchFamily="49" charset="-122"/>
                  <a:ea typeface="黑体" panose="02010609060101010101" pitchFamily="49" charset="-122"/>
                </a:rPr>
                <a:t>数据操作</a:t>
              </a:r>
              <a:r>
                <a:rPr kumimoji="1" lang="zh-CN" altLang="en-US" sz="2100" dirty="0">
                  <a:latin typeface="黑体" panose="02010609060101010101" pitchFamily="49" charset="-122"/>
                  <a:ea typeface="黑体" panose="02010609060101010101" pitchFamily="49" charset="-122"/>
                </a:rPr>
                <a:t>：相应数据结构上的操作类型和操作方式。它是操作算符的集合，包括若干操作和推理规则，用以对数据库进行操作，是系统动态特性的描述。</a:t>
              </a:r>
              <a:endParaRPr kumimoji="1" lang="zh-CN" altLang="en-US" sz="2100" dirty="0">
                <a:latin typeface="黑体" panose="02010609060101010101" pitchFamily="49" charset="-122"/>
                <a:ea typeface="黑体" panose="02010609060101010101" pitchFamily="49" charset="-122"/>
              </a:endParaRPr>
            </a:p>
          </p:txBody>
        </p:sp>
        <p:sp>
          <p:nvSpPr>
            <p:cNvPr id="25610" name="Text Box 9"/>
            <p:cNvSpPr txBox="1">
              <a:spLocks noChangeArrowheads="1"/>
            </p:cNvSpPr>
            <p:nvPr/>
          </p:nvSpPr>
          <p:spPr bwMode="auto">
            <a:xfrm>
              <a:off x="800" y="2566"/>
              <a:ext cx="4828" cy="1136"/>
            </a:xfrm>
            <a:prstGeom prst="rect">
              <a:avLst/>
            </a:prstGeom>
            <a:noFill/>
            <a:ln w="12700" cap="sq" algn="ctr">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nSpc>
                  <a:spcPct val="130000"/>
                </a:lnSpc>
                <a:spcBef>
                  <a:spcPct val="0"/>
                </a:spcBef>
                <a:buClrTx/>
                <a:buSzTx/>
                <a:buNone/>
              </a:pPr>
              <a:r>
                <a:rPr kumimoji="1" lang="zh-CN" altLang="en-US" sz="2100" dirty="0">
                  <a:solidFill>
                    <a:srgbClr val="0000FF"/>
                  </a:solidFill>
                  <a:latin typeface="黑体" panose="02010609060101010101" pitchFamily="49" charset="-122"/>
                  <a:ea typeface="黑体" panose="02010609060101010101" pitchFamily="49" charset="-122"/>
                </a:rPr>
                <a:t>数据完整性约束</a:t>
              </a:r>
              <a:r>
                <a:rPr kumimoji="1" lang="zh-CN" altLang="en-US" sz="2100" dirty="0">
                  <a:latin typeface="黑体" panose="02010609060101010101" pitchFamily="49" charset="-122"/>
                  <a:ea typeface="黑体" panose="02010609060101010101" pitchFamily="49" charset="-122"/>
                </a:rPr>
                <a:t>：描述数据结构内数据间的语法、词义联系、他们之间的制约和依存关系，以及数据动态变化的规则，保证数据的正确性、有效性和相容性。</a:t>
              </a:r>
              <a:endParaRPr kumimoji="1" lang="zh-CN" altLang="en-US" sz="2100" dirty="0">
                <a:latin typeface="黑体" panose="02010609060101010101" pitchFamily="49" charset="-122"/>
                <a:ea typeface="黑体" panose="02010609060101010101" pitchFamily="49" charset="-122"/>
              </a:endParaRPr>
            </a:p>
          </p:txBody>
        </p:sp>
      </p:grpSp>
      <p:sp>
        <p:nvSpPr>
          <p:cNvPr id="11" name="AutoShape 23"/>
          <p:cNvSpPr>
            <a:spLocks noChangeArrowheads="1"/>
          </p:cNvSpPr>
          <p:nvPr/>
        </p:nvSpPr>
        <p:spPr bwMode="auto">
          <a:xfrm>
            <a:off x="239025" y="1429137"/>
            <a:ext cx="2771492" cy="515957"/>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a:buClr>
                <a:schemeClr val="hlink"/>
              </a:buClr>
              <a:buSzPct val="75000"/>
              <a:defRPr/>
            </a:pPr>
            <a:r>
              <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数据模型的组成要素</a:t>
            </a:r>
            <a:endPar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2"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a:latin typeface="黑体" panose="02010609060101010101" pitchFamily="49" charset="-122"/>
                <a:ea typeface="黑体" panose="02010609060101010101" pitchFamily="49" charset="-122"/>
              </a:rPr>
              <a:t>４</a:t>
            </a:r>
            <a:r>
              <a:rPr lang="en-US" altLang="zh-CN" sz="3000" b="1">
                <a:latin typeface="黑体" panose="02010609060101010101" pitchFamily="49" charset="-122"/>
                <a:ea typeface="黑体" panose="02010609060101010101" pitchFamily="49" charset="-122"/>
              </a:rPr>
              <a:t>.3 </a:t>
            </a:r>
            <a:r>
              <a:rPr lang="zh-CN" altLang="en-US" sz="3000" b="1">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edge">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3"/>
          <p:cNvSpPr>
            <a:spLocks noChangeArrowheads="1"/>
          </p:cNvSpPr>
          <p:nvPr/>
        </p:nvSpPr>
        <p:spPr bwMode="auto">
          <a:xfrm>
            <a:off x="211770" y="1820083"/>
            <a:ext cx="2338249" cy="515957"/>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a:buClr>
                <a:schemeClr val="hlink"/>
              </a:buClr>
              <a:buSzPct val="75000"/>
              <a:defRPr/>
            </a:pPr>
            <a:r>
              <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主要的数据模型</a:t>
            </a:r>
            <a:endPar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3" name="矩形 2"/>
          <p:cNvSpPr/>
          <p:nvPr/>
        </p:nvSpPr>
        <p:spPr>
          <a:xfrm>
            <a:off x="1004817" y="2430371"/>
            <a:ext cx="6315701" cy="577081"/>
          </a:xfrm>
          <a:prstGeom prst="rect">
            <a:avLst/>
          </a:prstGeom>
        </p:spPr>
        <p:txBody>
          <a:bodyPr wrap="square">
            <a:spAutoFit/>
          </a:bodyPr>
          <a:lstStyle/>
          <a:p>
            <a:pPr>
              <a:lnSpc>
                <a:spcPct val="150000"/>
              </a:lnSpc>
            </a:pPr>
            <a:r>
              <a:rPr lang="zh-CN" altLang="en-US" sz="2100" dirty="0">
                <a:latin typeface="黑体" panose="02010609060101010101" pitchFamily="49" charset="-122"/>
                <a:ea typeface="黑体" panose="02010609060101010101" pitchFamily="49" charset="-122"/>
              </a:rPr>
              <a:t>数据管理发展过程中产生过三种数据模型</a:t>
            </a:r>
            <a:endParaRPr lang="en-US" altLang="zh-CN" sz="2100" dirty="0">
              <a:latin typeface="黑体" panose="02010609060101010101" pitchFamily="49" charset="-122"/>
              <a:ea typeface="黑体" panose="02010609060101010101" pitchFamily="49" charset="-122"/>
            </a:endParaRPr>
          </a:p>
        </p:txBody>
      </p:sp>
      <p:sp>
        <p:nvSpPr>
          <p:cNvPr id="4" name="矩形 3"/>
          <p:cNvSpPr/>
          <p:nvPr/>
        </p:nvSpPr>
        <p:spPr>
          <a:xfrm>
            <a:off x="1347754" y="3010703"/>
            <a:ext cx="2001523" cy="1546577"/>
          </a:xfrm>
          <a:prstGeom prst="rect">
            <a:avLst/>
          </a:prstGeom>
        </p:spPr>
        <p:txBody>
          <a:bodyPr wrap="square">
            <a:spAutoFit/>
          </a:bodyPr>
          <a:lstStyle/>
          <a:p>
            <a:pPr marL="470535" indent="-470535">
              <a:lnSpc>
                <a:spcPct val="150000"/>
              </a:lnSpc>
              <a:buFont typeface="Wingdings" panose="05000000000000000000" pitchFamily="2" charset="2"/>
              <a:buChar char="u"/>
            </a:pPr>
            <a:r>
              <a:rPr lang="zh-CN" altLang="en-US" sz="2100" b="1" dirty="0">
                <a:solidFill>
                  <a:srgbClr val="FF0000"/>
                </a:solidFill>
                <a:latin typeface="黑体" panose="02010609060101010101" pitchFamily="49" charset="-122"/>
                <a:ea typeface="黑体" panose="02010609060101010101" pitchFamily="49" charset="-122"/>
              </a:rPr>
              <a:t>层次模型</a:t>
            </a:r>
            <a:endParaRPr lang="en-US" altLang="zh-CN" sz="2100" b="1" dirty="0">
              <a:solidFill>
                <a:srgbClr val="FF0000"/>
              </a:solidFill>
              <a:latin typeface="黑体" panose="02010609060101010101" pitchFamily="49" charset="-122"/>
              <a:ea typeface="黑体" panose="02010609060101010101" pitchFamily="49" charset="-122"/>
            </a:endParaRPr>
          </a:p>
          <a:p>
            <a:pPr marL="470535" indent="-470535">
              <a:lnSpc>
                <a:spcPct val="150000"/>
              </a:lnSpc>
              <a:buFont typeface="Wingdings" panose="05000000000000000000" pitchFamily="2" charset="2"/>
              <a:buChar char="u"/>
            </a:pPr>
            <a:r>
              <a:rPr lang="zh-CN" altLang="en-US" sz="2100" b="1" dirty="0">
                <a:solidFill>
                  <a:srgbClr val="FF0000"/>
                </a:solidFill>
                <a:latin typeface="黑体" panose="02010609060101010101" pitchFamily="49" charset="-122"/>
                <a:ea typeface="黑体" panose="02010609060101010101" pitchFamily="49" charset="-122"/>
              </a:rPr>
              <a:t>网状模型</a:t>
            </a:r>
            <a:endParaRPr lang="en-US" altLang="zh-CN" sz="2100" b="1" dirty="0">
              <a:solidFill>
                <a:srgbClr val="FF0000"/>
              </a:solidFill>
              <a:latin typeface="黑体" panose="02010609060101010101" pitchFamily="49" charset="-122"/>
              <a:ea typeface="黑体" panose="02010609060101010101" pitchFamily="49" charset="-122"/>
            </a:endParaRPr>
          </a:p>
          <a:p>
            <a:pPr marL="470535" indent="-470535">
              <a:lnSpc>
                <a:spcPct val="150000"/>
              </a:lnSpc>
              <a:buFont typeface="Wingdings" panose="05000000000000000000" pitchFamily="2" charset="2"/>
              <a:buChar char="u"/>
            </a:pPr>
            <a:r>
              <a:rPr lang="zh-CN" altLang="en-US" sz="2100" b="1" dirty="0">
                <a:solidFill>
                  <a:srgbClr val="FF0000"/>
                </a:solidFill>
                <a:latin typeface="黑体" panose="02010609060101010101" pitchFamily="49" charset="-122"/>
                <a:ea typeface="黑体" panose="02010609060101010101" pitchFamily="49" charset="-122"/>
              </a:rPr>
              <a:t>关系模型</a:t>
            </a:r>
            <a:endParaRPr lang="en-US" altLang="zh-CN" sz="2100" b="1" dirty="0">
              <a:solidFill>
                <a:srgbClr val="FF0000"/>
              </a:solidFill>
              <a:latin typeface="黑体" panose="02010609060101010101" pitchFamily="49" charset="-122"/>
              <a:ea typeface="黑体" panose="02010609060101010101" pitchFamily="49" charset="-122"/>
            </a:endParaRPr>
          </a:p>
        </p:txBody>
      </p:sp>
      <p:sp>
        <p:nvSpPr>
          <p:cNvPr id="5" name="矩形 4"/>
          <p:cNvSpPr/>
          <p:nvPr/>
        </p:nvSpPr>
        <p:spPr>
          <a:xfrm>
            <a:off x="941038" y="4560531"/>
            <a:ext cx="7933386" cy="577081"/>
          </a:xfrm>
          <a:prstGeom prst="rect">
            <a:avLst/>
          </a:prstGeom>
        </p:spPr>
        <p:txBody>
          <a:bodyPr wrap="square">
            <a:spAutoFit/>
          </a:bodyPr>
          <a:lstStyle/>
          <a:p>
            <a:pPr>
              <a:lnSpc>
                <a:spcPct val="150000"/>
              </a:lnSpc>
            </a:pPr>
            <a:r>
              <a:rPr lang="zh-CN" altLang="en-US" sz="2100" dirty="0">
                <a:latin typeface="黑体" panose="02010609060101010101" pitchFamily="49" charset="-122"/>
                <a:ea typeface="黑体" panose="02010609060101010101" pitchFamily="49" charset="-122"/>
              </a:rPr>
              <a:t>三种模型是按其数据结构而命名。</a:t>
            </a:r>
            <a:endParaRPr lang="zh-CN" altLang="en-US" sz="2100" dirty="0">
              <a:latin typeface="黑体" panose="02010609060101010101" pitchFamily="49" charset="-122"/>
              <a:ea typeface="黑体" panose="02010609060101010101" pitchFamily="49" charset="-122"/>
            </a:endParaRPr>
          </a:p>
        </p:txBody>
      </p:sp>
      <p:sp>
        <p:nvSpPr>
          <p:cNvPr id="6"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a:latin typeface="黑体" panose="02010609060101010101" pitchFamily="49" charset="-122"/>
                <a:ea typeface="黑体" panose="02010609060101010101" pitchFamily="49" charset="-122"/>
              </a:rPr>
              <a:t>４</a:t>
            </a:r>
            <a:r>
              <a:rPr lang="en-US" altLang="zh-CN" sz="3000" b="1">
                <a:latin typeface="黑体" panose="02010609060101010101" pitchFamily="49" charset="-122"/>
                <a:ea typeface="黑体" panose="02010609060101010101" pitchFamily="49" charset="-122"/>
              </a:rPr>
              <a:t>.3 </a:t>
            </a:r>
            <a:r>
              <a:rPr lang="zh-CN" altLang="en-US" sz="3000" b="1">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3"/>
          <p:cNvSpPr>
            <a:spLocks noChangeArrowheads="1"/>
          </p:cNvSpPr>
          <p:nvPr/>
        </p:nvSpPr>
        <p:spPr bwMode="auto">
          <a:xfrm>
            <a:off x="-116523" y="1183409"/>
            <a:ext cx="9052920" cy="197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342900" indent="34290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lnSpc>
                <a:spcPct val="110000"/>
              </a:lnSpc>
              <a:spcBef>
                <a:spcPts val="300"/>
              </a:spcBef>
              <a:buClr>
                <a:srgbClr val="C00000"/>
              </a:buClr>
              <a:buFont typeface="Wingdings" panose="05000000000000000000" pitchFamily="2" charset="2"/>
              <a:buChar char="n"/>
              <a:defRPr/>
            </a:pPr>
            <a:r>
              <a:rPr lang="zh-CN" altLang="en-US" b="1" dirty="0">
                <a:solidFill>
                  <a:schemeClr val="tx1"/>
                </a:solidFill>
                <a:latin typeface="+mn-lt"/>
              </a:rPr>
              <a:t>关系模型是目前最重要的一类数据模型。</a:t>
            </a:r>
            <a:endParaRPr lang="en-US" altLang="zh-CN" b="1" dirty="0">
              <a:solidFill>
                <a:schemeClr val="tx1"/>
              </a:solidFill>
              <a:latin typeface="+mn-lt"/>
            </a:endParaRPr>
          </a:p>
          <a:p>
            <a:pPr algn="just">
              <a:lnSpc>
                <a:spcPct val="110000"/>
              </a:lnSpc>
              <a:spcBef>
                <a:spcPts val="300"/>
              </a:spcBef>
              <a:buClr>
                <a:srgbClr val="C00000"/>
              </a:buClr>
              <a:buFont typeface="Wingdings" panose="05000000000000000000" pitchFamily="2" charset="2"/>
              <a:buChar char="n"/>
              <a:defRPr/>
            </a:pPr>
            <a:r>
              <a:rPr lang="zh-CN" altLang="en-US" b="1" dirty="0">
                <a:solidFill>
                  <a:schemeClr val="tx1"/>
                </a:solidFill>
                <a:latin typeface="+mn-lt"/>
              </a:rPr>
              <a:t>关系模型是把实体以及实体之间的联系都看成是关系，逻辑结构简单，以</a:t>
            </a:r>
            <a:r>
              <a:rPr lang="zh-CN" altLang="en-US" b="1" dirty="0">
                <a:solidFill>
                  <a:srgbClr val="C00000"/>
                </a:solidFill>
                <a:latin typeface="+mn-lt"/>
              </a:rPr>
              <a:t>二维表的形式描述关系</a:t>
            </a:r>
            <a:r>
              <a:rPr lang="zh-CN" altLang="en-US" b="1" dirty="0">
                <a:solidFill>
                  <a:schemeClr val="tx1"/>
                </a:solidFill>
                <a:latin typeface="+mn-lt"/>
              </a:rPr>
              <a:t>，称为</a:t>
            </a:r>
            <a:r>
              <a:rPr lang="zh-CN" altLang="en-US" b="1" dirty="0">
                <a:solidFill>
                  <a:srgbClr val="030DCF"/>
                </a:solidFill>
                <a:latin typeface="+mn-lt"/>
              </a:rPr>
              <a:t>数据表</a:t>
            </a:r>
            <a:r>
              <a:rPr lang="zh-CN" altLang="en-US" b="1" dirty="0">
                <a:solidFill>
                  <a:schemeClr val="tx1"/>
                </a:solidFill>
                <a:latin typeface="+mn-lt"/>
              </a:rPr>
              <a:t>。</a:t>
            </a:r>
            <a:endParaRPr lang="en-US" altLang="zh-CN" b="1" dirty="0">
              <a:solidFill>
                <a:schemeClr val="tx1"/>
              </a:solidFill>
              <a:latin typeface="+mn-lt"/>
            </a:endParaRPr>
          </a:p>
          <a:p>
            <a:pPr lvl="1" algn="just">
              <a:lnSpc>
                <a:spcPct val="110000"/>
              </a:lnSpc>
              <a:spcBef>
                <a:spcPts val="300"/>
              </a:spcBef>
              <a:buClr>
                <a:srgbClr val="C00000"/>
              </a:buClr>
              <a:buFont typeface="Wingdings" panose="05000000000000000000" pitchFamily="2" charset="2"/>
              <a:buChar char="Ø"/>
              <a:defRPr/>
            </a:pPr>
            <a:r>
              <a:rPr lang="zh-CN" altLang="en-US" b="1" dirty="0">
                <a:solidFill>
                  <a:schemeClr val="tx1"/>
                </a:solidFill>
                <a:latin typeface="+mn-lt"/>
              </a:rPr>
              <a:t>每个实体对应表中的</a:t>
            </a:r>
            <a:r>
              <a:rPr lang="zh-CN" altLang="en-US" b="1" dirty="0">
                <a:solidFill>
                  <a:srgbClr val="030DCF"/>
                </a:solidFill>
                <a:latin typeface="+mn-lt"/>
              </a:rPr>
              <a:t>行</a:t>
            </a:r>
            <a:r>
              <a:rPr lang="zh-CN" altLang="en-US" b="1" dirty="0">
                <a:solidFill>
                  <a:schemeClr val="tx1"/>
                </a:solidFill>
                <a:latin typeface="+mn-lt"/>
              </a:rPr>
              <a:t>，称为</a:t>
            </a:r>
            <a:r>
              <a:rPr lang="zh-CN" altLang="en-US" b="1" dirty="0">
                <a:solidFill>
                  <a:srgbClr val="030DCF"/>
                </a:solidFill>
                <a:latin typeface="+mn-lt"/>
              </a:rPr>
              <a:t>记录；</a:t>
            </a:r>
            <a:endParaRPr lang="en-US" altLang="zh-CN" b="1" dirty="0">
              <a:solidFill>
                <a:srgbClr val="030DCF"/>
              </a:solidFill>
              <a:latin typeface="+mn-lt"/>
            </a:endParaRPr>
          </a:p>
          <a:p>
            <a:pPr lvl="1" algn="just">
              <a:lnSpc>
                <a:spcPct val="110000"/>
              </a:lnSpc>
              <a:spcBef>
                <a:spcPts val="300"/>
              </a:spcBef>
              <a:buClr>
                <a:srgbClr val="C00000"/>
              </a:buClr>
              <a:buFont typeface="Wingdings" panose="05000000000000000000" pitchFamily="2" charset="2"/>
              <a:buChar char="Ø"/>
              <a:defRPr/>
            </a:pPr>
            <a:r>
              <a:rPr lang="zh-CN" altLang="en-US" b="1" dirty="0">
                <a:solidFill>
                  <a:srgbClr val="030DCF"/>
                </a:solidFill>
                <a:latin typeface="+mn-lt"/>
              </a:rPr>
              <a:t>列</a:t>
            </a:r>
            <a:r>
              <a:rPr lang="zh-CN" altLang="en-US" b="1" dirty="0">
                <a:solidFill>
                  <a:schemeClr val="tx1"/>
                </a:solidFill>
                <a:latin typeface="+mn-lt"/>
              </a:rPr>
              <a:t>对应实体的</a:t>
            </a:r>
            <a:r>
              <a:rPr lang="zh-CN" altLang="en-US" b="1" dirty="0">
                <a:solidFill>
                  <a:srgbClr val="030DCF"/>
                </a:solidFill>
                <a:latin typeface="+mn-lt"/>
              </a:rPr>
              <a:t>属性</a:t>
            </a:r>
            <a:r>
              <a:rPr lang="zh-CN" altLang="en-US" b="1" dirty="0">
                <a:solidFill>
                  <a:schemeClr val="tx1"/>
                </a:solidFill>
                <a:latin typeface="+mn-lt"/>
              </a:rPr>
              <a:t>，称为</a:t>
            </a:r>
            <a:r>
              <a:rPr lang="zh-CN" altLang="en-US" b="1" dirty="0">
                <a:solidFill>
                  <a:srgbClr val="030DCF"/>
                </a:solidFill>
                <a:latin typeface="+mn-lt"/>
              </a:rPr>
              <a:t>数据项</a:t>
            </a:r>
            <a:r>
              <a:rPr lang="zh-CN" altLang="en-US" b="1" dirty="0">
                <a:solidFill>
                  <a:schemeClr val="tx1"/>
                </a:solidFill>
                <a:latin typeface="+mn-lt"/>
              </a:rPr>
              <a:t>，每一列的数据总是取自同一个集合，这个集合称为</a:t>
            </a:r>
            <a:r>
              <a:rPr lang="zh-CN" altLang="en-US" b="1" dirty="0">
                <a:solidFill>
                  <a:srgbClr val="3333FF"/>
                </a:solidFill>
                <a:latin typeface="+mn-lt"/>
              </a:rPr>
              <a:t>域</a:t>
            </a:r>
            <a:r>
              <a:rPr lang="zh-CN" altLang="en-US" b="1" dirty="0">
                <a:solidFill>
                  <a:schemeClr val="tx1"/>
                </a:solidFill>
                <a:latin typeface="+mn-lt"/>
              </a:rPr>
              <a:t>；</a:t>
            </a:r>
            <a:endParaRPr lang="en-US" altLang="zh-CN" b="1" dirty="0">
              <a:solidFill>
                <a:schemeClr val="tx1"/>
              </a:solidFill>
              <a:latin typeface="+mn-lt"/>
            </a:endParaRPr>
          </a:p>
          <a:p>
            <a:pPr lvl="1" algn="just">
              <a:lnSpc>
                <a:spcPct val="110000"/>
              </a:lnSpc>
              <a:spcBef>
                <a:spcPts val="300"/>
              </a:spcBef>
              <a:buClr>
                <a:srgbClr val="C00000"/>
              </a:buClr>
              <a:buFont typeface="Wingdings" panose="05000000000000000000" pitchFamily="2" charset="2"/>
              <a:buChar char="Ø"/>
              <a:defRPr/>
            </a:pPr>
            <a:r>
              <a:rPr lang="zh-CN" altLang="en-US" b="1" dirty="0">
                <a:solidFill>
                  <a:schemeClr val="tx1"/>
                </a:solidFill>
                <a:latin typeface="+mn-lt"/>
              </a:rPr>
              <a:t>可以唯一标识一个记录的属性</a:t>
            </a:r>
            <a:r>
              <a:rPr lang="en-US" altLang="zh-CN" b="1" dirty="0">
                <a:solidFill>
                  <a:schemeClr val="tx1"/>
                </a:solidFill>
                <a:latin typeface="+mn-lt"/>
              </a:rPr>
              <a:t>/</a:t>
            </a:r>
            <a:r>
              <a:rPr lang="zh-CN" altLang="en-US" b="1" dirty="0">
                <a:solidFill>
                  <a:schemeClr val="tx1"/>
                </a:solidFill>
                <a:latin typeface="+mn-lt"/>
              </a:rPr>
              <a:t>属性集称为</a:t>
            </a:r>
            <a:r>
              <a:rPr lang="zh-CN" altLang="en-US" b="1" dirty="0">
                <a:solidFill>
                  <a:srgbClr val="030DCF"/>
                </a:solidFill>
                <a:latin typeface="+mn-lt"/>
              </a:rPr>
              <a:t>主键</a:t>
            </a:r>
            <a:r>
              <a:rPr lang="zh-CN" altLang="en-US" b="1" dirty="0">
                <a:solidFill>
                  <a:schemeClr val="tx1"/>
                </a:solidFill>
                <a:latin typeface="+mn-lt"/>
              </a:rPr>
              <a:t>。 </a:t>
            </a:r>
            <a:endParaRPr lang="zh-CN" altLang="en-US" b="1" dirty="0">
              <a:solidFill>
                <a:schemeClr val="tx1"/>
              </a:solidFill>
              <a:latin typeface="+mn-lt"/>
            </a:endParaRPr>
          </a:p>
        </p:txBody>
      </p:sp>
      <p:sp>
        <p:nvSpPr>
          <p:cNvPr id="4" name="Text Box 9"/>
          <p:cNvSpPr txBox="1">
            <a:spLocks noChangeArrowheads="1"/>
          </p:cNvSpPr>
          <p:nvPr/>
        </p:nvSpPr>
        <p:spPr bwMode="auto">
          <a:xfrm>
            <a:off x="6656856" y="4014263"/>
            <a:ext cx="802481" cy="2690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sz="1600" b="1" dirty="0">
                <a:solidFill>
                  <a:schemeClr val="tx1"/>
                </a:solidFill>
              </a:rPr>
              <a:t>属性名</a:t>
            </a:r>
            <a:endParaRPr lang="zh-CN" altLang="en-US" sz="1600" b="1" dirty="0">
              <a:solidFill>
                <a:schemeClr val="tx1"/>
              </a:solidFill>
              <a:latin typeface="Century Gothic" panose="020B0502020202020204" pitchFamily="34" charset="0"/>
            </a:endParaRPr>
          </a:p>
        </p:txBody>
      </p:sp>
      <p:sp>
        <p:nvSpPr>
          <p:cNvPr id="5" name="AutoShape 11"/>
          <p:cNvSpPr>
            <a:spLocks noChangeArrowheads="1"/>
          </p:cNvSpPr>
          <p:nvPr/>
        </p:nvSpPr>
        <p:spPr bwMode="auto">
          <a:xfrm>
            <a:off x="1279858" y="3370584"/>
            <a:ext cx="489347" cy="285750"/>
          </a:xfrm>
          <a:prstGeom prst="wedgeRoundRectCallout">
            <a:avLst>
              <a:gd name="adj1" fmla="val 97167"/>
              <a:gd name="adj2" fmla="val 138593"/>
              <a:gd name="adj3" fmla="val 16667"/>
            </a:avLst>
          </a:prstGeom>
          <a:noFill/>
          <a:ln w="9525" algn="ctr">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350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lnSpc>
                <a:spcPct val="96000"/>
              </a:lnSpc>
              <a:spcBef>
                <a:spcPct val="0"/>
              </a:spcBef>
              <a:buClrTx/>
              <a:buFontTx/>
              <a:buNone/>
            </a:pPr>
            <a:r>
              <a:rPr lang="zh-CN" altLang="en-US" sz="1600" b="1" dirty="0">
                <a:solidFill>
                  <a:schemeClr val="tx1"/>
                </a:solidFill>
              </a:rPr>
              <a:t>主键</a:t>
            </a:r>
            <a:endParaRPr lang="zh-CN" altLang="en-US" sz="1600" b="1" dirty="0">
              <a:solidFill>
                <a:schemeClr val="tx1"/>
              </a:solidFill>
              <a:latin typeface="Century Gothic" panose="020B0502020202020204" pitchFamily="34" charset="0"/>
            </a:endParaRPr>
          </a:p>
        </p:txBody>
      </p:sp>
      <p:sp>
        <p:nvSpPr>
          <p:cNvPr id="6" name="Text Box 12"/>
          <p:cNvSpPr txBox="1">
            <a:spLocks noChangeArrowheads="1"/>
          </p:cNvSpPr>
          <p:nvPr/>
        </p:nvSpPr>
        <p:spPr bwMode="auto">
          <a:xfrm>
            <a:off x="6656855" y="4372511"/>
            <a:ext cx="285612" cy="14983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sz="1600" b="1" dirty="0">
                <a:solidFill>
                  <a:schemeClr val="tx1"/>
                </a:solidFill>
              </a:rPr>
              <a:t>记录</a:t>
            </a:r>
            <a:r>
              <a:rPr lang="en-US" altLang="zh-CN" sz="1600" b="1" dirty="0">
                <a:solidFill>
                  <a:schemeClr val="tx1"/>
                </a:solidFill>
              </a:rPr>
              <a:t>(</a:t>
            </a:r>
            <a:r>
              <a:rPr lang="zh-CN" altLang="en-US" sz="1600" b="1" dirty="0">
                <a:solidFill>
                  <a:schemeClr val="tx1"/>
                </a:solidFill>
              </a:rPr>
              <a:t>元组、</a:t>
            </a:r>
            <a:r>
              <a:rPr lang="zh-CN" altLang="en-US" sz="1600" b="1" dirty="0">
                <a:solidFill>
                  <a:srgbClr val="030DCF"/>
                </a:solidFill>
              </a:rPr>
              <a:t>行</a:t>
            </a:r>
            <a:r>
              <a:rPr lang="en-US" altLang="zh-CN" sz="1600" b="1" dirty="0">
                <a:solidFill>
                  <a:schemeClr val="tx1"/>
                </a:solidFill>
              </a:rPr>
              <a:t>)</a:t>
            </a:r>
            <a:endParaRPr lang="en-US" altLang="zh-CN" sz="1600" b="1" dirty="0">
              <a:solidFill>
                <a:schemeClr val="tx1"/>
              </a:solidFill>
              <a:latin typeface="Century Gothic" panose="020B0502020202020204" pitchFamily="34" charset="0"/>
            </a:endParaRPr>
          </a:p>
        </p:txBody>
      </p:sp>
      <p:sp>
        <p:nvSpPr>
          <p:cNvPr id="7" name="Line 13"/>
          <p:cNvSpPr>
            <a:spLocks noChangeShapeType="1"/>
          </p:cNvSpPr>
          <p:nvPr/>
        </p:nvSpPr>
        <p:spPr bwMode="auto">
          <a:xfrm flipH="1" flipV="1">
            <a:off x="6280479" y="4375020"/>
            <a:ext cx="371475" cy="209550"/>
          </a:xfrm>
          <a:prstGeom prst="line">
            <a:avLst/>
          </a:prstGeom>
          <a:noFill/>
          <a:ln w="28575">
            <a:solidFill>
              <a:schemeClr val="tx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600"/>
          </a:p>
        </p:txBody>
      </p:sp>
      <p:sp>
        <p:nvSpPr>
          <p:cNvPr id="8" name="Line 14"/>
          <p:cNvSpPr>
            <a:spLocks noChangeShapeType="1"/>
          </p:cNvSpPr>
          <p:nvPr/>
        </p:nvSpPr>
        <p:spPr bwMode="auto">
          <a:xfrm flipH="1" flipV="1">
            <a:off x="6300718" y="4753639"/>
            <a:ext cx="338138" cy="0"/>
          </a:xfrm>
          <a:prstGeom prst="line">
            <a:avLst/>
          </a:prstGeom>
          <a:noFill/>
          <a:ln w="28575">
            <a:solidFill>
              <a:schemeClr val="tx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600"/>
          </a:p>
        </p:txBody>
      </p:sp>
      <p:sp>
        <p:nvSpPr>
          <p:cNvPr id="9" name="Line 15"/>
          <p:cNvSpPr>
            <a:spLocks noChangeShapeType="1"/>
          </p:cNvSpPr>
          <p:nvPr/>
        </p:nvSpPr>
        <p:spPr bwMode="auto">
          <a:xfrm flipH="1">
            <a:off x="6288813" y="4908423"/>
            <a:ext cx="350044" cy="239315"/>
          </a:xfrm>
          <a:prstGeom prst="line">
            <a:avLst/>
          </a:prstGeom>
          <a:noFill/>
          <a:ln w="28575">
            <a:solidFill>
              <a:schemeClr val="tx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600"/>
          </a:p>
        </p:txBody>
      </p:sp>
      <p:sp>
        <p:nvSpPr>
          <p:cNvPr id="10" name="Line 16"/>
          <p:cNvSpPr>
            <a:spLocks noChangeShapeType="1"/>
          </p:cNvSpPr>
          <p:nvPr/>
        </p:nvSpPr>
        <p:spPr bwMode="auto">
          <a:xfrm flipH="1" flipV="1">
            <a:off x="6294765" y="4144039"/>
            <a:ext cx="338138" cy="0"/>
          </a:xfrm>
          <a:prstGeom prst="line">
            <a:avLst/>
          </a:prstGeom>
          <a:noFill/>
          <a:ln w="28575">
            <a:solidFill>
              <a:schemeClr val="tx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600"/>
          </a:p>
        </p:txBody>
      </p:sp>
      <p:sp>
        <p:nvSpPr>
          <p:cNvPr id="11" name="Line 18"/>
          <p:cNvSpPr>
            <a:spLocks noChangeShapeType="1"/>
          </p:cNvSpPr>
          <p:nvPr/>
        </p:nvSpPr>
        <p:spPr bwMode="auto">
          <a:xfrm flipH="1" flipV="1">
            <a:off x="2276829" y="5647024"/>
            <a:ext cx="1263253" cy="241697"/>
          </a:xfrm>
          <a:prstGeom prst="line">
            <a:avLst/>
          </a:prstGeom>
          <a:noFill/>
          <a:ln w="28575">
            <a:solidFill>
              <a:schemeClr val="tx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2" name="Line 20"/>
          <p:cNvSpPr>
            <a:spLocks noChangeShapeType="1"/>
          </p:cNvSpPr>
          <p:nvPr/>
        </p:nvSpPr>
        <p:spPr bwMode="auto">
          <a:xfrm flipH="1" flipV="1">
            <a:off x="3888932" y="5602969"/>
            <a:ext cx="0" cy="267890"/>
          </a:xfrm>
          <a:prstGeom prst="line">
            <a:avLst/>
          </a:prstGeom>
          <a:noFill/>
          <a:ln w="28575">
            <a:solidFill>
              <a:schemeClr val="tx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3" name="Line 21"/>
          <p:cNvSpPr>
            <a:spLocks noChangeShapeType="1"/>
          </p:cNvSpPr>
          <p:nvPr/>
        </p:nvSpPr>
        <p:spPr bwMode="auto">
          <a:xfrm flipV="1">
            <a:off x="4154442" y="5602971"/>
            <a:ext cx="1040606" cy="296465"/>
          </a:xfrm>
          <a:prstGeom prst="line">
            <a:avLst/>
          </a:prstGeom>
          <a:noFill/>
          <a:ln w="28575">
            <a:solidFill>
              <a:schemeClr val="tx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4" name="Line 22"/>
          <p:cNvSpPr>
            <a:spLocks noChangeShapeType="1"/>
          </p:cNvSpPr>
          <p:nvPr/>
        </p:nvSpPr>
        <p:spPr bwMode="auto">
          <a:xfrm flipV="1">
            <a:off x="4322319" y="5602969"/>
            <a:ext cx="1703784" cy="301228"/>
          </a:xfrm>
          <a:prstGeom prst="line">
            <a:avLst/>
          </a:prstGeom>
          <a:noFill/>
          <a:ln w="28575">
            <a:solidFill>
              <a:schemeClr val="tx2"/>
            </a:solidFill>
            <a:rou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5" name="Text Box 23"/>
          <p:cNvSpPr txBox="1">
            <a:spLocks noChangeArrowheads="1"/>
          </p:cNvSpPr>
          <p:nvPr/>
        </p:nvSpPr>
        <p:spPr bwMode="auto">
          <a:xfrm>
            <a:off x="3457927" y="5916105"/>
            <a:ext cx="2568173" cy="2638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sz="1500" b="1" dirty="0">
                <a:solidFill>
                  <a:schemeClr val="tx1"/>
                </a:solidFill>
              </a:rPr>
              <a:t>数据项（属性、字段、</a:t>
            </a:r>
            <a:r>
              <a:rPr lang="zh-CN" altLang="en-US" sz="1500" b="1" dirty="0">
                <a:solidFill>
                  <a:srgbClr val="030DCF"/>
                </a:solidFill>
              </a:rPr>
              <a:t>列</a:t>
            </a:r>
            <a:r>
              <a:rPr lang="zh-CN" altLang="en-US" sz="1500" b="1" dirty="0">
                <a:solidFill>
                  <a:schemeClr val="tx1"/>
                </a:solidFill>
              </a:rPr>
              <a:t>）</a:t>
            </a:r>
            <a:endParaRPr lang="zh-CN" altLang="en-US" sz="1500" b="1" dirty="0">
              <a:solidFill>
                <a:schemeClr val="tx1"/>
              </a:solidFill>
              <a:latin typeface="Century Gothic" panose="020B0502020202020204" pitchFamily="34" charset="0"/>
            </a:endParaRPr>
          </a:p>
        </p:txBody>
      </p:sp>
      <p:sp>
        <p:nvSpPr>
          <p:cNvPr id="16" name="AutoShape 24"/>
          <p:cNvSpPr/>
          <p:nvPr/>
        </p:nvSpPr>
        <p:spPr bwMode="auto">
          <a:xfrm>
            <a:off x="1684665" y="3938062"/>
            <a:ext cx="242888" cy="1718072"/>
          </a:xfrm>
          <a:prstGeom prst="leftBrace">
            <a:avLst>
              <a:gd name="adj1" fmla="val 60060"/>
              <a:gd name="adj2" fmla="val 5000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en-US" sz="1600">
              <a:solidFill>
                <a:schemeClr val="tx1"/>
              </a:solidFill>
              <a:latin typeface="Century Gothic" panose="020B0502020202020204" pitchFamily="34" charset="0"/>
            </a:endParaRPr>
          </a:p>
        </p:txBody>
      </p:sp>
      <p:sp>
        <p:nvSpPr>
          <p:cNvPr id="17" name="AutoShape 25"/>
          <p:cNvSpPr>
            <a:spLocks noChangeArrowheads="1"/>
          </p:cNvSpPr>
          <p:nvPr/>
        </p:nvSpPr>
        <p:spPr bwMode="auto">
          <a:xfrm>
            <a:off x="2013281" y="3334867"/>
            <a:ext cx="831056" cy="371475"/>
          </a:xfrm>
          <a:prstGeom prst="cloudCallout">
            <a:avLst>
              <a:gd name="adj1" fmla="val -3167"/>
              <a:gd name="adj2" fmla="val 104616"/>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zh-CN" sz="1600" b="1">
              <a:solidFill>
                <a:schemeClr val="tx1"/>
              </a:solidFill>
              <a:latin typeface="Century Gothic" panose="020B0502020202020204" pitchFamily="34" charset="0"/>
            </a:endParaRPr>
          </a:p>
        </p:txBody>
      </p:sp>
      <p:sp>
        <p:nvSpPr>
          <p:cNvPr id="18" name="Text Box 28"/>
          <p:cNvSpPr txBox="1">
            <a:spLocks noChangeArrowheads="1"/>
          </p:cNvSpPr>
          <p:nvPr/>
        </p:nvSpPr>
        <p:spPr bwMode="auto">
          <a:xfrm>
            <a:off x="2175980" y="3359869"/>
            <a:ext cx="652463"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sz="1600" b="1" dirty="0">
                <a:solidFill>
                  <a:schemeClr val="tx1"/>
                </a:solidFill>
                <a:latin typeface="Century Gothic" panose="020B0502020202020204" pitchFamily="34" charset="0"/>
              </a:rPr>
              <a:t>字符串</a:t>
            </a:r>
            <a:endParaRPr lang="zh-CN" altLang="en-US" sz="1600" b="1" dirty="0">
              <a:solidFill>
                <a:schemeClr val="tx1"/>
              </a:solidFill>
              <a:latin typeface="Century Gothic" panose="020B0502020202020204" pitchFamily="34" charset="0"/>
            </a:endParaRPr>
          </a:p>
        </p:txBody>
      </p:sp>
      <p:sp>
        <p:nvSpPr>
          <p:cNvPr id="19" name="AutoShape 29"/>
          <p:cNvSpPr>
            <a:spLocks noChangeArrowheads="1"/>
          </p:cNvSpPr>
          <p:nvPr/>
        </p:nvSpPr>
        <p:spPr bwMode="auto">
          <a:xfrm>
            <a:off x="3386070" y="3330106"/>
            <a:ext cx="1185930" cy="372665"/>
          </a:xfrm>
          <a:prstGeom prst="cloudCallout">
            <a:avLst>
              <a:gd name="adj1" fmla="val -18389"/>
              <a:gd name="adj2" fmla="val 98370"/>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zh-CN" sz="1600" b="1">
              <a:solidFill>
                <a:schemeClr val="tx1"/>
              </a:solidFill>
              <a:latin typeface="Century Gothic" panose="020B0502020202020204" pitchFamily="34" charset="0"/>
            </a:endParaRPr>
          </a:p>
        </p:txBody>
      </p:sp>
      <p:sp>
        <p:nvSpPr>
          <p:cNvPr id="20" name="Text Box 30"/>
          <p:cNvSpPr txBox="1">
            <a:spLocks noChangeArrowheads="1"/>
          </p:cNvSpPr>
          <p:nvPr/>
        </p:nvSpPr>
        <p:spPr bwMode="auto">
          <a:xfrm>
            <a:off x="3546806" y="3399161"/>
            <a:ext cx="863133" cy="222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sz="1600" b="1" dirty="0">
                <a:solidFill>
                  <a:schemeClr val="tx1"/>
                </a:solidFill>
                <a:latin typeface="Century Gothic" panose="020B0502020202020204" pitchFamily="34" charset="0"/>
              </a:rPr>
              <a:t>字符串</a:t>
            </a:r>
            <a:endParaRPr lang="zh-CN" altLang="en-US" sz="1600" b="1" dirty="0">
              <a:solidFill>
                <a:schemeClr val="tx1"/>
              </a:solidFill>
              <a:latin typeface="Century Gothic" panose="020B0502020202020204" pitchFamily="34" charset="0"/>
            </a:endParaRPr>
          </a:p>
        </p:txBody>
      </p:sp>
      <p:sp>
        <p:nvSpPr>
          <p:cNvPr id="21" name="AutoShape 31"/>
          <p:cNvSpPr>
            <a:spLocks noChangeArrowheads="1"/>
          </p:cNvSpPr>
          <p:nvPr/>
        </p:nvSpPr>
        <p:spPr bwMode="auto">
          <a:xfrm>
            <a:off x="5583966" y="3305099"/>
            <a:ext cx="754856" cy="406004"/>
          </a:xfrm>
          <a:prstGeom prst="cloudCallout">
            <a:avLst>
              <a:gd name="adj1" fmla="val -6468"/>
              <a:gd name="adj2" fmla="val 99931"/>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zh-CN" sz="1600" b="1">
              <a:solidFill>
                <a:schemeClr val="tx1"/>
              </a:solidFill>
              <a:latin typeface="Century Gothic" panose="020B0502020202020204" pitchFamily="34" charset="0"/>
            </a:endParaRPr>
          </a:p>
        </p:txBody>
      </p:sp>
      <p:sp>
        <p:nvSpPr>
          <p:cNvPr id="22" name="Text Box 32"/>
          <p:cNvSpPr txBox="1">
            <a:spLocks noChangeArrowheads="1"/>
          </p:cNvSpPr>
          <p:nvPr/>
        </p:nvSpPr>
        <p:spPr bwMode="auto">
          <a:xfrm>
            <a:off x="5748272" y="3402733"/>
            <a:ext cx="49172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1600" b="1">
                <a:solidFill>
                  <a:schemeClr val="tx1"/>
                </a:solidFill>
                <a:latin typeface="Century Gothic" panose="020B0502020202020204" pitchFamily="34" charset="0"/>
              </a:rPr>
              <a:t>实数</a:t>
            </a:r>
            <a:endParaRPr lang="en-US" altLang="zh-CN" sz="1600" b="1">
              <a:solidFill>
                <a:schemeClr val="tx1"/>
              </a:solidFill>
              <a:latin typeface="Century Gothic" panose="020B0502020202020204" pitchFamily="34" charset="0"/>
            </a:endParaRPr>
          </a:p>
        </p:txBody>
      </p:sp>
      <p:sp>
        <p:nvSpPr>
          <p:cNvPr id="23" name="AutoShape 33"/>
          <p:cNvSpPr>
            <a:spLocks noChangeArrowheads="1"/>
          </p:cNvSpPr>
          <p:nvPr/>
        </p:nvSpPr>
        <p:spPr bwMode="auto">
          <a:xfrm>
            <a:off x="4756482" y="3332485"/>
            <a:ext cx="733425" cy="363140"/>
          </a:xfrm>
          <a:prstGeom prst="cloudCallout">
            <a:avLst>
              <a:gd name="adj1" fmla="val 1333"/>
              <a:gd name="adj2" fmla="val 103542"/>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zh-CN" sz="1600" b="1">
              <a:solidFill>
                <a:schemeClr val="tx1"/>
              </a:solidFill>
              <a:latin typeface="Century Gothic" panose="020B0502020202020204" pitchFamily="34" charset="0"/>
            </a:endParaRPr>
          </a:p>
        </p:txBody>
      </p:sp>
      <p:sp>
        <p:nvSpPr>
          <p:cNvPr id="24" name="Text Box 34"/>
          <p:cNvSpPr txBox="1">
            <a:spLocks noChangeArrowheads="1"/>
          </p:cNvSpPr>
          <p:nvPr/>
        </p:nvSpPr>
        <p:spPr bwMode="auto">
          <a:xfrm>
            <a:off x="4920788" y="3388446"/>
            <a:ext cx="663179" cy="2559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sz="1600" b="1">
                <a:solidFill>
                  <a:schemeClr val="tx1"/>
                </a:solidFill>
              </a:rPr>
              <a:t>整数</a:t>
            </a:r>
            <a:endParaRPr lang="zh-CN" altLang="en-US" sz="1600" b="1">
              <a:solidFill>
                <a:schemeClr val="tx1"/>
              </a:solidFill>
              <a:latin typeface="Century Gothic" panose="020B0502020202020204" pitchFamily="34" charset="0"/>
            </a:endParaRPr>
          </a:p>
        </p:txBody>
      </p:sp>
      <p:sp>
        <p:nvSpPr>
          <p:cNvPr id="25" name="AutoShape 35"/>
          <p:cNvSpPr/>
          <p:nvPr/>
        </p:nvSpPr>
        <p:spPr bwMode="auto">
          <a:xfrm rot="10800000">
            <a:off x="6376924" y="3314624"/>
            <a:ext cx="207169" cy="582216"/>
          </a:xfrm>
          <a:prstGeom prst="leftBrace">
            <a:avLst>
              <a:gd name="adj1" fmla="val 23862"/>
              <a:gd name="adj2" fmla="val 47375"/>
            </a:avLst>
          </a:prstGeom>
          <a:noFill/>
          <a:ln w="9525">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en-US" sz="1600">
              <a:solidFill>
                <a:schemeClr val="tx1"/>
              </a:solidFill>
              <a:latin typeface="Century Gothic" panose="020B0502020202020204" pitchFamily="34" charset="0"/>
            </a:endParaRPr>
          </a:p>
        </p:txBody>
      </p:sp>
      <p:sp>
        <p:nvSpPr>
          <p:cNvPr id="26" name="Text Box 36"/>
          <p:cNvSpPr txBox="1">
            <a:spLocks noChangeArrowheads="1"/>
          </p:cNvSpPr>
          <p:nvPr/>
        </p:nvSpPr>
        <p:spPr bwMode="auto">
          <a:xfrm>
            <a:off x="6619810" y="3470600"/>
            <a:ext cx="322659" cy="258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sz="1600" b="1">
                <a:solidFill>
                  <a:schemeClr val="tx1"/>
                </a:solidFill>
              </a:rPr>
              <a:t>域</a:t>
            </a:r>
            <a:endParaRPr lang="zh-CN" altLang="en-US" sz="1600" b="1">
              <a:solidFill>
                <a:schemeClr val="tx1"/>
              </a:solidFill>
              <a:latin typeface="Century Gothic" panose="020B0502020202020204" pitchFamily="34" charset="0"/>
            </a:endParaRPr>
          </a:p>
        </p:txBody>
      </p:sp>
      <p:sp>
        <p:nvSpPr>
          <p:cNvPr id="27" name="Text Box 74"/>
          <p:cNvSpPr txBox="1">
            <a:spLocks noChangeArrowheads="1"/>
          </p:cNvSpPr>
          <p:nvPr/>
        </p:nvSpPr>
        <p:spPr bwMode="auto">
          <a:xfrm>
            <a:off x="646414" y="4642914"/>
            <a:ext cx="1102546" cy="2655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zh-CN" altLang="en-US" sz="1600" b="1" dirty="0">
                <a:solidFill>
                  <a:schemeClr val="tx1"/>
                </a:solidFill>
              </a:rPr>
              <a:t>表</a:t>
            </a:r>
            <a:r>
              <a:rPr lang="en-US" altLang="zh-CN" sz="1600" b="1" dirty="0">
                <a:solidFill>
                  <a:schemeClr val="tx1"/>
                </a:solidFill>
              </a:rPr>
              <a:t>/</a:t>
            </a:r>
            <a:r>
              <a:rPr lang="zh-CN" altLang="en-US" sz="1600" b="1" dirty="0">
                <a:solidFill>
                  <a:schemeClr val="tx1"/>
                </a:solidFill>
              </a:rPr>
              <a:t>关系</a:t>
            </a:r>
            <a:endParaRPr lang="zh-CN" altLang="en-US" sz="1600" b="1" dirty="0">
              <a:solidFill>
                <a:schemeClr val="tx1"/>
              </a:solidFill>
              <a:latin typeface="Century Gothic" panose="020B0502020202020204" pitchFamily="34" charset="0"/>
            </a:endParaRPr>
          </a:p>
        </p:txBody>
      </p:sp>
      <p:graphicFrame>
        <p:nvGraphicFramePr>
          <p:cNvPr id="28" name="表格 27"/>
          <p:cNvGraphicFramePr>
            <a:graphicFrameLocks noGrp="1"/>
          </p:cNvGraphicFramePr>
          <p:nvPr/>
        </p:nvGraphicFramePr>
        <p:xfrm>
          <a:off x="1930531" y="3954709"/>
          <a:ext cx="4361259" cy="1607343"/>
        </p:xfrm>
        <a:graphic>
          <a:graphicData uri="http://schemas.openxmlformats.org/drawingml/2006/table">
            <a:tbl>
              <a:tblPr firstRow="1" bandRow="1">
                <a:tableStyleId>{5940675A-B579-460E-94D1-54222C63F5DA}</a:tableStyleId>
              </a:tblPr>
              <a:tblGrid>
                <a:gridCol w="1094613"/>
                <a:gridCol w="1982391"/>
                <a:gridCol w="605530"/>
                <a:gridCol w="678725"/>
              </a:tblGrid>
              <a:tr h="320041">
                <a:tc>
                  <a:txBody>
                    <a:bodyPr/>
                    <a:lstStyle/>
                    <a:p>
                      <a:pPr algn="ctr"/>
                      <a:r>
                        <a:rPr lang="zh-CN" altLang="en-US" sz="1600" b="1" dirty="0">
                          <a:solidFill>
                            <a:srgbClr val="C00000"/>
                          </a:solidFill>
                          <a:latin typeface="+mn-ea"/>
                          <a:ea typeface="+mn-ea"/>
                        </a:rPr>
                        <a:t>课程号</a:t>
                      </a:r>
                      <a:endParaRPr lang="zh-CN" altLang="en-US" sz="1600" b="1" dirty="0">
                        <a:solidFill>
                          <a:srgbClr val="C00000"/>
                        </a:solidFill>
                        <a:latin typeface="+mn-ea"/>
                        <a:ea typeface="+mn-ea"/>
                      </a:endParaRPr>
                    </a:p>
                  </a:txBody>
                  <a:tcPr marL="68594" marR="68594" marT="34290" marB="34290"/>
                </a:tc>
                <a:tc>
                  <a:txBody>
                    <a:bodyPr/>
                    <a:lstStyle/>
                    <a:p>
                      <a:pPr algn="ctr"/>
                      <a:r>
                        <a:rPr lang="zh-CN" altLang="en-US" sz="1600" b="1" dirty="0">
                          <a:solidFill>
                            <a:srgbClr val="C00000"/>
                          </a:solidFill>
                          <a:latin typeface="+mn-ea"/>
                          <a:ea typeface="+mn-ea"/>
                        </a:rPr>
                        <a:t>课程名</a:t>
                      </a:r>
                      <a:endParaRPr lang="zh-CN" altLang="en-US" sz="1600" b="1" dirty="0">
                        <a:solidFill>
                          <a:srgbClr val="C00000"/>
                        </a:solidFill>
                        <a:latin typeface="+mn-ea"/>
                        <a:ea typeface="+mn-ea"/>
                      </a:endParaRPr>
                    </a:p>
                  </a:txBody>
                  <a:tcPr marL="68594" marR="68594" marT="34290" marB="34290"/>
                </a:tc>
                <a:tc>
                  <a:txBody>
                    <a:bodyPr/>
                    <a:lstStyle/>
                    <a:p>
                      <a:pPr algn="ctr"/>
                      <a:r>
                        <a:rPr lang="zh-CN" altLang="en-US" sz="1600" b="1" dirty="0">
                          <a:solidFill>
                            <a:srgbClr val="C00000"/>
                          </a:solidFill>
                          <a:latin typeface="+mn-ea"/>
                          <a:ea typeface="+mn-ea"/>
                        </a:rPr>
                        <a:t>学时</a:t>
                      </a:r>
                      <a:endParaRPr lang="zh-CN" altLang="en-US" sz="1600" b="1" dirty="0">
                        <a:solidFill>
                          <a:srgbClr val="C00000"/>
                        </a:solidFill>
                        <a:latin typeface="+mn-ea"/>
                        <a:ea typeface="+mn-ea"/>
                      </a:endParaRPr>
                    </a:p>
                  </a:txBody>
                  <a:tcPr marL="68594" marR="68594" marT="34290" marB="34290"/>
                </a:tc>
                <a:tc>
                  <a:txBody>
                    <a:bodyPr/>
                    <a:lstStyle/>
                    <a:p>
                      <a:pPr algn="ctr"/>
                      <a:r>
                        <a:rPr lang="zh-CN" altLang="en-US" sz="1600" b="1" dirty="0">
                          <a:solidFill>
                            <a:srgbClr val="C00000"/>
                          </a:solidFill>
                          <a:latin typeface="+mn-ea"/>
                          <a:ea typeface="+mn-ea"/>
                        </a:rPr>
                        <a:t>学分</a:t>
                      </a:r>
                      <a:endParaRPr lang="zh-CN" altLang="en-US" sz="1600" b="1" dirty="0">
                        <a:solidFill>
                          <a:srgbClr val="C00000"/>
                        </a:solidFill>
                        <a:latin typeface="+mn-ea"/>
                        <a:ea typeface="+mn-ea"/>
                      </a:endParaRPr>
                    </a:p>
                  </a:txBody>
                  <a:tcPr marL="68594" marR="68594" marT="34290" marB="34290"/>
                </a:tc>
              </a:tr>
              <a:tr h="327179">
                <a:tc>
                  <a:txBody>
                    <a:bodyPr/>
                    <a:lstStyle/>
                    <a:p>
                      <a:pPr algn="ctr"/>
                      <a:r>
                        <a:rPr lang="en-US" altLang="zh-CN" sz="1600" b="1" dirty="0">
                          <a:latin typeface="+mn-ea"/>
                          <a:ea typeface="+mn-ea"/>
                        </a:rPr>
                        <a:t>40413001</a:t>
                      </a:r>
                      <a:endParaRPr lang="zh-CN" altLang="en-US" sz="1600" b="1" dirty="0">
                        <a:latin typeface="+mn-ea"/>
                        <a:ea typeface="+mn-ea"/>
                      </a:endParaRPr>
                    </a:p>
                  </a:txBody>
                  <a:tcPr marL="68594" marR="68594" marT="34290" marB="34290"/>
                </a:tc>
                <a:tc>
                  <a:txBody>
                    <a:bodyPr/>
                    <a:lstStyle/>
                    <a:p>
                      <a:pPr algn="ctr"/>
                      <a:r>
                        <a:rPr lang="zh-CN" altLang="en-US" sz="1600" b="1" dirty="0">
                          <a:latin typeface="+mn-ea"/>
                          <a:ea typeface="+mn-ea"/>
                        </a:rPr>
                        <a:t>计算机科学概述</a:t>
                      </a:r>
                      <a:endParaRPr lang="zh-CN" altLang="en-US" sz="1600" b="1" dirty="0">
                        <a:latin typeface="+mn-ea"/>
                        <a:ea typeface="+mn-ea"/>
                      </a:endParaRPr>
                    </a:p>
                  </a:txBody>
                  <a:tcPr marL="68594" marR="68594" marT="34290" marB="34290"/>
                </a:tc>
                <a:tc>
                  <a:txBody>
                    <a:bodyPr/>
                    <a:lstStyle/>
                    <a:p>
                      <a:pPr algn="ctr"/>
                      <a:r>
                        <a:rPr lang="en-US" altLang="zh-CN" sz="1600" b="1" dirty="0">
                          <a:latin typeface="+mn-ea"/>
                          <a:ea typeface="+mn-ea"/>
                        </a:rPr>
                        <a:t>30</a:t>
                      </a:r>
                      <a:endParaRPr lang="zh-CN" altLang="en-US" sz="1600" b="1" dirty="0">
                        <a:latin typeface="+mn-ea"/>
                        <a:ea typeface="+mn-ea"/>
                      </a:endParaRPr>
                    </a:p>
                  </a:txBody>
                  <a:tcPr marL="68594" marR="68594" marT="34290" marB="34290"/>
                </a:tc>
                <a:tc>
                  <a:txBody>
                    <a:bodyPr/>
                    <a:lstStyle/>
                    <a:p>
                      <a:pPr algn="ctr"/>
                      <a:r>
                        <a:rPr lang="en-US" altLang="zh-CN" sz="1600" b="1" dirty="0">
                          <a:latin typeface="+mn-ea"/>
                          <a:ea typeface="+mn-ea"/>
                        </a:rPr>
                        <a:t>2</a:t>
                      </a:r>
                      <a:endParaRPr lang="zh-CN" altLang="en-US" sz="1600" b="1" dirty="0">
                        <a:latin typeface="+mn-ea"/>
                        <a:ea typeface="+mn-ea"/>
                      </a:endParaRPr>
                    </a:p>
                  </a:txBody>
                  <a:tcPr marL="68594" marR="68594" marT="34290" marB="34290"/>
                </a:tc>
              </a:tr>
              <a:tr h="320041">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altLang="zh-CN" sz="1600" b="1" dirty="0">
                          <a:latin typeface="+mn-ea"/>
                          <a:ea typeface="+mn-ea"/>
                        </a:rPr>
                        <a:t>40413002</a:t>
                      </a:r>
                      <a:endParaRPr lang="zh-CN" altLang="en-US" sz="1600" b="1" dirty="0">
                        <a:latin typeface="+mn-ea"/>
                        <a:ea typeface="+mn-ea"/>
                      </a:endParaRPr>
                    </a:p>
                  </a:txBody>
                  <a:tcPr marL="68594" marR="68594" marT="34290" marB="34290"/>
                </a:tc>
                <a:tc>
                  <a:txBody>
                    <a:bodyPr/>
                    <a:lstStyle/>
                    <a:p>
                      <a:pPr algn="ctr"/>
                      <a:r>
                        <a:rPr lang="zh-CN" altLang="en-US" sz="1600" b="1" dirty="0">
                          <a:latin typeface="+mn-ea"/>
                          <a:ea typeface="+mn-ea"/>
                        </a:rPr>
                        <a:t>程序设计基础</a:t>
                      </a:r>
                      <a:endParaRPr lang="zh-CN" altLang="en-US" sz="1600" b="1" dirty="0">
                        <a:latin typeface="+mn-ea"/>
                        <a:ea typeface="+mn-ea"/>
                      </a:endParaRPr>
                    </a:p>
                  </a:txBody>
                  <a:tcPr marL="68594" marR="68594" marT="34290" marB="34290"/>
                </a:tc>
                <a:tc>
                  <a:txBody>
                    <a:bodyPr/>
                    <a:lstStyle/>
                    <a:p>
                      <a:pPr algn="ctr"/>
                      <a:r>
                        <a:rPr lang="en-US" altLang="zh-CN" sz="1600" b="1" dirty="0">
                          <a:latin typeface="+mn-ea"/>
                          <a:ea typeface="+mn-ea"/>
                        </a:rPr>
                        <a:t>50</a:t>
                      </a:r>
                      <a:endParaRPr lang="zh-CN" altLang="en-US" sz="1600" b="1" dirty="0">
                        <a:latin typeface="+mn-ea"/>
                        <a:ea typeface="+mn-ea"/>
                      </a:endParaRPr>
                    </a:p>
                  </a:txBody>
                  <a:tcPr marL="68594" marR="68594" marT="34290" marB="34290"/>
                </a:tc>
                <a:tc>
                  <a:txBody>
                    <a:bodyPr/>
                    <a:lstStyle/>
                    <a:p>
                      <a:pPr algn="ctr"/>
                      <a:r>
                        <a:rPr lang="en-US" altLang="zh-CN" sz="1600" b="1" dirty="0">
                          <a:latin typeface="+mn-ea"/>
                          <a:ea typeface="+mn-ea"/>
                        </a:rPr>
                        <a:t>3.5</a:t>
                      </a:r>
                      <a:endParaRPr lang="zh-CN" altLang="en-US" sz="1600" b="1" dirty="0">
                        <a:latin typeface="+mn-ea"/>
                        <a:ea typeface="+mn-ea"/>
                      </a:endParaRPr>
                    </a:p>
                  </a:txBody>
                  <a:tcPr marL="68594" marR="68594" marT="34290" marB="34290"/>
                </a:tc>
              </a:tr>
              <a:tr h="320041">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altLang="zh-CN" sz="1600" b="1" dirty="0">
                          <a:latin typeface="+mn-ea"/>
                          <a:ea typeface="+mn-ea"/>
                        </a:rPr>
                        <a:t>40413003</a:t>
                      </a:r>
                      <a:endParaRPr lang="zh-CN" altLang="en-US" sz="1600" b="1" dirty="0">
                        <a:latin typeface="+mn-ea"/>
                        <a:ea typeface="+mn-ea"/>
                      </a:endParaRPr>
                    </a:p>
                  </a:txBody>
                  <a:tcPr marL="68594" marR="68594" marT="34290" marB="34290"/>
                </a:tc>
                <a:tc>
                  <a:txBody>
                    <a:bodyPr/>
                    <a:lstStyle/>
                    <a:p>
                      <a:pPr algn="ctr"/>
                      <a:r>
                        <a:rPr lang="zh-CN" altLang="en-US" sz="1600" b="1" dirty="0">
                          <a:latin typeface="+mn-ea"/>
                          <a:ea typeface="+mn-ea"/>
                        </a:rPr>
                        <a:t>数据结构</a:t>
                      </a:r>
                      <a:endParaRPr lang="zh-CN" altLang="en-US" sz="1600" b="1" dirty="0">
                        <a:latin typeface="+mn-ea"/>
                        <a:ea typeface="+mn-ea"/>
                      </a:endParaRPr>
                    </a:p>
                  </a:txBody>
                  <a:tcPr marL="68594" marR="68594" marT="34290" marB="34290"/>
                </a:tc>
                <a:tc>
                  <a:txBody>
                    <a:bodyPr/>
                    <a:lstStyle/>
                    <a:p>
                      <a:pPr algn="ctr"/>
                      <a:r>
                        <a:rPr lang="en-US" altLang="zh-CN" sz="1600" b="1" dirty="0">
                          <a:latin typeface="+mn-ea"/>
                          <a:ea typeface="+mn-ea"/>
                        </a:rPr>
                        <a:t>60</a:t>
                      </a:r>
                      <a:endParaRPr lang="zh-CN" altLang="en-US" sz="1600" b="1" dirty="0">
                        <a:latin typeface="+mn-ea"/>
                        <a:ea typeface="+mn-ea"/>
                      </a:endParaRPr>
                    </a:p>
                  </a:txBody>
                  <a:tcPr marL="68594" marR="68594" marT="34290" marB="34290"/>
                </a:tc>
                <a:tc>
                  <a:txBody>
                    <a:bodyPr/>
                    <a:lstStyle/>
                    <a:p>
                      <a:pPr algn="ctr"/>
                      <a:r>
                        <a:rPr lang="en-US" altLang="zh-CN" sz="1600" b="1" dirty="0">
                          <a:latin typeface="+mn-ea"/>
                          <a:ea typeface="+mn-ea"/>
                        </a:rPr>
                        <a:t>4</a:t>
                      </a:r>
                      <a:endParaRPr lang="zh-CN" altLang="en-US" sz="1600" b="1" dirty="0">
                        <a:latin typeface="+mn-ea"/>
                        <a:ea typeface="+mn-ea"/>
                      </a:endParaRPr>
                    </a:p>
                  </a:txBody>
                  <a:tcPr marL="68594" marR="68594" marT="34290" marB="34290"/>
                </a:tc>
              </a:tr>
              <a:tr h="320041">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altLang="zh-CN" sz="1600" b="1" dirty="0">
                          <a:latin typeface="+mn-ea"/>
                          <a:ea typeface="+mn-ea"/>
                        </a:rPr>
                        <a:t>…</a:t>
                      </a:r>
                      <a:endParaRPr lang="zh-CN" altLang="en-US" sz="1600" b="1" dirty="0">
                        <a:latin typeface="+mn-ea"/>
                        <a:ea typeface="+mn-ea"/>
                      </a:endParaRPr>
                    </a:p>
                  </a:txBody>
                  <a:tcPr marL="68594" marR="68594" marT="34290" marB="34290"/>
                </a:tc>
                <a:tc>
                  <a:txBody>
                    <a:bodyPr/>
                    <a:lstStyle/>
                    <a:p>
                      <a:pPr algn="ctr"/>
                      <a:r>
                        <a:rPr lang="en-US" altLang="zh-CN" sz="1600" b="1" dirty="0">
                          <a:latin typeface="+mn-ea"/>
                          <a:ea typeface="+mn-ea"/>
                        </a:rPr>
                        <a:t>…</a:t>
                      </a:r>
                      <a:endParaRPr lang="zh-CN" altLang="en-US" sz="1600" b="1" dirty="0">
                        <a:latin typeface="+mn-ea"/>
                        <a:ea typeface="+mn-ea"/>
                      </a:endParaRPr>
                    </a:p>
                  </a:txBody>
                  <a:tcPr marL="68594" marR="68594" marT="34290" marB="34290"/>
                </a:tc>
                <a:tc>
                  <a:txBody>
                    <a:bodyPr/>
                    <a:lstStyle/>
                    <a:p>
                      <a:pPr algn="ctr"/>
                      <a:r>
                        <a:rPr lang="en-US" altLang="zh-CN" sz="1600" b="1" dirty="0">
                          <a:latin typeface="+mn-ea"/>
                          <a:ea typeface="+mn-ea"/>
                        </a:rPr>
                        <a:t>…</a:t>
                      </a:r>
                      <a:endParaRPr lang="zh-CN" altLang="en-US" sz="1600" b="1" dirty="0">
                        <a:latin typeface="+mn-ea"/>
                        <a:ea typeface="+mn-ea"/>
                      </a:endParaRPr>
                    </a:p>
                  </a:txBody>
                  <a:tcPr marL="68594" marR="68594" marT="34290" marB="34290"/>
                </a:tc>
                <a:tc>
                  <a:txBody>
                    <a:bodyPr/>
                    <a:lstStyle/>
                    <a:p>
                      <a:pPr algn="ctr"/>
                      <a:r>
                        <a:rPr lang="en-US" altLang="zh-CN" sz="1600" b="1" dirty="0">
                          <a:latin typeface="+mn-ea"/>
                          <a:ea typeface="+mn-ea"/>
                        </a:rPr>
                        <a:t>…</a:t>
                      </a:r>
                      <a:endParaRPr lang="zh-CN" altLang="en-US" sz="1600" b="1" dirty="0">
                        <a:latin typeface="+mn-ea"/>
                        <a:ea typeface="+mn-ea"/>
                      </a:endParaRPr>
                    </a:p>
                  </a:txBody>
                  <a:tcPr marL="68594" marR="68594" marT="34290" marB="34290"/>
                </a:tc>
              </a:tr>
            </a:tbl>
          </a:graphicData>
        </a:graphic>
      </p:graphicFrame>
      <p:sp>
        <p:nvSpPr>
          <p:cNvPr id="29" name="文本框 28"/>
          <p:cNvSpPr txBox="1">
            <a:spLocks noChangeArrowheads="1"/>
          </p:cNvSpPr>
          <p:nvPr/>
        </p:nvSpPr>
        <p:spPr bwMode="auto">
          <a:xfrm>
            <a:off x="515752" y="6269147"/>
            <a:ext cx="63683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b="1" dirty="0">
                <a:solidFill>
                  <a:schemeClr val="tx1"/>
                </a:solidFill>
                <a:latin typeface="Century Gothic" panose="020B0502020202020204" pitchFamily="34" charset="0"/>
              </a:rPr>
              <a:t>关系模式：课程信息表（</a:t>
            </a:r>
            <a:r>
              <a:rPr lang="zh-CN" altLang="en-US" b="1" u="sng" dirty="0">
                <a:solidFill>
                  <a:schemeClr val="tx1"/>
                </a:solidFill>
                <a:latin typeface="Century Gothic" panose="020B0502020202020204" pitchFamily="34" charset="0"/>
              </a:rPr>
              <a:t>课程号</a:t>
            </a:r>
            <a:r>
              <a:rPr lang="zh-CN" altLang="en-US" b="1" dirty="0">
                <a:solidFill>
                  <a:schemeClr val="tx1"/>
                </a:solidFill>
                <a:latin typeface="Century Gothic" panose="020B0502020202020204" pitchFamily="34" charset="0"/>
              </a:rPr>
              <a:t>，课程名，学时，学分）</a:t>
            </a:r>
            <a:endParaRPr lang="zh-CN" altLang="en-US" b="1" dirty="0">
              <a:solidFill>
                <a:schemeClr val="tx1"/>
              </a:solidFill>
              <a:latin typeface="Century Gothic" panose="020B0502020202020204" pitchFamily="34" charset="0"/>
            </a:endParaRPr>
          </a:p>
        </p:txBody>
      </p:sp>
      <p:sp>
        <p:nvSpPr>
          <p:cNvPr id="30" name="文本框 1"/>
          <p:cNvSpPr txBox="1">
            <a:spLocks noChangeArrowheads="1"/>
          </p:cNvSpPr>
          <p:nvPr/>
        </p:nvSpPr>
        <p:spPr bwMode="auto">
          <a:xfrm>
            <a:off x="6376921" y="6269147"/>
            <a:ext cx="36388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b="1" dirty="0">
                <a:solidFill>
                  <a:srgbClr val="FF0000"/>
                </a:solidFill>
                <a:latin typeface="Century Gothic" panose="020B0502020202020204" pitchFamily="34" charset="0"/>
              </a:rPr>
              <a:t>带下划线者为主键</a:t>
            </a:r>
            <a:r>
              <a:rPr lang="en-US" altLang="zh-CN" b="1" dirty="0">
                <a:solidFill>
                  <a:srgbClr val="FF0000"/>
                </a:solidFill>
                <a:latin typeface="Century Gothic" panose="020B0502020202020204" pitchFamily="34" charset="0"/>
              </a:rPr>
              <a:t>\</a:t>
            </a:r>
            <a:r>
              <a:rPr lang="zh-CN" altLang="en-US" b="1" dirty="0">
                <a:solidFill>
                  <a:srgbClr val="FF0000"/>
                </a:solidFill>
                <a:latin typeface="Century Gothic" panose="020B0502020202020204" pitchFamily="34" charset="0"/>
              </a:rPr>
              <a:t>主码。</a:t>
            </a:r>
            <a:endParaRPr lang="zh-CN" altLang="en-US" b="1" dirty="0">
              <a:solidFill>
                <a:srgbClr val="FF0000"/>
              </a:solidFill>
              <a:latin typeface="Century Gothic" panose="020B0502020202020204" pitchFamily="34" charset="0"/>
            </a:endParaRPr>
          </a:p>
        </p:txBody>
      </p:sp>
      <p:sp>
        <p:nvSpPr>
          <p:cNvPr id="31"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a:latin typeface="黑体" panose="02010609060101010101" pitchFamily="49" charset="-122"/>
                <a:ea typeface="黑体" panose="02010609060101010101" pitchFamily="49" charset="-122"/>
              </a:rPr>
              <a:t>４</a:t>
            </a:r>
            <a:r>
              <a:rPr lang="en-US" altLang="zh-CN" sz="3000" b="1">
                <a:latin typeface="黑体" panose="02010609060101010101" pitchFamily="49" charset="-122"/>
                <a:ea typeface="黑体" panose="02010609060101010101" pitchFamily="49" charset="-122"/>
              </a:rPr>
              <a:t>.3 </a:t>
            </a:r>
            <a:r>
              <a:rPr lang="zh-CN" altLang="en-US" sz="3000" b="1">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
        <p:nvSpPr>
          <p:cNvPr id="3" name="矩形 2"/>
          <p:cNvSpPr/>
          <p:nvPr/>
        </p:nvSpPr>
        <p:spPr>
          <a:xfrm>
            <a:off x="337821" y="4158704"/>
            <a:ext cx="1346844" cy="369332"/>
          </a:xfrm>
          <a:prstGeom prst="rect">
            <a:avLst/>
          </a:prstGeom>
        </p:spPr>
        <p:txBody>
          <a:bodyPr wrap="none">
            <a:spAutoFit/>
          </a:bodyPr>
          <a:lstStyle/>
          <a:p>
            <a:r>
              <a:rPr lang="zh-CN" altLang="en-US" b="1" dirty="0">
                <a:solidFill>
                  <a:srgbClr val="C00000"/>
                </a:solidFill>
                <a:latin typeface="Century Gothic" panose="020B0502020202020204" pitchFamily="34" charset="0"/>
              </a:rPr>
              <a:t>课程信息表</a:t>
            </a:r>
            <a:endParaRPr lang="zh-CN" alt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ChangeArrowheads="1"/>
          </p:cNvSpPr>
          <p:nvPr/>
        </p:nvSpPr>
        <p:spPr bwMode="auto">
          <a:xfrm>
            <a:off x="999497" y="1422919"/>
            <a:ext cx="72233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342900" indent="-342900">
              <a:defRPr>
                <a:solidFill>
                  <a:schemeClr val="tx1"/>
                </a:solidFill>
                <a:latin typeface="Century Gothic" panose="020B0502020202020204" pitchFamily="34" charset="0"/>
              </a:defRPr>
            </a:lvl1pPr>
            <a:lvl2pPr marL="800100" indent="-342900">
              <a:defRPr>
                <a:solidFill>
                  <a:schemeClr val="tx1"/>
                </a:solidFill>
                <a:latin typeface="Century Gothic" panose="020B0502020202020204" pitchFamily="34" charset="0"/>
              </a:defRPr>
            </a:lvl2pPr>
            <a:lvl3pPr marL="1257300" indent="-342900">
              <a:defRPr>
                <a:solidFill>
                  <a:schemeClr val="tx1"/>
                </a:solidFill>
                <a:latin typeface="Century Gothic" panose="020B0502020202020204" pitchFamily="34" charset="0"/>
              </a:defRPr>
            </a:lvl3pPr>
            <a:lvl4pPr marL="1714500" indent="-342900">
              <a:defRPr>
                <a:solidFill>
                  <a:schemeClr val="tx1"/>
                </a:solidFill>
                <a:latin typeface="Century Gothic" panose="020B0502020202020204" pitchFamily="34" charset="0"/>
              </a:defRPr>
            </a:lvl4pPr>
            <a:lvl5pPr marL="2171700" indent="-342900">
              <a:defRPr>
                <a:solidFill>
                  <a:schemeClr val="tx1"/>
                </a:solidFill>
                <a:latin typeface="Century Gothic" panose="020B0502020202020204" pitchFamily="34" charset="0"/>
              </a:defRPr>
            </a:lvl5pPr>
            <a:lvl6pPr marL="2628900" indent="-342900" defTabSz="457200" eaLnBrk="0" fontAlgn="base" hangingPunct="0">
              <a:spcBef>
                <a:spcPct val="0"/>
              </a:spcBef>
              <a:spcAft>
                <a:spcPct val="0"/>
              </a:spcAft>
              <a:defRPr>
                <a:solidFill>
                  <a:schemeClr val="tx1"/>
                </a:solidFill>
                <a:latin typeface="Century Gothic" panose="020B0502020202020204" pitchFamily="34" charset="0"/>
              </a:defRPr>
            </a:lvl6pPr>
            <a:lvl7pPr marL="3086100" indent="-342900" defTabSz="457200" eaLnBrk="0" fontAlgn="base" hangingPunct="0">
              <a:spcBef>
                <a:spcPct val="0"/>
              </a:spcBef>
              <a:spcAft>
                <a:spcPct val="0"/>
              </a:spcAft>
              <a:defRPr>
                <a:solidFill>
                  <a:schemeClr val="tx1"/>
                </a:solidFill>
                <a:latin typeface="Century Gothic" panose="020B0502020202020204" pitchFamily="34" charset="0"/>
              </a:defRPr>
            </a:lvl7pPr>
            <a:lvl8pPr marL="3543300" indent="-342900" defTabSz="457200" eaLnBrk="0" fontAlgn="base" hangingPunct="0">
              <a:spcBef>
                <a:spcPct val="0"/>
              </a:spcBef>
              <a:spcAft>
                <a:spcPct val="0"/>
              </a:spcAft>
              <a:defRPr>
                <a:solidFill>
                  <a:schemeClr val="tx1"/>
                </a:solidFill>
                <a:latin typeface="Century Gothic" panose="020B0502020202020204" pitchFamily="34" charset="0"/>
              </a:defRPr>
            </a:lvl8pPr>
            <a:lvl9pPr marL="4000500" indent="-342900" defTabSz="457200" eaLnBrk="0" fontAlgn="base" hangingPunct="0">
              <a:spcBef>
                <a:spcPct val="0"/>
              </a:spcBef>
              <a:spcAft>
                <a:spcPct val="0"/>
              </a:spcAft>
              <a:defRPr>
                <a:solidFill>
                  <a:schemeClr val="tx1"/>
                </a:solidFill>
                <a:latin typeface="Century Gothic" panose="020B0502020202020204" pitchFamily="34" charset="0"/>
              </a:defRPr>
            </a:lvl9pPr>
          </a:lstStyle>
          <a:p>
            <a:pPr algn="just">
              <a:spcBef>
                <a:spcPct val="20000"/>
              </a:spcBef>
              <a:buClr>
                <a:schemeClr val="folHlink"/>
              </a:buClr>
              <a:buSzPct val="60000"/>
              <a:buFont typeface="Wingdings" panose="05000000000000000000" pitchFamily="2" charset="2"/>
              <a:buNone/>
            </a:pPr>
            <a:r>
              <a:rPr lang="zh-CN" altLang="en-US" sz="2200" b="1" dirty="0">
                <a:latin typeface="Times New Roman" panose="02020603050405020304" pitchFamily="18" charset="0"/>
              </a:rPr>
              <a:t>例</a:t>
            </a:r>
            <a:r>
              <a:rPr lang="en-US" altLang="zh-CN" sz="2200" b="1" dirty="0">
                <a:latin typeface="Times New Roman" panose="02020603050405020304" pitchFamily="18" charset="0"/>
              </a:rPr>
              <a:t>2  </a:t>
            </a:r>
            <a:r>
              <a:rPr lang="zh-CN" altLang="en-US" sz="2200" b="1" dirty="0">
                <a:latin typeface="Times New Roman" panose="02020603050405020304" pitchFamily="18" charset="0"/>
              </a:rPr>
              <a:t>将例１抽象出的</a:t>
            </a:r>
            <a:r>
              <a:rPr lang="en-US" altLang="zh-CN" sz="2200" b="1" dirty="0">
                <a:latin typeface="Times New Roman" panose="02020603050405020304" pitchFamily="18" charset="0"/>
              </a:rPr>
              <a:t>E-R</a:t>
            </a:r>
            <a:r>
              <a:rPr lang="zh-CN" altLang="en-US" sz="2200" b="1" dirty="0">
                <a:latin typeface="Times New Roman" panose="02020603050405020304" pitchFamily="18" charset="0"/>
              </a:rPr>
              <a:t>模型映射为关系模型。</a:t>
            </a:r>
            <a:endParaRPr lang="zh-CN" altLang="en-US" sz="2200" b="1" dirty="0">
              <a:latin typeface="Times New Roman" panose="02020603050405020304" pitchFamily="18" charset="0"/>
            </a:endParaRPr>
          </a:p>
        </p:txBody>
      </p:sp>
      <p:pic>
        <p:nvPicPr>
          <p:cNvPr id="5017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00338" y="2249982"/>
            <a:ext cx="3705224" cy="253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50180" name="Rectangle 6"/>
          <p:cNvSpPr>
            <a:spLocks noChangeArrowheads="1"/>
          </p:cNvSpPr>
          <p:nvPr/>
        </p:nvSpPr>
        <p:spPr bwMode="auto">
          <a:xfrm>
            <a:off x="692525" y="5193607"/>
            <a:ext cx="7222402" cy="1034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20000"/>
              </a:spcBef>
              <a:buClrTx/>
              <a:buFontTx/>
              <a:buNone/>
            </a:pPr>
            <a:r>
              <a:rPr lang="zh-CN" altLang="en-US" b="1">
                <a:solidFill>
                  <a:schemeClr val="tx1"/>
                </a:solidFill>
                <a:latin typeface="Tahoma" panose="020B0604030504040204" pitchFamily="34" charset="0"/>
              </a:rPr>
              <a:t>学生关系</a:t>
            </a:r>
            <a:r>
              <a:rPr lang="en-US" altLang="zh-CN" b="1">
                <a:solidFill>
                  <a:schemeClr val="tx1"/>
                </a:solidFill>
                <a:latin typeface="Arial" panose="020B0604020202020204" pitchFamily="34" charset="0"/>
              </a:rPr>
              <a:t>—</a:t>
            </a:r>
            <a:r>
              <a:rPr lang="zh-CN" altLang="en-US" b="1">
                <a:solidFill>
                  <a:schemeClr val="tx1"/>
                </a:solidFill>
                <a:latin typeface="Tahoma" panose="020B0604030504040204" pitchFamily="34" charset="0"/>
              </a:rPr>
              <a:t>学生信息表（</a:t>
            </a:r>
            <a:r>
              <a:rPr lang="zh-CN" altLang="en-US" b="1" u="sng">
                <a:solidFill>
                  <a:schemeClr val="tx1"/>
                </a:solidFill>
                <a:latin typeface="Tahoma" panose="020B0604030504040204" pitchFamily="34" charset="0"/>
              </a:rPr>
              <a:t>学号</a:t>
            </a:r>
            <a:r>
              <a:rPr lang="zh-CN" altLang="en-US" b="1">
                <a:solidFill>
                  <a:schemeClr val="tx1"/>
                </a:solidFill>
                <a:latin typeface="Tahoma" panose="020B0604030504040204" pitchFamily="34" charset="0"/>
              </a:rPr>
              <a:t>，姓名，所在学院，所学专业，班级）</a:t>
            </a:r>
            <a:endParaRPr lang="zh-CN" altLang="en-US" b="1">
              <a:solidFill>
                <a:schemeClr val="tx1"/>
              </a:solidFill>
              <a:latin typeface="Tahoma" panose="020B0604030504040204" pitchFamily="34" charset="0"/>
            </a:endParaRPr>
          </a:p>
          <a:p>
            <a:pPr algn="just">
              <a:spcBef>
                <a:spcPct val="20000"/>
              </a:spcBef>
              <a:buClrTx/>
              <a:buFontTx/>
              <a:buNone/>
            </a:pPr>
            <a:r>
              <a:rPr lang="zh-CN" altLang="en-US" b="1">
                <a:solidFill>
                  <a:schemeClr val="tx1"/>
                </a:solidFill>
                <a:latin typeface="Tahoma" panose="020B0604030504040204" pitchFamily="34" charset="0"/>
              </a:rPr>
              <a:t>课程关系</a:t>
            </a:r>
            <a:r>
              <a:rPr lang="en-US" altLang="zh-CN" b="1">
                <a:solidFill>
                  <a:schemeClr val="tx1"/>
                </a:solidFill>
                <a:latin typeface="Arial" panose="020B0604020202020204" pitchFamily="34" charset="0"/>
              </a:rPr>
              <a:t>—</a:t>
            </a:r>
            <a:r>
              <a:rPr lang="zh-CN" altLang="en-US" b="1">
                <a:solidFill>
                  <a:schemeClr val="tx1"/>
                </a:solidFill>
                <a:latin typeface="Tahoma" panose="020B0604030504040204" pitchFamily="34" charset="0"/>
              </a:rPr>
              <a:t>课程信息表（</a:t>
            </a:r>
            <a:r>
              <a:rPr lang="zh-CN" altLang="en-US" b="1" u="sng">
                <a:solidFill>
                  <a:schemeClr val="tx1"/>
                </a:solidFill>
                <a:latin typeface="Tahoma" panose="020B0604030504040204" pitchFamily="34" charset="0"/>
              </a:rPr>
              <a:t>课程号</a:t>
            </a:r>
            <a:r>
              <a:rPr lang="zh-CN" altLang="en-US" b="1">
                <a:solidFill>
                  <a:schemeClr val="tx1"/>
                </a:solidFill>
                <a:latin typeface="Tahoma" panose="020B0604030504040204" pitchFamily="34" charset="0"/>
              </a:rPr>
              <a:t>，课程名，学时，学分）</a:t>
            </a:r>
            <a:endParaRPr lang="zh-CN" altLang="en-US" b="1">
              <a:solidFill>
                <a:schemeClr val="tx1"/>
              </a:solidFill>
              <a:latin typeface="Tahoma" panose="020B0604030504040204" pitchFamily="34" charset="0"/>
            </a:endParaRPr>
          </a:p>
          <a:p>
            <a:pPr algn="just">
              <a:spcBef>
                <a:spcPct val="20000"/>
              </a:spcBef>
              <a:buClrTx/>
              <a:buFontTx/>
              <a:buNone/>
            </a:pPr>
            <a:r>
              <a:rPr lang="zh-CN" altLang="en-US" b="1">
                <a:solidFill>
                  <a:schemeClr val="tx1"/>
                </a:solidFill>
                <a:latin typeface="Tahoma" panose="020B0604030504040204" pitchFamily="34" charset="0"/>
              </a:rPr>
              <a:t>选课关系</a:t>
            </a:r>
            <a:r>
              <a:rPr lang="en-US" altLang="zh-CN" b="1">
                <a:solidFill>
                  <a:schemeClr val="tx1"/>
                </a:solidFill>
                <a:latin typeface="Arial" panose="020B0604020202020204" pitchFamily="34" charset="0"/>
              </a:rPr>
              <a:t>—</a:t>
            </a:r>
            <a:r>
              <a:rPr lang="zh-CN" altLang="en-US" b="1">
                <a:solidFill>
                  <a:schemeClr val="tx1"/>
                </a:solidFill>
                <a:latin typeface="Tahoma" panose="020B0604030504040204" pitchFamily="34" charset="0"/>
              </a:rPr>
              <a:t>学生成绩表（</a:t>
            </a:r>
            <a:r>
              <a:rPr lang="zh-CN" altLang="en-US" b="1" u="sng">
                <a:solidFill>
                  <a:schemeClr val="tx1"/>
                </a:solidFill>
                <a:latin typeface="Tahoma" panose="020B0604030504040204" pitchFamily="34" charset="0"/>
              </a:rPr>
              <a:t>学号</a:t>
            </a:r>
            <a:r>
              <a:rPr lang="zh-CN" altLang="en-US" b="1">
                <a:solidFill>
                  <a:schemeClr val="tx1"/>
                </a:solidFill>
                <a:latin typeface="Tahoma" panose="020B0604030504040204" pitchFamily="34" charset="0"/>
              </a:rPr>
              <a:t>，</a:t>
            </a:r>
            <a:r>
              <a:rPr lang="zh-CN" altLang="en-US" b="1" u="sng">
                <a:solidFill>
                  <a:schemeClr val="tx1"/>
                </a:solidFill>
                <a:latin typeface="Tahoma" panose="020B0604030504040204" pitchFamily="34" charset="0"/>
              </a:rPr>
              <a:t>课程号</a:t>
            </a:r>
            <a:r>
              <a:rPr lang="zh-CN" altLang="en-US" b="1">
                <a:solidFill>
                  <a:schemeClr val="tx1"/>
                </a:solidFill>
                <a:latin typeface="Tahoma" panose="020B0604030504040204" pitchFamily="34" charset="0"/>
              </a:rPr>
              <a:t>，成绩）</a:t>
            </a:r>
            <a:endParaRPr lang="zh-CN" altLang="en-US" b="1">
              <a:solidFill>
                <a:schemeClr val="tx1"/>
              </a:solidFill>
              <a:latin typeface="Tahoma" panose="020B0604030504040204" pitchFamily="34" charset="0"/>
            </a:endParaRPr>
          </a:p>
        </p:txBody>
      </p:sp>
      <p:sp>
        <p:nvSpPr>
          <p:cNvPr id="50181" name="Oval 7"/>
          <p:cNvSpPr>
            <a:spLocks noChangeArrowheads="1"/>
          </p:cNvSpPr>
          <p:nvPr/>
        </p:nvSpPr>
        <p:spPr bwMode="auto">
          <a:xfrm>
            <a:off x="2489599" y="1978173"/>
            <a:ext cx="4031456" cy="1125142"/>
          </a:xfrm>
          <a:prstGeom prst="ellipse">
            <a:avLst/>
          </a:prstGeom>
          <a:solidFill>
            <a:schemeClr val="accent1">
              <a:alpha val="0"/>
            </a:schemeClr>
          </a:solidFill>
          <a:ln w="28575">
            <a:solidFill>
              <a:srgbClr val="030DCF"/>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en-US" sz="1600">
              <a:solidFill>
                <a:schemeClr val="tx1"/>
              </a:solidFill>
              <a:latin typeface="Century Gothic" panose="020B0502020202020204" pitchFamily="34" charset="0"/>
            </a:endParaRPr>
          </a:p>
        </p:txBody>
      </p:sp>
      <p:sp>
        <p:nvSpPr>
          <p:cNvPr id="50182" name="Oval 8"/>
          <p:cNvSpPr>
            <a:spLocks noChangeArrowheads="1"/>
          </p:cNvSpPr>
          <p:nvPr/>
        </p:nvSpPr>
        <p:spPr bwMode="auto">
          <a:xfrm>
            <a:off x="2689028" y="3944094"/>
            <a:ext cx="3632598" cy="966688"/>
          </a:xfrm>
          <a:prstGeom prst="ellipse">
            <a:avLst/>
          </a:prstGeom>
          <a:solidFill>
            <a:schemeClr val="accent1">
              <a:alpha val="0"/>
            </a:schemeClr>
          </a:solidFill>
          <a:ln w="28575">
            <a:solidFill>
              <a:srgbClr val="030DCF"/>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en-US" sz="1600">
              <a:solidFill>
                <a:schemeClr val="tx1"/>
              </a:solidFill>
              <a:latin typeface="Century Gothic" panose="020B0502020202020204" pitchFamily="34" charset="0"/>
            </a:endParaRPr>
          </a:p>
        </p:txBody>
      </p:sp>
      <p:sp>
        <p:nvSpPr>
          <p:cNvPr id="50183" name="Oval 9"/>
          <p:cNvSpPr>
            <a:spLocks noChangeArrowheads="1"/>
          </p:cNvSpPr>
          <p:nvPr/>
        </p:nvSpPr>
        <p:spPr bwMode="auto">
          <a:xfrm>
            <a:off x="4157594" y="3227684"/>
            <a:ext cx="2247968" cy="653654"/>
          </a:xfrm>
          <a:prstGeom prst="ellipse">
            <a:avLst/>
          </a:prstGeom>
          <a:solidFill>
            <a:schemeClr val="accent1">
              <a:alpha val="0"/>
            </a:schemeClr>
          </a:solidFill>
          <a:ln w="28575">
            <a:solidFill>
              <a:srgbClr val="030DCF"/>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en-US" sz="1600">
              <a:solidFill>
                <a:schemeClr val="tx1"/>
              </a:solidFill>
              <a:latin typeface="Century Gothic" panose="020B0502020202020204" pitchFamily="34" charset="0"/>
            </a:endParaRPr>
          </a:p>
        </p:txBody>
      </p:sp>
      <p:sp>
        <p:nvSpPr>
          <p:cNvPr id="10" name="Rectangle 2"/>
          <p:cNvSpPr txBox="1">
            <a:spLocks noChangeArrowheads="1"/>
          </p:cNvSpPr>
          <p:nvPr/>
        </p:nvSpPr>
        <p:spPr bwMode="auto">
          <a:xfrm>
            <a:off x="1182222" y="318403"/>
            <a:ext cx="389334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a:latin typeface="黑体" panose="02010609060101010101" pitchFamily="49" charset="-122"/>
                <a:ea typeface="黑体" panose="02010609060101010101" pitchFamily="49" charset="-122"/>
              </a:rPr>
              <a:t>４</a:t>
            </a:r>
            <a:r>
              <a:rPr lang="en-US" altLang="zh-CN" sz="3000" b="1">
                <a:latin typeface="黑体" panose="02010609060101010101" pitchFamily="49" charset="-122"/>
                <a:ea typeface="黑体" panose="02010609060101010101" pitchFamily="49" charset="-122"/>
              </a:rPr>
              <a:t>.3 </a:t>
            </a:r>
            <a:r>
              <a:rPr lang="zh-CN" altLang="en-US" sz="3000" b="1">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内容占位符 2"/>
          <p:cNvSpPr>
            <a:spLocks noGrp="1"/>
          </p:cNvSpPr>
          <p:nvPr>
            <p:ph idx="1"/>
          </p:nvPr>
        </p:nvSpPr>
        <p:spPr>
          <a:xfrm>
            <a:off x="331893" y="1321001"/>
            <a:ext cx="8324234" cy="2667167"/>
          </a:xfrm>
        </p:spPr>
        <p:txBody>
          <a:bodyPr/>
          <a:lstStyle/>
          <a:p>
            <a:pPr>
              <a:lnSpc>
                <a:spcPct val="120000"/>
              </a:lnSpc>
              <a:buClr>
                <a:srgbClr val="C00000"/>
              </a:buClr>
              <a:buFont typeface="Wingdings" panose="05000000000000000000" pitchFamily="2" charset="2"/>
              <a:buChar char="n"/>
              <a:defRPr/>
            </a:pPr>
            <a:r>
              <a:rPr lang="en-US" altLang="zh-CN" sz="2200" b="1" dirty="0" smtClean="0"/>
              <a:t>E-R</a:t>
            </a:r>
            <a:r>
              <a:rPr lang="zh-CN" altLang="en-US" sz="2200" b="1" dirty="0" smtClean="0"/>
              <a:t>图转换为关系模型的规则</a:t>
            </a:r>
            <a:endParaRPr lang="en-US" altLang="zh-CN" sz="2200" b="1" dirty="0" smtClean="0"/>
          </a:p>
          <a:p>
            <a:pPr>
              <a:lnSpc>
                <a:spcPct val="120000"/>
              </a:lnSpc>
              <a:buFont typeface="Wingdings" panose="05000000000000000000" pitchFamily="2" charset="2"/>
              <a:buChar char="n"/>
              <a:defRPr/>
            </a:pPr>
            <a:r>
              <a:rPr lang="zh-CN" altLang="en-US" sz="2200" b="1" dirty="0" smtClean="0">
                <a:solidFill>
                  <a:srgbClr val="C00000"/>
                </a:solidFill>
              </a:rPr>
              <a:t>每个实体转换为一个关系数据表，实体的属性为表的列。</a:t>
            </a:r>
            <a:endParaRPr lang="en-US" altLang="zh-CN" sz="2200" b="1" dirty="0" smtClean="0">
              <a:solidFill>
                <a:srgbClr val="C00000"/>
              </a:solidFill>
            </a:endParaRPr>
          </a:p>
          <a:p>
            <a:pPr>
              <a:lnSpc>
                <a:spcPct val="120000"/>
              </a:lnSpc>
              <a:buFont typeface="Wingdings" panose="05000000000000000000" pitchFamily="2" charset="2"/>
              <a:buChar char="n"/>
              <a:defRPr/>
            </a:pPr>
            <a:r>
              <a:rPr lang="zh-CN" altLang="en-US" sz="2000" b="1" dirty="0" smtClean="0"/>
              <a:t>实体</a:t>
            </a:r>
            <a:r>
              <a:rPr lang="zh-CN" altLang="en-US" sz="2000" b="1" dirty="0"/>
              <a:t>型间的联系分为以下几种情况：</a:t>
            </a:r>
            <a:endParaRPr lang="en-US" altLang="zh-CN" sz="2000" b="1" dirty="0"/>
          </a:p>
          <a:p>
            <a:pPr marL="643255" lvl="1" indent="-342900">
              <a:lnSpc>
                <a:spcPct val="120000"/>
              </a:lnSpc>
              <a:buFont typeface="+mj-ea"/>
              <a:buAutoNum type="circleNumDbPlain"/>
              <a:defRPr/>
            </a:pPr>
            <a:r>
              <a:rPr lang="en-US" altLang="zh-CN" b="1" dirty="0">
                <a:solidFill>
                  <a:srgbClr val="030DCF"/>
                </a:solidFill>
              </a:rPr>
              <a:t>1:1</a:t>
            </a:r>
            <a:r>
              <a:rPr lang="zh-CN" altLang="en-US" b="1" dirty="0">
                <a:solidFill>
                  <a:srgbClr val="030DCF"/>
                </a:solidFill>
              </a:rPr>
              <a:t>  </a:t>
            </a:r>
            <a:endParaRPr lang="en-US" altLang="zh-CN" b="1" dirty="0">
              <a:solidFill>
                <a:srgbClr val="030DCF"/>
              </a:solidFill>
            </a:endParaRPr>
          </a:p>
          <a:p>
            <a:pPr marL="300355" lvl="1" indent="0">
              <a:lnSpc>
                <a:spcPct val="120000"/>
              </a:lnSpc>
              <a:buNone/>
              <a:defRPr/>
            </a:pPr>
            <a:r>
              <a:rPr lang="zh-CN" altLang="en-US" b="1" dirty="0"/>
              <a:t>可以与任意一端对应的关系表合并：</a:t>
            </a:r>
            <a:r>
              <a:rPr lang="zh-CN" altLang="en-US" b="1" dirty="0">
                <a:solidFill>
                  <a:srgbClr val="3333FF"/>
                </a:solidFill>
              </a:rPr>
              <a:t>在一端属性集中加入另一端的主码和联系本身的属性。</a:t>
            </a:r>
            <a:endParaRPr lang="en-US" altLang="zh-CN" b="1" dirty="0">
              <a:solidFill>
                <a:srgbClr val="3333FF"/>
              </a:solidFill>
            </a:endParaRPr>
          </a:p>
        </p:txBody>
      </p:sp>
      <p:sp>
        <p:nvSpPr>
          <p:cNvPr id="51204" name="文本框 44031"/>
          <p:cNvSpPr txBox="1">
            <a:spLocks noChangeArrowheads="1"/>
          </p:cNvSpPr>
          <p:nvPr/>
        </p:nvSpPr>
        <p:spPr bwMode="auto">
          <a:xfrm>
            <a:off x="875352" y="5780370"/>
            <a:ext cx="6715829" cy="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ts val="450"/>
              </a:spcBef>
              <a:buClrTx/>
              <a:buNone/>
            </a:pPr>
            <a:r>
              <a:rPr lang="zh-CN" altLang="en-US" sz="2200" b="1" dirty="0">
                <a:solidFill>
                  <a:schemeClr val="tx1"/>
                </a:solidFill>
                <a:latin typeface="Century Gothic" panose="020B0502020202020204" pitchFamily="34" charset="0"/>
              </a:rPr>
              <a:t>职工表（</a:t>
            </a:r>
            <a:r>
              <a:rPr lang="zh-CN" altLang="en-US" sz="2200" b="1" u="sng" dirty="0">
                <a:solidFill>
                  <a:schemeClr val="tx1"/>
                </a:solidFill>
                <a:latin typeface="Century Gothic" panose="020B0502020202020204" pitchFamily="34" charset="0"/>
              </a:rPr>
              <a:t>职工号</a:t>
            </a:r>
            <a:r>
              <a:rPr lang="zh-CN" altLang="en-US" sz="2200" b="1" dirty="0">
                <a:solidFill>
                  <a:schemeClr val="tx1"/>
                </a:solidFill>
                <a:latin typeface="Century Gothic" panose="020B0502020202020204" pitchFamily="34" charset="0"/>
              </a:rPr>
              <a:t>，职工姓名                                 ）</a:t>
            </a:r>
            <a:endParaRPr lang="en-US" altLang="zh-CN" sz="2200" b="1" dirty="0">
              <a:solidFill>
                <a:schemeClr val="tx1"/>
              </a:solidFill>
              <a:latin typeface="Century Gothic" panose="020B0502020202020204" pitchFamily="34" charset="0"/>
            </a:endParaRPr>
          </a:p>
          <a:p>
            <a:pPr>
              <a:spcBef>
                <a:spcPts val="450"/>
              </a:spcBef>
              <a:buClrTx/>
              <a:buNone/>
            </a:pPr>
            <a:r>
              <a:rPr lang="zh-CN" altLang="en-US" sz="2200" b="1" dirty="0">
                <a:solidFill>
                  <a:schemeClr val="tx1"/>
                </a:solidFill>
                <a:latin typeface="Century Gothic" panose="020B0502020202020204" pitchFamily="34" charset="0"/>
              </a:rPr>
              <a:t>项目表（</a:t>
            </a:r>
            <a:r>
              <a:rPr lang="zh-CN" altLang="en-US" sz="2200" b="1" u="sng" dirty="0">
                <a:solidFill>
                  <a:schemeClr val="tx1"/>
                </a:solidFill>
                <a:latin typeface="Century Gothic" panose="020B0502020202020204" pitchFamily="34" charset="0"/>
              </a:rPr>
              <a:t>项目号</a:t>
            </a:r>
            <a:r>
              <a:rPr lang="zh-CN" altLang="en-US" sz="2200" b="1" dirty="0">
                <a:solidFill>
                  <a:schemeClr val="tx1"/>
                </a:solidFill>
                <a:latin typeface="Century Gothic" panose="020B0502020202020204" pitchFamily="34" charset="0"/>
              </a:rPr>
              <a:t>）</a:t>
            </a:r>
            <a:endParaRPr lang="zh-CN" altLang="en-US" sz="2200" b="1" dirty="0">
              <a:solidFill>
                <a:schemeClr val="tx1"/>
              </a:solidFill>
              <a:latin typeface="Century Gothic" panose="020B0502020202020204" pitchFamily="34" charset="0"/>
            </a:endParaRPr>
          </a:p>
        </p:txBody>
      </p:sp>
      <p:grpSp>
        <p:nvGrpSpPr>
          <p:cNvPr id="51205" name="组合 44051"/>
          <p:cNvGrpSpPr/>
          <p:nvPr/>
        </p:nvGrpSpPr>
        <p:grpSpPr bwMode="auto">
          <a:xfrm>
            <a:off x="1940123" y="4199064"/>
            <a:ext cx="5097066" cy="1104899"/>
            <a:chOff x="1349375" y="4013862"/>
            <a:chExt cx="6790440" cy="1525029"/>
          </a:xfrm>
        </p:grpSpPr>
        <p:sp>
          <p:nvSpPr>
            <p:cNvPr id="6" name="矩形 5"/>
            <p:cNvSpPr/>
            <p:nvPr/>
          </p:nvSpPr>
          <p:spPr>
            <a:xfrm>
              <a:off x="6947007" y="4952214"/>
              <a:ext cx="866055" cy="58667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grpSp>
          <p:nvGrpSpPr>
            <p:cNvPr id="51208" name="组合 44049"/>
            <p:cNvGrpSpPr/>
            <p:nvPr/>
          </p:nvGrpSpPr>
          <p:grpSpPr bwMode="auto">
            <a:xfrm>
              <a:off x="1349375" y="4013862"/>
              <a:ext cx="6790440" cy="1502023"/>
              <a:chOff x="283064" y="3768839"/>
              <a:chExt cx="7323805" cy="1634592"/>
            </a:xfrm>
          </p:grpSpPr>
          <p:sp>
            <p:nvSpPr>
              <p:cNvPr id="2" name="矩形 1"/>
              <p:cNvSpPr/>
              <p:nvPr/>
            </p:nvSpPr>
            <p:spPr>
              <a:xfrm>
                <a:off x="1278732" y="4815049"/>
                <a:ext cx="838277" cy="588382"/>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1210" name="文本框 2"/>
              <p:cNvSpPr txBox="1">
                <a:spLocks noChangeArrowheads="1"/>
              </p:cNvSpPr>
              <p:nvPr/>
            </p:nvSpPr>
            <p:spPr bwMode="auto">
              <a:xfrm>
                <a:off x="1321817" y="4893212"/>
                <a:ext cx="1126672" cy="48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1500" b="1">
                    <a:solidFill>
                      <a:schemeClr val="tx1"/>
                    </a:solidFill>
                    <a:latin typeface="Century Gothic" panose="020B0502020202020204" pitchFamily="34" charset="0"/>
                  </a:rPr>
                  <a:t>职工</a:t>
                </a:r>
                <a:endParaRPr lang="zh-CN" altLang="en-US" sz="1500" b="1">
                  <a:solidFill>
                    <a:schemeClr val="tx1"/>
                  </a:solidFill>
                  <a:latin typeface="Century Gothic" panose="020B0502020202020204" pitchFamily="34" charset="0"/>
                </a:endParaRPr>
              </a:p>
            </p:txBody>
          </p:sp>
          <p:sp>
            <p:nvSpPr>
              <p:cNvPr id="51211" name="文本框 6"/>
              <p:cNvSpPr txBox="1">
                <a:spLocks noChangeArrowheads="1"/>
              </p:cNvSpPr>
              <p:nvPr/>
            </p:nvSpPr>
            <p:spPr bwMode="auto">
              <a:xfrm>
                <a:off x="6333239" y="4876537"/>
                <a:ext cx="1126672" cy="48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1500" b="1">
                    <a:solidFill>
                      <a:schemeClr val="tx1"/>
                    </a:solidFill>
                    <a:latin typeface="Century Gothic" panose="020B0502020202020204" pitchFamily="34" charset="0"/>
                  </a:rPr>
                  <a:t>项目</a:t>
                </a:r>
                <a:endParaRPr lang="zh-CN" altLang="en-US" sz="1500" b="1">
                  <a:solidFill>
                    <a:schemeClr val="tx1"/>
                  </a:solidFill>
                  <a:latin typeface="Century Gothic" panose="020B0502020202020204" pitchFamily="34" charset="0"/>
                </a:endParaRPr>
              </a:p>
            </p:txBody>
          </p:sp>
          <p:sp>
            <p:nvSpPr>
              <p:cNvPr id="5" name="流程图: 决策 4"/>
              <p:cNvSpPr/>
              <p:nvPr/>
            </p:nvSpPr>
            <p:spPr>
              <a:xfrm>
                <a:off x="3637884" y="4768551"/>
                <a:ext cx="1644049" cy="538307"/>
              </a:xfrm>
              <a:prstGeom prst="flowChartDecision">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1213" name="文本框 7"/>
              <p:cNvSpPr txBox="1">
                <a:spLocks noChangeArrowheads="1"/>
              </p:cNvSpPr>
              <p:nvPr/>
            </p:nvSpPr>
            <p:spPr bwMode="auto">
              <a:xfrm>
                <a:off x="4087851" y="4829784"/>
                <a:ext cx="832758" cy="48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1500" b="1">
                    <a:solidFill>
                      <a:schemeClr val="tx1"/>
                    </a:solidFill>
                    <a:latin typeface="Century Gothic" panose="020B0502020202020204" pitchFamily="34" charset="0"/>
                  </a:rPr>
                  <a:t>负责</a:t>
                </a:r>
                <a:endParaRPr lang="zh-CN" altLang="en-US" sz="1500" b="1">
                  <a:solidFill>
                    <a:schemeClr val="tx1"/>
                  </a:solidFill>
                  <a:latin typeface="Century Gothic" panose="020B0502020202020204" pitchFamily="34" charset="0"/>
                </a:endParaRPr>
              </a:p>
            </p:txBody>
          </p:sp>
          <p:cxnSp>
            <p:nvCxnSpPr>
              <p:cNvPr id="10" name="直接连接符 9"/>
              <p:cNvCxnSpPr/>
              <p:nvPr/>
            </p:nvCxnSpPr>
            <p:spPr>
              <a:xfrm flipV="1">
                <a:off x="2168332" y="5035022"/>
                <a:ext cx="1409674" cy="17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5" idx="3"/>
                <a:endCxn id="51211" idx="1"/>
              </p:cNvCxnSpPr>
              <p:nvPr/>
            </p:nvCxnSpPr>
            <p:spPr>
              <a:xfrm>
                <a:off x="5281932" y="5037704"/>
                <a:ext cx="1051307" cy="8154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1216" name="文本框 12"/>
              <p:cNvSpPr txBox="1">
                <a:spLocks noChangeArrowheads="1"/>
              </p:cNvSpPr>
              <p:nvPr/>
            </p:nvSpPr>
            <p:spPr bwMode="auto">
              <a:xfrm>
                <a:off x="2694216" y="4604668"/>
                <a:ext cx="408215" cy="48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en-US" altLang="zh-CN" sz="1500" b="1">
                    <a:solidFill>
                      <a:schemeClr val="tx1"/>
                    </a:solidFill>
                    <a:latin typeface="Century Gothic" panose="020B0502020202020204" pitchFamily="34" charset="0"/>
                  </a:rPr>
                  <a:t>1</a:t>
                </a:r>
                <a:endParaRPr lang="zh-CN" altLang="en-US" sz="1500" b="1">
                  <a:solidFill>
                    <a:schemeClr val="tx1"/>
                  </a:solidFill>
                  <a:latin typeface="Century Gothic" panose="020B0502020202020204" pitchFamily="34" charset="0"/>
                </a:endParaRPr>
              </a:p>
            </p:txBody>
          </p:sp>
          <p:sp>
            <p:nvSpPr>
              <p:cNvPr id="51217" name="文本框 15"/>
              <p:cNvSpPr txBox="1">
                <a:spLocks noChangeArrowheads="1"/>
              </p:cNvSpPr>
              <p:nvPr/>
            </p:nvSpPr>
            <p:spPr bwMode="auto">
              <a:xfrm>
                <a:off x="5551726" y="4630681"/>
                <a:ext cx="408215" cy="48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en-US" altLang="zh-CN" sz="1500" b="1">
                    <a:solidFill>
                      <a:schemeClr val="tx1"/>
                    </a:solidFill>
                    <a:latin typeface="Century Gothic" panose="020B0502020202020204" pitchFamily="34" charset="0"/>
                  </a:rPr>
                  <a:t>1</a:t>
                </a:r>
                <a:endParaRPr lang="zh-CN" altLang="en-US" sz="1500" b="1">
                  <a:solidFill>
                    <a:schemeClr val="tx1"/>
                  </a:solidFill>
                  <a:latin typeface="Century Gothic" panose="020B0502020202020204" pitchFamily="34" charset="0"/>
                </a:endParaRPr>
              </a:p>
            </p:txBody>
          </p:sp>
          <p:sp>
            <p:nvSpPr>
              <p:cNvPr id="15" name="椭圆 14"/>
              <p:cNvSpPr/>
              <p:nvPr/>
            </p:nvSpPr>
            <p:spPr>
              <a:xfrm>
                <a:off x="283064" y="3849316"/>
                <a:ext cx="1366905" cy="622361"/>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1219" name="文本框 16"/>
              <p:cNvSpPr txBox="1">
                <a:spLocks noChangeArrowheads="1"/>
              </p:cNvSpPr>
              <p:nvPr/>
            </p:nvSpPr>
            <p:spPr bwMode="auto">
              <a:xfrm>
                <a:off x="483835" y="3996345"/>
                <a:ext cx="1273630" cy="48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1500" b="1" dirty="0">
                    <a:solidFill>
                      <a:schemeClr val="tx1"/>
                    </a:solidFill>
                    <a:latin typeface="Century Gothic" panose="020B0502020202020204" pitchFamily="34" charset="0"/>
                  </a:rPr>
                  <a:t>职工号</a:t>
                </a:r>
                <a:endParaRPr lang="zh-CN" altLang="en-US" sz="1500" b="1" dirty="0">
                  <a:solidFill>
                    <a:schemeClr val="tx1"/>
                  </a:solidFill>
                  <a:latin typeface="Century Gothic" panose="020B0502020202020204" pitchFamily="34" charset="0"/>
                </a:endParaRPr>
              </a:p>
            </p:txBody>
          </p:sp>
          <p:sp>
            <p:nvSpPr>
              <p:cNvPr id="19" name="椭圆 18"/>
              <p:cNvSpPr/>
              <p:nvPr/>
            </p:nvSpPr>
            <p:spPr>
              <a:xfrm>
                <a:off x="1803939" y="3829644"/>
                <a:ext cx="1298474" cy="618784"/>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1221" name="文本框 19"/>
              <p:cNvSpPr txBox="1">
                <a:spLocks noChangeArrowheads="1"/>
              </p:cNvSpPr>
              <p:nvPr/>
            </p:nvSpPr>
            <p:spPr bwMode="auto">
              <a:xfrm>
                <a:off x="1885150" y="3945232"/>
                <a:ext cx="1436916" cy="48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1500" b="1">
                    <a:solidFill>
                      <a:schemeClr val="tx1"/>
                    </a:solidFill>
                    <a:latin typeface="Century Gothic" panose="020B0502020202020204" pitchFamily="34" charset="0"/>
                  </a:rPr>
                  <a:t>职工姓名</a:t>
                </a:r>
                <a:endParaRPr lang="zh-CN" altLang="en-US" sz="1500" b="1">
                  <a:solidFill>
                    <a:schemeClr val="tx1"/>
                  </a:solidFill>
                  <a:latin typeface="Century Gothic" panose="020B0502020202020204" pitchFamily="34" charset="0"/>
                </a:endParaRPr>
              </a:p>
            </p:txBody>
          </p:sp>
          <p:sp>
            <p:nvSpPr>
              <p:cNvPr id="21" name="椭圆 20"/>
              <p:cNvSpPr/>
              <p:nvPr/>
            </p:nvSpPr>
            <p:spPr>
              <a:xfrm>
                <a:off x="6123631" y="3768839"/>
                <a:ext cx="1354929" cy="618784"/>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1223" name="文本框 21"/>
              <p:cNvSpPr txBox="1">
                <a:spLocks noChangeArrowheads="1"/>
              </p:cNvSpPr>
              <p:nvPr/>
            </p:nvSpPr>
            <p:spPr bwMode="auto">
              <a:xfrm>
                <a:off x="3755442" y="3931479"/>
                <a:ext cx="1436916" cy="48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1500" b="1">
                    <a:solidFill>
                      <a:schemeClr val="tx1"/>
                    </a:solidFill>
                    <a:latin typeface="Century Gothic" panose="020B0502020202020204" pitchFamily="34" charset="0"/>
                  </a:rPr>
                  <a:t>开始时间</a:t>
                </a:r>
                <a:endParaRPr lang="zh-CN" altLang="en-US" sz="1500" b="1">
                  <a:solidFill>
                    <a:schemeClr val="tx1"/>
                  </a:solidFill>
                  <a:latin typeface="Century Gothic" panose="020B0502020202020204" pitchFamily="34" charset="0"/>
                </a:endParaRPr>
              </a:p>
            </p:txBody>
          </p:sp>
          <p:sp>
            <p:nvSpPr>
              <p:cNvPr id="23" name="椭圆 22"/>
              <p:cNvSpPr/>
              <p:nvPr/>
            </p:nvSpPr>
            <p:spPr>
              <a:xfrm>
                <a:off x="3690917" y="3793877"/>
                <a:ext cx="1519163" cy="618784"/>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1225" name="文本框 23"/>
              <p:cNvSpPr txBox="1">
                <a:spLocks noChangeArrowheads="1"/>
              </p:cNvSpPr>
              <p:nvPr/>
            </p:nvSpPr>
            <p:spPr bwMode="auto">
              <a:xfrm>
                <a:off x="6333239" y="3927018"/>
                <a:ext cx="1273630" cy="48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1500" b="1">
                    <a:solidFill>
                      <a:schemeClr val="tx1"/>
                    </a:solidFill>
                    <a:latin typeface="Century Gothic" panose="020B0502020202020204" pitchFamily="34" charset="0"/>
                  </a:rPr>
                  <a:t>项目号</a:t>
                </a:r>
                <a:endParaRPr lang="zh-CN" altLang="en-US" sz="1500" b="1">
                  <a:solidFill>
                    <a:schemeClr val="tx1"/>
                  </a:solidFill>
                  <a:latin typeface="Century Gothic" panose="020B0502020202020204" pitchFamily="34" charset="0"/>
                </a:endParaRPr>
              </a:p>
            </p:txBody>
          </p:sp>
          <p:cxnSp>
            <p:nvCxnSpPr>
              <p:cNvPr id="25" name="直接连接符 24"/>
              <p:cNvCxnSpPr/>
              <p:nvPr/>
            </p:nvCxnSpPr>
            <p:spPr>
              <a:xfrm>
                <a:off x="965662" y="4503869"/>
                <a:ext cx="624430" cy="3237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790253" y="4443063"/>
                <a:ext cx="540603" cy="36125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23" idx="4"/>
                <a:endCxn id="5" idx="0"/>
              </p:cNvCxnSpPr>
              <p:nvPr/>
            </p:nvCxnSpPr>
            <p:spPr>
              <a:xfrm>
                <a:off x="4450499" y="4412661"/>
                <a:ext cx="8554" cy="35589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21" idx="4"/>
                <a:endCxn id="6" idx="0"/>
              </p:cNvCxnSpPr>
              <p:nvPr/>
            </p:nvCxnSpPr>
            <p:spPr>
              <a:xfrm flipH="1">
                <a:off x="6789121" y="4387623"/>
                <a:ext cx="11975" cy="400600"/>
              </a:xfrm>
              <a:prstGeom prst="line">
                <a:avLst/>
              </a:prstGeom>
              <a:ln w="28575"/>
            </p:spPr>
            <p:style>
              <a:lnRef idx="1">
                <a:schemeClr val="accent1"/>
              </a:lnRef>
              <a:fillRef idx="0">
                <a:schemeClr val="accent1"/>
              </a:fillRef>
              <a:effectRef idx="0">
                <a:schemeClr val="accent1"/>
              </a:effectRef>
              <a:fontRef idx="minor">
                <a:schemeClr val="tx1"/>
              </a:fontRef>
            </p:style>
          </p:cxnSp>
        </p:grpSp>
      </p:grpSp>
      <p:sp>
        <p:nvSpPr>
          <p:cNvPr id="7" name="矩形 6"/>
          <p:cNvSpPr>
            <a:spLocks noChangeArrowheads="1"/>
          </p:cNvSpPr>
          <p:nvPr/>
        </p:nvSpPr>
        <p:spPr bwMode="auto">
          <a:xfrm>
            <a:off x="4311848" y="5805815"/>
            <a:ext cx="25074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ts val="450"/>
              </a:spcBef>
              <a:buClrTx/>
              <a:buNone/>
            </a:pPr>
            <a:r>
              <a:rPr lang="zh-CN" altLang="en-US" sz="2000" b="1" dirty="0">
                <a:solidFill>
                  <a:srgbClr val="000000"/>
                </a:solidFill>
                <a:latin typeface="Century Gothic" panose="020B0502020202020204" pitchFamily="34" charset="0"/>
              </a:rPr>
              <a:t>，</a:t>
            </a:r>
            <a:r>
              <a:rPr lang="zh-CN" altLang="en-US" sz="2000" b="1" i="1" dirty="0">
                <a:solidFill>
                  <a:srgbClr val="030DCF"/>
                </a:solidFill>
                <a:latin typeface="Century Gothic" panose="020B0502020202020204" pitchFamily="34" charset="0"/>
              </a:rPr>
              <a:t>项目号</a:t>
            </a:r>
            <a:r>
              <a:rPr lang="zh-CN" altLang="en-US" sz="2000" b="1" dirty="0">
                <a:solidFill>
                  <a:srgbClr val="030DCF"/>
                </a:solidFill>
                <a:latin typeface="Century Gothic" panose="020B0502020202020204" pitchFamily="34" charset="0"/>
              </a:rPr>
              <a:t>，开始时间</a:t>
            </a:r>
            <a:endParaRPr lang="en-US" altLang="zh-CN" sz="2000" b="1" dirty="0">
              <a:solidFill>
                <a:srgbClr val="000000"/>
              </a:solidFill>
              <a:latin typeface="Century Gothic" panose="020B0502020202020204" pitchFamily="34" charset="0"/>
            </a:endParaRPr>
          </a:p>
        </p:txBody>
      </p:sp>
      <p:sp>
        <p:nvSpPr>
          <p:cNvPr id="32" name="Rectangle 2"/>
          <p:cNvSpPr>
            <a:spLocks noGrp="1" noChangeArrowheads="1"/>
          </p:cNvSpPr>
          <p:nvPr>
            <p:ph type="title"/>
          </p:nvPr>
        </p:nvSpPr>
        <p:spPr>
          <a:xfrm>
            <a:off x="1182222" y="318403"/>
            <a:ext cx="3893344" cy="517922"/>
          </a:xfrm>
        </p:spPr>
        <p:txBody>
          <a:bodyPr/>
          <a:lstStyle/>
          <a:p>
            <a:pPr eaLnBrk="1" hangingPunct="1">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9627" y="1369130"/>
            <a:ext cx="8051429" cy="1334853"/>
          </a:xfrm>
          <a:prstGeom prst="rect">
            <a:avLst/>
          </a:prstGeom>
        </p:spPr>
        <p:txBody>
          <a:bodyPr wrap="square">
            <a:spAutoFit/>
          </a:bodyPr>
          <a:lstStyle/>
          <a:p>
            <a:pPr marL="643255" lvl="1" indent="-342900">
              <a:lnSpc>
                <a:spcPct val="120000"/>
              </a:lnSpc>
              <a:spcBef>
                <a:spcPts val="450"/>
              </a:spcBef>
              <a:buClr>
                <a:srgbClr val="C00000"/>
              </a:buClr>
              <a:buFont typeface="+mj-ea"/>
              <a:buAutoNum type="circleNumDbPlain" startAt="2"/>
              <a:defRPr/>
            </a:pPr>
            <a:r>
              <a:rPr lang="en-US" altLang="zh-CN" sz="2200" b="1" dirty="0">
                <a:solidFill>
                  <a:srgbClr val="030DCF"/>
                </a:solidFill>
              </a:rPr>
              <a:t>1:n</a:t>
            </a:r>
            <a:endParaRPr lang="en-US" altLang="zh-CN" sz="2200" b="1" dirty="0">
              <a:solidFill>
                <a:srgbClr val="030DCF"/>
              </a:solidFill>
            </a:endParaRPr>
          </a:p>
          <a:p>
            <a:pPr marL="300355" lvl="1">
              <a:lnSpc>
                <a:spcPct val="120000"/>
              </a:lnSpc>
              <a:spcBef>
                <a:spcPts val="450"/>
              </a:spcBef>
              <a:defRPr/>
            </a:pPr>
            <a:r>
              <a:rPr lang="zh-CN" altLang="en-US" sz="2200" b="1" dirty="0"/>
              <a:t>在</a:t>
            </a:r>
            <a:r>
              <a:rPr lang="en-US" altLang="zh-CN" sz="2200" b="1" dirty="0"/>
              <a:t>n</a:t>
            </a:r>
            <a:r>
              <a:rPr lang="zh-CN" altLang="en-US" sz="2200" b="1" dirty="0"/>
              <a:t>端实体对应的表中，新增</a:t>
            </a:r>
            <a:r>
              <a:rPr lang="en-US" altLang="zh-CN" sz="2200" b="1" dirty="0"/>
              <a:t>1</a:t>
            </a:r>
            <a:r>
              <a:rPr lang="zh-CN" altLang="en-US" sz="2200" b="1" dirty="0"/>
              <a:t>端实体所对应表的主键属性和联系本身的属性。</a:t>
            </a:r>
            <a:endParaRPr lang="en-US" altLang="zh-CN" sz="2200" b="1" dirty="0"/>
          </a:p>
        </p:txBody>
      </p:sp>
      <p:grpSp>
        <p:nvGrpSpPr>
          <p:cNvPr id="53252" name="组合 47"/>
          <p:cNvGrpSpPr/>
          <p:nvPr/>
        </p:nvGrpSpPr>
        <p:grpSpPr bwMode="auto">
          <a:xfrm>
            <a:off x="1528765" y="3050383"/>
            <a:ext cx="6294835" cy="1371601"/>
            <a:chOff x="1153432" y="3604772"/>
            <a:chExt cx="8069509" cy="1514726"/>
          </a:xfrm>
        </p:grpSpPr>
        <p:sp>
          <p:nvSpPr>
            <p:cNvPr id="7" name="矩形 6"/>
            <p:cNvSpPr/>
            <p:nvPr/>
          </p:nvSpPr>
          <p:spPr>
            <a:xfrm>
              <a:off x="6563797" y="4482805"/>
              <a:ext cx="865214" cy="58906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grpSp>
          <p:nvGrpSpPr>
            <p:cNvPr id="53255" name="组合 7"/>
            <p:cNvGrpSpPr/>
            <p:nvPr/>
          </p:nvGrpSpPr>
          <p:grpSpPr bwMode="auto">
            <a:xfrm>
              <a:off x="1153432" y="3604772"/>
              <a:ext cx="6789945" cy="1514726"/>
              <a:chOff x="283064" y="3768839"/>
              <a:chExt cx="7323271" cy="1648416"/>
            </a:xfrm>
          </p:grpSpPr>
          <p:sp>
            <p:nvSpPr>
              <p:cNvPr id="9" name="矩形 8"/>
              <p:cNvSpPr/>
              <p:nvPr/>
            </p:nvSpPr>
            <p:spPr>
              <a:xfrm>
                <a:off x="1281303" y="4829769"/>
                <a:ext cx="839000" cy="587486"/>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5311" name="文本框 9"/>
              <p:cNvSpPr txBox="1">
                <a:spLocks noChangeArrowheads="1"/>
              </p:cNvSpPr>
              <p:nvPr/>
            </p:nvSpPr>
            <p:spPr bwMode="auto">
              <a:xfrm>
                <a:off x="1322399" y="4931717"/>
                <a:ext cx="1126657" cy="38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500" b="1">
                    <a:solidFill>
                      <a:schemeClr val="tx1"/>
                    </a:solidFill>
                    <a:latin typeface="+mn-lt"/>
                  </a:rPr>
                  <a:t>仓库</a:t>
                </a:r>
                <a:endParaRPr lang="zh-CN" altLang="en-US" sz="1500" b="1">
                  <a:solidFill>
                    <a:schemeClr val="tx1"/>
                  </a:solidFill>
                  <a:latin typeface="+mn-lt"/>
                </a:endParaRPr>
              </a:p>
            </p:txBody>
          </p:sp>
          <p:sp>
            <p:nvSpPr>
              <p:cNvPr id="55312" name="文本框 10"/>
              <p:cNvSpPr txBox="1">
                <a:spLocks noChangeArrowheads="1"/>
              </p:cNvSpPr>
              <p:nvPr/>
            </p:nvSpPr>
            <p:spPr bwMode="auto">
              <a:xfrm>
                <a:off x="6209143" y="4812490"/>
                <a:ext cx="1126657" cy="38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500" b="1" dirty="0">
                    <a:solidFill>
                      <a:schemeClr val="tx1"/>
                    </a:solidFill>
                    <a:latin typeface="+mn-lt"/>
                  </a:rPr>
                  <a:t>零件</a:t>
                </a:r>
                <a:endParaRPr lang="zh-CN" altLang="en-US" sz="1500" b="1" dirty="0">
                  <a:solidFill>
                    <a:schemeClr val="tx1"/>
                  </a:solidFill>
                  <a:latin typeface="+mn-lt"/>
                </a:endParaRPr>
              </a:p>
            </p:txBody>
          </p:sp>
          <p:sp>
            <p:nvSpPr>
              <p:cNvPr id="12" name="流程图: 决策 11"/>
              <p:cNvSpPr/>
              <p:nvPr/>
            </p:nvSpPr>
            <p:spPr>
              <a:xfrm>
                <a:off x="3637352" y="4769293"/>
                <a:ext cx="1643755" cy="539105"/>
              </a:xfrm>
              <a:prstGeom prst="flowChartDecision">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5314" name="文本框 12"/>
              <p:cNvSpPr txBox="1">
                <a:spLocks noChangeArrowheads="1"/>
              </p:cNvSpPr>
              <p:nvPr/>
            </p:nvSpPr>
            <p:spPr bwMode="auto">
              <a:xfrm>
                <a:off x="4087672" y="4829767"/>
                <a:ext cx="832151" cy="38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500" b="1">
                    <a:solidFill>
                      <a:schemeClr val="tx1"/>
                    </a:solidFill>
                    <a:latin typeface="+mn-lt"/>
                  </a:rPr>
                  <a:t>库存</a:t>
                </a:r>
                <a:endParaRPr lang="zh-CN" altLang="en-US" sz="1500" b="1">
                  <a:solidFill>
                    <a:schemeClr val="tx1"/>
                  </a:solidFill>
                  <a:latin typeface="+mn-lt"/>
                </a:endParaRPr>
              </a:p>
            </p:txBody>
          </p:sp>
          <p:cxnSp>
            <p:nvCxnSpPr>
              <p:cNvPr id="14" name="直接连接符 13"/>
              <p:cNvCxnSpPr/>
              <p:nvPr/>
            </p:nvCxnSpPr>
            <p:spPr>
              <a:xfrm flipV="1">
                <a:off x="2168246" y="5037117"/>
                <a:ext cx="1409177" cy="172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2" idx="3"/>
                <a:endCxn id="7" idx="1"/>
              </p:cNvCxnSpPr>
              <p:nvPr/>
            </p:nvCxnSpPr>
            <p:spPr>
              <a:xfrm>
                <a:off x="5281107" y="5038846"/>
                <a:ext cx="837287" cy="691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5317" name="文本框 15"/>
              <p:cNvSpPr txBox="1">
                <a:spLocks noChangeArrowheads="1"/>
              </p:cNvSpPr>
              <p:nvPr/>
            </p:nvSpPr>
            <p:spPr bwMode="auto">
              <a:xfrm>
                <a:off x="2693903" y="4605142"/>
                <a:ext cx="407515" cy="38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en-US" altLang="zh-CN" sz="1500" b="1">
                    <a:solidFill>
                      <a:schemeClr val="tx1"/>
                    </a:solidFill>
                    <a:latin typeface="+mn-lt"/>
                  </a:rPr>
                  <a:t>1</a:t>
                </a:r>
                <a:endParaRPr lang="zh-CN" altLang="en-US" sz="1500" b="1">
                  <a:solidFill>
                    <a:schemeClr val="tx1"/>
                  </a:solidFill>
                  <a:latin typeface="+mn-lt"/>
                </a:endParaRPr>
              </a:p>
            </p:txBody>
          </p:sp>
          <p:sp>
            <p:nvSpPr>
              <p:cNvPr id="55318" name="文本框 16"/>
              <p:cNvSpPr txBox="1">
                <a:spLocks noChangeArrowheads="1"/>
              </p:cNvSpPr>
              <p:nvPr/>
            </p:nvSpPr>
            <p:spPr bwMode="auto">
              <a:xfrm>
                <a:off x="5551642" y="4631061"/>
                <a:ext cx="407515" cy="38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en-US" altLang="zh-CN" sz="1500" b="1">
                    <a:solidFill>
                      <a:schemeClr val="tx1"/>
                    </a:solidFill>
                    <a:latin typeface="+mn-lt"/>
                  </a:rPr>
                  <a:t>n</a:t>
                </a:r>
                <a:endParaRPr lang="zh-CN" altLang="en-US" sz="1500" b="1">
                  <a:solidFill>
                    <a:schemeClr val="tx1"/>
                  </a:solidFill>
                  <a:latin typeface="+mn-lt"/>
                </a:endParaRPr>
              </a:p>
            </p:txBody>
          </p:sp>
          <p:sp>
            <p:nvSpPr>
              <p:cNvPr id="18" name="椭圆 17"/>
              <p:cNvSpPr/>
              <p:nvPr/>
            </p:nvSpPr>
            <p:spPr>
              <a:xfrm>
                <a:off x="283064" y="3850051"/>
                <a:ext cx="1366371" cy="620315"/>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5320" name="文本框 18"/>
              <p:cNvSpPr txBox="1">
                <a:spLocks noChangeArrowheads="1"/>
              </p:cNvSpPr>
              <p:nvPr/>
            </p:nvSpPr>
            <p:spPr bwMode="auto">
              <a:xfrm>
                <a:off x="483395" y="3996923"/>
                <a:ext cx="1273909" cy="38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500" b="1">
                    <a:solidFill>
                      <a:schemeClr val="tx1"/>
                    </a:solidFill>
                    <a:latin typeface="+mn-lt"/>
                  </a:rPr>
                  <a:t>仓库号</a:t>
                </a:r>
                <a:endParaRPr lang="zh-CN" altLang="en-US" sz="1500" b="1">
                  <a:solidFill>
                    <a:schemeClr val="tx1"/>
                  </a:solidFill>
                  <a:latin typeface="+mn-lt"/>
                </a:endParaRPr>
              </a:p>
            </p:txBody>
          </p:sp>
          <p:sp>
            <p:nvSpPr>
              <p:cNvPr id="20" name="椭圆 19"/>
              <p:cNvSpPr/>
              <p:nvPr/>
            </p:nvSpPr>
            <p:spPr>
              <a:xfrm>
                <a:off x="1803537" y="3829316"/>
                <a:ext cx="1297881" cy="620315"/>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5322" name="文本框 20"/>
              <p:cNvSpPr txBox="1">
                <a:spLocks noChangeArrowheads="1"/>
              </p:cNvSpPr>
              <p:nvPr/>
            </p:nvSpPr>
            <p:spPr bwMode="auto">
              <a:xfrm>
                <a:off x="1885725" y="3945085"/>
                <a:ext cx="1436574" cy="38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500" b="1">
                    <a:solidFill>
                      <a:schemeClr val="tx1"/>
                    </a:solidFill>
                    <a:latin typeface="+mn-lt"/>
                  </a:rPr>
                  <a:t>面积</a:t>
                </a:r>
                <a:endParaRPr lang="zh-CN" altLang="en-US" sz="1500" b="1">
                  <a:solidFill>
                    <a:schemeClr val="tx1"/>
                  </a:solidFill>
                  <a:latin typeface="+mn-lt"/>
                </a:endParaRPr>
              </a:p>
            </p:txBody>
          </p:sp>
          <p:sp>
            <p:nvSpPr>
              <p:cNvPr id="22" name="椭圆 21"/>
              <p:cNvSpPr/>
              <p:nvPr/>
            </p:nvSpPr>
            <p:spPr>
              <a:xfrm>
                <a:off x="6123531" y="3768839"/>
                <a:ext cx="1354385" cy="620316"/>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5324" name="文本框 24"/>
              <p:cNvSpPr txBox="1">
                <a:spLocks noChangeArrowheads="1"/>
              </p:cNvSpPr>
              <p:nvPr/>
            </p:nvSpPr>
            <p:spPr bwMode="auto">
              <a:xfrm>
                <a:off x="6332426" y="3927807"/>
                <a:ext cx="1273909" cy="38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500" b="1">
                    <a:solidFill>
                      <a:schemeClr val="tx1"/>
                    </a:solidFill>
                    <a:latin typeface="+mn-lt"/>
                  </a:rPr>
                  <a:t>零件号</a:t>
                </a:r>
                <a:endParaRPr lang="zh-CN" altLang="en-US" sz="1500" b="1">
                  <a:solidFill>
                    <a:schemeClr val="tx1"/>
                  </a:solidFill>
                  <a:latin typeface="+mn-lt"/>
                </a:endParaRPr>
              </a:p>
            </p:txBody>
          </p:sp>
          <p:cxnSp>
            <p:nvCxnSpPr>
              <p:cNvPr id="26" name="直接连接符 25"/>
              <p:cNvCxnSpPr/>
              <p:nvPr/>
            </p:nvCxnSpPr>
            <p:spPr>
              <a:xfrm>
                <a:off x="966250" y="4504924"/>
                <a:ext cx="623257" cy="32484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789839" y="4444448"/>
                <a:ext cx="541069" cy="36113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22" idx="4"/>
                <a:endCxn id="7" idx="0"/>
              </p:cNvCxnSpPr>
              <p:nvPr/>
            </p:nvCxnSpPr>
            <p:spPr>
              <a:xfrm flipH="1">
                <a:off x="6584124" y="4389155"/>
                <a:ext cx="215743" cy="335212"/>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30" name="椭圆 29"/>
            <p:cNvSpPr/>
            <p:nvPr/>
          </p:nvSpPr>
          <p:spPr>
            <a:xfrm>
              <a:off x="4382505" y="3611123"/>
              <a:ext cx="1257338" cy="570007"/>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5305" name="文本框 30"/>
            <p:cNvSpPr txBox="1">
              <a:spLocks noChangeArrowheads="1"/>
            </p:cNvSpPr>
            <p:nvPr/>
          </p:nvSpPr>
          <p:spPr bwMode="auto">
            <a:xfrm>
              <a:off x="4576186" y="3728618"/>
              <a:ext cx="1181137" cy="35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500" b="1" dirty="0">
                  <a:solidFill>
                    <a:schemeClr val="tx1"/>
                  </a:solidFill>
                  <a:latin typeface="+mn-lt"/>
                </a:rPr>
                <a:t>库存量</a:t>
              </a:r>
              <a:endParaRPr lang="zh-CN" altLang="en-US" sz="1500" b="1" dirty="0">
                <a:solidFill>
                  <a:schemeClr val="tx1"/>
                </a:solidFill>
                <a:latin typeface="+mn-lt"/>
              </a:endParaRPr>
            </a:p>
          </p:txBody>
        </p:sp>
        <p:cxnSp>
          <p:nvCxnSpPr>
            <p:cNvPr id="32" name="直接连接符 31"/>
            <p:cNvCxnSpPr>
              <a:stCxn id="30" idx="4"/>
            </p:cNvCxnSpPr>
            <p:nvPr/>
          </p:nvCxnSpPr>
          <p:spPr>
            <a:xfrm>
              <a:off x="5011175" y="4181131"/>
              <a:ext cx="14288" cy="32707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7848124" y="4344670"/>
              <a:ext cx="1255750" cy="570007"/>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55308" name="文本框 36"/>
            <p:cNvSpPr txBox="1">
              <a:spLocks noChangeArrowheads="1"/>
            </p:cNvSpPr>
            <p:nvPr/>
          </p:nvSpPr>
          <p:spPr bwMode="auto">
            <a:xfrm>
              <a:off x="8041804" y="4490744"/>
              <a:ext cx="1181137" cy="35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defRPr/>
              </a:pPr>
              <a:r>
                <a:rPr lang="zh-CN" altLang="en-US" sz="1500" b="1">
                  <a:solidFill>
                    <a:schemeClr val="tx1"/>
                  </a:solidFill>
                  <a:latin typeface="+mn-lt"/>
                </a:rPr>
                <a:t>零件名</a:t>
              </a:r>
              <a:endParaRPr lang="zh-CN" altLang="en-US" sz="1500" b="1">
                <a:solidFill>
                  <a:schemeClr val="tx1"/>
                </a:solidFill>
                <a:latin typeface="+mn-lt"/>
              </a:endParaRPr>
            </a:p>
          </p:txBody>
        </p:sp>
        <p:cxnSp>
          <p:nvCxnSpPr>
            <p:cNvPr id="38" name="直接连接符 37"/>
            <p:cNvCxnSpPr>
              <a:stCxn id="36" idx="2"/>
            </p:cNvCxnSpPr>
            <p:nvPr/>
          </p:nvCxnSpPr>
          <p:spPr>
            <a:xfrm flipH="1">
              <a:off x="7387735" y="4630467"/>
              <a:ext cx="460389" cy="60335"/>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53253" name="文本框 46"/>
          <p:cNvSpPr txBox="1">
            <a:spLocks noChangeArrowheads="1"/>
          </p:cNvSpPr>
          <p:nvPr/>
        </p:nvSpPr>
        <p:spPr bwMode="auto">
          <a:xfrm>
            <a:off x="1182222" y="5116216"/>
            <a:ext cx="5585222" cy="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ts val="450"/>
              </a:spcBef>
              <a:buClrTx/>
              <a:buNone/>
            </a:pPr>
            <a:r>
              <a:rPr lang="zh-CN" altLang="en-US" sz="2200" b="1" dirty="0">
                <a:solidFill>
                  <a:schemeClr val="tx1"/>
                </a:solidFill>
                <a:latin typeface="Century Gothic" panose="020B0502020202020204" pitchFamily="34" charset="0"/>
              </a:rPr>
              <a:t>仓库表（</a:t>
            </a:r>
            <a:r>
              <a:rPr lang="zh-CN" altLang="en-US" sz="2200" b="1" u="sng" dirty="0">
                <a:solidFill>
                  <a:schemeClr val="tx1"/>
                </a:solidFill>
                <a:latin typeface="Century Gothic" panose="020B0502020202020204" pitchFamily="34" charset="0"/>
              </a:rPr>
              <a:t>仓库号</a:t>
            </a:r>
            <a:r>
              <a:rPr lang="zh-CN" altLang="en-US" sz="2200" b="1" dirty="0">
                <a:solidFill>
                  <a:schemeClr val="tx1"/>
                </a:solidFill>
                <a:latin typeface="Century Gothic" panose="020B0502020202020204" pitchFamily="34" charset="0"/>
              </a:rPr>
              <a:t>，面积）</a:t>
            </a:r>
            <a:endParaRPr lang="en-US" altLang="zh-CN" sz="2200" b="1" dirty="0">
              <a:solidFill>
                <a:schemeClr val="tx1"/>
              </a:solidFill>
              <a:latin typeface="Century Gothic" panose="020B0502020202020204" pitchFamily="34" charset="0"/>
            </a:endParaRPr>
          </a:p>
          <a:p>
            <a:pPr>
              <a:spcBef>
                <a:spcPts val="450"/>
              </a:spcBef>
              <a:buClrTx/>
              <a:buNone/>
            </a:pPr>
            <a:r>
              <a:rPr lang="zh-CN" altLang="en-US" sz="2200" b="1" dirty="0">
                <a:solidFill>
                  <a:schemeClr val="tx1"/>
                </a:solidFill>
                <a:latin typeface="Century Gothic" panose="020B0502020202020204" pitchFamily="34" charset="0"/>
              </a:rPr>
              <a:t>零件表（</a:t>
            </a:r>
            <a:r>
              <a:rPr lang="zh-CN" altLang="en-US" sz="2200" b="1" u="sng" dirty="0">
                <a:solidFill>
                  <a:schemeClr val="tx1"/>
                </a:solidFill>
                <a:latin typeface="Century Gothic" panose="020B0502020202020204" pitchFamily="34" charset="0"/>
              </a:rPr>
              <a:t>零件号</a:t>
            </a:r>
            <a:r>
              <a:rPr lang="zh-CN" altLang="en-US" sz="2200" b="1" dirty="0">
                <a:solidFill>
                  <a:schemeClr val="tx1"/>
                </a:solidFill>
                <a:latin typeface="Century Gothic" panose="020B0502020202020204" pitchFamily="34" charset="0"/>
              </a:rPr>
              <a:t>，零件名，</a:t>
            </a:r>
            <a:r>
              <a:rPr lang="zh-CN" altLang="en-US" sz="2200" b="1" i="1" dirty="0">
                <a:solidFill>
                  <a:srgbClr val="030DCF"/>
                </a:solidFill>
                <a:latin typeface="Century Gothic" panose="020B0502020202020204" pitchFamily="34" charset="0"/>
              </a:rPr>
              <a:t>仓库号</a:t>
            </a:r>
            <a:r>
              <a:rPr lang="zh-CN" altLang="en-US" sz="2200" b="1" dirty="0">
                <a:solidFill>
                  <a:srgbClr val="030DCF"/>
                </a:solidFill>
                <a:latin typeface="Century Gothic" panose="020B0502020202020204" pitchFamily="34" charset="0"/>
              </a:rPr>
              <a:t>，库存量</a:t>
            </a:r>
            <a:r>
              <a:rPr lang="zh-CN" altLang="en-US" sz="2200" b="1" dirty="0">
                <a:solidFill>
                  <a:schemeClr val="tx1"/>
                </a:solidFill>
                <a:latin typeface="Century Gothic" panose="020B0502020202020204" pitchFamily="34" charset="0"/>
              </a:rPr>
              <a:t>）</a:t>
            </a:r>
            <a:endParaRPr lang="zh-CN" altLang="en-US" sz="2200" b="1" dirty="0">
              <a:solidFill>
                <a:schemeClr val="tx1"/>
              </a:solidFill>
              <a:latin typeface="Century Gothic" panose="020B0502020202020204" pitchFamily="34" charset="0"/>
            </a:endParaRPr>
          </a:p>
        </p:txBody>
      </p:sp>
      <p:sp>
        <p:nvSpPr>
          <p:cNvPr id="33" name="Rectangle 2"/>
          <p:cNvSpPr txBox="1">
            <a:spLocks noChangeArrowheads="1"/>
          </p:cNvSpPr>
          <p:nvPr/>
        </p:nvSpPr>
        <p:spPr bwMode="auto">
          <a:xfrm>
            <a:off x="1182222" y="318403"/>
            <a:ext cx="3893344" cy="51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a:latin typeface="黑体" panose="02010609060101010101" pitchFamily="49" charset="-122"/>
                <a:ea typeface="黑体" panose="02010609060101010101" pitchFamily="49" charset="-122"/>
              </a:rPr>
              <a:t>４</a:t>
            </a:r>
            <a:r>
              <a:rPr lang="en-US" altLang="zh-CN" sz="3000" b="1">
                <a:latin typeface="黑体" panose="02010609060101010101" pitchFamily="49" charset="-122"/>
                <a:ea typeface="黑体" panose="02010609060101010101" pitchFamily="49" charset="-122"/>
              </a:rPr>
              <a:t>.3 </a:t>
            </a:r>
            <a:r>
              <a:rPr lang="zh-CN" altLang="en-US" sz="3000" b="1">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38773" y="2824084"/>
            <a:ext cx="4236222" cy="2539977"/>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54276" name="矩形 1"/>
          <p:cNvSpPr>
            <a:spLocks noChangeArrowheads="1"/>
          </p:cNvSpPr>
          <p:nvPr/>
        </p:nvSpPr>
        <p:spPr bwMode="auto">
          <a:xfrm>
            <a:off x="698222" y="5452482"/>
            <a:ext cx="7483078" cy="124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20000"/>
              </a:spcBef>
              <a:buClrTx/>
              <a:buFontTx/>
              <a:buNone/>
            </a:pPr>
            <a:r>
              <a:rPr lang="zh-CN" altLang="en-US" sz="2200" b="1" dirty="0">
                <a:solidFill>
                  <a:schemeClr val="tx1"/>
                </a:solidFill>
                <a:latin typeface="Tahoma" panose="020B0604030504040204" pitchFamily="34" charset="0"/>
              </a:rPr>
              <a:t>学生信息表（</a:t>
            </a:r>
            <a:r>
              <a:rPr lang="zh-CN" altLang="en-US" sz="2200" b="1" u="sng" dirty="0">
                <a:solidFill>
                  <a:schemeClr val="tx1"/>
                </a:solidFill>
                <a:latin typeface="Tahoma" panose="020B0604030504040204" pitchFamily="34" charset="0"/>
              </a:rPr>
              <a:t>学号</a:t>
            </a:r>
            <a:r>
              <a:rPr lang="zh-CN" altLang="en-US" sz="2200" b="1" dirty="0">
                <a:solidFill>
                  <a:schemeClr val="tx1"/>
                </a:solidFill>
                <a:latin typeface="Tahoma" panose="020B0604030504040204" pitchFamily="34" charset="0"/>
              </a:rPr>
              <a:t>，姓名，所在学院，所学专业，班级）</a:t>
            </a:r>
            <a:endParaRPr lang="zh-CN" altLang="en-US" sz="2200" b="1" dirty="0">
              <a:solidFill>
                <a:schemeClr val="tx1"/>
              </a:solidFill>
              <a:latin typeface="Tahoma" panose="020B0604030504040204" pitchFamily="34" charset="0"/>
            </a:endParaRPr>
          </a:p>
          <a:p>
            <a:pPr>
              <a:spcBef>
                <a:spcPct val="20000"/>
              </a:spcBef>
              <a:buClrTx/>
              <a:buFontTx/>
              <a:buNone/>
            </a:pPr>
            <a:r>
              <a:rPr lang="zh-CN" altLang="en-US" sz="2200" b="1" dirty="0">
                <a:solidFill>
                  <a:schemeClr val="tx1"/>
                </a:solidFill>
                <a:latin typeface="Tahoma" panose="020B0604030504040204" pitchFamily="34" charset="0"/>
              </a:rPr>
              <a:t>课程信息表（</a:t>
            </a:r>
            <a:r>
              <a:rPr lang="zh-CN" altLang="en-US" sz="2200" b="1" u="sng" dirty="0">
                <a:solidFill>
                  <a:schemeClr val="tx1"/>
                </a:solidFill>
                <a:latin typeface="Tahoma" panose="020B0604030504040204" pitchFamily="34" charset="0"/>
              </a:rPr>
              <a:t>课程号</a:t>
            </a:r>
            <a:r>
              <a:rPr lang="zh-CN" altLang="en-US" sz="2200" b="1" dirty="0">
                <a:solidFill>
                  <a:schemeClr val="tx1"/>
                </a:solidFill>
                <a:latin typeface="Tahoma" panose="020B0604030504040204" pitchFamily="34" charset="0"/>
              </a:rPr>
              <a:t>，课程名，学时，学分）</a:t>
            </a:r>
            <a:endParaRPr lang="zh-CN" altLang="en-US" sz="2200" b="1" dirty="0">
              <a:solidFill>
                <a:schemeClr val="tx1"/>
              </a:solidFill>
              <a:latin typeface="Tahoma" panose="020B0604030504040204" pitchFamily="34" charset="0"/>
            </a:endParaRPr>
          </a:p>
          <a:p>
            <a:pPr>
              <a:spcBef>
                <a:spcPct val="20000"/>
              </a:spcBef>
              <a:buClrTx/>
              <a:buFontTx/>
              <a:buNone/>
            </a:pPr>
            <a:r>
              <a:rPr lang="zh-CN" altLang="en-US" sz="2200" b="1" dirty="0">
                <a:solidFill>
                  <a:srgbClr val="030DCF"/>
                </a:solidFill>
                <a:latin typeface="Tahoma" panose="020B0604030504040204" pitchFamily="34" charset="0"/>
              </a:rPr>
              <a:t>学生成绩表（</a:t>
            </a:r>
            <a:r>
              <a:rPr lang="zh-CN" altLang="en-US" sz="2200" b="1" u="sng" dirty="0">
                <a:solidFill>
                  <a:srgbClr val="030DCF"/>
                </a:solidFill>
                <a:latin typeface="Tahoma" panose="020B0604030504040204" pitchFamily="34" charset="0"/>
              </a:rPr>
              <a:t>学号</a:t>
            </a:r>
            <a:r>
              <a:rPr lang="zh-CN" altLang="en-US" sz="2200" b="1" dirty="0">
                <a:solidFill>
                  <a:srgbClr val="030DCF"/>
                </a:solidFill>
                <a:latin typeface="Tahoma" panose="020B0604030504040204" pitchFamily="34" charset="0"/>
              </a:rPr>
              <a:t>，</a:t>
            </a:r>
            <a:r>
              <a:rPr lang="zh-CN" altLang="en-US" sz="2200" b="1" u="sng" dirty="0">
                <a:solidFill>
                  <a:srgbClr val="030DCF"/>
                </a:solidFill>
                <a:latin typeface="Tahoma" panose="020B0604030504040204" pitchFamily="34" charset="0"/>
              </a:rPr>
              <a:t>课程号</a:t>
            </a:r>
            <a:r>
              <a:rPr lang="zh-CN" altLang="en-US" sz="2200" b="1" dirty="0">
                <a:solidFill>
                  <a:srgbClr val="030DCF"/>
                </a:solidFill>
                <a:latin typeface="Tahoma" panose="020B0604030504040204" pitchFamily="34" charset="0"/>
              </a:rPr>
              <a:t>，成绩）</a:t>
            </a:r>
            <a:endParaRPr lang="zh-CN" altLang="en-US" sz="2200" b="1" dirty="0">
              <a:solidFill>
                <a:srgbClr val="030DCF"/>
              </a:solidFill>
              <a:latin typeface="Tahoma" panose="020B0604030504040204" pitchFamily="34" charset="0"/>
            </a:endParaRPr>
          </a:p>
        </p:txBody>
      </p:sp>
      <p:sp>
        <p:nvSpPr>
          <p:cNvPr id="3" name="矩形 2"/>
          <p:cNvSpPr/>
          <p:nvPr/>
        </p:nvSpPr>
        <p:spPr>
          <a:xfrm>
            <a:off x="264160" y="1396126"/>
            <a:ext cx="8351203" cy="1334853"/>
          </a:xfrm>
          <a:prstGeom prst="rect">
            <a:avLst/>
          </a:prstGeom>
        </p:spPr>
        <p:txBody>
          <a:bodyPr wrap="square">
            <a:spAutoFit/>
          </a:bodyPr>
          <a:lstStyle/>
          <a:p>
            <a:pPr marL="643255" lvl="1" indent="-342900" algn="just">
              <a:lnSpc>
                <a:spcPct val="120000"/>
              </a:lnSpc>
              <a:spcBef>
                <a:spcPts val="450"/>
              </a:spcBef>
              <a:buClr>
                <a:srgbClr val="C00000"/>
              </a:buClr>
              <a:buFont typeface="+mj-ea"/>
              <a:buAutoNum type="circleNumDbPlain" startAt="3"/>
              <a:defRPr/>
            </a:pPr>
            <a:r>
              <a:rPr lang="en-US" altLang="zh-CN" sz="2200" b="1" dirty="0">
                <a:solidFill>
                  <a:srgbClr val="030DCF"/>
                </a:solidFill>
                <a:latin typeface="Times New Roman" panose="02020603050405020304"/>
              </a:rPr>
              <a:t>m:n</a:t>
            </a:r>
            <a:endParaRPr lang="en-US" altLang="zh-CN" sz="2200" b="1" dirty="0">
              <a:solidFill>
                <a:srgbClr val="030DCF"/>
              </a:solidFill>
              <a:latin typeface="Times New Roman" panose="02020603050405020304"/>
            </a:endParaRPr>
          </a:p>
          <a:p>
            <a:pPr marL="300355" lvl="1" algn="just">
              <a:lnSpc>
                <a:spcPct val="120000"/>
              </a:lnSpc>
              <a:spcBef>
                <a:spcPts val="450"/>
              </a:spcBef>
              <a:defRPr/>
            </a:pPr>
            <a:r>
              <a:rPr lang="zh-CN" altLang="en-US" sz="2200" b="1" dirty="0">
                <a:solidFill>
                  <a:prstClr val="black"/>
                </a:solidFill>
              </a:rPr>
              <a:t>引入一个</a:t>
            </a:r>
            <a:r>
              <a:rPr lang="zh-CN" altLang="en-US" sz="2200" b="1" dirty="0">
                <a:solidFill>
                  <a:srgbClr val="C00000"/>
                </a:solidFill>
              </a:rPr>
              <a:t>新表</a:t>
            </a:r>
            <a:r>
              <a:rPr lang="zh-CN" altLang="en-US" sz="2200" b="1" dirty="0">
                <a:solidFill>
                  <a:prstClr val="black"/>
                </a:solidFill>
              </a:rPr>
              <a:t>，两端实体表的主键和联系本身的属性组成新表的属性。新表的主键由联系两端实体表的主键组成。</a:t>
            </a:r>
            <a:endParaRPr lang="en-US" altLang="zh-CN" sz="2200" b="1" dirty="0">
              <a:solidFill>
                <a:prstClr val="black"/>
              </a:solidFill>
            </a:endParaRPr>
          </a:p>
        </p:txBody>
      </p:sp>
      <p:sp>
        <p:nvSpPr>
          <p:cNvPr id="7" name="Rectangle 2"/>
          <p:cNvSpPr>
            <a:spLocks noGrp="1" noChangeArrowheads="1"/>
          </p:cNvSpPr>
          <p:nvPr>
            <p:ph type="title"/>
          </p:nvPr>
        </p:nvSpPr>
        <p:spPr>
          <a:xfrm>
            <a:off x="1182222" y="318403"/>
            <a:ext cx="3893344" cy="517922"/>
          </a:xfrm>
        </p:spPr>
        <p:txBody>
          <a:bodyPr/>
          <a:lstStyle/>
          <a:p>
            <a:pPr eaLnBrk="1" hangingPunct="1">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2908" y="1322787"/>
            <a:ext cx="8322467" cy="1975247"/>
          </a:xfrm>
        </p:spPr>
        <p:txBody>
          <a:bodyPr/>
          <a:lstStyle/>
          <a:p>
            <a:pPr algn="just">
              <a:buFont typeface="Wingdings" panose="05000000000000000000" pitchFamily="2" charset="2"/>
              <a:buChar char="n"/>
              <a:defRPr/>
            </a:pPr>
            <a:r>
              <a:rPr lang="zh-CN" altLang="zh-CN" sz="2000" b="1" dirty="0">
                <a:solidFill>
                  <a:srgbClr val="000000"/>
                </a:solidFill>
              </a:rPr>
              <a:t>设有运动员和比赛项目两个实体，</a:t>
            </a:r>
            <a:r>
              <a:rPr lang="en-US" altLang="zh-CN" sz="2000" b="1" dirty="0">
                <a:solidFill>
                  <a:srgbClr val="000000"/>
                </a:solidFill>
              </a:rPr>
              <a:t>“</a:t>
            </a:r>
            <a:r>
              <a:rPr lang="zh-CN" altLang="zh-CN" sz="2000" b="1" dirty="0">
                <a:solidFill>
                  <a:srgbClr val="030DCF"/>
                </a:solidFill>
              </a:rPr>
              <a:t>运动员</a:t>
            </a:r>
            <a:r>
              <a:rPr lang="en-US" altLang="zh-CN" sz="2000" b="1" dirty="0">
                <a:solidFill>
                  <a:srgbClr val="000000"/>
                </a:solidFill>
              </a:rPr>
              <a:t>”</a:t>
            </a:r>
            <a:r>
              <a:rPr lang="zh-CN" altLang="zh-CN" sz="2000" b="1" dirty="0">
                <a:solidFill>
                  <a:srgbClr val="000000"/>
                </a:solidFill>
              </a:rPr>
              <a:t>有属性：运动员编号、姓名、单位、性别、年龄，</a:t>
            </a:r>
            <a:r>
              <a:rPr lang="en-US" altLang="zh-CN" sz="2000" b="1" dirty="0">
                <a:solidFill>
                  <a:srgbClr val="000000"/>
                </a:solidFill>
              </a:rPr>
              <a:t>“</a:t>
            </a:r>
            <a:r>
              <a:rPr lang="zh-CN" altLang="zh-CN" sz="2000" b="1" dirty="0">
                <a:solidFill>
                  <a:srgbClr val="030DCF"/>
                </a:solidFill>
              </a:rPr>
              <a:t>比赛项目</a:t>
            </a:r>
            <a:r>
              <a:rPr lang="en-US" altLang="zh-CN" sz="2000" b="1" dirty="0">
                <a:solidFill>
                  <a:srgbClr val="000000"/>
                </a:solidFill>
              </a:rPr>
              <a:t>”</a:t>
            </a:r>
            <a:r>
              <a:rPr lang="zh-CN" altLang="zh-CN" sz="2000" b="1" dirty="0">
                <a:solidFill>
                  <a:srgbClr val="000000"/>
                </a:solidFill>
              </a:rPr>
              <a:t>有属性：项目号、名称、最好成绩。</a:t>
            </a:r>
            <a:r>
              <a:rPr lang="zh-CN" altLang="zh-CN" sz="2000" b="1" dirty="0">
                <a:solidFill>
                  <a:srgbClr val="FF0000"/>
                </a:solidFill>
              </a:rPr>
              <a:t>一个运动员可以参加多个项目，一个项目由多名运动员参加</a:t>
            </a:r>
            <a:r>
              <a:rPr lang="zh-CN" altLang="zh-CN" sz="2000" b="1" dirty="0">
                <a:solidFill>
                  <a:srgbClr val="000000"/>
                </a:solidFill>
              </a:rPr>
              <a:t>，运动员</a:t>
            </a:r>
            <a:r>
              <a:rPr lang="zh-CN" altLang="zh-CN" sz="2000" b="1" dirty="0">
                <a:solidFill>
                  <a:srgbClr val="3333FF"/>
                </a:solidFill>
              </a:rPr>
              <a:t>参赛还包括比赛时间、比赛成绩</a:t>
            </a:r>
            <a:r>
              <a:rPr lang="zh-CN" altLang="zh-CN" sz="2000" b="1" dirty="0">
                <a:solidFill>
                  <a:srgbClr val="000000"/>
                </a:solidFill>
              </a:rPr>
              <a:t>等信息。</a:t>
            </a:r>
            <a:endParaRPr lang="zh-CN" altLang="zh-CN" sz="2000" b="1" dirty="0">
              <a:solidFill>
                <a:srgbClr val="000000"/>
              </a:solidFill>
            </a:endParaRPr>
          </a:p>
          <a:p>
            <a:pPr marL="0" indent="0" algn="just">
              <a:buNone/>
              <a:defRPr/>
            </a:pPr>
            <a:r>
              <a:rPr lang="en-US" altLang="zh-CN" sz="2000" b="1" dirty="0">
                <a:solidFill>
                  <a:srgbClr val="000000"/>
                </a:solidFill>
              </a:rPr>
              <a:t> </a:t>
            </a:r>
            <a:r>
              <a:rPr lang="zh-CN" altLang="zh-CN" sz="2000" b="1" dirty="0">
                <a:solidFill>
                  <a:srgbClr val="000000"/>
                </a:solidFill>
              </a:rPr>
              <a:t>根据以上情况和假设，试作如下设计：</a:t>
            </a:r>
            <a:endParaRPr lang="en-US" altLang="zh-CN" sz="2000" b="1" dirty="0">
              <a:solidFill>
                <a:srgbClr val="000000"/>
              </a:solidFill>
            </a:endParaRPr>
          </a:p>
          <a:p>
            <a:pPr marL="0" indent="0" algn="just">
              <a:buNone/>
              <a:defRPr/>
            </a:pPr>
            <a:r>
              <a:rPr lang="zh-CN" altLang="zh-CN" sz="2000" b="1" dirty="0">
                <a:solidFill>
                  <a:srgbClr val="000000"/>
                </a:solidFill>
              </a:rPr>
              <a:t>（</a:t>
            </a:r>
            <a:r>
              <a:rPr lang="en-US" altLang="zh-CN" sz="2000" b="1" dirty="0">
                <a:solidFill>
                  <a:srgbClr val="000000"/>
                </a:solidFill>
              </a:rPr>
              <a:t>1</a:t>
            </a:r>
            <a:r>
              <a:rPr lang="zh-CN" altLang="zh-CN" sz="2000" b="1" dirty="0">
                <a:solidFill>
                  <a:srgbClr val="000000"/>
                </a:solidFill>
              </a:rPr>
              <a:t>）试画出</a:t>
            </a:r>
            <a:r>
              <a:rPr lang="en-US" altLang="zh-CN" sz="2000" b="1" dirty="0">
                <a:solidFill>
                  <a:srgbClr val="000000"/>
                </a:solidFill>
              </a:rPr>
              <a:t>ER</a:t>
            </a:r>
            <a:r>
              <a:rPr lang="zh-CN" altLang="zh-CN" sz="2000" b="1" dirty="0">
                <a:solidFill>
                  <a:srgbClr val="000000"/>
                </a:solidFill>
              </a:rPr>
              <a:t>图。</a:t>
            </a:r>
            <a:endParaRPr lang="en-US" altLang="zh-CN" sz="2000" b="1" dirty="0">
              <a:solidFill>
                <a:srgbClr val="000000"/>
              </a:solidFill>
            </a:endParaRPr>
          </a:p>
          <a:p>
            <a:pPr marL="0" indent="0" algn="just">
              <a:buNone/>
              <a:defRPr/>
            </a:pPr>
            <a:r>
              <a:rPr lang="zh-CN" altLang="zh-CN" sz="2000" b="1" dirty="0">
                <a:solidFill>
                  <a:srgbClr val="000000"/>
                </a:solidFill>
              </a:rPr>
              <a:t>（</a:t>
            </a:r>
            <a:r>
              <a:rPr lang="en-US" altLang="zh-CN" sz="2000" b="1" dirty="0">
                <a:solidFill>
                  <a:srgbClr val="000000"/>
                </a:solidFill>
              </a:rPr>
              <a:t>2</a:t>
            </a:r>
            <a:r>
              <a:rPr lang="zh-CN" altLang="zh-CN" sz="2000" b="1" dirty="0">
                <a:solidFill>
                  <a:srgbClr val="000000"/>
                </a:solidFill>
              </a:rPr>
              <a:t>）请将</a:t>
            </a:r>
            <a:r>
              <a:rPr lang="en-US" altLang="zh-CN" sz="2000" b="1" dirty="0">
                <a:solidFill>
                  <a:srgbClr val="000000"/>
                </a:solidFill>
              </a:rPr>
              <a:t>E-R</a:t>
            </a:r>
            <a:r>
              <a:rPr lang="zh-CN" altLang="zh-CN" sz="2000" b="1" dirty="0">
                <a:solidFill>
                  <a:srgbClr val="000000"/>
                </a:solidFill>
              </a:rPr>
              <a:t>图转化为等价的关系模式。</a:t>
            </a:r>
            <a:endParaRPr lang="zh-CN" altLang="en-US" sz="2000" b="1" dirty="0">
              <a:solidFill>
                <a:srgbClr val="000000"/>
              </a:solidFill>
              <a:sym typeface="微软雅黑" panose="020B0503020204020204" charset="-122"/>
            </a:endParaRPr>
          </a:p>
        </p:txBody>
      </p:sp>
      <p:pic>
        <p:nvPicPr>
          <p:cNvPr id="5"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24008" y="2638425"/>
            <a:ext cx="3917568" cy="301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a:spLocks noChangeArrowheads="1"/>
          </p:cNvSpPr>
          <p:nvPr/>
        </p:nvSpPr>
        <p:spPr bwMode="auto">
          <a:xfrm>
            <a:off x="571501" y="5519737"/>
            <a:ext cx="707588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nSpc>
                <a:spcPct val="110000"/>
              </a:lnSpc>
              <a:spcBef>
                <a:spcPct val="0"/>
              </a:spcBef>
              <a:buClrTx/>
              <a:buFontTx/>
              <a:buNone/>
            </a:pPr>
            <a:r>
              <a:rPr lang="zh-CN" altLang="zh-CN" sz="2000" b="1" dirty="0">
                <a:solidFill>
                  <a:schemeClr val="tx1"/>
                </a:solidFill>
                <a:latin typeface="Century Gothic" panose="020B0502020202020204" pitchFamily="34" charset="0"/>
              </a:rPr>
              <a:t>运动员表（</a:t>
            </a:r>
            <a:r>
              <a:rPr lang="zh-CN" altLang="zh-CN" sz="2000" b="1" u="sng" dirty="0">
                <a:solidFill>
                  <a:schemeClr val="tx1"/>
                </a:solidFill>
                <a:latin typeface="Century Gothic" panose="020B0502020202020204" pitchFamily="34" charset="0"/>
              </a:rPr>
              <a:t>运动员编号</a:t>
            </a:r>
            <a:r>
              <a:rPr lang="zh-CN" altLang="zh-CN" sz="2000" b="1" dirty="0">
                <a:solidFill>
                  <a:schemeClr val="tx1"/>
                </a:solidFill>
                <a:latin typeface="Century Gothic" panose="020B0502020202020204" pitchFamily="34" charset="0"/>
              </a:rPr>
              <a:t>、姓名、单位、性别、年龄）</a:t>
            </a:r>
            <a:endParaRPr lang="zh-CN" altLang="zh-CN" sz="2000" b="1" dirty="0">
              <a:solidFill>
                <a:schemeClr val="tx1"/>
              </a:solidFill>
              <a:latin typeface="Century Gothic" panose="020B0502020202020204" pitchFamily="34" charset="0"/>
            </a:endParaRPr>
          </a:p>
          <a:p>
            <a:pPr>
              <a:lnSpc>
                <a:spcPct val="110000"/>
              </a:lnSpc>
              <a:spcBef>
                <a:spcPct val="0"/>
              </a:spcBef>
              <a:buClrTx/>
              <a:buFontTx/>
              <a:buNone/>
            </a:pPr>
            <a:r>
              <a:rPr lang="zh-CN" altLang="zh-CN" sz="2000" b="1" dirty="0">
                <a:solidFill>
                  <a:schemeClr val="tx1"/>
                </a:solidFill>
                <a:latin typeface="Century Gothic" panose="020B0502020202020204" pitchFamily="34" charset="0"/>
              </a:rPr>
              <a:t>比赛项目表（</a:t>
            </a:r>
            <a:r>
              <a:rPr lang="zh-CN" altLang="zh-CN" sz="2000" b="1" u="sng" dirty="0">
                <a:solidFill>
                  <a:schemeClr val="tx1"/>
                </a:solidFill>
                <a:latin typeface="Century Gothic" panose="020B0502020202020204" pitchFamily="34" charset="0"/>
              </a:rPr>
              <a:t>项目号</a:t>
            </a:r>
            <a:r>
              <a:rPr lang="zh-CN" altLang="zh-CN" sz="2000" b="1" dirty="0">
                <a:solidFill>
                  <a:schemeClr val="tx1"/>
                </a:solidFill>
                <a:latin typeface="Century Gothic" panose="020B0502020202020204" pitchFamily="34" charset="0"/>
              </a:rPr>
              <a:t>、名称、最好成绩）</a:t>
            </a:r>
            <a:endParaRPr lang="zh-CN" altLang="zh-CN" sz="2000" b="1" dirty="0">
              <a:solidFill>
                <a:schemeClr val="tx1"/>
              </a:solidFill>
              <a:latin typeface="Century Gothic" panose="020B0502020202020204" pitchFamily="34" charset="0"/>
            </a:endParaRPr>
          </a:p>
          <a:p>
            <a:pPr>
              <a:lnSpc>
                <a:spcPct val="110000"/>
              </a:lnSpc>
              <a:spcBef>
                <a:spcPct val="0"/>
              </a:spcBef>
              <a:buClrTx/>
              <a:buFontTx/>
              <a:buNone/>
            </a:pPr>
            <a:r>
              <a:rPr lang="zh-CN" altLang="zh-CN" sz="2000" b="1" dirty="0">
                <a:solidFill>
                  <a:schemeClr val="tx1"/>
                </a:solidFill>
                <a:latin typeface="Century Gothic" panose="020B0502020202020204" pitchFamily="34" charset="0"/>
              </a:rPr>
              <a:t>参加表（</a:t>
            </a:r>
            <a:r>
              <a:rPr lang="zh-CN" altLang="zh-CN" sz="2000" b="1" u="sng" dirty="0">
                <a:solidFill>
                  <a:schemeClr val="tx1"/>
                </a:solidFill>
                <a:latin typeface="Century Gothic" panose="020B0502020202020204" pitchFamily="34" charset="0"/>
              </a:rPr>
              <a:t>运动员编号，项目号</a:t>
            </a:r>
            <a:r>
              <a:rPr lang="zh-CN" altLang="zh-CN" sz="2000" b="1" dirty="0">
                <a:solidFill>
                  <a:schemeClr val="tx1"/>
                </a:solidFill>
                <a:latin typeface="Century Gothic" panose="020B0502020202020204" pitchFamily="34" charset="0"/>
              </a:rPr>
              <a:t>，比赛时间，比赛成绩）</a:t>
            </a:r>
            <a:endParaRPr lang="zh-CN" altLang="en-US" sz="2000" b="1"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
        <p:nvSpPr>
          <p:cNvPr id="8" name="文本框 7"/>
          <p:cNvSpPr txBox="1"/>
          <p:nvPr/>
        </p:nvSpPr>
        <p:spPr>
          <a:xfrm>
            <a:off x="2197120" y="3953737"/>
            <a:ext cx="4187825" cy="400050"/>
          </a:xfrm>
          <a:prstGeom prst="rect">
            <a:avLst/>
          </a:prstGeom>
          <a:noFill/>
        </p:spPr>
        <p:txBody>
          <a:bodyPr>
            <a:spAutoFit/>
          </a:bodyPr>
          <a:lstStyle/>
          <a:p>
            <a:pPr>
              <a:defRPr/>
            </a:pPr>
            <a:r>
              <a:rPr lang="zh-CN" altLang="en-US" sz="2000" b="1" dirty="0">
                <a:solidFill>
                  <a:srgbClr val="C00000"/>
                </a:solidFill>
                <a:latin typeface="+mn-lt"/>
              </a:rPr>
              <a:t>关系</a:t>
            </a:r>
            <a:r>
              <a:rPr lang="zh-CN" altLang="en-US" sz="2000" b="1" dirty="0" smtClean="0">
                <a:solidFill>
                  <a:srgbClr val="C00000"/>
                </a:solidFill>
                <a:latin typeface="+mn-lt"/>
              </a:rPr>
              <a:t>类型</a:t>
            </a:r>
            <a:r>
              <a:rPr lang="en-US" altLang="zh-CN" sz="2000" b="1" dirty="0" smtClean="0">
                <a:solidFill>
                  <a:srgbClr val="C00000"/>
                </a:solidFill>
                <a:latin typeface="+mn-lt"/>
              </a:rPr>
              <a:t>m</a:t>
            </a:r>
            <a:r>
              <a:rPr lang="zh-CN" altLang="en-US" sz="2000" b="1" dirty="0" smtClean="0">
                <a:solidFill>
                  <a:srgbClr val="C00000"/>
                </a:solidFill>
                <a:latin typeface="+mn-lt"/>
              </a:rPr>
              <a:t>：</a:t>
            </a:r>
            <a:r>
              <a:rPr lang="en-US" altLang="zh-CN" sz="2000" b="1" dirty="0">
                <a:solidFill>
                  <a:srgbClr val="C00000"/>
                </a:solidFill>
                <a:latin typeface="+mn-lt"/>
              </a:rPr>
              <a:t>n</a:t>
            </a:r>
            <a:r>
              <a:rPr lang="zh-CN" altLang="en-US" sz="2000" b="1" dirty="0" smtClean="0">
                <a:solidFill>
                  <a:srgbClr val="C00000"/>
                </a:solidFill>
                <a:latin typeface="+mn-lt"/>
              </a:rPr>
              <a:t>，新建一个模式</a:t>
            </a:r>
            <a:endParaRPr lang="zh-CN" altLang="en-US" sz="2000" b="1" dirty="0">
              <a:solidFill>
                <a:srgbClr val="C00000"/>
              </a:solidFill>
              <a:latin typeface="+mn-lt"/>
            </a:endParaRPr>
          </a:p>
        </p:txBody>
      </p:sp>
      <p:cxnSp>
        <p:nvCxnSpPr>
          <p:cNvPr id="9" name="直接箭头连接符 8"/>
          <p:cNvCxnSpPr/>
          <p:nvPr/>
        </p:nvCxnSpPr>
        <p:spPr>
          <a:xfrm flipV="1">
            <a:off x="5263035" y="3901905"/>
            <a:ext cx="1654296" cy="51832"/>
          </a:xfrm>
          <a:prstGeom prst="straightConnector1">
            <a:avLst/>
          </a:prstGeom>
          <a:ln w="38100">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5318876" y="4353787"/>
            <a:ext cx="1381997" cy="145305"/>
          </a:xfrm>
          <a:prstGeom prst="straightConnector1">
            <a:avLst/>
          </a:prstGeom>
          <a:ln w="38100">
            <a:solidFill>
              <a:srgbClr val="3333FF"/>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1000"/>
                                        <p:tgtEl>
                                          <p:spTgt spid="6">
                                            <p:txEl>
                                              <p:pRg st="0" end="0"/>
                                            </p:txEl>
                                          </p:spTgt>
                                        </p:tgtEl>
                                      </p:cBhvr>
                                    </p:animEffect>
                                    <p:anim calcmode="lin" valueType="num">
                                      <p:cBhvr>
                                        <p:cTn id="1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fade">
                                      <p:cBhvr>
                                        <p:cTn id="16" dur="1000"/>
                                        <p:tgtEl>
                                          <p:spTgt spid="6">
                                            <p:txEl>
                                              <p:pRg st="1" end="1"/>
                                            </p:txEl>
                                          </p:spTgt>
                                        </p:tgtEl>
                                      </p:cBhvr>
                                    </p:animEffect>
                                    <p:anim calcmode="lin" valueType="num">
                                      <p:cBhvr>
                                        <p:cTn id="17"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8"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animEffect transition="in" filter="fade">
                                      <p:cBhvr>
                                        <p:cTn id="31"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8662" y="1220810"/>
            <a:ext cx="8767072" cy="2462213"/>
          </a:xfrm>
          <a:prstGeom prst="rect">
            <a:avLst/>
          </a:prstGeom>
        </p:spPr>
        <p:txBody>
          <a:bodyPr wrap="square">
            <a:spAutoFit/>
          </a:bodyPr>
          <a:lstStyle/>
          <a:p>
            <a:pPr algn="just">
              <a:lnSpc>
                <a:spcPct val="110000"/>
              </a:lnSpc>
              <a:defRPr/>
            </a:pPr>
            <a:r>
              <a:rPr lang="zh-CN" altLang="en-US" sz="2000" b="1" dirty="0" smtClean="0">
                <a:solidFill>
                  <a:srgbClr val="000000"/>
                </a:solidFill>
                <a:latin typeface="+mn-ea"/>
                <a:sym typeface="微软雅黑" panose="020B0503020204020204" charset="-122"/>
              </a:rPr>
              <a:t>在</a:t>
            </a:r>
            <a:r>
              <a:rPr lang="zh-CN" altLang="en-US" sz="2000" b="1" dirty="0">
                <a:solidFill>
                  <a:srgbClr val="000000"/>
                </a:solidFill>
                <a:latin typeface="+mn-ea"/>
                <a:sym typeface="微软雅黑" panose="020B0503020204020204" charset="-122"/>
              </a:rPr>
              <a:t>程序设计工作中，</a:t>
            </a:r>
            <a:r>
              <a:rPr lang="zh-CN" altLang="en-US" sz="2000" b="1" dirty="0">
                <a:solidFill>
                  <a:srgbClr val="3333FF"/>
                </a:solidFill>
                <a:latin typeface="+mn-ea"/>
                <a:sym typeface="微软雅黑" panose="020B0503020204020204" charset="-122"/>
              </a:rPr>
              <a:t>一位程序员可以设计多个程序，一个程序也可以由多位程序员共同设计</a:t>
            </a:r>
            <a:r>
              <a:rPr lang="zh-CN" altLang="en-US" sz="2000" b="1" dirty="0" smtClean="0">
                <a:solidFill>
                  <a:srgbClr val="000000"/>
                </a:solidFill>
                <a:latin typeface="+mn-ea"/>
                <a:sym typeface="微软雅黑" panose="020B0503020204020204" charset="-122"/>
              </a:rPr>
              <a:t>。假设</a:t>
            </a:r>
            <a:r>
              <a:rPr lang="zh-CN" altLang="en-US" sz="2000" b="1" dirty="0">
                <a:solidFill>
                  <a:srgbClr val="FF0000"/>
                </a:solidFill>
                <a:latin typeface="+mn-ea"/>
                <a:sym typeface="微软雅黑" panose="020B0503020204020204" charset="-122"/>
              </a:rPr>
              <a:t>程序员的属性</a:t>
            </a:r>
            <a:r>
              <a:rPr lang="zh-CN" altLang="en-US" sz="2000" b="1" dirty="0">
                <a:solidFill>
                  <a:srgbClr val="000000"/>
                </a:solidFill>
                <a:latin typeface="+mn-ea"/>
                <a:sym typeface="微软雅黑" panose="020B0503020204020204" charset="-122"/>
              </a:rPr>
              <a:t>有：程序员</a:t>
            </a:r>
            <a:r>
              <a:rPr lang="en-US" altLang="zh-CN" sz="2000" b="1" dirty="0">
                <a:solidFill>
                  <a:srgbClr val="000000"/>
                </a:solidFill>
                <a:latin typeface="+mn-ea"/>
                <a:sym typeface="微软雅黑" panose="020B0503020204020204" charset="-122"/>
              </a:rPr>
              <a:t>ID</a:t>
            </a:r>
            <a:r>
              <a:rPr lang="zh-CN" altLang="en-US" sz="2000" b="1" dirty="0">
                <a:solidFill>
                  <a:srgbClr val="000000"/>
                </a:solidFill>
                <a:latin typeface="+mn-ea"/>
                <a:sym typeface="微软雅黑" panose="020B0503020204020204" charset="-122"/>
              </a:rPr>
              <a:t>、姓名、性别、年龄、单位、职称。</a:t>
            </a:r>
            <a:r>
              <a:rPr lang="zh-CN" altLang="en-US" sz="2000" b="1" dirty="0">
                <a:solidFill>
                  <a:srgbClr val="FF0000"/>
                </a:solidFill>
                <a:latin typeface="+mn-ea"/>
                <a:sym typeface="微软雅黑" panose="020B0503020204020204" charset="-122"/>
              </a:rPr>
              <a:t>程序的属性</a:t>
            </a:r>
            <a:r>
              <a:rPr lang="zh-CN" altLang="en-US" sz="2000" b="1" dirty="0">
                <a:solidFill>
                  <a:srgbClr val="000000"/>
                </a:solidFill>
                <a:latin typeface="+mn-ea"/>
                <a:sym typeface="微软雅黑" panose="020B0503020204020204" charset="-122"/>
              </a:rPr>
              <a:t>有：程序编号、程序名称、版权、专利号、价格。对每位程序员参与某个程序的设计要</a:t>
            </a:r>
            <a:r>
              <a:rPr lang="zh-CN" altLang="en-US" sz="2000" b="1" dirty="0">
                <a:solidFill>
                  <a:srgbClr val="FF0000"/>
                </a:solidFill>
                <a:latin typeface="+mn-ea"/>
                <a:sym typeface="微软雅黑" panose="020B0503020204020204" charset="-122"/>
              </a:rPr>
              <a:t>记录其开始时间及结束时间</a:t>
            </a:r>
            <a:r>
              <a:rPr lang="zh-CN" altLang="en-US" sz="2000" b="1" dirty="0">
                <a:solidFill>
                  <a:srgbClr val="000000"/>
                </a:solidFill>
                <a:latin typeface="+mn-ea"/>
                <a:sym typeface="微软雅黑" panose="020B0503020204020204" charset="-122"/>
              </a:rPr>
              <a:t>。</a:t>
            </a:r>
            <a:endParaRPr lang="zh-CN" altLang="en-US" sz="2000" b="1" dirty="0">
              <a:solidFill>
                <a:srgbClr val="000000"/>
              </a:solidFill>
              <a:latin typeface="+mn-ea"/>
              <a:sym typeface="微软雅黑" panose="020B0503020204020204" charset="-122"/>
            </a:endParaRPr>
          </a:p>
          <a:p>
            <a:pPr algn="just">
              <a:lnSpc>
                <a:spcPct val="110000"/>
              </a:lnSpc>
              <a:defRPr/>
            </a:pPr>
            <a:r>
              <a:rPr lang="zh-CN" altLang="en-US" sz="2000" b="1" dirty="0">
                <a:solidFill>
                  <a:srgbClr val="000000"/>
                </a:solidFill>
                <a:latin typeface="+mn-ea"/>
                <a:sym typeface="微软雅黑" panose="020B0503020204020204" charset="-122"/>
              </a:rPr>
              <a:t>请完成以下操作：</a:t>
            </a:r>
            <a:endParaRPr lang="zh-CN" altLang="en-US" sz="2000" b="1" dirty="0">
              <a:solidFill>
                <a:srgbClr val="000000"/>
              </a:solidFill>
              <a:latin typeface="+mn-ea"/>
              <a:sym typeface="微软雅黑" panose="020B0503020204020204" charset="-122"/>
            </a:endParaRPr>
          </a:p>
          <a:p>
            <a:pPr algn="just">
              <a:lnSpc>
                <a:spcPct val="110000"/>
              </a:lnSpc>
              <a:defRPr/>
            </a:pPr>
            <a:r>
              <a:rPr lang="zh-CN" altLang="en-US" sz="2000" b="1" dirty="0">
                <a:solidFill>
                  <a:srgbClr val="000000"/>
                </a:solidFill>
                <a:latin typeface="+mn-ea"/>
                <a:sym typeface="微软雅黑" panose="020B0503020204020204" charset="-122"/>
              </a:rPr>
              <a:t>（</a:t>
            </a:r>
            <a:r>
              <a:rPr lang="en-US" altLang="zh-CN" sz="2000" b="1" dirty="0">
                <a:solidFill>
                  <a:srgbClr val="000000"/>
                </a:solidFill>
                <a:latin typeface="+mn-ea"/>
                <a:sym typeface="微软雅黑" panose="020B0503020204020204" charset="-122"/>
              </a:rPr>
              <a:t>1</a:t>
            </a:r>
            <a:r>
              <a:rPr lang="zh-CN" altLang="en-US" sz="2000" b="1" dirty="0">
                <a:solidFill>
                  <a:srgbClr val="000000"/>
                </a:solidFill>
                <a:latin typeface="+mn-ea"/>
                <a:sym typeface="微软雅黑" panose="020B0503020204020204" charset="-122"/>
              </a:rPr>
              <a:t>）请画出</a:t>
            </a:r>
            <a:r>
              <a:rPr lang="en-US" altLang="zh-CN" sz="2000" b="1" dirty="0">
                <a:solidFill>
                  <a:srgbClr val="000000"/>
                </a:solidFill>
                <a:latin typeface="+mn-ea"/>
                <a:sym typeface="微软雅黑" panose="020B0503020204020204" charset="-122"/>
              </a:rPr>
              <a:t>E-R</a:t>
            </a:r>
            <a:r>
              <a:rPr lang="zh-CN" altLang="en-US" sz="2000" b="1" dirty="0">
                <a:solidFill>
                  <a:srgbClr val="000000"/>
                </a:solidFill>
                <a:latin typeface="+mn-ea"/>
                <a:sym typeface="微软雅黑" panose="020B0503020204020204" charset="-122"/>
              </a:rPr>
              <a:t>图</a:t>
            </a:r>
            <a:r>
              <a:rPr lang="zh-CN" altLang="en-US" sz="2000" b="1" dirty="0" smtClean="0">
                <a:solidFill>
                  <a:srgbClr val="000000"/>
                </a:solidFill>
                <a:latin typeface="+mn-ea"/>
                <a:sym typeface="微软雅黑" panose="020B0503020204020204" charset="-122"/>
              </a:rPr>
              <a:t>。</a:t>
            </a:r>
            <a:endParaRPr lang="en-US" altLang="zh-CN" sz="2000" b="1" dirty="0" smtClean="0">
              <a:solidFill>
                <a:srgbClr val="000000"/>
              </a:solidFill>
              <a:latin typeface="+mn-ea"/>
              <a:sym typeface="微软雅黑" panose="020B0503020204020204" charset="-122"/>
            </a:endParaRPr>
          </a:p>
          <a:p>
            <a:pPr algn="just">
              <a:lnSpc>
                <a:spcPct val="110000"/>
              </a:lnSpc>
              <a:defRPr/>
            </a:pPr>
            <a:r>
              <a:rPr lang="zh-CN" altLang="en-US" sz="2000" b="1" dirty="0" smtClean="0">
                <a:solidFill>
                  <a:srgbClr val="000000"/>
                </a:solidFill>
                <a:latin typeface="+mn-ea"/>
                <a:sym typeface="微软雅黑" panose="020B0503020204020204" charset="-122"/>
              </a:rPr>
              <a:t>（</a:t>
            </a:r>
            <a:r>
              <a:rPr lang="en-US" altLang="zh-CN" sz="2000" b="1" dirty="0">
                <a:solidFill>
                  <a:srgbClr val="000000"/>
                </a:solidFill>
                <a:latin typeface="+mn-ea"/>
                <a:sym typeface="微软雅黑" panose="020B0503020204020204" charset="-122"/>
              </a:rPr>
              <a:t>2</a:t>
            </a:r>
            <a:r>
              <a:rPr lang="zh-CN" altLang="en-US" sz="2000" b="1" dirty="0">
                <a:solidFill>
                  <a:srgbClr val="000000"/>
                </a:solidFill>
                <a:latin typeface="+mn-ea"/>
                <a:sym typeface="微软雅黑" panose="020B0503020204020204" charset="-122"/>
              </a:rPr>
              <a:t>）请将</a:t>
            </a:r>
            <a:r>
              <a:rPr lang="en-US" altLang="zh-CN" sz="2000" b="1" dirty="0">
                <a:solidFill>
                  <a:srgbClr val="000000"/>
                </a:solidFill>
                <a:latin typeface="+mn-ea"/>
                <a:sym typeface="微软雅黑" panose="020B0503020204020204" charset="-122"/>
              </a:rPr>
              <a:t>E-R</a:t>
            </a:r>
            <a:r>
              <a:rPr lang="zh-CN" altLang="en-US" sz="2000" b="1" dirty="0">
                <a:solidFill>
                  <a:srgbClr val="000000"/>
                </a:solidFill>
                <a:latin typeface="+mn-ea"/>
                <a:sym typeface="微软雅黑" panose="020B0503020204020204" charset="-122"/>
              </a:rPr>
              <a:t>模型转换为关系模式</a:t>
            </a:r>
            <a:r>
              <a:rPr lang="zh-CN" altLang="en-US" sz="2000" b="1" dirty="0" smtClean="0">
                <a:solidFill>
                  <a:srgbClr val="000000"/>
                </a:solidFill>
                <a:latin typeface="+mn-ea"/>
                <a:sym typeface="微软雅黑" panose="020B0503020204020204" charset="-122"/>
              </a:rPr>
              <a:t>。</a:t>
            </a:r>
            <a:endParaRPr lang="en-US" altLang="zh-CN" sz="2000" b="1" dirty="0">
              <a:solidFill>
                <a:srgbClr val="000000"/>
              </a:solidFill>
              <a:latin typeface="+mn-ea"/>
              <a:sym typeface="微软雅黑" panose="020B0503020204020204" charset="-122"/>
            </a:endParaRPr>
          </a:p>
        </p:txBody>
      </p:sp>
      <p:sp>
        <p:nvSpPr>
          <p:cNvPr id="4" name="文本框 3"/>
          <p:cNvSpPr txBox="1"/>
          <p:nvPr/>
        </p:nvSpPr>
        <p:spPr>
          <a:xfrm>
            <a:off x="1043623" y="320728"/>
            <a:ext cx="5122068" cy="553085"/>
          </a:xfrm>
          <a:prstGeom prst="rect">
            <a:avLst/>
          </a:prstGeom>
          <a:noFill/>
        </p:spPr>
        <p:txBody>
          <a:bodyPr wrap="square" rtlCol="0">
            <a:spAutoFit/>
          </a:bodyPr>
          <a:lstStyle/>
          <a:p>
            <a:r>
              <a:rPr lang="zh-CN" altLang="en-US" sz="3000" b="1" dirty="0"/>
              <a:t>例题</a:t>
            </a:r>
            <a:endParaRPr lang="zh-CN" altLang="en-US" sz="3000" b="1" dirty="0"/>
          </a:p>
        </p:txBody>
      </p:sp>
      <p:pic>
        <p:nvPicPr>
          <p:cNvPr id="7" name="图片 6"/>
          <p:cNvPicPr>
            <a:picLocks noChangeAspect="1"/>
          </p:cNvPicPr>
          <p:nvPr/>
        </p:nvPicPr>
        <p:blipFill>
          <a:blip r:embed="rId1"/>
          <a:stretch>
            <a:fillRect/>
          </a:stretch>
        </p:blipFill>
        <p:spPr>
          <a:xfrm>
            <a:off x="5946376" y="2568629"/>
            <a:ext cx="3051039" cy="2920956"/>
          </a:xfrm>
          <a:prstGeom prst="rect">
            <a:avLst/>
          </a:prstGeom>
        </p:spPr>
      </p:pic>
      <p:sp>
        <p:nvSpPr>
          <p:cNvPr id="8" name="矩形 7"/>
          <p:cNvSpPr/>
          <p:nvPr/>
        </p:nvSpPr>
        <p:spPr>
          <a:xfrm>
            <a:off x="41288" y="5390238"/>
            <a:ext cx="7126737" cy="1261884"/>
          </a:xfrm>
          <a:prstGeom prst="rect">
            <a:avLst/>
          </a:prstGeom>
        </p:spPr>
        <p:txBody>
          <a:bodyPr wrap="square">
            <a:spAutoFit/>
          </a:bodyPr>
          <a:lstStyle/>
          <a:p>
            <a:pPr marL="342900" indent="-342900" algn="just">
              <a:spcAft>
                <a:spcPts val="600"/>
              </a:spcAft>
              <a:buFont typeface="Arial" panose="020B0604020202020204" pitchFamily="34" charset="0"/>
              <a:buChar char="•"/>
            </a:pPr>
            <a:r>
              <a:rPr lang="zh-CN" altLang="zh-CN" sz="2200" b="1" kern="100" dirty="0">
                <a:latin typeface="Times New Roman" panose="02020603050405020304" pitchFamily="18" charset="0"/>
                <a:ea typeface="宋体" panose="02010600030101010101" pitchFamily="2" charset="-122"/>
              </a:rPr>
              <a:t>程序员（</a:t>
            </a:r>
            <a:r>
              <a:rPr lang="zh-CN" altLang="zh-CN" sz="2200" b="1" u="sng" kern="100" dirty="0">
                <a:latin typeface="Times New Roman" panose="02020603050405020304" pitchFamily="18" charset="0"/>
                <a:ea typeface="宋体" panose="02010600030101010101" pitchFamily="2" charset="-122"/>
              </a:rPr>
              <a:t>程序员</a:t>
            </a:r>
            <a:r>
              <a:rPr lang="en-US" altLang="zh-CN" sz="2200" b="1" u="sng" kern="100" dirty="0">
                <a:latin typeface="Times New Roman" panose="02020603050405020304" pitchFamily="18" charset="0"/>
                <a:ea typeface="宋体" panose="02010600030101010101" pitchFamily="2" charset="-122"/>
              </a:rPr>
              <a:t>ID</a:t>
            </a:r>
            <a:r>
              <a:rPr lang="zh-CN" altLang="zh-CN" sz="2200" b="1" kern="100" dirty="0">
                <a:latin typeface="Times New Roman" panose="02020603050405020304" pitchFamily="18" charset="0"/>
                <a:ea typeface="宋体" panose="02010600030101010101" pitchFamily="2" charset="-122"/>
              </a:rPr>
              <a:t>，姓名，性别，年龄，单位，职称</a:t>
            </a:r>
            <a:r>
              <a:rPr lang="zh-CN" altLang="zh-CN" sz="2200" b="1" kern="100" dirty="0" smtClean="0">
                <a:latin typeface="Times New Roman" panose="02020603050405020304" pitchFamily="18" charset="0"/>
                <a:ea typeface="宋体" panose="02010600030101010101" pitchFamily="2" charset="-122"/>
              </a:rPr>
              <a:t>）</a:t>
            </a:r>
            <a:endParaRPr lang="zh-CN" altLang="zh-CN" sz="2200" b="1" kern="100" dirty="0">
              <a:latin typeface="Times New Roman" panose="02020603050405020304" pitchFamily="18" charset="0"/>
              <a:ea typeface="宋体" panose="02010600030101010101" pitchFamily="2" charset="-122"/>
            </a:endParaRPr>
          </a:p>
          <a:p>
            <a:pPr marL="342900" indent="-342900" algn="just">
              <a:spcAft>
                <a:spcPts val="600"/>
              </a:spcAft>
              <a:buFont typeface="Arial" panose="020B0604020202020204" pitchFamily="34" charset="0"/>
              <a:buChar char="•"/>
            </a:pPr>
            <a:r>
              <a:rPr lang="zh-CN" altLang="zh-CN" sz="2200" b="1" kern="100" dirty="0">
                <a:latin typeface="Times New Roman" panose="02020603050405020304" pitchFamily="18" charset="0"/>
                <a:ea typeface="宋体" panose="02010600030101010101" pitchFamily="2" charset="-122"/>
              </a:rPr>
              <a:t>程序（</a:t>
            </a:r>
            <a:r>
              <a:rPr lang="zh-CN" altLang="zh-CN" sz="2200" b="1" u="sng" kern="100" dirty="0">
                <a:latin typeface="Times New Roman" panose="02020603050405020304" pitchFamily="18" charset="0"/>
                <a:ea typeface="宋体" panose="02010600030101010101" pitchFamily="2" charset="-122"/>
              </a:rPr>
              <a:t>程序编号</a:t>
            </a:r>
            <a:r>
              <a:rPr lang="zh-CN" altLang="zh-CN" sz="2200" b="1" kern="100" dirty="0">
                <a:latin typeface="Times New Roman" panose="02020603050405020304" pitchFamily="18" charset="0"/>
                <a:ea typeface="宋体" panose="02010600030101010101" pitchFamily="2" charset="-122"/>
              </a:rPr>
              <a:t>，程序名称，版权，专利号，价格）</a:t>
            </a:r>
            <a:endParaRPr lang="zh-CN" altLang="zh-CN" sz="2200" b="1" kern="100" dirty="0">
              <a:latin typeface="Times New Roman" panose="02020603050405020304" pitchFamily="18" charset="0"/>
              <a:ea typeface="宋体" panose="02010600030101010101" pitchFamily="2" charset="-122"/>
            </a:endParaRPr>
          </a:p>
          <a:p>
            <a:pPr marL="342900" indent="-342900">
              <a:spcAft>
                <a:spcPts val="600"/>
              </a:spcAft>
              <a:buFont typeface="Arial" panose="020B0604020202020204" pitchFamily="34" charset="0"/>
              <a:buChar char="•"/>
            </a:pP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设计（</a:t>
            </a:r>
            <a:r>
              <a:rPr lang="zh-CN" altLang="zh-CN" sz="2200" b="1" u="sng" kern="100" dirty="0">
                <a:latin typeface="Times New Roman" panose="02020603050405020304" pitchFamily="18" charset="0"/>
                <a:ea typeface="宋体" panose="02010600030101010101" pitchFamily="2" charset="-122"/>
                <a:cs typeface="Times New Roman" panose="02020603050405020304" pitchFamily="18" charset="0"/>
              </a:rPr>
              <a:t>程序员</a:t>
            </a:r>
            <a:r>
              <a:rPr lang="en-US" altLang="zh-CN" sz="2200" b="1" u="sng" kern="100" dirty="0">
                <a:latin typeface="Times New Roman" panose="02020603050405020304" pitchFamily="18" charset="0"/>
                <a:ea typeface="宋体" panose="02010600030101010101" pitchFamily="2" charset="-122"/>
              </a:rPr>
              <a:t>ID</a:t>
            </a:r>
            <a:r>
              <a:rPr lang="zh-CN" altLang="zh-CN" sz="2200" b="1" u="sng" kern="100" dirty="0">
                <a:latin typeface="Times New Roman" panose="02020603050405020304" pitchFamily="18" charset="0"/>
                <a:ea typeface="宋体" panose="02010600030101010101" pitchFamily="2" charset="-122"/>
                <a:cs typeface="Times New Roman" panose="02020603050405020304" pitchFamily="18" charset="0"/>
              </a:rPr>
              <a:t>，程序编号</a:t>
            </a:r>
            <a:r>
              <a:rPr lang="zh-CN" altLang="zh-CN" sz="2200" b="1" kern="100" dirty="0">
                <a:latin typeface="Times New Roman" panose="02020603050405020304" pitchFamily="18" charset="0"/>
                <a:ea typeface="宋体" panose="02010600030101010101" pitchFamily="2" charset="-122"/>
                <a:cs typeface="Times New Roman" panose="02020603050405020304" pitchFamily="18" charset="0"/>
              </a:rPr>
              <a:t>，开始时间，结束时间）</a:t>
            </a: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3"/>
          <p:cNvSpPr>
            <a:spLocks noChangeArrowheads="1"/>
          </p:cNvSpPr>
          <p:nvPr/>
        </p:nvSpPr>
        <p:spPr bwMode="auto">
          <a:xfrm>
            <a:off x="152128" y="1347236"/>
            <a:ext cx="2351390" cy="515957"/>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a:buClr>
                <a:schemeClr val="hlink"/>
              </a:buClr>
              <a:buSzPct val="75000"/>
              <a:defRPr/>
            </a:pPr>
            <a:r>
              <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关系数据体系结构</a:t>
            </a:r>
            <a:endPar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394114" y="1911968"/>
            <a:ext cx="8363806" cy="80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0"/>
              </a:spcBef>
              <a:buClrTx/>
              <a:buSzTx/>
              <a:buFontTx/>
              <a:buNone/>
            </a:pPr>
            <a:r>
              <a:rPr kumimoji="1" lang="zh-CN" altLang="en-US" sz="2100" b="1" dirty="0">
                <a:latin typeface="+mn-ea"/>
                <a:ea typeface="+mn-ea"/>
              </a:rPr>
              <a:t>关系数据库系统为了保证数据的逻辑独立性和物理独立性，在体系上采用三级模式和两种映射结构。</a:t>
            </a:r>
            <a:endParaRPr kumimoji="1" lang="zh-CN" altLang="en-US" sz="2100" b="1" dirty="0">
              <a:latin typeface="+mn-ea"/>
              <a:ea typeface="+mn-ea"/>
            </a:endParaRPr>
          </a:p>
        </p:txBody>
      </p:sp>
      <p:sp>
        <p:nvSpPr>
          <p:cNvPr id="2"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grpSp>
        <p:nvGrpSpPr>
          <p:cNvPr id="22" name="组合 21"/>
          <p:cNvGrpSpPr/>
          <p:nvPr/>
        </p:nvGrpSpPr>
        <p:grpSpPr>
          <a:xfrm>
            <a:off x="1025433" y="3183620"/>
            <a:ext cx="5719430" cy="2761991"/>
            <a:chOff x="1025433" y="3183618"/>
            <a:chExt cx="5719430" cy="2761991"/>
          </a:xfrm>
        </p:grpSpPr>
        <p:grpSp>
          <p:nvGrpSpPr>
            <p:cNvPr id="21" name="组合 20"/>
            <p:cNvGrpSpPr/>
            <p:nvPr/>
          </p:nvGrpSpPr>
          <p:grpSpPr>
            <a:xfrm>
              <a:off x="1025433" y="3183618"/>
              <a:ext cx="5719430" cy="2761991"/>
              <a:chOff x="5766766" y="3596791"/>
              <a:chExt cx="5719430" cy="2761991"/>
            </a:xfrm>
          </p:grpSpPr>
          <p:grpSp>
            <p:nvGrpSpPr>
              <p:cNvPr id="15" name="Group 15"/>
              <p:cNvGrpSpPr/>
              <p:nvPr/>
            </p:nvGrpSpPr>
            <p:grpSpPr bwMode="auto">
              <a:xfrm>
                <a:off x="5766766" y="3596791"/>
                <a:ext cx="5719430" cy="2761991"/>
                <a:chOff x="-909" y="1298"/>
                <a:chExt cx="6669" cy="2766"/>
              </a:xfrm>
            </p:grpSpPr>
            <p:pic>
              <p:nvPicPr>
                <p:cNvPr id="16" name="Picture 7" descr="1t15"/>
                <p:cNvPicPr>
                  <a:picLocks noChangeAspect="1" noChangeArrowheads="1"/>
                </p:cNvPicPr>
                <p:nvPr/>
              </p:nvPicPr>
              <p:blipFill>
                <a:blip r:embed="rId1" cstate="hqprint">
                  <a:extLst>
                    <a:ext uri="{28A0092B-C50C-407E-A947-70E740481C1C}">
                      <a14:useLocalDpi xmlns:a14="http://schemas.microsoft.com/office/drawing/2010/main" val="0"/>
                    </a:ext>
                  </a:extLst>
                </a:blip>
                <a:srcRect/>
                <a:stretch>
                  <a:fillRect/>
                </a:stretch>
              </p:blipFill>
              <p:spPr bwMode="auto">
                <a:xfrm>
                  <a:off x="158" y="1298"/>
                  <a:ext cx="5602" cy="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Line 8"/>
                <p:cNvSpPr>
                  <a:spLocks noChangeShapeType="1"/>
                </p:cNvSpPr>
                <p:nvPr/>
              </p:nvSpPr>
              <p:spPr bwMode="auto">
                <a:xfrm>
                  <a:off x="1156" y="2024"/>
                  <a:ext cx="545"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00"/>
                </a:p>
              </p:txBody>
            </p:sp>
            <p:sp>
              <p:nvSpPr>
                <p:cNvPr id="18" name="AutoShape 13"/>
                <p:cNvSpPr>
                  <a:spLocks noChangeArrowheads="1"/>
                </p:cNvSpPr>
                <p:nvPr/>
              </p:nvSpPr>
              <p:spPr bwMode="auto">
                <a:xfrm>
                  <a:off x="-909" y="2129"/>
                  <a:ext cx="2065" cy="327"/>
                </a:xfrm>
                <a:prstGeom prst="wedgeRoundRectCallout">
                  <a:avLst>
                    <a:gd name="adj1" fmla="val 50182"/>
                    <a:gd name="adj2" fmla="val -80920"/>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dirty="0">
                      <a:latin typeface="+mn-ea"/>
                      <a:ea typeface="+mn-ea"/>
                    </a:rPr>
                    <a:t>外模式</a:t>
                  </a:r>
                  <a:r>
                    <a:rPr kumimoji="1" lang="en-US" altLang="zh-CN" sz="1600" b="1" dirty="0">
                      <a:latin typeface="+mn-ea"/>
                      <a:ea typeface="+mn-ea"/>
                    </a:rPr>
                    <a:t>/</a:t>
                  </a:r>
                  <a:r>
                    <a:rPr kumimoji="1" lang="zh-CN" altLang="en-US" sz="1600" b="1" dirty="0">
                      <a:latin typeface="+mn-ea"/>
                      <a:ea typeface="+mn-ea"/>
                    </a:rPr>
                    <a:t>模式映射</a:t>
                  </a:r>
                  <a:r>
                    <a:rPr lang="zh-CN" altLang="en-US" sz="1600" b="1" dirty="0">
                      <a:latin typeface="+mn-ea"/>
                      <a:ea typeface="+mn-ea"/>
                    </a:rPr>
                    <a:t> </a:t>
                  </a:r>
                  <a:endParaRPr lang="zh-CN" altLang="en-US" sz="1600" b="1" dirty="0">
                    <a:latin typeface="+mn-ea"/>
                    <a:ea typeface="+mn-ea"/>
                  </a:endParaRPr>
                </a:p>
              </p:txBody>
            </p:sp>
          </p:grpSp>
          <p:sp>
            <p:nvSpPr>
              <p:cNvPr id="19" name="AutoShape 9"/>
              <p:cNvSpPr>
                <a:spLocks noChangeArrowheads="1"/>
              </p:cNvSpPr>
              <p:nvPr/>
            </p:nvSpPr>
            <p:spPr bwMode="auto">
              <a:xfrm>
                <a:off x="6424302" y="5380182"/>
                <a:ext cx="1930184" cy="351530"/>
              </a:xfrm>
              <a:prstGeom prst="wedgeRoundRectCallout">
                <a:avLst>
                  <a:gd name="adj1" fmla="val 58564"/>
                  <a:gd name="adj2" fmla="val -50171"/>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kumimoji="1" lang="zh-CN" altLang="en-US" sz="1600" b="1" dirty="0">
                    <a:latin typeface="+mn-ea"/>
                  </a:rPr>
                  <a:t>模式</a:t>
                </a:r>
                <a:r>
                  <a:rPr kumimoji="1" lang="en-US" altLang="zh-CN" sz="1600" b="1" dirty="0">
                    <a:latin typeface="+mn-ea"/>
                  </a:rPr>
                  <a:t>/</a:t>
                </a:r>
                <a:r>
                  <a:rPr kumimoji="1" lang="zh-CN" altLang="en-US" sz="1600" b="1" dirty="0">
                    <a:latin typeface="+mn-ea"/>
                  </a:rPr>
                  <a:t>内模式映射 </a:t>
                </a:r>
                <a:endParaRPr kumimoji="1" lang="zh-CN" altLang="en-US" sz="1600" b="1" dirty="0">
                  <a:latin typeface="+mn-ea"/>
                </a:endParaRPr>
              </a:p>
            </p:txBody>
          </p:sp>
        </p:grpSp>
        <p:sp>
          <p:nvSpPr>
            <p:cNvPr id="20" name="Line 12"/>
            <p:cNvSpPr>
              <a:spLocks noChangeShapeType="1"/>
            </p:cNvSpPr>
            <p:nvPr/>
          </p:nvSpPr>
          <p:spPr bwMode="auto">
            <a:xfrm>
              <a:off x="3792880" y="4967009"/>
              <a:ext cx="42247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00"/>
            </a:p>
          </p:txBody>
        </p:sp>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7" descr="1t15"/>
          <p:cNvPicPr>
            <a:picLocks noChangeAspect="1" noChangeArrowheads="1"/>
          </p:cNvPicPr>
          <p:nvPr/>
        </p:nvPicPr>
        <p:blipFill>
          <a:blip r:embed="rId1" cstate="hqprint">
            <a:extLst>
              <a:ext uri="{28A0092B-C50C-407E-A947-70E740481C1C}">
                <a14:useLocalDpi xmlns:a14="http://schemas.microsoft.com/office/drawing/2010/main" val="0"/>
              </a:ext>
            </a:extLst>
          </a:blip>
          <a:srcRect/>
          <a:stretch>
            <a:fillRect/>
          </a:stretch>
        </p:blipFill>
        <p:spPr bwMode="auto">
          <a:xfrm>
            <a:off x="4210172" y="2166116"/>
            <a:ext cx="4804356" cy="276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a:latin typeface="黑体" panose="02010609060101010101" pitchFamily="49" charset="-122"/>
                <a:ea typeface="黑体" panose="02010609060101010101" pitchFamily="49" charset="-122"/>
              </a:rPr>
              <a:t>４</a:t>
            </a:r>
            <a:r>
              <a:rPr lang="en-US" altLang="zh-CN" sz="3000" b="1">
                <a:latin typeface="黑体" panose="02010609060101010101" pitchFamily="49" charset="-122"/>
                <a:ea typeface="黑体" panose="02010609060101010101" pitchFamily="49" charset="-122"/>
              </a:rPr>
              <a:t>.3 </a:t>
            </a:r>
            <a:r>
              <a:rPr lang="zh-CN" altLang="en-US" sz="3000" b="1">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
        <p:nvSpPr>
          <p:cNvPr id="13" name="矩形 12"/>
          <p:cNvSpPr>
            <a:spLocks noChangeArrowheads="1"/>
          </p:cNvSpPr>
          <p:nvPr/>
        </p:nvSpPr>
        <p:spPr bwMode="auto">
          <a:xfrm>
            <a:off x="430375" y="5399487"/>
            <a:ext cx="8235606" cy="1083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nSpc>
                <a:spcPct val="110000"/>
              </a:lnSpc>
              <a:spcBef>
                <a:spcPts val="300"/>
              </a:spcBef>
              <a:buClrTx/>
              <a:buNone/>
            </a:pPr>
            <a:r>
              <a:rPr lang="zh-CN" altLang="en-US" b="1" dirty="0">
                <a:solidFill>
                  <a:schemeClr val="tx1"/>
                </a:solidFill>
                <a:latin typeface="Tahoma" panose="020B0604030504040204" pitchFamily="34" charset="0"/>
              </a:rPr>
              <a:t>学生信息表（</a:t>
            </a:r>
            <a:r>
              <a:rPr lang="zh-CN" altLang="en-US" b="1" u="sng" dirty="0">
                <a:solidFill>
                  <a:schemeClr val="tx1"/>
                </a:solidFill>
                <a:latin typeface="Tahoma" panose="020B0604030504040204" pitchFamily="34" charset="0"/>
              </a:rPr>
              <a:t>学号</a:t>
            </a:r>
            <a:r>
              <a:rPr lang="zh-CN" altLang="en-US" b="1" dirty="0">
                <a:solidFill>
                  <a:schemeClr val="tx1"/>
                </a:solidFill>
                <a:latin typeface="Tahoma" panose="020B0604030504040204" pitchFamily="34" charset="0"/>
              </a:rPr>
              <a:t>，姓名，所在学院，所学专业，班级）</a:t>
            </a:r>
            <a:endParaRPr lang="zh-CN" altLang="en-US" b="1" dirty="0">
              <a:solidFill>
                <a:schemeClr val="tx1"/>
              </a:solidFill>
              <a:latin typeface="Tahoma" panose="020B0604030504040204" pitchFamily="34" charset="0"/>
            </a:endParaRPr>
          </a:p>
          <a:p>
            <a:pPr>
              <a:lnSpc>
                <a:spcPct val="110000"/>
              </a:lnSpc>
              <a:spcBef>
                <a:spcPts val="300"/>
              </a:spcBef>
              <a:buClrTx/>
              <a:buNone/>
            </a:pPr>
            <a:r>
              <a:rPr lang="zh-CN" altLang="en-US" b="1" dirty="0">
                <a:solidFill>
                  <a:schemeClr val="tx1"/>
                </a:solidFill>
                <a:latin typeface="Tahoma" panose="020B0604030504040204" pitchFamily="34" charset="0"/>
              </a:rPr>
              <a:t>课程信息表（</a:t>
            </a:r>
            <a:r>
              <a:rPr lang="zh-CN" altLang="en-US" b="1" u="sng" dirty="0">
                <a:solidFill>
                  <a:schemeClr val="tx1"/>
                </a:solidFill>
                <a:latin typeface="Tahoma" panose="020B0604030504040204" pitchFamily="34" charset="0"/>
              </a:rPr>
              <a:t>课程号</a:t>
            </a:r>
            <a:r>
              <a:rPr lang="zh-CN" altLang="en-US" b="1" dirty="0">
                <a:solidFill>
                  <a:schemeClr val="tx1"/>
                </a:solidFill>
                <a:latin typeface="Tahoma" panose="020B0604030504040204" pitchFamily="34" charset="0"/>
              </a:rPr>
              <a:t>，课程名，学时，学分）</a:t>
            </a:r>
            <a:endParaRPr lang="zh-CN" altLang="en-US" b="1" dirty="0">
              <a:solidFill>
                <a:schemeClr val="tx1"/>
              </a:solidFill>
              <a:latin typeface="Tahoma" panose="020B0604030504040204" pitchFamily="34" charset="0"/>
            </a:endParaRPr>
          </a:p>
          <a:p>
            <a:pPr>
              <a:lnSpc>
                <a:spcPct val="110000"/>
              </a:lnSpc>
              <a:spcBef>
                <a:spcPts val="300"/>
              </a:spcBef>
              <a:buClrTx/>
              <a:buNone/>
            </a:pPr>
            <a:r>
              <a:rPr lang="zh-CN" altLang="en-US" b="1" dirty="0">
                <a:solidFill>
                  <a:srgbClr val="030DCF"/>
                </a:solidFill>
                <a:latin typeface="Tahoma" panose="020B0604030504040204" pitchFamily="34" charset="0"/>
              </a:rPr>
              <a:t>学生成绩表（</a:t>
            </a:r>
            <a:r>
              <a:rPr lang="zh-CN" altLang="en-US" b="1" u="sng" dirty="0">
                <a:solidFill>
                  <a:srgbClr val="030DCF"/>
                </a:solidFill>
                <a:latin typeface="Tahoma" panose="020B0604030504040204" pitchFamily="34" charset="0"/>
              </a:rPr>
              <a:t>学号</a:t>
            </a:r>
            <a:r>
              <a:rPr lang="zh-CN" altLang="en-US" b="1" dirty="0">
                <a:solidFill>
                  <a:srgbClr val="030DCF"/>
                </a:solidFill>
                <a:latin typeface="Tahoma" panose="020B0604030504040204" pitchFamily="34" charset="0"/>
              </a:rPr>
              <a:t>，</a:t>
            </a:r>
            <a:r>
              <a:rPr lang="zh-CN" altLang="en-US" b="1" u="sng" dirty="0">
                <a:solidFill>
                  <a:srgbClr val="030DCF"/>
                </a:solidFill>
                <a:latin typeface="Tahoma" panose="020B0604030504040204" pitchFamily="34" charset="0"/>
              </a:rPr>
              <a:t>课程号</a:t>
            </a:r>
            <a:r>
              <a:rPr lang="zh-CN" altLang="en-US" b="1" dirty="0">
                <a:solidFill>
                  <a:srgbClr val="030DCF"/>
                </a:solidFill>
                <a:latin typeface="Tahoma" panose="020B0604030504040204" pitchFamily="34" charset="0"/>
              </a:rPr>
              <a:t>，成绩）</a:t>
            </a:r>
            <a:endParaRPr lang="zh-CN" altLang="en-US" b="1" dirty="0">
              <a:solidFill>
                <a:srgbClr val="030DCF"/>
              </a:solidFill>
              <a:latin typeface="Tahoma" panose="020B0604030504040204" pitchFamily="34" charset="0"/>
            </a:endParaRPr>
          </a:p>
        </p:txBody>
      </p:sp>
      <p:sp>
        <p:nvSpPr>
          <p:cNvPr id="24" name="文本框 23"/>
          <p:cNvSpPr txBox="1"/>
          <p:nvPr/>
        </p:nvSpPr>
        <p:spPr>
          <a:xfrm>
            <a:off x="284132" y="1369500"/>
            <a:ext cx="8528097" cy="830997"/>
          </a:xfrm>
          <a:prstGeom prst="rect">
            <a:avLst/>
          </a:prstGeom>
          <a:noFill/>
        </p:spPr>
        <p:txBody>
          <a:bodyPr wrap="square">
            <a:spAutoFit/>
          </a:bodyPr>
          <a:lstStyle/>
          <a:p>
            <a:pPr>
              <a:lnSpc>
                <a:spcPct val="120000"/>
              </a:lnSpc>
              <a:spcBef>
                <a:spcPts val="300"/>
              </a:spcBef>
            </a:pPr>
            <a:r>
              <a:rPr lang="zh-CN" altLang="en-US" sz="2000" b="1" dirty="0"/>
              <a:t>模式：是数据库中全体数据的逻辑结构和特征的描述，是所有用户的公共数据视图。</a:t>
            </a:r>
            <a:endParaRPr lang="en-US" altLang="zh-CN" sz="2000" b="1" dirty="0"/>
          </a:p>
        </p:txBody>
      </p:sp>
      <p:sp>
        <p:nvSpPr>
          <p:cNvPr id="26" name="文本框 25"/>
          <p:cNvSpPr txBox="1"/>
          <p:nvPr/>
        </p:nvSpPr>
        <p:spPr>
          <a:xfrm>
            <a:off x="284132" y="2166116"/>
            <a:ext cx="4627735" cy="2866939"/>
          </a:xfrm>
          <a:prstGeom prst="rect">
            <a:avLst/>
          </a:prstGeom>
          <a:noFill/>
        </p:spPr>
        <p:txBody>
          <a:bodyPr wrap="square">
            <a:spAutoFit/>
          </a:bodyPr>
          <a:lstStyle/>
          <a:p>
            <a:pPr marL="342900" indent="-342900" algn="just">
              <a:lnSpc>
                <a:spcPct val="120000"/>
              </a:lnSpc>
              <a:spcBef>
                <a:spcPts val="300"/>
              </a:spcBef>
              <a:buFont typeface="Arial" panose="020B0604020202020204" pitchFamily="34" charset="0"/>
              <a:buChar char="•"/>
            </a:pPr>
            <a:r>
              <a:rPr lang="zh-CN" altLang="en-US" b="1" dirty="0"/>
              <a:t>一个数据库只有一个模式；  </a:t>
            </a:r>
            <a:endParaRPr lang="en-US" altLang="zh-CN" b="1" dirty="0"/>
          </a:p>
          <a:p>
            <a:pPr marL="342900" indent="-342900" algn="just">
              <a:lnSpc>
                <a:spcPct val="120000"/>
              </a:lnSpc>
              <a:spcBef>
                <a:spcPts val="300"/>
              </a:spcBef>
              <a:buFont typeface="Arial" panose="020B0604020202020204" pitchFamily="34" charset="0"/>
              <a:buChar char="•"/>
            </a:pPr>
            <a:r>
              <a:rPr lang="zh-CN" altLang="en-US" b="1" dirty="0"/>
              <a:t>是数据库数据在逻辑级上的视图；  </a:t>
            </a:r>
            <a:endParaRPr lang="en-US" altLang="zh-CN" b="1" dirty="0"/>
          </a:p>
          <a:p>
            <a:pPr marL="342900" indent="-342900" algn="just">
              <a:lnSpc>
                <a:spcPct val="120000"/>
              </a:lnSpc>
              <a:spcBef>
                <a:spcPts val="300"/>
              </a:spcBef>
              <a:buFont typeface="Arial" panose="020B0604020202020204" pitchFamily="34" charset="0"/>
              <a:buChar char="•"/>
            </a:pPr>
            <a:r>
              <a:rPr lang="zh-CN" altLang="en-US" b="1" dirty="0"/>
              <a:t>数据库模式以某一种数据模型为基础；  </a:t>
            </a:r>
            <a:endParaRPr lang="en-US" altLang="zh-CN" b="1" dirty="0"/>
          </a:p>
          <a:p>
            <a:pPr marL="342900" indent="-342900" algn="just">
              <a:lnSpc>
                <a:spcPct val="120000"/>
              </a:lnSpc>
              <a:spcBef>
                <a:spcPts val="300"/>
              </a:spcBef>
              <a:buFont typeface="Arial" panose="020B0604020202020204" pitchFamily="34" charset="0"/>
              <a:buChar char="•"/>
            </a:pPr>
            <a:r>
              <a:rPr lang="zh-CN" altLang="en-US" b="1" dirty="0"/>
              <a:t>定义模式时不仅要定义数据的逻辑结构（如由哪些数据项构成，数据项的名字、类型、取值范围等），而且要定义与数据有关的安全性、完整性要求，定义这些数据之间的联系。  </a:t>
            </a:r>
            <a:endParaRPr lang="zh-CN" altLang="en-US" b="1"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descr="1t15"/>
          <p:cNvPicPr>
            <a:picLocks noChangeAspect="1" noChangeArrowheads="1"/>
          </p:cNvPicPr>
          <p:nvPr/>
        </p:nvPicPr>
        <p:blipFill>
          <a:blip r:embed="rId1" cstate="hqprint">
            <a:extLst>
              <a:ext uri="{28A0092B-C50C-407E-A947-70E740481C1C}">
                <a14:useLocalDpi xmlns:a14="http://schemas.microsoft.com/office/drawing/2010/main" val="0"/>
              </a:ext>
            </a:extLst>
          </a:blip>
          <a:srcRect/>
          <a:stretch>
            <a:fillRect/>
          </a:stretch>
        </p:blipFill>
        <p:spPr bwMode="auto">
          <a:xfrm>
            <a:off x="2560357" y="3279610"/>
            <a:ext cx="4804356" cy="276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p:cNvSpPr txBox="1"/>
          <p:nvPr/>
        </p:nvSpPr>
        <p:spPr>
          <a:xfrm>
            <a:off x="664392" y="6191150"/>
            <a:ext cx="6068182" cy="369332"/>
          </a:xfrm>
          <a:prstGeom prst="rect">
            <a:avLst/>
          </a:prstGeom>
          <a:noFill/>
        </p:spPr>
        <p:txBody>
          <a:bodyPr wrap="square" rtlCol="0">
            <a:spAutoFit/>
          </a:bodyPr>
          <a:lstStyle/>
          <a:p>
            <a:r>
              <a:rPr lang="zh-CN" altLang="en-US" b="1" dirty="0"/>
              <a:t>成绩子模式</a:t>
            </a:r>
            <a:r>
              <a:rPr lang="en-US" altLang="zh-CN" b="1" dirty="0"/>
              <a:t>(</a:t>
            </a:r>
            <a:r>
              <a:rPr lang="zh-CN" altLang="en-US" b="1" dirty="0"/>
              <a:t>学号，姓名，课程名，成绩</a:t>
            </a:r>
            <a:r>
              <a:rPr lang="en-US" altLang="zh-CN" b="1" dirty="0"/>
              <a:t>)</a:t>
            </a:r>
            <a:endParaRPr lang="zh-CN" altLang="en-US" b="1" dirty="0"/>
          </a:p>
        </p:txBody>
      </p:sp>
      <p:sp>
        <p:nvSpPr>
          <p:cNvPr id="14" name="文本框 13"/>
          <p:cNvSpPr txBox="1"/>
          <p:nvPr/>
        </p:nvSpPr>
        <p:spPr>
          <a:xfrm>
            <a:off x="421631" y="1283400"/>
            <a:ext cx="7969811" cy="1846659"/>
          </a:xfrm>
          <a:prstGeom prst="rect">
            <a:avLst/>
          </a:prstGeom>
          <a:noFill/>
        </p:spPr>
        <p:txBody>
          <a:bodyPr wrap="square">
            <a:spAutoFit/>
          </a:bodyPr>
          <a:lstStyle/>
          <a:p>
            <a:r>
              <a:rPr lang="zh-CN" altLang="en-US" sz="2000" b="1" dirty="0">
                <a:solidFill>
                  <a:srgbClr val="3333FF"/>
                </a:solidFill>
              </a:rPr>
              <a:t>关系子模式</a:t>
            </a:r>
            <a:r>
              <a:rPr lang="zh-CN" altLang="en-US" sz="2000" b="1" dirty="0"/>
              <a:t>或用户模式：是数据库用户（包括应用程序员和最终用户）能够看见和使用的局部数据的逻辑结构和特征的描述，是数据库用户的数据视图，是与某一应用有关的数据的逻辑表示。</a:t>
            </a:r>
            <a:endParaRPr lang="en-US" altLang="zh-CN" sz="2000" b="1" dirty="0"/>
          </a:p>
          <a:p>
            <a:pPr marL="285750" indent="-285750">
              <a:buFont typeface="Arial" panose="020B0604020202020204" pitchFamily="34" charset="0"/>
              <a:buChar char="•"/>
            </a:pPr>
            <a:r>
              <a:rPr lang="zh-CN" altLang="en-US" b="1" dirty="0"/>
              <a:t>一个数据库可以有多个外模式；  </a:t>
            </a:r>
            <a:endParaRPr lang="en-US" altLang="zh-CN" b="1" dirty="0"/>
          </a:p>
          <a:p>
            <a:pPr marL="285750" indent="-285750">
              <a:buFont typeface="Arial" panose="020B0604020202020204" pitchFamily="34" charset="0"/>
              <a:buChar char="•"/>
            </a:pPr>
            <a:r>
              <a:rPr lang="zh-CN" altLang="en-US" b="1" dirty="0"/>
              <a:t>外模式就是用户视图； </a:t>
            </a:r>
            <a:endParaRPr lang="en-US" altLang="zh-CN" b="1" dirty="0"/>
          </a:p>
          <a:p>
            <a:pPr marL="285750" indent="-285750">
              <a:buFont typeface="Arial" panose="020B0604020202020204" pitchFamily="34" charset="0"/>
              <a:buChar char="•"/>
            </a:pPr>
            <a:r>
              <a:rPr lang="zh-CN" altLang="en-US" b="1" dirty="0"/>
              <a:t>外模式是保证数据安全性的一个有力措施。   </a:t>
            </a:r>
            <a:endParaRPr lang="zh-CN" altLang="en-US" b="1" dirty="0"/>
          </a:p>
        </p:txBody>
      </p:sp>
      <p:sp>
        <p:nvSpPr>
          <p:cNvPr id="15"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2561" y="1247458"/>
            <a:ext cx="8746772" cy="2639249"/>
          </a:xfrm>
          <a:prstGeom prst="rect">
            <a:avLst/>
          </a:prstGeom>
          <a:noFill/>
        </p:spPr>
        <p:txBody>
          <a:bodyPr wrap="square">
            <a:spAutoFit/>
          </a:bodyPr>
          <a:lstStyle/>
          <a:p>
            <a:pPr>
              <a:lnSpc>
                <a:spcPct val="110000"/>
              </a:lnSpc>
            </a:pPr>
            <a:r>
              <a:rPr lang="zh-CN" altLang="en-US" sz="2000" b="1" dirty="0">
                <a:solidFill>
                  <a:srgbClr val="3333FF"/>
                </a:solidFill>
              </a:rPr>
              <a:t>内模式</a:t>
            </a:r>
            <a:r>
              <a:rPr lang="en-US" altLang="zh-CN" sz="2000" b="1" dirty="0"/>
              <a:t>/</a:t>
            </a:r>
            <a:r>
              <a:rPr lang="zh-CN" altLang="en-US" sz="2000" b="1" dirty="0"/>
              <a:t>存储模式：是数据物理结构和存储方式的描述，是数据在数据库内部的表示方式（例如，记录的存储方式是顺序存储、按照</a:t>
            </a:r>
            <a:r>
              <a:rPr lang="en-US" altLang="zh-CN" sz="2000" b="1" dirty="0"/>
              <a:t>B</a:t>
            </a:r>
            <a:r>
              <a:rPr lang="zh-CN" altLang="en-US" sz="2000" b="1" dirty="0"/>
              <a:t>树结构存储还是按</a:t>
            </a:r>
            <a:r>
              <a:rPr lang="en-US" altLang="zh-CN" sz="2000" b="1" dirty="0"/>
              <a:t>hash</a:t>
            </a:r>
            <a:r>
              <a:rPr lang="zh-CN" altLang="en-US" sz="2000" b="1" dirty="0"/>
              <a:t>方法存储；索引按照什么方式组织；数据是否压缩存储，是否加密；数据的存储记录结构有何规定）。</a:t>
            </a:r>
            <a:endParaRPr lang="en-US" altLang="zh-CN" b="1" dirty="0"/>
          </a:p>
          <a:p>
            <a:pPr marL="285750" indent="-285750">
              <a:lnSpc>
                <a:spcPct val="110000"/>
              </a:lnSpc>
              <a:buFont typeface="Arial" panose="020B0604020202020204" pitchFamily="34" charset="0"/>
              <a:buChar char="•"/>
            </a:pPr>
            <a:r>
              <a:rPr lang="zh-CN" altLang="en-US" b="1" dirty="0"/>
              <a:t>一个数据库只有一个内模式； </a:t>
            </a:r>
            <a:endParaRPr lang="en-US" altLang="zh-CN" b="1" dirty="0"/>
          </a:p>
          <a:p>
            <a:pPr marL="285750" indent="-285750">
              <a:lnSpc>
                <a:spcPct val="110000"/>
              </a:lnSpc>
              <a:buFont typeface="Arial" panose="020B0604020202020204" pitchFamily="34" charset="0"/>
              <a:buChar char="•"/>
            </a:pPr>
            <a:r>
              <a:rPr lang="zh-CN" altLang="en-US" b="1" dirty="0"/>
              <a:t>一个表可能由多个文件组成，如：数据文件、索引文件。  它是数据库管理系统</a:t>
            </a:r>
            <a:r>
              <a:rPr lang="en-US" altLang="zh-CN" b="1" dirty="0"/>
              <a:t>(DBMS)</a:t>
            </a:r>
            <a:r>
              <a:rPr lang="zh-CN" altLang="en-US" b="1" dirty="0"/>
              <a:t>对数据库中数据进行有效组织和管理的方法 。其目的有： ① 为了减少数据冗余，实现数据共享；  ② 为了提高存取效率，改善性能。</a:t>
            </a:r>
            <a:endParaRPr lang="zh-CN" altLang="en-US" b="1" dirty="0"/>
          </a:p>
        </p:txBody>
      </p:sp>
      <p:pic>
        <p:nvPicPr>
          <p:cNvPr id="3" name="Picture 7" descr="1t15"/>
          <p:cNvPicPr>
            <a:picLocks noChangeAspect="1" noChangeArrowheads="1"/>
          </p:cNvPicPr>
          <p:nvPr/>
        </p:nvPicPr>
        <p:blipFill>
          <a:blip r:embed="rId1" cstate="hqprint">
            <a:extLst>
              <a:ext uri="{28A0092B-C50C-407E-A947-70E740481C1C}">
                <a14:useLocalDpi xmlns:a14="http://schemas.microsoft.com/office/drawing/2010/main" val="0"/>
              </a:ext>
            </a:extLst>
          </a:blip>
          <a:srcRect/>
          <a:stretch>
            <a:fillRect/>
          </a:stretch>
        </p:blipFill>
        <p:spPr bwMode="auto">
          <a:xfrm>
            <a:off x="2819302" y="3935065"/>
            <a:ext cx="4804356" cy="276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
        <p:nvSpPr>
          <p:cNvPr id="4" name="文本框 3"/>
          <p:cNvSpPr txBox="1"/>
          <p:nvPr/>
        </p:nvSpPr>
        <p:spPr>
          <a:xfrm>
            <a:off x="232693" y="1233434"/>
            <a:ext cx="8369421" cy="2462213"/>
          </a:xfrm>
          <a:prstGeom prst="rect">
            <a:avLst/>
          </a:prstGeom>
          <a:noFill/>
        </p:spPr>
        <p:txBody>
          <a:bodyPr wrap="square">
            <a:spAutoFit/>
          </a:bodyPr>
          <a:lstStyle/>
          <a:p>
            <a:pPr indent="266700" algn="just">
              <a:lnSpc>
                <a:spcPct val="110000"/>
              </a:lnSpc>
            </a:pPr>
            <a:r>
              <a:rPr lang="zh-CN" altLang="en-US" sz="2000" b="1" kern="100" dirty="0">
                <a:latin typeface="Times New Roman" panose="02020603050405020304" pitchFamily="18" charset="0"/>
                <a:ea typeface="宋体" panose="02010600030101010101" pitchFamily="2" charset="-122"/>
              </a:rPr>
              <a:t>子模式</a:t>
            </a:r>
            <a:r>
              <a:rPr lang="en-US" altLang="zh-CN" sz="2000" b="1" kern="100" dirty="0">
                <a:latin typeface="Times New Roman" panose="02020603050405020304" pitchFamily="18" charset="0"/>
                <a:ea typeface="宋体" panose="02010600030101010101" pitchFamily="2" charset="-122"/>
              </a:rPr>
              <a:t>/</a:t>
            </a:r>
            <a:r>
              <a:rPr lang="zh-CN" altLang="en-US" sz="2000" b="1" kern="100" dirty="0">
                <a:latin typeface="Times New Roman" panose="02020603050405020304" pitchFamily="18" charset="0"/>
                <a:ea typeface="宋体" panose="02010600030101010101" pitchFamily="2" charset="-122"/>
              </a:rPr>
              <a:t>模式映射实现了用户数据模式与全局数据模式间的相互转换。用户的应用程序根据关系子模式进行数据操作，通过子模式</a:t>
            </a:r>
            <a:r>
              <a:rPr lang="en-US" altLang="zh-CN" sz="2000" b="1" kern="100" dirty="0">
                <a:latin typeface="Times New Roman" panose="02020603050405020304" pitchFamily="18" charset="0"/>
                <a:ea typeface="宋体" panose="02010600030101010101" pitchFamily="2" charset="-122"/>
              </a:rPr>
              <a:t>/</a:t>
            </a:r>
            <a:r>
              <a:rPr lang="zh-CN" altLang="en-US" sz="2000" b="1" kern="100" dirty="0">
                <a:latin typeface="Times New Roman" panose="02020603050405020304" pitchFamily="18" charset="0"/>
                <a:ea typeface="宋体" panose="02010600030101010101" pitchFamily="2" charset="-122"/>
              </a:rPr>
              <a:t>模式映射定义和建立某个关系子模式与模式间的对应关系，将关系子模式与模式联系起来。</a:t>
            </a:r>
            <a:endParaRPr lang="en-US" altLang="zh-CN" sz="2000" b="1" kern="100" dirty="0">
              <a:latin typeface="Times New Roman" panose="02020603050405020304" pitchFamily="18" charset="0"/>
              <a:ea typeface="宋体" panose="02010600030101010101" pitchFamily="2" charset="-122"/>
            </a:endParaRPr>
          </a:p>
          <a:p>
            <a:pPr indent="266700" algn="just">
              <a:lnSpc>
                <a:spcPct val="110000"/>
              </a:lnSpc>
            </a:pPr>
            <a:r>
              <a:rPr lang="zh-CN" altLang="zh-CN" sz="2000" b="1" kern="100" dirty="0">
                <a:latin typeface="Times New Roman" panose="02020603050405020304" pitchFamily="18" charset="0"/>
                <a:ea typeface="宋体" panose="02010600030101010101" pitchFamily="2" charset="-122"/>
              </a:rPr>
              <a:t>子模式</a:t>
            </a:r>
            <a:r>
              <a:rPr lang="en-US" altLang="zh-CN" sz="2000" b="1" kern="100" dirty="0">
                <a:latin typeface="Times New Roman" panose="02020603050405020304" pitchFamily="18" charset="0"/>
                <a:ea typeface="宋体" panose="02010600030101010101" pitchFamily="2" charset="-122"/>
              </a:rPr>
              <a:t>/</a:t>
            </a:r>
            <a:r>
              <a:rPr lang="zh-CN" altLang="zh-CN" sz="2000" b="1" kern="100" dirty="0">
                <a:latin typeface="Times New Roman" panose="02020603050405020304" pitchFamily="18" charset="0"/>
                <a:ea typeface="宋体" panose="02010600030101010101" pitchFamily="2" charset="-122"/>
              </a:rPr>
              <a:t>模式映射使得当模式发生变化时，只要改变其映射，就可以使关系子模式保持不变，对应的应用程序也可保持不变，从而保证数据与程序的逻辑独立性。</a:t>
            </a:r>
            <a:endParaRPr lang="zh-CN" altLang="zh-CN" sz="2000" b="1" kern="100" dirty="0">
              <a:latin typeface="Times New Roman" panose="02020603050405020304" pitchFamily="18" charset="0"/>
              <a:ea typeface="宋体" panose="02010600030101010101" pitchFamily="2" charset="-122"/>
            </a:endParaRPr>
          </a:p>
        </p:txBody>
      </p:sp>
      <p:grpSp>
        <p:nvGrpSpPr>
          <p:cNvPr id="14" name="组合 13"/>
          <p:cNvGrpSpPr/>
          <p:nvPr/>
        </p:nvGrpSpPr>
        <p:grpSpPr>
          <a:xfrm>
            <a:off x="778143" y="3871444"/>
            <a:ext cx="7587717" cy="2761991"/>
            <a:chOff x="176742" y="1281990"/>
            <a:chExt cx="7587717" cy="2761991"/>
          </a:xfrm>
        </p:grpSpPr>
        <p:sp>
          <p:nvSpPr>
            <p:cNvPr id="13" name="AutoShape 6"/>
            <p:cNvSpPr>
              <a:spLocks noChangeArrowheads="1"/>
            </p:cNvSpPr>
            <p:nvPr/>
          </p:nvSpPr>
          <p:spPr bwMode="auto">
            <a:xfrm>
              <a:off x="176742" y="2094695"/>
              <a:ext cx="1619365" cy="469736"/>
            </a:xfrm>
            <a:prstGeom prst="wedgeRoundRectCallout">
              <a:avLst>
                <a:gd name="adj1" fmla="val 65216"/>
                <a:gd name="adj2" fmla="val -14539"/>
                <a:gd name="adj3" fmla="val 16667"/>
              </a:avLst>
            </a:prstGeom>
            <a:gradFill flip="none" rotWithShape="1">
              <a:gsLst>
                <a:gs pos="0">
                  <a:srgbClr val="00DFF6"/>
                </a:gs>
                <a:gs pos="90000">
                  <a:srgbClr val="002774"/>
                </a:gs>
              </a:gsLst>
              <a:lin ang="2700000" scaled="1"/>
              <a:tileRect/>
            </a:gradFill>
            <a:ln w="25400">
              <a:noFill/>
            </a:ln>
            <a:effectLst>
              <a:outerShdw blurRad="225425" dist="38100" dir="5220000" algn="ctr">
                <a:srgbClr val="000000">
                  <a:alpha val="33000"/>
                </a:srgbClr>
              </a:outerShdw>
            </a:effectLst>
            <a:scene3d>
              <a:camera prst="orthographicFront"/>
              <a:lightRig rig="flat" dir="t"/>
            </a:scene3d>
            <a:sp3d contourW="19050">
              <a:bevelT prst="convex"/>
              <a:bevelB w="0" h="0"/>
              <a:contourClr>
                <a:srgbClr val="AFEAFF"/>
              </a:contourClr>
            </a:sp3d>
          </p:spPr>
          <p:style>
            <a:lnRef idx="1">
              <a:schemeClr val="accent2"/>
            </a:lnRef>
            <a:fillRef idx="3">
              <a:schemeClr val="accent2"/>
            </a:fillRef>
            <a:effectRef idx="2">
              <a:schemeClr val="accent2"/>
            </a:effectRef>
            <a:fontRef idx="minor">
              <a:schemeClr val="lt1"/>
            </a:fontRef>
          </p:style>
          <p:txBody>
            <a:bodyPr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ctr" hangingPunct="0">
                <a:spcBef>
                  <a:spcPts val="0"/>
                </a:spcBef>
                <a:buClr>
                  <a:srgbClr val="FF0000"/>
                </a:buClr>
                <a:buSzPct val="70000"/>
                <a:buNone/>
              </a:pPr>
              <a:r>
                <a:rPr lang="zh-CN" altLang="en-US" sz="1800" b="1" dirty="0">
                  <a:solidFill>
                    <a:schemeClr val="bg1"/>
                  </a:solidFill>
                  <a:latin typeface="宋体" panose="02010600030101010101" pitchFamily="2" charset="-122"/>
                </a:rPr>
                <a:t>逻辑独立性</a:t>
              </a:r>
              <a:endParaRPr lang="zh-CN" altLang="en-US" sz="1800" dirty="0">
                <a:solidFill>
                  <a:schemeClr val="bg1"/>
                </a:solidFill>
                <a:latin typeface="宋体" panose="02010600030101010101" pitchFamily="2" charset="-122"/>
              </a:endParaRPr>
            </a:p>
          </p:txBody>
        </p:sp>
        <p:grpSp>
          <p:nvGrpSpPr>
            <p:cNvPr id="5" name="组合 4"/>
            <p:cNvGrpSpPr/>
            <p:nvPr/>
          </p:nvGrpSpPr>
          <p:grpSpPr>
            <a:xfrm>
              <a:off x="2045029" y="1281990"/>
              <a:ext cx="5719430" cy="2761991"/>
              <a:chOff x="1025433" y="3183618"/>
              <a:chExt cx="5719430" cy="2761991"/>
            </a:xfrm>
          </p:grpSpPr>
          <p:grpSp>
            <p:nvGrpSpPr>
              <p:cNvPr id="6" name="组合 5"/>
              <p:cNvGrpSpPr/>
              <p:nvPr/>
            </p:nvGrpSpPr>
            <p:grpSpPr>
              <a:xfrm>
                <a:off x="1025433" y="3183618"/>
                <a:ext cx="5719430" cy="2761991"/>
                <a:chOff x="5766766" y="3596791"/>
                <a:chExt cx="5719430" cy="2761991"/>
              </a:xfrm>
            </p:grpSpPr>
            <p:grpSp>
              <p:nvGrpSpPr>
                <p:cNvPr id="8" name="Group 15"/>
                <p:cNvGrpSpPr/>
                <p:nvPr/>
              </p:nvGrpSpPr>
              <p:grpSpPr bwMode="auto">
                <a:xfrm>
                  <a:off x="5766766" y="3596791"/>
                  <a:ext cx="5719430" cy="2761991"/>
                  <a:chOff x="-909" y="1298"/>
                  <a:chExt cx="6669" cy="2766"/>
                </a:xfrm>
              </p:grpSpPr>
              <p:pic>
                <p:nvPicPr>
                  <p:cNvPr id="10" name="Picture 7" descr="1t15"/>
                  <p:cNvPicPr>
                    <a:picLocks noChangeAspect="1" noChangeArrowheads="1"/>
                  </p:cNvPicPr>
                  <p:nvPr/>
                </p:nvPicPr>
                <p:blipFill>
                  <a:blip r:embed="rId1" cstate="hqprint">
                    <a:extLst>
                      <a:ext uri="{28A0092B-C50C-407E-A947-70E740481C1C}">
                        <a14:useLocalDpi xmlns:a14="http://schemas.microsoft.com/office/drawing/2010/main" val="0"/>
                      </a:ext>
                    </a:extLst>
                  </a:blip>
                  <a:srcRect/>
                  <a:stretch>
                    <a:fillRect/>
                  </a:stretch>
                </p:blipFill>
                <p:spPr bwMode="auto">
                  <a:xfrm>
                    <a:off x="158" y="1298"/>
                    <a:ext cx="5602" cy="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Line 8"/>
                  <p:cNvSpPr>
                    <a:spLocks noChangeShapeType="1"/>
                  </p:cNvSpPr>
                  <p:nvPr/>
                </p:nvSpPr>
                <p:spPr bwMode="auto">
                  <a:xfrm>
                    <a:off x="1156" y="2024"/>
                    <a:ext cx="545"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00"/>
                  </a:p>
                </p:txBody>
              </p:sp>
              <p:sp>
                <p:nvSpPr>
                  <p:cNvPr id="12" name="AutoShape 13"/>
                  <p:cNvSpPr>
                    <a:spLocks noChangeArrowheads="1"/>
                  </p:cNvSpPr>
                  <p:nvPr/>
                </p:nvSpPr>
                <p:spPr bwMode="auto">
                  <a:xfrm>
                    <a:off x="-909" y="2129"/>
                    <a:ext cx="2065" cy="327"/>
                  </a:xfrm>
                  <a:prstGeom prst="wedgeRoundRectCallout">
                    <a:avLst>
                      <a:gd name="adj1" fmla="val 50182"/>
                      <a:gd name="adj2" fmla="val -80920"/>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dirty="0">
                        <a:latin typeface="+mn-ea"/>
                        <a:ea typeface="+mn-ea"/>
                      </a:rPr>
                      <a:t>外模式</a:t>
                    </a:r>
                    <a:r>
                      <a:rPr kumimoji="1" lang="en-US" altLang="zh-CN" sz="1600" b="1" dirty="0">
                        <a:latin typeface="+mn-ea"/>
                        <a:ea typeface="+mn-ea"/>
                      </a:rPr>
                      <a:t>/</a:t>
                    </a:r>
                    <a:r>
                      <a:rPr kumimoji="1" lang="zh-CN" altLang="en-US" sz="1600" b="1" dirty="0">
                        <a:latin typeface="+mn-ea"/>
                        <a:ea typeface="+mn-ea"/>
                      </a:rPr>
                      <a:t>模式映射</a:t>
                    </a:r>
                    <a:r>
                      <a:rPr lang="zh-CN" altLang="en-US" sz="1600" b="1" dirty="0">
                        <a:latin typeface="+mn-ea"/>
                        <a:ea typeface="+mn-ea"/>
                      </a:rPr>
                      <a:t> </a:t>
                    </a:r>
                    <a:endParaRPr lang="zh-CN" altLang="en-US" sz="1600" b="1" dirty="0">
                      <a:latin typeface="+mn-ea"/>
                      <a:ea typeface="+mn-ea"/>
                    </a:endParaRPr>
                  </a:p>
                </p:txBody>
              </p:sp>
            </p:grpSp>
            <p:sp>
              <p:nvSpPr>
                <p:cNvPr id="9" name="AutoShape 9"/>
                <p:cNvSpPr>
                  <a:spLocks noChangeArrowheads="1"/>
                </p:cNvSpPr>
                <p:nvPr/>
              </p:nvSpPr>
              <p:spPr bwMode="auto">
                <a:xfrm>
                  <a:off x="6424302" y="5380182"/>
                  <a:ext cx="1930184" cy="351530"/>
                </a:xfrm>
                <a:prstGeom prst="wedgeRoundRectCallout">
                  <a:avLst>
                    <a:gd name="adj1" fmla="val 58564"/>
                    <a:gd name="adj2" fmla="val -50171"/>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kumimoji="1" lang="zh-CN" altLang="en-US" sz="1600" b="1" dirty="0">
                      <a:latin typeface="+mn-ea"/>
                    </a:rPr>
                    <a:t>模式</a:t>
                  </a:r>
                  <a:r>
                    <a:rPr kumimoji="1" lang="en-US" altLang="zh-CN" sz="1600" b="1" dirty="0">
                      <a:latin typeface="+mn-ea"/>
                    </a:rPr>
                    <a:t>/</a:t>
                  </a:r>
                  <a:r>
                    <a:rPr kumimoji="1" lang="zh-CN" altLang="en-US" sz="1600" b="1" dirty="0">
                      <a:latin typeface="+mn-ea"/>
                    </a:rPr>
                    <a:t>内模式映射 </a:t>
                  </a:r>
                  <a:endParaRPr kumimoji="1" lang="zh-CN" altLang="en-US" sz="1600" b="1" dirty="0">
                    <a:latin typeface="+mn-ea"/>
                  </a:endParaRPr>
                </a:p>
              </p:txBody>
            </p:sp>
          </p:grpSp>
          <p:sp>
            <p:nvSpPr>
              <p:cNvPr id="7" name="Line 12"/>
              <p:cNvSpPr>
                <a:spLocks noChangeShapeType="1"/>
              </p:cNvSpPr>
              <p:nvPr/>
            </p:nvSpPr>
            <p:spPr bwMode="auto">
              <a:xfrm>
                <a:off x="3792880" y="4967009"/>
                <a:ext cx="42247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00"/>
              </a:p>
            </p:txBody>
          </p:sp>
        </p:grpSp>
      </p:gr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
        <p:nvSpPr>
          <p:cNvPr id="6" name="文本框 5"/>
          <p:cNvSpPr txBox="1"/>
          <p:nvPr/>
        </p:nvSpPr>
        <p:spPr>
          <a:xfrm>
            <a:off x="291056" y="1374512"/>
            <a:ext cx="8399790" cy="1446550"/>
          </a:xfrm>
          <a:prstGeom prst="rect">
            <a:avLst/>
          </a:prstGeom>
          <a:noFill/>
        </p:spPr>
        <p:txBody>
          <a:bodyPr wrap="square">
            <a:spAutoFit/>
          </a:bodyPr>
          <a:lstStyle/>
          <a:p>
            <a:pPr indent="457200">
              <a:lnSpc>
                <a:spcPct val="110000"/>
              </a:lnSpc>
            </a:pPr>
            <a:r>
              <a:rPr lang="zh-CN" altLang="en-US" sz="2000" b="1" kern="100" dirty="0">
                <a:ea typeface="宋体" panose="02010600030101010101" pitchFamily="2" charset="-122"/>
                <a:cs typeface="Times New Roman" panose="02020603050405020304" pitchFamily="18" charset="0"/>
              </a:rPr>
              <a:t>模式</a:t>
            </a:r>
            <a:r>
              <a:rPr lang="en-US" altLang="zh-CN" sz="2000" b="1" kern="100" dirty="0">
                <a:ea typeface="宋体" panose="02010600030101010101" pitchFamily="2" charset="-122"/>
                <a:cs typeface="Times New Roman" panose="02020603050405020304" pitchFamily="18" charset="0"/>
              </a:rPr>
              <a:t>/</a:t>
            </a:r>
            <a:r>
              <a:rPr lang="zh-CN" altLang="en-US" sz="2000" b="1" kern="100" dirty="0">
                <a:ea typeface="宋体" panose="02010600030101010101" pitchFamily="2" charset="-122"/>
                <a:cs typeface="Times New Roman" panose="02020603050405020304" pitchFamily="18" charset="0"/>
              </a:rPr>
              <a:t>存储模式映射实现了模式与存储模式间的相互转换。</a:t>
            </a:r>
            <a:endParaRPr lang="en-US" altLang="zh-CN" sz="2000" b="1" kern="100" dirty="0">
              <a:ea typeface="宋体" panose="02010600030101010101" pitchFamily="2" charset="-122"/>
              <a:cs typeface="Times New Roman" panose="02020603050405020304" pitchFamily="18" charset="0"/>
            </a:endParaRPr>
          </a:p>
          <a:p>
            <a:pPr indent="457200">
              <a:lnSpc>
                <a:spcPct val="110000"/>
              </a:lnSpc>
            </a:pPr>
            <a:r>
              <a:rPr lang="zh-CN" altLang="zh-CN" sz="2000" b="1" kern="100" dirty="0">
                <a:ea typeface="宋体" panose="02010600030101010101" pitchFamily="2" charset="-122"/>
                <a:cs typeface="Times New Roman" panose="02020603050405020304" pitchFamily="18" charset="0"/>
              </a:rPr>
              <a:t>模式</a:t>
            </a:r>
            <a:r>
              <a:rPr lang="en-US" altLang="zh-CN" sz="2000" b="1" kern="100" dirty="0">
                <a:ea typeface="宋体" panose="02010600030101010101" pitchFamily="2" charset="-122"/>
                <a:cs typeface="Times New Roman" panose="02020603050405020304" pitchFamily="18" charset="0"/>
              </a:rPr>
              <a:t>/</a:t>
            </a:r>
            <a:r>
              <a:rPr lang="zh-CN" altLang="zh-CN" sz="2000" b="1" kern="100" dirty="0">
                <a:ea typeface="宋体" panose="02010600030101010101" pitchFamily="2" charset="-122"/>
                <a:cs typeface="Times New Roman" panose="02020603050405020304" pitchFamily="18" charset="0"/>
              </a:rPr>
              <a:t>存储模式映射使得当数据的存储结构发生变化时，只需改变模式</a:t>
            </a:r>
            <a:r>
              <a:rPr lang="en-US" altLang="zh-CN" sz="2000" b="1" kern="100" dirty="0">
                <a:ea typeface="宋体" panose="02010600030101010101" pitchFamily="2" charset="-122"/>
                <a:cs typeface="Times New Roman" panose="02020603050405020304" pitchFamily="18" charset="0"/>
              </a:rPr>
              <a:t>/</a:t>
            </a:r>
            <a:r>
              <a:rPr lang="zh-CN" altLang="zh-CN" sz="2000" b="1" kern="100" dirty="0">
                <a:ea typeface="宋体" panose="02010600030101010101" pitchFamily="2" charset="-122"/>
                <a:cs typeface="Times New Roman" panose="02020603050405020304" pitchFamily="18" charset="0"/>
              </a:rPr>
              <a:t>存储模式映射，就能保持模式不变，因此应用程序也可保持不变，从而保证数据与程序的物理独立性。</a:t>
            </a:r>
            <a:endParaRPr lang="zh-CN" altLang="en-US" sz="2000" b="1" dirty="0"/>
          </a:p>
        </p:txBody>
      </p:sp>
      <p:grpSp>
        <p:nvGrpSpPr>
          <p:cNvPr id="7" name="组合 6"/>
          <p:cNvGrpSpPr/>
          <p:nvPr/>
        </p:nvGrpSpPr>
        <p:grpSpPr>
          <a:xfrm>
            <a:off x="1012682" y="3251981"/>
            <a:ext cx="6956538" cy="2761991"/>
            <a:chOff x="807921" y="1281990"/>
            <a:chExt cx="6956538" cy="2761991"/>
          </a:xfrm>
        </p:grpSpPr>
        <p:sp>
          <p:nvSpPr>
            <p:cNvPr id="8" name="AutoShape 6"/>
            <p:cNvSpPr>
              <a:spLocks noChangeArrowheads="1"/>
            </p:cNvSpPr>
            <p:nvPr/>
          </p:nvSpPr>
          <p:spPr bwMode="auto">
            <a:xfrm>
              <a:off x="807921" y="3065381"/>
              <a:ext cx="1619365" cy="469736"/>
            </a:xfrm>
            <a:prstGeom prst="wedgeRoundRectCallout">
              <a:avLst>
                <a:gd name="adj1" fmla="val 65216"/>
                <a:gd name="adj2" fmla="val -14539"/>
                <a:gd name="adj3" fmla="val 16667"/>
              </a:avLst>
            </a:prstGeom>
            <a:gradFill flip="none" rotWithShape="1">
              <a:gsLst>
                <a:gs pos="0">
                  <a:srgbClr val="00DFF6"/>
                </a:gs>
                <a:gs pos="90000">
                  <a:srgbClr val="002774"/>
                </a:gs>
              </a:gsLst>
              <a:lin ang="2700000" scaled="1"/>
              <a:tileRect/>
            </a:gradFill>
            <a:ln w="25400">
              <a:noFill/>
            </a:ln>
            <a:effectLst>
              <a:outerShdw blurRad="225425" dist="38100" dir="5220000" algn="ctr">
                <a:srgbClr val="000000">
                  <a:alpha val="33000"/>
                </a:srgbClr>
              </a:outerShdw>
            </a:effectLst>
            <a:scene3d>
              <a:camera prst="orthographicFront"/>
              <a:lightRig rig="flat" dir="t"/>
            </a:scene3d>
            <a:sp3d contourW="19050">
              <a:bevelT prst="convex"/>
              <a:bevelB w="0" h="0"/>
              <a:contourClr>
                <a:srgbClr val="AFEAFF"/>
              </a:contourClr>
            </a:sp3d>
          </p:spPr>
          <p:style>
            <a:lnRef idx="1">
              <a:schemeClr val="accent2"/>
            </a:lnRef>
            <a:fillRef idx="3">
              <a:schemeClr val="accent2"/>
            </a:fillRef>
            <a:effectRef idx="2">
              <a:schemeClr val="accent2"/>
            </a:effectRef>
            <a:fontRef idx="minor">
              <a:schemeClr val="lt1"/>
            </a:fontRef>
          </p:style>
          <p:txBody>
            <a:bodyPr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0" fontAlgn="ctr" hangingPunct="0">
                <a:spcBef>
                  <a:spcPts val="0"/>
                </a:spcBef>
                <a:buClr>
                  <a:srgbClr val="FF0000"/>
                </a:buClr>
                <a:buSzPct val="70000"/>
                <a:buNone/>
              </a:pPr>
              <a:r>
                <a:rPr lang="zh-CN" altLang="en-US" sz="1800" b="1" dirty="0">
                  <a:solidFill>
                    <a:schemeClr val="bg1"/>
                  </a:solidFill>
                  <a:latin typeface="宋体" panose="02010600030101010101" pitchFamily="2" charset="-122"/>
                </a:rPr>
                <a:t>物理独立性</a:t>
              </a:r>
              <a:endParaRPr lang="zh-CN" altLang="en-US" sz="1800" dirty="0">
                <a:solidFill>
                  <a:schemeClr val="bg1"/>
                </a:solidFill>
                <a:latin typeface="宋体" panose="02010600030101010101" pitchFamily="2" charset="-122"/>
              </a:endParaRPr>
            </a:p>
          </p:txBody>
        </p:sp>
        <p:grpSp>
          <p:nvGrpSpPr>
            <p:cNvPr id="9" name="组合 8"/>
            <p:cNvGrpSpPr/>
            <p:nvPr/>
          </p:nvGrpSpPr>
          <p:grpSpPr>
            <a:xfrm>
              <a:off x="2045029" y="1281990"/>
              <a:ext cx="5719430" cy="2761991"/>
              <a:chOff x="1025433" y="3183618"/>
              <a:chExt cx="5719430" cy="2761991"/>
            </a:xfrm>
          </p:grpSpPr>
          <p:grpSp>
            <p:nvGrpSpPr>
              <p:cNvPr id="10" name="组合 9"/>
              <p:cNvGrpSpPr/>
              <p:nvPr/>
            </p:nvGrpSpPr>
            <p:grpSpPr>
              <a:xfrm>
                <a:off x="1025433" y="3183618"/>
                <a:ext cx="5719430" cy="2761991"/>
                <a:chOff x="5766766" y="3596791"/>
                <a:chExt cx="5719430" cy="2761991"/>
              </a:xfrm>
            </p:grpSpPr>
            <p:grpSp>
              <p:nvGrpSpPr>
                <p:cNvPr id="12" name="Group 15"/>
                <p:cNvGrpSpPr/>
                <p:nvPr/>
              </p:nvGrpSpPr>
              <p:grpSpPr bwMode="auto">
                <a:xfrm>
                  <a:off x="5766766" y="3596791"/>
                  <a:ext cx="5719430" cy="2761991"/>
                  <a:chOff x="-909" y="1298"/>
                  <a:chExt cx="6669" cy="2766"/>
                </a:xfrm>
              </p:grpSpPr>
              <p:pic>
                <p:nvPicPr>
                  <p:cNvPr id="15" name="Picture 7" descr="1t15"/>
                  <p:cNvPicPr>
                    <a:picLocks noChangeAspect="1" noChangeArrowheads="1"/>
                  </p:cNvPicPr>
                  <p:nvPr/>
                </p:nvPicPr>
                <p:blipFill>
                  <a:blip r:embed="rId1" cstate="hqprint">
                    <a:extLst>
                      <a:ext uri="{28A0092B-C50C-407E-A947-70E740481C1C}">
                        <a14:useLocalDpi xmlns:a14="http://schemas.microsoft.com/office/drawing/2010/main" val="0"/>
                      </a:ext>
                    </a:extLst>
                  </a:blip>
                  <a:srcRect/>
                  <a:stretch>
                    <a:fillRect/>
                  </a:stretch>
                </p:blipFill>
                <p:spPr bwMode="auto">
                  <a:xfrm>
                    <a:off x="158" y="1298"/>
                    <a:ext cx="5602" cy="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Line 8"/>
                  <p:cNvSpPr>
                    <a:spLocks noChangeShapeType="1"/>
                  </p:cNvSpPr>
                  <p:nvPr/>
                </p:nvSpPr>
                <p:spPr bwMode="auto">
                  <a:xfrm>
                    <a:off x="1156" y="2024"/>
                    <a:ext cx="545"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00"/>
                  </a:p>
                </p:txBody>
              </p:sp>
              <p:sp>
                <p:nvSpPr>
                  <p:cNvPr id="17" name="AutoShape 13"/>
                  <p:cNvSpPr>
                    <a:spLocks noChangeArrowheads="1"/>
                  </p:cNvSpPr>
                  <p:nvPr/>
                </p:nvSpPr>
                <p:spPr bwMode="auto">
                  <a:xfrm>
                    <a:off x="-909" y="2129"/>
                    <a:ext cx="2065" cy="327"/>
                  </a:xfrm>
                  <a:prstGeom prst="wedgeRoundRectCallout">
                    <a:avLst>
                      <a:gd name="adj1" fmla="val 50182"/>
                      <a:gd name="adj2" fmla="val -80920"/>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kumimoji="1" lang="zh-CN" altLang="en-US" sz="1600" b="1" dirty="0">
                        <a:latin typeface="+mn-ea"/>
                        <a:ea typeface="+mn-ea"/>
                      </a:rPr>
                      <a:t>外模式</a:t>
                    </a:r>
                    <a:r>
                      <a:rPr kumimoji="1" lang="en-US" altLang="zh-CN" sz="1600" b="1" dirty="0">
                        <a:latin typeface="+mn-ea"/>
                        <a:ea typeface="+mn-ea"/>
                      </a:rPr>
                      <a:t>/</a:t>
                    </a:r>
                    <a:r>
                      <a:rPr kumimoji="1" lang="zh-CN" altLang="en-US" sz="1600" b="1" dirty="0">
                        <a:latin typeface="+mn-ea"/>
                        <a:ea typeface="+mn-ea"/>
                      </a:rPr>
                      <a:t>模式映射</a:t>
                    </a:r>
                    <a:r>
                      <a:rPr lang="zh-CN" altLang="en-US" sz="1600" b="1" dirty="0">
                        <a:latin typeface="+mn-ea"/>
                        <a:ea typeface="+mn-ea"/>
                      </a:rPr>
                      <a:t> </a:t>
                    </a:r>
                    <a:endParaRPr lang="zh-CN" altLang="en-US" sz="1600" b="1" dirty="0">
                      <a:latin typeface="+mn-ea"/>
                      <a:ea typeface="+mn-ea"/>
                    </a:endParaRPr>
                  </a:p>
                </p:txBody>
              </p:sp>
            </p:grpSp>
            <p:sp>
              <p:nvSpPr>
                <p:cNvPr id="13" name="AutoShape 9"/>
                <p:cNvSpPr>
                  <a:spLocks noChangeArrowheads="1"/>
                </p:cNvSpPr>
                <p:nvPr/>
              </p:nvSpPr>
              <p:spPr bwMode="auto">
                <a:xfrm>
                  <a:off x="6424302" y="5380182"/>
                  <a:ext cx="1930184" cy="351530"/>
                </a:xfrm>
                <a:prstGeom prst="wedgeRoundRectCallout">
                  <a:avLst>
                    <a:gd name="adj1" fmla="val 58564"/>
                    <a:gd name="adj2" fmla="val -50171"/>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0"/>
                    </a:spcBef>
                  </a:pPr>
                  <a:r>
                    <a:rPr kumimoji="1" lang="zh-CN" altLang="en-US" sz="1600" b="1" dirty="0">
                      <a:latin typeface="+mn-ea"/>
                    </a:rPr>
                    <a:t>模式</a:t>
                  </a:r>
                  <a:r>
                    <a:rPr kumimoji="1" lang="en-US" altLang="zh-CN" sz="1600" b="1" dirty="0">
                      <a:latin typeface="+mn-ea"/>
                    </a:rPr>
                    <a:t>/</a:t>
                  </a:r>
                  <a:r>
                    <a:rPr kumimoji="1" lang="zh-CN" altLang="en-US" sz="1600" b="1" dirty="0">
                      <a:latin typeface="+mn-ea"/>
                    </a:rPr>
                    <a:t>内模式映射 </a:t>
                  </a:r>
                  <a:endParaRPr kumimoji="1" lang="zh-CN" altLang="en-US" sz="1600" b="1" dirty="0">
                    <a:latin typeface="+mn-ea"/>
                  </a:endParaRPr>
                </a:p>
              </p:txBody>
            </p:sp>
          </p:grpSp>
          <p:sp>
            <p:nvSpPr>
              <p:cNvPr id="11" name="Line 12"/>
              <p:cNvSpPr>
                <a:spLocks noChangeShapeType="1"/>
              </p:cNvSpPr>
              <p:nvPr/>
            </p:nvSpPr>
            <p:spPr bwMode="auto">
              <a:xfrm>
                <a:off x="3792880" y="4967009"/>
                <a:ext cx="42247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00"/>
              </a:p>
            </p:txBody>
          </p:sp>
        </p:gr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1t19"/>
          <p:cNvPicPr>
            <a:picLocks noChangeAspect="1" noChangeArrowheads="1"/>
          </p:cNvPicPr>
          <p:nvPr/>
        </p:nvPicPr>
        <p:blipFill>
          <a:blip r:embed="rId1" cstate="hqprint">
            <a:extLst>
              <a:ext uri="{28A0092B-C50C-407E-A947-70E740481C1C}">
                <a14:useLocalDpi xmlns:a14="http://schemas.microsoft.com/office/drawing/2010/main" val="0"/>
              </a:ext>
            </a:extLst>
          </a:blip>
          <a:srcRect/>
          <a:stretch>
            <a:fillRect/>
          </a:stretch>
        </p:blipFill>
        <p:spPr bwMode="auto">
          <a:xfrm>
            <a:off x="283399" y="2444917"/>
            <a:ext cx="5841602" cy="3939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AutoShape 23"/>
          <p:cNvSpPr>
            <a:spLocks noChangeArrowheads="1"/>
          </p:cNvSpPr>
          <p:nvPr/>
        </p:nvSpPr>
        <p:spPr bwMode="auto">
          <a:xfrm>
            <a:off x="56230" y="1674455"/>
            <a:ext cx="1577871" cy="515957"/>
          </a:xfrm>
          <a:prstGeom prst="flowChartDocument">
            <a:avLst/>
          </a:prstGeom>
          <a:gradFill rotWithShape="1">
            <a:gsLst>
              <a:gs pos="0">
                <a:srgbClr val="0000FF"/>
              </a:gs>
              <a:gs pos="50000">
                <a:srgbClr val="0000FF">
                  <a:gamma/>
                  <a:shade val="46275"/>
                  <a:invGamma/>
                </a:srgbClr>
              </a:gs>
              <a:gs pos="100000">
                <a:srgbClr val="0000FF"/>
              </a:gs>
            </a:gsLst>
            <a:lin ang="5400000" scaled="1"/>
          </a:gradFill>
          <a:ln w="9525" algn="ctr">
            <a:solidFill>
              <a:schemeClr val="tx1"/>
            </a:solidFill>
            <a:miter lim="800000"/>
          </a:ln>
          <a:effectLst/>
        </p:spPr>
        <p:txBody>
          <a:bodyPr wrap="square" anchor="ctr">
            <a:spAutoFit/>
          </a:bodyPr>
          <a:lstStyle/>
          <a:p>
            <a:pPr algn="ctr">
              <a:buClr>
                <a:schemeClr val="hlink"/>
              </a:buClr>
              <a:buSzPct val="75000"/>
              <a:defRPr/>
            </a:pPr>
            <a:r>
              <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rPr>
              <a:t>完整性约束</a:t>
            </a:r>
            <a:endParaRPr lang="zh-CN" altLang="en-US" sz="2100" dirty="0">
              <a:solidFill>
                <a:srgbClr val="FFFF00"/>
              </a:solidFill>
              <a:effectLst>
                <a:outerShdw blurRad="38100" dist="38100" dir="2700000" algn="tl">
                  <a:srgbClr val="000000"/>
                </a:outerShdw>
              </a:effectLst>
              <a:latin typeface="黑体" panose="02010609060101010101" pitchFamily="49" charset="-122"/>
              <a:ea typeface="黑体" panose="02010609060101010101" pitchFamily="49" charset="-122"/>
            </a:endParaRPr>
          </a:p>
        </p:txBody>
      </p:sp>
      <p:sp>
        <p:nvSpPr>
          <p:cNvPr id="3" name="Text Box 5"/>
          <p:cNvSpPr txBox="1">
            <a:spLocks noChangeArrowheads="1"/>
          </p:cNvSpPr>
          <p:nvPr/>
        </p:nvSpPr>
        <p:spPr bwMode="auto">
          <a:xfrm>
            <a:off x="4572000" y="1291004"/>
            <a:ext cx="4515772" cy="2573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pPr>
            <a:r>
              <a:rPr kumimoji="1" lang="zh-CN" altLang="en-US" sz="2100" b="1" dirty="0">
                <a:solidFill>
                  <a:srgbClr val="0000FF"/>
                </a:solidFill>
                <a:latin typeface="+mn-ea"/>
                <a:ea typeface="+mn-ea"/>
              </a:rPr>
              <a:t>三类完整性规则</a:t>
            </a:r>
            <a:endParaRPr kumimoji="1" lang="en-US" altLang="zh-CN" sz="2100" b="1" dirty="0">
              <a:latin typeface="+mn-ea"/>
              <a:ea typeface="+mn-ea"/>
            </a:endParaRPr>
          </a:p>
          <a:p>
            <a:pPr eaLnBrk="1" hangingPunct="1">
              <a:lnSpc>
                <a:spcPct val="130000"/>
              </a:lnSpc>
              <a:spcBef>
                <a:spcPct val="0"/>
              </a:spcBef>
              <a:buClrTx/>
              <a:buSzTx/>
              <a:buFontTx/>
              <a:buNone/>
            </a:pPr>
            <a:r>
              <a:rPr kumimoji="1" lang="zh-CN" altLang="en-US" sz="2100" b="1" dirty="0">
                <a:latin typeface="+mn-ea"/>
                <a:ea typeface="+mn-ea"/>
              </a:rPr>
              <a:t>（</a:t>
            </a:r>
            <a:r>
              <a:rPr kumimoji="1" lang="en-US" altLang="zh-CN" sz="2100" b="1" dirty="0">
                <a:latin typeface="+mn-ea"/>
                <a:ea typeface="+mn-ea"/>
              </a:rPr>
              <a:t>1</a:t>
            </a:r>
            <a:r>
              <a:rPr kumimoji="1" lang="zh-CN" altLang="en-US" sz="2100" b="1" dirty="0">
                <a:latin typeface="+mn-ea"/>
                <a:ea typeface="+mn-ea"/>
              </a:rPr>
              <a:t>）实体完整性规则</a:t>
            </a:r>
            <a:endParaRPr kumimoji="1" lang="en-US" altLang="zh-CN" sz="2100" b="1" dirty="0">
              <a:latin typeface="+mn-ea"/>
              <a:ea typeface="+mn-ea"/>
            </a:endParaRPr>
          </a:p>
          <a:p>
            <a:pPr lvl="1">
              <a:lnSpc>
                <a:spcPct val="130000"/>
              </a:lnSpc>
              <a:spcBef>
                <a:spcPct val="0"/>
              </a:spcBef>
              <a:buClrTx/>
              <a:buSzTx/>
              <a:buFontTx/>
              <a:buNone/>
            </a:pPr>
            <a:r>
              <a:rPr kumimoji="1" lang="zh-CN" altLang="en-US" sz="2000" b="1" dirty="0">
                <a:latin typeface="+mn-ea"/>
                <a:ea typeface="+mn-ea"/>
              </a:rPr>
              <a:t>关系中元组的</a:t>
            </a:r>
            <a:r>
              <a:rPr kumimoji="1" lang="zh-CN" altLang="en-US" sz="2000" b="1" dirty="0">
                <a:solidFill>
                  <a:srgbClr val="C00000"/>
                </a:solidFill>
                <a:latin typeface="+mn-ea"/>
                <a:ea typeface="+mn-ea"/>
              </a:rPr>
              <a:t>主键值不能为空或重复</a:t>
            </a:r>
            <a:r>
              <a:rPr kumimoji="1" lang="zh-CN" altLang="en-US" sz="2000" b="1" dirty="0">
                <a:latin typeface="+mn-ea"/>
                <a:ea typeface="+mn-ea"/>
              </a:rPr>
              <a:t>。</a:t>
            </a:r>
            <a:endParaRPr kumimoji="1" lang="en-US" altLang="zh-CN" sz="2000" b="1" dirty="0">
              <a:latin typeface="+mn-ea"/>
              <a:ea typeface="+mn-ea"/>
            </a:endParaRPr>
          </a:p>
          <a:p>
            <a:pPr eaLnBrk="1" hangingPunct="1">
              <a:lnSpc>
                <a:spcPct val="130000"/>
              </a:lnSpc>
              <a:spcBef>
                <a:spcPct val="0"/>
              </a:spcBef>
              <a:buClrTx/>
              <a:buSzTx/>
              <a:buFontTx/>
              <a:buNone/>
            </a:pPr>
            <a:r>
              <a:rPr kumimoji="1" lang="zh-CN" altLang="en-US" sz="2100" b="1" dirty="0">
                <a:latin typeface="+mn-ea"/>
                <a:ea typeface="+mn-ea"/>
              </a:rPr>
              <a:t>（</a:t>
            </a:r>
            <a:r>
              <a:rPr kumimoji="1" lang="en-US" altLang="zh-CN" sz="2100" b="1" dirty="0">
                <a:latin typeface="+mn-ea"/>
                <a:ea typeface="+mn-ea"/>
              </a:rPr>
              <a:t>2</a:t>
            </a:r>
            <a:r>
              <a:rPr kumimoji="1" lang="zh-CN" altLang="en-US" sz="2100" b="1" dirty="0">
                <a:latin typeface="+mn-ea"/>
                <a:ea typeface="+mn-ea"/>
              </a:rPr>
              <a:t>）参照完整性规则</a:t>
            </a:r>
            <a:endParaRPr kumimoji="1" lang="en-US" altLang="zh-CN" sz="2100" b="1" dirty="0">
              <a:latin typeface="+mn-ea"/>
              <a:ea typeface="+mn-ea"/>
            </a:endParaRPr>
          </a:p>
          <a:p>
            <a:pPr eaLnBrk="1" hangingPunct="1">
              <a:lnSpc>
                <a:spcPct val="130000"/>
              </a:lnSpc>
              <a:spcBef>
                <a:spcPct val="0"/>
              </a:spcBef>
              <a:buClrTx/>
              <a:buSzTx/>
              <a:buFontTx/>
              <a:buNone/>
            </a:pPr>
            <a:r>
              <a:rPr kumimoji="1" lang="zh-CN" altLang="en-US" sz="2100" b="1" dirty="0">
                <a:latin typeface="+mn-ea"/>
                <a:ea typeface="+mn-ea"/>
              </a:rPr>
              <a:t>（</a:t>
            </a:r>
            <a:r>
              <a:rPr kumimoji="1" lang="en-US" altLang="zh-CN" sz="2100" b="1" dirty="0">
                <a:latin typeface="+mn-ea"/>
                <a:ea typeface="+mn-ea"/>
              </a:rPr>
              <a:t>3</a:t>
            </a:r>
            <a:r>
              <a:rPr kumimoji="1" lang="zh-CN" altLang="en-US" sz="2100" b="1" dirty="0">
                <a:latin typeface="+mn-ea"/>
                <a:ea typeface="+mn-ea"/>
              </a:rPr>
              <a:t>）用户定义完整性规则</a:t>
            </a:r>
            <a:endParaRPr kumimoji="1" lang="zh-CN" altLang="en-US" sz="2100" b="1" dirty="0">
              <a:latin typeface="+mn-ea"/>
              <a:ea typeface="+mn-ea"/>
            </a:endParaRPr>
          </a:p>
        </p:txBody>
      </p:sp>
      <p:sp>
        <p:nvSpPr>
          <p:cNvPr id="5"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a:latin typeface="黑体" panose="02010609060101010101" pitchFamily="49" charset="-122"/>
                <a:ea typeface="黑体" panose="02010609060101010101" pitchFamily="49" charset="-122"/>
              </a:rPr>
              <a:t>４</a:t>
            </a:r>
            <a:r>
              <a:rPr lang="en-US" altLang="zh-CN" sz="3000" b="1">
                <a:latin typeface="黑体" panose="02010609060101010101" pitchFamily="49" charset="-122"/>
                <a:ea typeface="黑体" panose="02010609060101010101" pitchFamily="49" charset="-122"/>
              </a:rPr>
              <a:t>.3 </a:t>
            </a:r>
            <a:r>
              <a:rPr lang="zh-CN" altLang="en-US" sz="3000" b="1">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edge">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
        <p:nvSpPr>
          <p:cNvPr id="5" name="文本框 4"/>
          <p:cNvSpPr txBox="1"/>
          <p:nvPr/>
        </p:nvSpPr>
        <p:spPr>
          <a:xfrm>
            <a:off x="185605" y="5160787"/>
            <a:ext cx="8772793" cy="1465016"/>
          </a:xfrm>
          <a:prstGeom prst="rect">
            <a:avLst/>
          </a:prstGeom>
          <a:noFill/>
        </p:spPr>
        <p:txBody>
          <a:bodyPr wrap="square">
            <a:spAutoFit/>
          </a:bodyPr>
          <a:lstStyle/>
          <a:p>
            <a:pPr marL="285750" indent="-285750" algn="just">
              <a:lnSpc>
                <a:spcPct val="110000"/>
              </a:lnSpc>
              <a:spcBef>
                <a:spcPts val="600"/>
              </a:spcBef>
              <a:buFont typeface="Arial" panose="020B0604020202020204" pitchFamily="34" charset="0"/>
              <a:buChar char="•"/>
            </a:pPr>
            <a:r>
              <a:rPr lang="zh-CN" altLang="en-US" b="1" dirty="0"/>
              <a:t>外键由表中的一个字段或者多个字段构成，一个表的外键用来指向另一个表的主键。</a:t>
            </a:r>
            <a:endParaRPr lang="en-US" altLang="zh-CN" b="1" dirty="0"/>
          </a:p>
          <a:p>
            <a:pPr marL="285750" indent="-285750" algn="just">
              <a:lnSpc>
                <a:spcPct val="110000"/>
              </a:lnSpc>
              <a:spcBef>
                <a:spcPts val="600"/>
              </a:spcBef>
              <a:buFont typeface="Arial" panose="020B0604020202020204" pitchFamily="34" charset="0"/>
              <a:buChar char="•"/>
            </a:pPr>
            <a:r>
              <a:rPr lang="zh-CN" altLang="en-US" b="1" dirty="0"/>
              <a:t>包含外键的表称为从表，被指向的表称为主表。从表的数据受到主表的约束，向从表中插入或者更新数据时，外键的值必须存在于主表的主键中。</a:t>
            </a:r>
            <a:endParaRPr lang="en-US" altLang="zh-CN" b="1" dirty="0"/>
          </a:p>
          <a:p>
            <a:pPr marL="285750" indent="-285750" algn="just">
              <a:lnSpc>
                <a:spcPct val="110000"/>
              </a:lnSpc>
              <a:spcBef>
                <a:spcPts val="600"/>
              </a:spcBef>
              <a:buFont typeface="Arial" panose="020B0604020202020204" pitchFamily="34" charset="0"/>
              <a:buChar char="•"/>
            </a:pPr>
            <a:r>
              <a:rPr lang="zh-CN" altLang="en-US" b="1" dirty="0"/>
              <a:t>外键用于将两个表连接在一起，让两个表的数据保持同步。</a:t>
            </a:r>
            <a:endParaRPr lang="zh-CN" altLang="en-US" b="1" dirty="0"/>
          </a:p>
        </p:txBody>
      </p:sp>
      <p:pic>
        <p:nvPicPr>
          <p:cNvPr id="211" name="图片 210"/>
          <p:cNvPicPr>
            <a:picLocks noChangeAspect="1"/>
          </p:cNvPicPr>
          <p:nvPr/>
        </p:nvPicPr>
        <p:blipFill>
          <a:blip r:embed="rId1"/>
          <a:stretch>
            <a:fillRect/>
          </a:stretch>
        </p:blipFill>
        <p:spPr>
          <a:xfrm>
            <a:off x="2451964" y="1697213"/>
            <a:ext cx="6726264" cy="3416444"/>
          </a:xfrm>
          <a:prstGeom prst="rect">
            <a:avLst/>
          </a:prstGeom>
        </p:spPr>
      </p:pic>
      <p:sp>
        <p:nvSpPr>
          <p:cNvPr id="213" name="文本框 212"/>
          <p:cNvSpPr txBox="1"/>
          <p:nvPr/>
        </p:nvSpPr>
        <p:spPr>
          <a:xfrm>
            <a:off x="212658" y="1297103"/>
            <a:ext cx="6471365" cy="400110"/>
          </a:xfrm>
          <a:prstGeom prst="rect">
            <a:avLst/>
          </a:prstGeom>
          <a:noFill/>
        </p:spPr>
        <p:txBody>
          <a:bodyPr wrap="square">
            <a:spAutoFit/>
          </a:bodyPr>
          <a:lstStyle/>
          <a:p>
            <a:r>
              <a:rPr kumimoji="1" lang="zh-CN" altLang="en-US" sz="2000" b="1" dirty="0">
                <a:latin typeface="+mn-ea"/>
              </a:rPr>
              <a:t>参照完整性规则：不允许引用不存在的实体。</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9207" y="2808091"/>
            <a:ext cx="5968604" cy="2896791"/>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55299" name="Oval 7"/>
          <p:cNvSpPr>
            <a:spLocks noChangeArrowheads="1"/>
          </p:cNvSpPr>
          <p:nvPr/>
        </p:nvSpPr>
        <p:spPr bwMode="auto">
          <a:xfrm>
            <a:off x="5005389" y="4399360"/>
            <a:ext cx="2415779" cy="275034"/>
          </a:xfrm>
          <a:prstGeom prst="ellipse">
            <a:avLst/>
          </a:prstGeom>
          <a:solidFill>
            <a:schemeClr val="accent1">
              <a:alpha val="0"/>
            </a:schemeClr>
          </a:solidFill>
          <a:ln w="28575">
            <a:solidFill>
              <a:schemeClr val="folHlink"/>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endParaRPr lang="zh-CN" altLang="en-US" sz="1350">
              <a:solidFill>
                <a:schemeClr val="tx1"/>
              </a:solidFill>
              <a:latin typeface="Century Gothic" panose="020B0502020202020204" pitchFamily="34" charset="0"/>
            </a:endParaRPr>
          </a:p>
        </p:txBody>
      </p:sp>
      <p:grpSp>
        <p:nvGrpSpPr>
          <p:cNvPr id="55300" name="Group 11"/>
          <p:cNvGrpSpPr/>
          <p:nvPr/>
        </p:nvGrpSpPr>
        <p:grpSpPr bwMode="auto">
          <a:xfrm>
            <a:off x="657227" y="1887144"/>
            <a:ext cx="7336633" cy="416719"/>
            <a:chOff x="295" y="1157"/>
            <a:chExt cx="5357" cy="350"/>
          </a:xfrm>
        </p:grpSpPr>
        <p:sp>
          <p:nvSpPr>
            <p:cNvPr id="55302" name="Rectangle 9"/>
            <p:cNvSpPr>
              <a:spLocks noChangeArrowheads="1"/>
            </p:cNvSpPr>
            <p:nvPr/>
          </p:nvSpPr>
          <p:spPr bwMode="auto">
            <a:xfrm>
              <a:off x="696" y="1161"/>
              <a:ext cx="495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zh-CN" altLang="en-US" sz="2000" b="1" dirty="0">
                  <a:solidFill>
                    <a:schemeClr val="tx1"/>
                  </a:solidFill>
                  <a:latin typeface="Century Gothic" panose="020B0502020202020204" pitchFamily="34" charset="0"/>
                </a:rPr>
                <a:t>为什么学生成绩表只存储学号？存储姓名？学号和姓名？</a:t>
              </a:r>
              <a:endParaRPr lang="zh-CN" altLang="en-US" sz="2000" b="1" dirty="0">
                <a:solidFill>
                  <a:schemeClr val="tx1"/>
                </a:solidFill>
                <a:latin typeface="Century Gothic" panose="020B0502020202020204" pitchFamily="34" charset="0"/>
              </a:endParaRPr>
            </a:p>
          </p:txBody>
        </p:sp>
        <p:graphicFrame>
          <p:nvGraphicFramePr>
            <p:cNvPr id="55303" name="Object 10"/>
            <p:cNvGraphicFramePr>
              <a:graphicFrameLocks noChangeAspect="1"/>
            </p:cNvGraphicFramePr>
            <p:nvPr/>
          </p:nvGraphicFramePr>
          <p:xfrm>
            <a:off x="295" y="1157"/>
            <a:ext cx="356" cy="350"/>
          </p:xfrm>
          <a:graphic>
            <a:graphicData uri="http://schemas.openxmlformats.org/presentationml/2006/ole">
              <mc:AlternateContent xmlns:mc="http://schemas.openxmlformats.org/markup-compatibility/2006">
                <mc:Choice xmlns:v="urn:schemas-microsoft-com:vml" Requires="v">
                  <p:oleObj spid="_x0000_s3094" name="Clip" r:id="rId2" imgW="861060" imgH="845185" progId="MS_ClipArt_Gallery.5">
                    <p:embed/>
                  </p:oleObj>
                </mc:Choice>
                <mc:Fallback>
                  <p:oleObj name="Clip" r:id="rId2" imgW="861060" imgH="845185" progId="MS_ClipArt_Gallery.5">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 y="1157"/>
                          <a:ext cx="356"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 name="Rectangle 2"/>
          <p:cNvSpPr>
            <a:spLocks noGrp="1" noChangeArrowheads="1"/>
          </p:cNvSpPr>
          <p:nvPr>
            <p:ph type="title"/>
          </p:nvPr>
        </p:nvSpPr>
        <p:spPr>
          <a:xfrm>
            <a:off x="1182222" y="318403"/>
            <a:ext cx="3893344" cy="517922"/>
          </a:xfrm>
        </p:spPr>
        <p:txBody>
          <a:bodyPr/>
          <a:lstStyle/>
          <a:p>
            <a:pPr eaLnBrk="1" hangingPunct="1">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ChangeArrowheads="1"/>
          </p:cNvSpPr>
          <p:nvPr/>
        </p:nvSpPr>
        <p:spPr bwMode="auto">
          <a:xfrm>
            <a:off x="906066" y="2309238"/>
            <a:ext cx="383738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20000"/>
              </a:spcBef>
              <a:buClr>
                <a:schemeClr val="folHlink"/>
              </a:buClr>
              <a:buSzPct val="60000"/>
              <a:buFont typeface="Wingdings" panose="05000000000000000000" pitchFamily="2" charset="2"/>
              <a:buNone/>
            </a:pPr>
            <a:r>
              <a:rPr lang="en-US" altLang="zh-CN" sz="2000" b="1" dirty="0">
                <a:solidFill>
                  <a:schemeClr val="tx1"/>
                </a:solidFill>
              </a:rPr>
              <a:t>SQL</a:t>
            </a:r>
            <a:r>
              <a:rPr lang="zh-CN" altLang="en-US" sz="2000" b="1" dirty="0">
                <a:solidFill>
                  <a:schemeClr val="tx1"/>
                </a:solidFill>
              </a:rPr>
              <a:t>语言使用</a:t>
            </a:r>
            <a:r>
              <a:rPr lang="en-US" altLang="zh-CN" sz="2000" b="1" dirty="0">
                <a:solidFill>
                  <a:srgbClr val="030DCF"/>
                </a:solidFill>
              </a:rPr>
              <a:t>CREATE TABLE</a:t>
            </a:r>
            <a:r>
              <a:rPr lang="zh-CN" altLang="en-US" sz="2000" b="1" dirty="0">
                <a:solidFill>
                  <a:schemeClr val="tx1"/>
                </a:solidFill>
              </a:rPr>
              <a:t>语句定义数据表。例如，定义学生选课系统的学生信息表，其</a:t>
            </a:r>
            <a:r>
              <a:rPr lang="en-US" altLang="zh-CN" sz="2000" b="1" dirty="0">
                <a:solidFill>
                  <a:schemeClr val="tx1"/>
                </a:solidFill>
              </a:rPr>
              <a:t>SQL</a:t>
            </a:r>
            <a:r>
              <a:rPr lang="zh-CN" altLang="en-US" sz="2000" b="1" dirty="0">
                <a:solidFill>
                  <a:schemeClr val="tx1"/>
                </a:solidFill>
              </a:rPr>
              <a:t>语句为：</a:t>
            </a:r>
            <a:endParaRPr lang="zh-CN" altLang="en-US" sz="2000" b="1" dirty="0">
              <a:solidFill>
                <a:schemeClr val="tx1"/>
              </a:solidFill>
            </a:endParaRPr>
          </a:p>
        </p:txBody>
      </p:sp>
      <p:sp>
        <p:nvSpPr>
          <p:cNvPr id="57347" name="Rectangle 7"/>
          <p:cNvSpPr>
            <a:spLocks noChangeArrowheads="1"/>
          </p:cNvSpPr>
          <p:nvPr/>
        </p:nvSpPr>
        <p:spPr bwMode="auto">
          <a:xfrm>
            <a:off x="5351566" y="2465547"/>
            <a:ext cx="3130448" cy="369332"/>
          </a:xfrm>
          <a:prstGeom prst="rect">
            <a:avLst/>
          </a:prstGeom>
          <a:noFill/>
          <a:ln w="28575">
            <a:solidFill>
              <a:schemeClr val="fo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spcBef>
                <a:spcPct val="0"/>
              </a:spcBef>
              <a:buClrTx/>
              <a:buFontTx/>
              <a:buNone/>
            </a:pPr>
            <a:r>
              <a:rPr lang="en-US" altLang="zh-CN" b="1" dirty="0">
                <a:solidFill>
                  <a:schemeClr val="tx1"/>
                </a:solidFill>
              </a:rPr>
              <a:t>  </a:t>
            </a:r>
            <a:r>
              <a:rPr lang="zh-CN" altLang="en-US" b="1" dirty="0">
                <a:solidFill>
                  <a:schemeClr val="tx1"/>
                </a:solidFill>
              </a:rPr>
              <a:t>采用</a:t>
            </a:r>
            <a:r>
              <a:rPr lang="en-US" altLang="zh-CN" b="1" dirty="0">
                <a:solidFill>
                  <a:schemeClr val="tx1"/>
                </a:solidFill>
              </a:rPr>
              <a:t>SQL</a:t>
            </a:r>
            <a:r>
              <a:rPr lang="zh-CN" altLang="en-US" b="1" dirty="0">
                <a:solidFill>
                  <a:schemeClr val="tx1"/>
                </a:solidFill>
              </a:rPr>
              <a:t>语言定义数据库 </a:t>
            </a:r>
            <a:r>
              <a:rPr lang="zh-CN" altLang="en-US" dirty="0">
                <a:solidFill>
                  <a:schemeClr val="tx1"/>
                </a:solidFill>
              </a:rPr>
              <a:t> </a:t>
            </a:r>
            <a:endParaRPr lang="zh-CN" altLang="en-US" dirty="0">
              <a:solidFill>
                <a:schemeClr val="tx1"/>
              </a:solidFill>
            </a:endParaRPr>
          </a:p>
        </p:txBody>
      </p:sp>
      <p:pic>
        <p:nvPicPr>
          <p:cNvPr id="57348" name="Picture 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51566" y="2834879"/>
            <a:ext cx="3130448" cy="1037034"/>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57349"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4187" y="4168698"/>
            <a:ext cx="3586140" cy="2017791"/>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67591" name="Text Box 3"/>
          <p:cNvSpPr txBox="1">
            <a:spLocks noChangeArrowheads="1"/>
          </p:cNvSpPr>
          <p:nvPr/>
        </p:nvSpPr>
        <p:spPr bwMode="auto">
          <a:xfrm>
            <a:off x="854870" y="1342329"/>
            <a:ext cx="610076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marL="342900" indent="-342900">
              <a:spcBef>
                <a:spcPct val="50000"/>
              </a:spcBef>
              <a:buClr>
                <a:srgbClr val="C00000"/>
              </a:buClr>
              <a:buFont typeface="Wingdings" panose="05000000000000000000" pitchFamily="2" charset="2"/>
              <a:buChar char="n"/>
              <a:defRPr/>
            </a:pPr>
            <a:r>
              <a:rPr lang="zh-CN" altLang="en-US" sz="2200" b="1" dirty="0">
                <a:solidFill>
                  <a:schemeClr val="tx1"/>
                </a:solidFill>
                <a:latin typeface="+mn-lt"/>
              </a:rPr>
              <a:t>采用</a:t>
            </a:r>
            <a:r>
              <a:rPr lang="en-US" altLang="zh-CN" sz="2200" b="1" dirty="0">
                <a:solidFill>
                  <a:schemeClr val="tx1"/>
                </a:solidFill>
                <a:latin typeface="+mn-lt"/>
              </a:rPr>
              <a:t>SQL</a:t>
            </a:r>
            <a:r>
              <a:rPr lang="zh-CN" altLang="en-US" sz="2200" b="1" dirty="0">
                <a:solidFill>
                  <a:schemeClr val="tx1"/>
                </a:solidFill>
                <a:latin typeface="+mn-lt"/>
              </a:rPr>
              <a:t>语言定义数据库</a:t>
            </a:r>
            <a:r>
              <a:rPr lang="zh-CN" altLang="en-US" sz="2200" dirty="0">
                <a:solidFill>
                  <a:schemeClr val="tx1"/>
                </a:solidFill>
                <a:latin typeface="+mn-lt"/>
              </a:rPr>
              <a:t> </a:t>
            </a:r>
            <a:endParaRPr lang="zh-CN" altLang="en-US" sz="2200" dirty="0">
              <a:solidFill>
                <a:schemeClr val="tx1"/>
              </a:solidFill>
              <a:latin typeface="+mn-lt"/>
            </a:endParaRPr>
          </a:p>
        </p:txBody>
      </p:sp>
      <p:sp>
        <p:nvSpPr>
          <p:cNvPr id="9"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3"/>
          <p:cNvSpPr txBox="1">
            <a:spLocks noChangeArrowheads="1"/>
          </p:cNvSpPr>
          <p:nvPr/>
        </p:nvSpPr>
        <p:spPr bwMode="auto">
          <a:xfrm>
            <a:off x="526059" y="1258101"/>
            <a:ext cx="441840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marL="342900" indent="-342900">
              <a:spcBef>
                <a:spcPct val="50000"/>
              </a:spcBef>
              <a:buClr>
                <a:srgbClr val="C00000"/>
              </a:buClr>
              <a:buFont typeface="Wingdings" panose="05000000000000000000" pitchFamily="2" charset="2"/>
              <a:buChar char="n"/>
            </a:pPr>
            <a:r>
              <a:rPr lang="zh-CN" altLang="en-US" sz="2200" b="1" dirty="0">
                <a:solidFill>
                  <a:schemeClr val="tx1"/>
                </a:solidFill>
              </a:rPr>
              <a:t>通过</a:t>
            </a:r>
            <a:r>
              <a:rPr lang="en-US" altLang="zh-CN" sz="2200" b="1" dirty="0">
                <a:solidFill>
                  <a:schemeClr val="tx1"/>
                </a:solidFill>
              </a:rPr>
              <a:t>SQL</a:t>
            </a:r>
            <a:r>
              <a:rPr lang="zh-CN" altLang="en-US" sz="2200" b="1" dirty="0">
                <a:solidFill>
                  <a:schemeClr val="tx1"/>
                </a:solidFill>
              </a:rPr>
              <a:t>语言</a:t>
            </a:r>
            <a:r>
              <a:rPr lang="zh-CN" altLang="en-US" sz="2200" b="1" dirty="0">
                <a:solidFill>
                  <a:schemeClr val="tx1"/>
                </a:solidFill>
                <a:latin typeface="Century Gothic" panose="020B0502020202020204" pitchFamily="34" charset="0"/>
              </a:rPr>
              <a:t>操作数据库</a:t>
            </a:r>
            <a:r>
              <a:rPr lang="zh-CN" altLang="en-US" sz="2200" dirty="0">
                <a:solidFill>
                  <a:schemeClr val="tx1"/>
                </a:solidFill>
                <a:latin typeface="Century Gothic" panose="020B0502020202020204" pitchFamily="34" charset="0"/>
              </a:rPr>
              <a:t> </a:t>
            </a:r>
            <a:endParaRPr lang="zh-CN" altLang="en-US" sz="2200" dirty="0">
              <a:solidFill>
                <a:schemeClr val="tx1"/>
              </a:solidFill>
              <a:latin typeface="Century Gothic" panose="020B0502020202020204" pitchFamily="34" charset="0"/>
            </a:endParaRPr>
          </a:p>
        </p:txBody>
      </p:sp>
      <p:sp>
        <p:nvSpPr>
          <p:cNvPr id="58372" name="Rectangle 8"/>
          <p:cNvSpPr>
            <a:spLocks noChangeArrowheads="1"/>
          </p:cNvSpPr>
          <p:nvPr/>
        </p:nvSpPr>
        <p:spPr bwMode="auto">
          <a:xfrm>
            <a:off x="526058" y="1719115"/>
            <a:ext cx="826189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algn="just">
              <a:spcBef>
                <a:spcPct val="0"/>
              </a:spcBef>
              <a:buClrTx/>
              <a:buFontTx/>
              <a:buNone/>
            </a:pPr>
            <a:r>
              <a:rPr lang="en-US" altLang="zh-CN" sz="2000" b="1" dirty="0">
                <a:solidFill>
                  <a:schemeClr val="tx1"/>
                </a:solidFill>
              </a:rPr>
              <a:t>1. </a:t>
            </a:r>
            <a:r>
              <a:rPr lang="zh-CN" altLang="en-US" sz="2000" b="1" dirty="0">
                <a:solidFill>
                  <a:srgbClr val="030DCF"/>
                </a:solidFill>
              </a:rPr>
              <a:t>数据查询</a:t>
            </a:r>
            <a:r>
              <a:rPr lang="zh-CN" altLang="en-US" sz="2000" b="1" dirty="0">
                <a:solidFill>
                  <a:schemeClr val="tx1"/>
                </a:solidFill>
              </a:rPr>
              <a:t>：</a:t>
            </a:r>
            <a:r>
              <a:rPr lang="en-US" altLang="zh-CN" sz="2000" b="1" dirty="0">
                <a:solidFill>
                  <a:schemeClr val="tx1"/>
                </a:solidFill>
              </a:rPr>
              <a:t>SQL</a:t>
            </a:r>
            <a:r>
              <a:rPr lang="zh-CN" altLang="en-US" sz="2000" b="1" dirty="0">
                <a:solidFill>
                  <a:schemeClr val="tx1"/>
                </a:solidFill>
              </a:rPr>
              <a:t>语言使用</a:t>
            </a:r>
            <a:r>
              <a:rPr lang="en-US" altLang="zh-CN" sz="2000" b="1" dirty="0">
                <a:solidFill>
                  <a:srgbClr val="030DCF"/>
                </a:solidFill>
              </a:rPr>
              <a:t>SELECT</a:t>
            </a:r>
            <a:r>
              <a:rPr lang="zh-CN" altLang="en-US" sz="2000" b="1" dirty="0">
                <a:solidFill>
                  <a:schemeClr val="tx1"/>
                </a:solidFill>
              </a:rPr>
              <a:t>语句进行数据查询。例如，从</a:t>
            </a:r>
            <a:r>
              <a:rPr lang="en-US" altLang="zh-CN" sz="2000" b="1" dirty="0">
                <a:solidFill>
                  <a:schemeClr val="tx1"/>
                </a:solidFill>
              </a:rPr>
              <a:t>student</a:t>
            </a:r>
            <a:r>
              <a:rPr lang="zh-CN" altLang="en-US" sz="2000" b="1" dirty="0">
                <a:solidFill>
                  <a:schemeClr val="tx1"/>
                </a:solidFill>
              </a:rPr>
              <a:t>数据表中查找</a:t>
            </a:r>
            <a:r>
              <a:rPr lang="en-US" altLang="zh-CN" sz="2000" b="1" dirty="0">
                <a:solidFill>
                  <a:schemeClr val="tx1"/>
                </a:solidFill>
              </a:rPr>
              <a:t>080401</a:t>
            </a:r>
            <a:r>
              <a:rPr lang="zh-CN" altLang="en-US" sz="2000" b="1" dirty="0">
                <a:solidFill>
                  <a:schemeClr val="tx1"/>
                </a:solidFill>
              </a:rPr>
              <a:t>班级的所有学生，其</a:t>
            </a:r>
            <a:r>
              <a:rPr lang="en-US" altLang="zh-CN" sz="2000" b="1" dirty="0">
                <a:solidFill>
                  <a:schemeClr val="tx1"/>
                </a:solidFill>
              </a:rPr>
              <a:t>SQL</a:t>
            </a:r>
            <a:r>
              <a:rPr lang="zh-CN" altLang="en-US" sz="2000" b="1" dirty="0">
                <a:solidFill>
                  <a:schemeClr val="tx1"/>
                </a:solidFill>
              </a:rPr>
              <a:t>语句为：</a:t>
            </a:r>
            <a:endParaRPr lang="zh-CN" altLang="en-US" sz="2000" b="1" dirty="0">
              <a:solidFill>
                <a:schemeClr val="tx1"/>
              </a:solidFill>
            </a:endParaRPr>
          </a:p>
        </p:txBody>
      </p:sp>
      <p:pic>
        <p:nvPicPr>
          <p:cNvPr id="58373"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4265" y="2473842"/>
            <a:ext cx="3682602" cy="1074588"/>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
        <p:nvSpPr>
          <p:cNvPr id="3" name="矩形 2"/>
          <p:cNvSpPr/>
          <p:nvPr/>
        </p:nvSpPr>
        <p:spPr>
          <a:xfrm>
            <a:off x="595245" y="4227006"/>
            <a:ext cx="8192704" cy="1107996"/>
          </a:xfrm>
          <a:prstGeom prst="rect">
            <a:avLst/>
          </a:prstGeom>
        </p:spPr>
        <p:txBody>
          <a:bodyPr wrap="square">
            <a:spAutoFit/>
          </a:bodyPr>
          <a:lstStyle/>
          <a:p>
            <a:pPr>
              <a:lnSpc>
                <a:spcPct val="110000"/>
              </a:lnSpc>
              <a:spcBef>
                <a:spcPts val="450"/>
              </a:spcBef>
            </a:pPr>
            <a:r>
              <a:rPr lang="en-US" altLang="zh-CN" sz="2000" b="1" dirty="0"/>
              <a:t>2. </a:t>
            </a:r>
            <a:r>
              <a:rPr lang="zh-CN" altLang="en-US" sz="2000" b="1" dirty="0">
                <a:solidFill>
                  <a:srgbClr val="030DCF"/>
                </a:solidFill>
              </a:rPr>
              <a:t>数据更新</a:t>
            </a:r>
            <a:r>
              <a:rPr lang="zh-CN" altLang="en-US" sz="2000" b="1" dirty="0"/>
              <a:t>主要包括对记录进行</a:t>
            </a:r>
            <a:r>
              <a:rPr lang="zh-CN" altLang="en-US" sz="2000" b="1" dirty="0">
                <a:solidFill>
                  <a:srgbClr val="030DCF"/>
                </a:solidFill>
              </a:rPr>
              <a:t>增加</a:t>
            </a:r>
            <a:r>
              <a:rPr lang="en-US" altLang="zh-CN" sz="2000" b="1" dirty="0">
                <a:solidFill>
                  <a:srgbClr val="030DCF"/>
                </a:solidFill>
              </a:rPr>
              <a:t>(Insert)</a:t>
            </a:r>
            <a:r>
              <a:rPr lang="zh-CN" altLang="en-US" sz="2000" b="1" dirty="0">
                <a:solidFill>
                  <a:srgbClr val="030DCF"/>
                </a:solidFill>
              </a:rPr>
              <a:t>、删除</a:t>
            </a:r>
            <a:r>
              <a:rPr lang="en-US" altLang="zh-CN" sz="2000" b="1" dirty="0">
                <a:solidFill>
                  <a:srgbClr val="030DCF"/>
                </a:solidFill>
              </a:rPr>
              <a:t>(Delete)</a:t>
            </a:r>
            <a:r>
              <a:rPr lang="zh-CN" altLang="en-US" sz="2000" b="1" dirty="0">
                <a:solidFill>
                  <a:srgbClr val="030DCF"/>
                </a:solidFill>
              </a:rPr>
              <a:t>和修改</a:t>
            </a:r>
            <a:r>
              <a:rPr lang="en-US" altLang="zh-CN" sz="2000" b="1" dirty="0">
                <a:solidFill>
                  <a:srgbClr val="030DCF"/>
                </a:solidFill>
              </a:rPr>
              <a:t>(Update)</a:t>
            </a:r>
            <a:r>
              <a:rPr lang="zh-CN" altLang="en-US" sz="2000" b="1" dirty="0"/>
              <a:t>等操作。例如，在数据表</a:t>
            </a:r>
            <a:r>
              <a:rPr lang="en-US" altLang="zh-CN" sz="2000" b="1" dirty="0"/>
              <a:t>student</a:t>
            </a:r>
            <a:r>
              <a:rPr lang="zh-CN" altLang="en-US" sz="2000" b="1" dirty="0"/>
              <a:t>中删除陆宇同学的记录信息，其</a:t>
            </a:r>
            <a:r>
              <a:rPr lang="en-US" altLang="zh-CN" sz="2000" b="1" dirty="0"/>
              <a:t>SQL</a:t>
            </a:r>
            <a:r>
              <a:rPr lang="zh-CN" altLang="en-US" sz="2000" b="1" dirty="0"/>
              <a:t>语句为：</a:t>
            </a:r>
            <a:endParaRPr lang="zh-CN" altLang="en-US" sz="2000" b="1" dirty="0"/>
          </a:p>
        </p:txBody>
      </p:sp>
      <p:pic>
        <p:nvPicPr>
          <p:cNvPr id="11"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992" y="5348435"/>
            <a:ext cx="3168191" cy="1079012"/>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3"/>
          <p:cNvSpPr txBox="1">
            <a:spLocks noChangeArrowheads="1"/>
          </p:cNvSpPr>
          <p:nvPr/>
        </p:nvSpPr>
        <p:spPr bwMode="auto">
          <a:xfrm>
            <a:off x="475650" y="1345136"/>
            <a:ext cx="441840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Times New Roman" panose="02020603050405020304" pitchFamily="18"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Times New Roman" panose="02020603050405020304" pitchFamily="18"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Times New Roman" panose="02020603050405020304" pitchFamily="18"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Times New Roman" panose="02020603050405020304" pitchFamily="18"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Times New Roman" panose="02020603050405020304" pitchFamily="18" charset="0"/>
              </a:defRPr>
            </a:lvl9pPr>
          </a:lstStyle>
          <a:p>
            <a:pPr marL="342900" indent="-342900">
              <a:spcBef>
                <a:spcPct val="50000"/>
              </a:spcBef>
              <a:buClr>
                <a:srgbClr val="C00000"/>
              </a:buClr>
              <a:buFont typeface="Wingdings" panose="05000000000000000000" pitchFamily="2" charset="2"/>
              <a:buChar char="n"/>
            </a:pPr>
            <a:r>
              <a:rPr lang="zh-CN" altLang="en-US" sz="2200" b="1" dirty="0">
                <a:solidFill>
                  <a:schemeClr val="tx1"/>
                </a:solidFill>
              </a:rPr>
              <a:t>通过</a:t>
            </a:r>
            <a:r>
              <a:rPr lang="en-US" altLang="zh-CN" sz="2200" b="1" dirty="0">
                <a:solidFill>
                  <a:schemeClr val="tx1"/>
                </a:solidFill>
              </a:rPr>
              <a:t>SQL</a:t>
            </a:r>
            <a:r>
              <a:rPr lang="zh-CN" altLang="en-US" sz="2200" b="1" dirty="0">
                <a:solidFill>
                  <a:schemeClr val="tx1"/>
                </a:solidFill>
              </a:rPr>
              <a:t>语言</a:t>
            </a:r>
            <a:r>
              <a:rPr lang="zh-CN" altLang="en-US" sz="2200" b="1" dirty="0">
                <a:solidFill>
                  <a:schemeClr val="tx1"/>
                </a:solidFill>
                <a:latin typeface="Century Gothic" panose="020B0502020202020204" pitchFamily="34" charset="0"/>
              </a:rPr>
              <a:t>操作数据库</a:t>
            </a:r>
            <a:r>
              <a:rPr lang="zh-CN" altLang="en-US" sz="2200" dirty="0">
                <a:solidFill>
                  <a:schemeClr val="tx1"/>
                </a:solidFill>
                <a:latin typeface="Century Gothic" panose="020B0502020202020204" pitchFamily="34" charset="0"/>
              </a:rPr>
              <a:t> </a:t>
            </a:r>
            <a:endParaRPr lang="zh-CN" altLang="en-US" sz="2200" dirty="0">
              <a:solidFill>
                <a:schemeClr val="tx1"/>
              </a:solidFill>
              <a:latin typeface="Century Gothic" panose="020B0502020202020204" pitchFamily="34" charset="0"/>
            </a:endParaRPr>
          </a:p>
        </p:txBody>
      </p:sp>
      <p:sp>
        <p:nvSpPr>
          <p:cNvPr id="8" name="Rectangle 2"/>
          <p:cNvSpPr txBox="1">
            <a:spLocks noChangeArrowheads="1"/>
          </p:cNvSpPr>
          <p:nvPr/>
        </p:nvSpPr>
        <p:spPr>
          <a:xfrm>
            <a:off x="1182222" y="318403"/>
            <a:ext cx="3893344" cy="517922"/>
          </a:xfrm>
          <a:prstGeom prst="rect">
            <a:avLst/>
          </a:prstGeom>
        </p:spPr>
        <p:txBody>
          <a:bodyPr/>
          <a:lstStyle>
            <a:lvl1pPr algn="ctr" rtl="0" eaLnBrk="1" fontAlgn="base" hangingPunct="1">
              <a:spcBef>
                <a:spcPct val="0"/>
              </a:spcBef>
              <a:spcAft>
                <a:spcPct val="0"/>
              </a:spcAft>
              <a:defRPr sz="3300" kern="1200">
                <a:solidFill>
                  <a:schemeClr val="tx2"/>
                </a:solidFill>
                <a:latin typeface="+mj-lt"/>
                <a:ea typeface="+mj-ea"/>
                <a:cs typeface="+mj-cs"/>
              </a:defRPr>
            </a:lvl1pPr>
            <a:lvl2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5pPr>
            <a:lvl6pPr marL="3429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6pPr>
            <a:lvl7pPr marL="6858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7pPr>
            <a:lvl8pPr marL="10287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8pPr>
            <a:lvl9pPr marL="1371600" algn="ctr" rtl="0" eaLnBrk="1" fontAlgn="base" hangingPunct="1">
              <a:spcBef>
                <a:spcPct val="0"/>
              </a:spcBef>
              <a:spcAft>
                <a:spcPct val="0"/>
              </a:spcAft>
              <a:defRPr sz="3300">
                <a:solidFill>
                  <a:schemeClr val="tx2"/>
                </a:solidFill>
                <a:latin typeface="Arial" panose="020B0604020202020204" pitchFamily="34" charset="0"/>
                <a:ea typeface="宋体" panose="02010600030101010101" pitchFamily="2" charset="-122"/>
              </a:defRPr>
            </a:lvl9pPr>
          </a:lstStyle>
          <a:p>
            <a:pPr>
              <a:defRPr/>
            </a:pPr>
            <a:r>
              <a:rPr lang="zh-CN" altLang="en-US" sz="3000" b="1" dirty="0">
                <a:latin typeface="黑体" panose="02010609060101010101" pitchFamily="49" charset="-122"/>
                <a:ea typeface="黑体" panose="02010609060101010101" pitchFamily="49" charset="-122"/>
              </a:rPr>
              <a:t>４</a:t>
            </a:r>
            <a:r>
              <a:rPr lang="en-US" altLang="zh-CN" sz="3000" b="1" dirty="0">
                <a:latin typeface="黑体" panose="02010609060101010101" pitchFamily="49" charset="-122"/>
                <a:ea typeface="黑体" panose="02010609060101010101" pitchFamily="49" charset="-122"/>
              </a:rPr>
              <a:t>.3 </a:t>
            </a:r>
            <a:r>
              <a:rPr lang="zh-CN" altLang="en-US" sz="3000" b="1" dirty="0">
                <a:latin typeface="黑体" panose="02010609060101010101" pitchFamily="49" charset="-122"/>
                <a:ea typeface="黑体" panose="02010609060101010101" pitchFamily="49" charset="-122"/>
              </a:rPr>
              <a:t>关系数据库</a:t>
            </a:r>
            <a:endParaRPr lang="zh-CN" altLang="en-US" sz="3000" b="1" dirty="0">
              <a:latin typeface="黑体" panose="02010609060101010101" pitchFamily="49" charset="-122"/>
              <a:ea typeface="黑体" panose="02010609060101010101" pitchFamily="49" charset="-122"/>
            </a:endParaRPr>
          </a:p>
        </p:txBody>
      </p:sp>
      <p:sp>
        <p:nvSpPr>
          <p:cNvPr id="4" name="矩形 3"/>
          <p:cNvSpPr/>
          <p:nvPr/>
        </p:nvSpPr>
        <p:spPr>
          <a:xfrm>
            <a:off x="475648" y="1979665"/>
            <a:ext cx="8192704" cy="1015663"/>
          </a:xfrm>
          <a:prstGeom prst="rect">
            <a:avLst/>
          </a:prstGeom>
        </p:spPr>
        <p:txBody>
          <a:bodyPr wrap="square">
            <a:spAutoFit/>
          </a:bodyPr>
          <a:lstStyle/>
          <a:p>
            <a:r>
              <a:rPr lang="en-US" altLang="zh-CN" sz="2000" b="1" dirty="0"/>
              <a:t>3. </a:t>
            </a:r>
            <a:r>
              <a:rPr lang="zh-CN" altLang="en-US" sz="2000" b="1" dirty="0"/>
              <a:t>数据控制：实现用户对数据的存取权限进行控制，包括数据表的授权、完整性规则的描述和事务控制等。例如，把数据表</a:t>
            </a:r>
            <a:r>
              <a:rPr lang="en-US" altLang="zh-CN" sz="2000" b="1" dirty="0"/>
              <a:t>student</a:t>
            </a:r>
            <a:r>
              <a:rPr lang="zh-CN" altLang="en-US" sz="2000" b="1" dirty="0"/>
              <a:t>的</a:t>
            </a:r>
            <a:r>
              <a:rPr lang="zh-CN" altLang="en-US" sz="2000" b="1" dirty="0">
                <a:solidFill>
                  <a:srgbClr val="C00000"/>
                </a:solidFill>
              </a:rPr>
              <a:t>查询权限</a:t>
            </a:r>
            <a:r>
              <a:rPr lang="zh-CN" altLang="en-US" sz="2000" b="1" dirty="0"/>
              <a:t>授予用户</a:t>
            </a:r>
            <a:r>
              <a:rPr lang="en-US" altLang="zh-CN" sz="2000" b="1" dirty="0"/>
              <a:t>U2</a:t>
            </a:r>
            <a:r>
              <a:rPr lang="zh-CN" altLang="en-US" sz="2000" b="1" dirty="0"/>
              <a:t>，但不可以进行修改删除等操作。其</a:t>
            </a:r>
            <a:r>
              <a:rPr lang="en-US" altLang="zh-CN" sz="2000" b="1" dirty="0"/>
              <a:t>SQL</a:t>
            </a:r>
            <a:r>
              <a:rPr lang="zh-CN" altLang="en-US" sz="2000" b="1" dirty="0"/>
              <a:t>语句为：</a:t>
            </a:r>
            <a:endParaRPr lang="zh-CN" altLang="en-US" sz="2000" dirty="0"/>
          </a:p>
        </p:txBody>
      </p:sp>
      <p:pic>
        <p:nvPicPr>
          <p:cNvPr id="2"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55468" y="3174495"/>
            <a:ext cx="2806657" cy="964171"/>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5417" y="1199295"/>
            <a:ext cx="8781836" cy="2553335"/>
          </a:xfrm>
          <a:prstGeom prst="rect">
            <a:avLst/>
          </a:prstGeom>
        </p:spPr>
        <p:txBody>
          <a:bodyPr wrap="square">
            <a:spAutoFit/>
          </a:bodyPr>
          <a:lstStyle/>
          <a:p>
            <a:pPr algn="just">
              <a:defRPr/>
            </a:pPr>
            <a:r>
              <a:rPr lang="zh-CN" altLang="en-US" sz="2000" b="1" dirty="0">
                <a:solidFill>
                  <a:srgbClr val="000000"/>
                </a:solidFill>
                <a:latin typeface="+mn-ea"/>
                <a:sym typeface="微软雅黑" panose="020B0503020204020204" charset="-122"/>
              </a:rPr>
              <a:t>请设计一个车辆保险数据库，该数据库有三个实体，分别为：</a:t>
            </a:r>
            <a:endParaRPr lang="zh-CN" altLang="en-US" sz="2000" b="1" dirty="0">
              <a:solidFill>
                <a:srgbClr val="000000"/>
              </a:solidFill>
              <a:latin typeface="+mn-ea"/>
              <a:sym typeface="微软雅黑" panose="020B0503020204020204" charset="-122"/>
            </a:endParaRPr>
          </a:p>
          <a:p>
            <a:pPr algn="just">
              <a:defRPr/>
            </a:pPr>
            <a:r>
              <a:rPr lang="zh-CN" altLang="en-US" sz="2000" b="1" dirty="0">
                <a:solidFill>
                  <a:srgbClr val="3333FF"/>
                </a:solidFill>
                <a:latin typeface="+mn-ea"/>
                <a:sym typeface="微软雅黑" panose="020B0503020204020204" charset="-122"/>
              </a:rPr>
              <a:t>客户</a:t>
            </a:r>
            <a:r>
              <a:rPr lang="zh-CN" altLang="en-US" sz="2000" b="1" dirty="0">
                <a:solidFill>
                  <a:srgbClr val="000000"/>
                </a:solidFill>
                <a:latin typeface="+mn-ea"/>
                <a:sym typeface="微软雅黑" panose="020B0503020204020204" charset="-122"/>
              </a:rPr>
              <a:t>：姓名，身份证号，联系方式，性别</a:t>
            </a:r>
            <a:endParaRPr lang="zh-CN" altLang="en-US" sz="2000" b="1" dirty="0">
              <a:solidFill>
                <a:srgbClr val="000000"/>
              </a:solidFill>
              <a:latin typeface="+mn-ea"/>
              <a:sym typeface="微软雅黑" panose="020B0503020204020204" charset="-122"/>
            </a:endParaRPr>
          </a:p>
          <a:p>
            <a:pPr algn="just">
              <a:defRPr/>
            </a:pPr>
            <a:r>
              <a:rPr lang="zh-CN" altLang="en-US" sz="2000" b="1" dirty="0">
                <a:solidFill>
                  <a:srgbClr val="3333FF"/>
                </a:solidFill>
                <a:latin typeface="+mn-ea"/>
                <a:sym typeface="微软雅黑" panose="020B0503020204020204" charset="-122"/>
              </a:rPr>
              <a:t>车辆</a:t>
            </a:r>
            <a:r>
              <a:rPr lang="zh-CN" altLang="en-US" sz="2000" b="1" dirty="0">
                <a:solidFill>
                  <a:srgbClr val="000000"/>
                </a:solidFill>
                <a:latin typeface="+mn-ea"/>
                <a:sym typeface="微软雅黑" panose="020B0503020204020204" charset="-122"/>
              </a:rPr>
              <a:t>：车辆识别号、发动机号，车牌号，车型，排量，出厂年份</a:t>
            </a:r>
            <a:endParaRPr lang="zh-CN" altLang="en-US" sz="2000" b="1" dirty="0">
              <a:solidFill>
                <a:srgbClr val="000000"/>
              </a:solidFill>
              <a:latin typeface="+mn-ea"/>
              <a:sym typeface="微软雅黑" panose="020B0503020204020204" charset="-122"/>
            </a:endParaRPr>
          </a:p>
          <a:p>
            <a:pPr algn="just">
              <a:defRPr/>
            </a:pPr>
            <a:r>
              <a:rPr lang="zh-CN" altLang="en-US" sz="2000" b="1" dirty="0">
                <a:solidFill>
                  <a:srgbClr val="3333FF"/>
                </a:solidFill>
                <a:latin typeface="+mn-ea"/>
                <a:sym typeface="微软雅黑" panose="020B0503020204020204" charset="-122"/>
              </a:rPr>
              <a:t>保险单</a:t>
            </a:r>
            <a:r>
              <a:rPr lang="zh-CN" altLang="en-US" sz="2000" b="1" dirty="0">
                <a:solidFill>
                  <a:srgbClr val="000000"/>
                </a:solidFill>
                <a:latin typeface="+mn-ea"/>
                <a:sym typeface="微软雅黑" panose="020B0503020204020204" charset="-122"/>
              </a:rPr>
              <a:t>：保单号，保险类别，保险内容，保险项目，保险周期</a:t>
            </a:r>
            <a:endParaRPr lang="zh-CN" altLang="en-US" sz="2000" b="1" dirty="0">
              <a:solidFill>
                <a:srgbClr val="000000"/>
              </a:solidFill>
              <a:latin typeface="+mn-ea"/>
              <a:sym typeface="微软雅黑" panose="020B0503020204020204" charset="-122"/>
            </a:endParaRPr>
          </a:p>
          <a:p>
            <a:pPr algn="just">
              <a:defRPr/>
            </a:pPr>
            <a:r>
              <a:rPr lang="zh-CN" altLang="en-US" sz="2000" b="1" dirty="0">
                <a:solidFill>
                  <a:srgbClr val="FF0000"/>
                </a:solidFill>
                <a:latin typeface="+mn-ea"/>
                <a:sym typeface="微软雅黑" panose="020B0503020204020204" charset="-122"/>
              </a:rPr>
              <a:t>每个客户可以拥有多辆车，一辆车可以购买多个保险单</a:t>
            </a:r>
            <a:r>
              <a:rPr lang="zh-CN" altLang="en-US" sz="2000" b="1" dirty="0">
                <a:solidFill>
                  <a:srgbClr val="000000"/>
                </a:solidFill>
                <a:latin typeface="+mn-ea"/>
                <a:sym typeface="微软雅黑" panose="020B0503020204020204" charset="-122"/>
              </a:rPr>
              <a:t>，</a:t>
            </a:r>
            <a:r>
              <a:rPr lang="zh-CN" altLang="en-US" sz="2000" b="1" dirty="0">
                <a:solidFill>
                  <a:srgbClr val="3333FF"/>
                </a:solidFill>
                <a:latin typeface="+mn-ea"/>
                <a:sym typeface="微软雅黑" panose="020B0503020204020204" charset="-122"/>
              </a:rPr>
              <a:t>每次购买时存有开始日期和结束日期。</a:t>
            </a:r>
            <a:endParaRPr lang="zh-CN" altLang="en-US" sz="2000" b="1" dirty="0">
              <a:solidFill>
                <a:srgbClr val="3333FF"/>
              </a:solidFill>
              <a:latin typeface="+mn-ea"/>
              <a:sym typeface="微软雅黑" panose="020B0503020204020204" charset="-122"/>
            </a:endParaRPr>
          </a:p>
          <a:p>
            <a:pPr algn="just">
              <a:defRPr/>
            </a:pPr>
            <a:r>
              <a:rPr lang="zh-CN" altLang="en-US" sz="2000" b="1" dirty="0">
                <a:solidFill>
                  <a:srgbClr val="000000"/>
                </a:solidFill>
                <a:latin typeface="+mn-ea"/>
                <a:sym typeface="微软雅黑" panose="020B0503020204020204" charset="-122"/>
              </a:rPr>
              <a:t>（</a:t>
            </a:r>
            <a:r>
              <a:rPr lang="en-US" altLang="zh-CN" sz="2000" b="1" dirty="0">
                <a:solidFill>
                  <a:srgbClr val="000000"/>
                </a:solidFill>
                <a:latin typeface="+mn-ea"/>
                <a:sym typeface="微软雅黑" panose="020B0503020204020204" charset="-122"/>
              </a:rPr>
              <a:t>1</a:t>
            </a:r>
            <a:r>
              <a:rPr lang="zh-CN" altLang="en-US" sz="2000" b="1" dirty="0">
                <a:solidFill>
                  <a:srgbClr val="000000"/>
                </a:solidFill>
                <a:latin typeface="+mn-ea"/>
                <a:sym typeface="微软雅黑" panose="020B0503020204020204" charset="-122"/>
              </a:rPr>
              <a:t>）请画出</a:t>
            </a:r>
            <a:r>
              <a:rPr lang="en-US" altLang="zh-CN" sz="2000" b="1" dirty="0">
                <a:solidFill>
                  <a:srgbClr val="000000"/>
                </a:solidFill>
                <a:latin typeface="+mn-ea"/>
                <a:sym typeface="微软雅黑" panose="020B0503020204020204" charset="-122"/>
              </a:rPr>
              <a:t>E-R</a:t>
            </a:r>
            <a:r>
              <a:rPr lang="zh-CN" altLang="en-US" sz="2000" b="1" dirty="0">
                <a:solidFill>
                  <a:srgbClr val="000000"/>
                </a:solidFill>
                <a:latin typeface="+mn-ea"/>
                <a:sym typeface="微软雅黑" panose="020B0503020204020204" charset="-122"/>
              </a:rPr>
              <a:t>图。</a:t>
            </a:r>
            <a:endParaRPr lang="zh-CN" altLang="en-US" sz="2000" b="1" dirty="0">
              <a:solidFill>
                <a:srgbClr val="000000"/>
              </a:solidFill>
              <a:latin typeface="+mn-ea"/>
              <a:sym typeface="微软雅黑" panose="020B0503020204020204" charset="-122"/>
            </a:endParaRPr>
          </a:p>
          <a:p>
            <a:pPr algn="just">
              <a:defRPr/>
            </a:pPr>
            <a:r>
              <a:rPr lang="zh-CN" altLang="en-US" sz="2000" b="1" dirty="0">
                <a:solidFill>
                  <a:srgbClr val="000000"/>
                </a:solidFill>
                <a:latin typeface="+mn-ea"/>
                <a:sym typeface="微软雅黑" panose="020B0503020204020204" charset="-122"/>
              </a:rPr>
              <a:t>（</a:t>
            </a:r>
            <a:r>
              <a:rPr lang="en-US" altLang="zh-CN" sz="2000" b="1" dirty="0">
                <a:solidFill>
                  <a:srgbClr val="000000"/>
                </a:solidFill>
                <a:latin typeface="+mn-ea"/>
                <a:sym typeface="微软雅黑" panose="020B0503020204020204" charset="-122"/>
              </a:rPr>
              <a:t>2</a:t>
            </a:r>
            <a:r>
              <a:rPr lang="zh-CN" altLang="en-US" sz="2000" b="1" dirty="0">
                <a:solidFill>
                  <a:srgbClr val="000000"/>
                </a:solidFill>
                <a:latin typeface="+mn-ea"/>
                <a:sym typeface="微软雅黑" panose="020B0503020204020204" charset="-122"/>
              </a:rPr>
              <a:t>）请将</a:t>
            </a:r>
            <a:r>
              <a:rPr lang="en-US" altLang="zh-CN" sz="2000" b="1" dirty="0">
                <a:solidFill>
                  <a:srgbClr val="000000"/>
                </a:solidFill>
                <a:latin typeface="+mn-ea"/>
                <a:sym typeface="微软雅黑" panose="020B0503020204020204" charset="-122"/>
              </a:rPr>
              <a:t>E-R</a:t>
            </a:r>
            <a:r>
              <a:rPr lang="zh-CN" altLang="en-US" sz="2000" b="1" dirty="0">
                <a:solidFill>
                  <a:srgbClr val="000000"/>
                </a:solidFill>
                <a:latin typeface="+mn-ea"/>
                <a:sym typeface="微软雅黑" panose="020B0503020204020204" charset="-122"/>
              </a:rPr>
              <a:t>模型转换为关系模式，并指出每个关系的主键和外键。</a:t>
            </a:r>
            <a:endParaRPr lang="en-US" altLang="zh-CN" sz="2000" b="1" dirty="0">
              <a:solidFill>
                <a:srgbClr val="000000"/>
              </a:solidFill>
              <a:latin typeface="+mn-ea"/>
              <a:sym typeface="微软雅黑" panose="020B0503020204020204" charset="-122"/>
            </a:endParaRPr>
          </a:p>
        </p:txBody>
      </p:sp>
      <p:sp>
        <p:nvSpPr>
          <p:cNvPr id="3" name="文本框 2"/>
          <p:cNvSpPr txBox="1"/>
          <p:nvPr/>
        </p:nvSpPr>
        <p:spPr>
          <a:xfrm>
            <a:off x="1043623" y="320728"/>
            <a:ext cx="5122068" cy="553998"/>
          </a:xfrm>
          <a:prstGeom prst="rect">
            <a:avLst/>
          </a:prstGeom>
          <a:noFill/>
        </p:spPr>
        <p:txBody>
          <a:bodyPr wrap="square" rtlCol="0">
            <a:spAutoFit/>
          </a:bodyPr>
          <a:lstStyle/>
          <a:p>
            <a:r>
              <a:rPr lang="zh-CN" altLang="en-US" sz="3000" b="1" dirty="0"/>
              <a:t>习题</a:t>
            </a:r>
            <a:endParaRPr lang="zh-CN" altLang="en-US" sz="3000" b="1" dirty="0"/>
          </a:p>
        </p:txBody>
      </p:sp>
      <p:pic>
        <p:nvPicPr>
          <p:cNvPr id="8194" name="Picture 2" descr="https://p.ananas.chaoxing.com/star3/origin/729ec425a3879644fd53d985a3244fea.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45110" y="3724063"/>
            <a:ext cx="5573516" cy="287743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45417" y="4803616"/>
            <a:ext cx="5848773" cy="1785104"/>
          </a:xfrm>
          <a:prstGeom prst="rect">
            <a:avLst/>
          </a:prstGeom>
        </p:spPr>
        <p:txBody>
          <a:bodyPr wrap="square">
            <a:spAutoFit/>
          </a:bodyPr>
          <a:lstStyle/>
          <a:p>
            <a:pPr>
              <a:lnSpc>
                <a:spcPct val="110000"/>
              </a:lnSpc>
              <a:spcBef>
                <a:spcPts val="600"/>
              </a:spcBef>
            </a:pPr>
            <a:r>
              <a:rPr lang="zh-CN" altLang="en-US" sz="2000" b="1" dirty="0"/>
              <a:t>客户表</a:t>
            </a:r>
            <a:r>
              <a:rPr lang="en-US" altLang="zh-CN" sz="2000" b="1" dirty="0"/>
              <a:t>(</a:t>
            </a:r>
            <a:r>
              <a:rPr lang="zh-CN" altLang="en-US" sz="2000" b="1" u="sng" dirty="0"/>
              <a:t>身份证号</a:t>
            </a:r>
            <a:r>
              <a:rPr lang="en-US" altLang="zh-CN" sz="2000" b="1" dirty="0"/>
              <a:t>,</a:t>
            </a:r>
            <a:r>
              <a:rPr lang="zh-CN" altLang="en-US" sz="2000" b="1" dirty="0"/>
              <a:t>姓名</a:t>
            </a:r>
            <a:r>
              <a:rPr lang="en-US" altLang="zh-CN" sz="2000" b="1" dirty="0"/>
              <a:t>,</a:t>
            </a:r>
            <a:r>
              <a:rPr lang="zh-CN" altLang="en-US" sz="2000" b="1" dirty="0"/>
              <a:t>联系方式</a:t>
            </a:r>
            <a:r>
              <a:rPr lang="en-US" altLang="zh-CN" sz="2000" b="1" dirty="0"/>
              <a:t>,</a:t>
            </a:r>
            <a:r>
              <a:rPr lang="zh-CN" altLang="en-US" sz="2000" b="1" dirty="0"/>
              <a:t>性别</a:t>
            </a:r>
            <a:r>
              <a:rPr lang="en-US" altLang="zh-CN" sz="2000" b="1" dirty="0"/>
              <a:t>)</a:t>
            </a:r>
            <a:br>
              <a:rPr lang="en-US" altLang="zh-CN" sz="2000" b="1" dirty="0"/>
            </a:br>
            <a:r>
              <a:rPr lang="zh-CN" altLang="en-US" sz="2000" b="1" dirty="0"/>
              <a:t>车辆表</a:t>
            </a:r>
            <a:r>
              <a:rPr lang="en-US" altLang="zh-CN" sz="2000" b="1" dirty="0"/>
              <a:t>(</a:t>
            </a:r>
            <a:r>
              <a:rPr lang="zh-CN" altLang="en-US" sz="2000" b="1" u="sng" dirty="0"/>
              <a:t>车辆识别号</a:t>
            </a:r>
            <a:r>
              <a:rPr lang="en-US" altLang="zh-CN" sz="2000" b="1" dirty="0"/>
              <a:t>,</a:t>
            </a:r>
            <a:r>
              <a:rPr lang="zh-CN" altLang="en-US" sz="2000" b="1" dirty="0"/>
              <a:t>发动机号</a:t>
            </a:r>
            <a:r>
              <a:rPr lang="en-US" altLang="zh-CN" sz="2000" b="1" dirty="0"/>
              <a:t>,</a:t>
            </a:r>
            <a:r>
              <a:rPr lang="zh-CN" altLang="en-US" sz="2000" b="1" dirty="0"/>
              <a:t>车牌号</a:t>
            </a:r>
            <a:r>
              <a:rPr lang="en-US" altLang="zh-CN" sz="2000" b="1" dirty="0"/>
              <a:t>,</a:t>
            </a:r>
            <a:r>
              <a:rPr lang="zh-CN" altLang="en-US" sz="2000" b="1" dirty="0"/>
              <a:t>车型</a:t>
            </a:r>
            <a:r>
              <a:rPr lang="en-US" altLang="zh-CN" sz="2000" b="1" dirty="0"/>
              <a:t>,</a:t>
            </a:r>
            <a:r>
              <a:rPr lang="zh-CN" altLang="en-US" sz="2000" b="1" dirty="0"/>
              <a:t>排量</a:t>
            </a:r>
            <a:r>
              <a:rPr lang="en-US" altLang="zh-CN" sz="2000" b="1" dirty="0"/>
              <a:t>,</a:t>
            </a:r>
            <a:r>
              <a:rPr lang="zh-CN" altLang="en-US" sz="2000" b="1" dirty="0"/>
              <a:t>出厂年份</a:t>
            </a:r>
            <a:r>
              <a:rPr lang="en-US" altLang="zh-CN" sz="2000" b="1" dirty="0"/>
              <a:t>,</a:t>
            </a:r>
            <a:r>
              <a:rPr lang="zh-CN" altLang="en-US" sz="2000" b="1" dirty="0">
                <a:solidFill>
                  <a:srgbClr val="FF0000"/>
                </a:solidFill>
                <a:highlight>
                  <a:srgbClr val="FFFF00"/>
                </a:highlight>
              </a:rPr>
              <a:t>身份证号</a:t>
            </a:r>
            <a:r>
              <a:rPr lang="en-US" altLang="zh-CN" sz="2000" b="1" dirty="0"/>
              <a:t>)</a:t>
            </a:r>
            <a:br>
              <a:rPr lang="en-US" altLang="zh-CN" sz="2000" b="1" dirty="0"/>
            </a:br>
            <a:r>
              <a:rPr lang="zh-CN" altLang="en-US" sz="2000" b="1" dirty="0"/>
              <a:t>保险单表</a:t>
            </a:r>
            <a:r>
              <a:rPr lang="en-US" altLang="zh-CN" sz="2000" b="1" dirty="0"/>
              <a:t>(</a:t>
            </a:r>
            <a:r>
              <a:rPr lang="zh-CN" altLang="en-US" sz="2000" b="1" u="sng" dirty="0"/>
              <a:t>保单号</a:t>
            </a:r>
            <a:r>
              <a:rPr lang="en-US" altLang="zh-CN" sz="2000" b="1" dirty="0"/>
              <a:t>,</a:t>
            </a:r>
            <a:r>
              <a:rPr lang="zh-CN" altLang="en-US" sz="2000" b="1" dirty="0"/>
              <a:t>保险类别</a:t>
            </a:r>
            <a:r>
              <a:rPr lang="en-US" altLang="zh-CN" sz="2000" b="1" dirty="0"/>
              <a:t>,</a:t>
            </a:r>
            <a:r>
              <a:rPr lang="zh-CN" altLang="en-US" sz="2000" b="1" dirty="0"/>
              <a:t>保险内容</a:t>
            </a:r>
            <a:r>
              <a:rPr lang="en-US" altLang="zh-CN" sz="2000" b="1" dirty="0"/>
              <a:t>,</a:t>
            </a:r>
            <a:r>
              <a:rPr lang="zh-CN" altLang="en-US" sz="2000" b="1" dirty="0"/>
              <a:t>保险项目</a:t>
            </a:r>
            <a:r>
              <a:rPr lang="en-US" altLang="zh-CN" sz="2000" b="1" dirty="0"/>
              <a:t>,</a:t>
            </a:r>
            <a:r>
              <a:rPr lang="zh-CN" altLang="en-US" sz="2000" b="1" dirty="0"/>
              <a:t>保险周期</a:t>
            </a:r>
            <a:r>
              <a:rPr lang="en-US" altLang="zh-CN" sz="2000" b="1" dirty="0"/>
              <a:t>,</a:t>
            </a:r>
            <a:r>
              <a:rPr lang="zh-CN" altLang="en-US" sz="2000" b="1" dirty="0">
                <a:solidFill>
                  <a:srgbClr val="FF0000"/>
                </a:solidFill>
                <a:highlight>
                  <a:srgbClr val="FFFF00"/>
                </a:highlight>
              </a:rPr>
              <a:t>车辆识别号</a:t>
            </a:r>
            <a:r>
              <a:rPr lang="en-US" altLang="zh-CN" sz="2000" b="1" dirty="0">
                <a:solidFill>
                  <a:srgbClr val="FF0000"/>
                </a:solidFill>
              </a:rPr>
              <a:t>,</a:t>
            </a:r>
            <a:r>
              <a:rPr lang="zh-CN" altLang="en-US" sz="2000" b="1" dirty="0">
                <a:solidFill>
                  <a:srgbClr val="FF0000"/>
                </a:solidFill>
              </a:rPr>
              <a:t>开始日期</a:t>
            </a:r>
            <a:r>
              <a:rPr lang="en-US" altLang="zh-CN" sz="2000" b="1" dirty="0">
                <a:solidFill>
                  <a:srgbClr val="FF0000"/>
                </a:solidFill>
              </a:rPr>
              <a:t>,</a:t>
            </a:r>
            <a:r>
              <a:rPr lang="zh-CN" altLang="en-US" sz="2000" b="1" dirty="0">
                <a:solidFill>
                  <a:srgbClr val="FF0000"/>
                </a:solidFill>
              </a:rPr>
              <a:t>结束日期</a:t>
            </a:r>
            <a:r>
              <a:rPr lang="en-US" altLang="zh-CN" sz="2000" b="1" dirty="0"/>
              <a:t>)</a:t>
            </a:r>
            <a:endParaRPr lang="zh-CN" altLang="en-US" sz="2000" b="1" dirty="0"/>
          </a:p>
        </p:txBody>
      </p:sp>
      <p:sp>
        <p:nvSpPr>
          <p:cNvPr id="6" name="文本框 5"/>
          <p:cNvSpPr txBox="1"/>
          <p:nvPr/>
        </p:nvSpPr>
        <p:spPr>
          <a:xfrm>
            <a:off x="3900277" y="2878794"/>
            <a:ext cx="4187825" cy="400050"/>
          </a:xfrm>
          <a:prstGeom prst="rect">
            <a:avLst/>
          </a:prstGeom>
          <a:noFill/>
        </p:spPr>
        <p:txBody>
          <a:bodyPr>
            <a:spAutoFit/>
          </a:bodyPr>
          <a:lstStyle/>
          <a:p>
            <a:pPr>
              <a:defRPr/>
            </a:pPr>
            <a:r>
              <a:rPr lang="zh-CN" altLang="en-US" sz="2000" b="1" dirty="0">
                <a:solidFill>
                  <a:srgbClr val="C00000"/>
                </a:solidFill>
                <a:latin typeface="+mn-lt"/>
              </a:rPr>
              <a:t>关系类型</a:t>
            </a:r>
            <a:r>
              <a:rPr lang="en-US" altLang="zh-CN" sz="2000" b="1" dirty="0">
                <a:solidFill>
                  <a:srgbClr val="C00000"/>
                </a:solidFill>
                <a:latin typeface="+mn-lt"/>
              </a:rPr>
              <a:t>1</a:t>
            </a:r>
            <a:r>
              <a:rPr lang="zh-CN" altLang="en-US" sz="2000" b="1" dirty="0">
                <a:solidFill>
                  <a:srgbClr val="C00000"/>
                </a:solidFill>
                <a:latin typeface="+mn-lt"/>
              </a:rPr>
              <a:t>：</a:t>
            </a:r>
            <a:r>
              <a:rPr lang="en-US" altLang="zh-CN" sz="2000" b="1" dirty="0">
                <a:solidFill>
                  <a:srgbClr val="C00000"/>
                </a:solidFill>
                <a:latin typeface="+mn-lt"/>
              </a:rPr>
              <a:t>n</a:t>
            </a:r>
            <a:r>
              <a:rPr lang="zh-CN" altLang="en-US" sz="2000" b="1" dirty="0">
                <a:solidFill>
                  <a:srgbClr val="C00000"/>
                </a:solidFill>
                <a:latin typeface="+mn-lt"/>
              </a:rPr>
              <a:t>，与</a:t>
            </a:r>
            <a:r>
              <a:rPr lang="en-US" altLang="zh-CN" sz="2000" b="1" dirty="0">
                <a:solidFill>
                  <a:srgbClr val="C00000"/>
                </a:solidFill>
                <a:latin typeface="+mn-lt"/>
              </a:rPr>
              <a:t>n</a:t>
            </a:r>
            <a:r>
              <a:rPr lang="zh-CN" altLang="en-US" sz="2000" b="1" dirty="0">
                <a:solidFill>
                  <a:srgbClr val="C00000"/>
                </a:solidFill>
                <a:latin typeface="+mn-lt"/>
              </a:rPr>
              <a:t>端合并</a:t>
            </a:r>
            <a:endParaRPr lang="zh-CN" altLang="en-US" sz="2000" b="1" dirty="0">
              <a:solidFill>
                <a:srgbClr val="C00000"/>
              </a:solidFill>
              <a:latin typeface="+mn-lt"/>
            </a:endParaRPr>
          </a:p>
        </p:txBody>
      </p:sp>
      <p:cxnSp>
        <p:nvCxnSpPr>
          <p:cNvPr id="7" name="直接箭头连接符 6"/>
          <p:cNvCxnSpPr/>
          <p:nvPr/>
        </p:nvCxnSpPr>
        <p:spPr>
          <a:xfrm flipH="1">
            <a:off x="5528282" y="3278844"/>
            <a:ext cx="48860" cy="874347"/>
          </a:xfrm>
          <a:prstGeom prst="straightConnector1">
            <a:avLst/>
          </a:prstGeom>
          <a:ln w="38100">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5577142" y="3295438"/>
            <a:ext cx="1235487" cy="875340"/>
          </a:xfrm>
          <a:prstGeom prst="straightConnector1">
            <a:avLst/>
          </a:prstGeom>
          <a:ln w="38100">
            <a:solidFill>
              <a:srgbClr val="3333FF"/>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1000"/>
                                        <p:tgtEl>
                                          <p:spTgt spid="8194"/>
                                        </p:tgtEl>
                                      </p:cBhvr>
                                    </p:animEffect>
                                    <p:anim calcmode="lin" valueType="num">
                                      <p:cBhvr>
                                        <p:cTn id="8" dur="1000" fill="hold"/>
                                        <p:tgtEl>
                                          <p:spTgt spid="8194"/>
                                        </p:tgtEl>
                                        <p:attrNameLst>
                                          <p:attrName>ppt_x</p:attrName>
                                        </p:attrNameLst>
                                      </p:cBhvr>
                                      <p:tavLst>
                                        <p:tav tm="0">
                                          <p:val>
                                            <p:strVal val="#ppt_x"/>
                                          </p:val>
                                        </p:tav>
                                        <p:tav tm="100000">
                                          <p:val>
                                            <p:strVal val="#ppt_x"/>
                                          </p:val>
                                        </p:tav>
                                      </p:tavLst>
                                    </p:anim>
                                    <p:anim calcmode="lin" valueType="num">
                                      <p:cBhvr>
                                        <p:cTn id="9" dur="1000" fill="hold"/>
                                        <p:tgtEl>
                                          <p:spTgt spid="819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1"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6"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043623" y="320728"/>
            <a:ext cx="5122068" cy="553085"/>
          </a:xfrm>
          <a:prstGeom prst="rect">
            <a:avLst/>
          </a:prstGeom>
          <a:noFill/>
        </p:spPr>
        <p:txBody>
          <a:bodyPr wrap="square" rtlCol="0">
            <a:spAutoFit/>
          </a:bodyPr>
          <a:lstStyle/>
          <a:p>
            <a:r>
              <a:rPr lang="zh-CN" altLang="en-US" sz="3000" b="1" dirty="0"/>
              <a:t>小结</a:t>
            </a:r>
            <a:endParaRPr lang="zh-CN" altLang="en-US" sz="3000" b="1" dirty="0"/>
          </a:p>
        </p:txBody>
      </p:sp>
      <p:pic>
        <p:nvPicPr>
          <p:cNvPr id="15" name="Picture 7" descr="1t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2840" y="3211195"/>
            <a:ext cx="6646545" cy="2251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777240" y="1558925"/>
            <a:ext cx="7722235" cy="1198880"/>
          </a:xfrm>
          <a:prstGeom prst="rect">
            <a:avLst/>
          </a:prstGeom>
          <a:noFill/>
        </p:spPr>
        <p:txBody>
          <a:bodyPr wrap="square" rtlCol="0">
            <a:spAutoFit/>
          </a:bodyPr>
          <a:p>
            <a:pPr indent="0" fontAlgn="auto">
              <a:lnSpc>
                <a:spcPct val="150000"/>
              </a:lnSpc>
            </a:pPr>
            <a:r>
              <a:rPr lang="en-US" altLang="zh-CN" sz="2400">
                <a:latin typeface="微软雅黑" panose="020B0503020204020204" charset="-122"/>
                <a:ea typeface="微软雅黑" panose="020B0503020204020204" charset="-122"/>
              </a:rPr>
              <a:t>       </a:t>
            </a:r>
            <a:r>
              <a:rPr lang="zh-CN" altLang="en-US" sz="2400">
                <a:latin typeface="微软雅黑" panose="020B0503020204020204" charset="-122"/>
                <a:ea typeface="微软雅黑" panose="020B0503020204020204" charset="-122"/>
              </a:rPr>
              <a:t>数据的管理即实现数据从现实世界到计算机的不断抽象、数据化的过程。</a:t>
            </a:r>
            <a:endParaRPr lang="zh-CN" altLang="en-US" sz="2400">
              <a:latin typeface="微软雅黑" panose="020B0503020204020204" charset="-122"/>
              <a:ea typeface="微软雅黑" panose="020B0503020204020204" charset="-122"/>
            </a:endParaRPr>
          </a:p>
        </p:txBody>
      </p:sp>
      <p:sp>
        <p:nvSpPr>
          <p:cNvPr id="4" name="文本框 3"/>
          <p:cNvSpPr txBox="1"/>
          <p:nvPr/>
        </p:nvSpPr>
        <p:spPr>
          <a:xfrm>
            <a:off x="3612515" y="5574030"/>
            <a:ext cx="1706245" cy="368300"/>
          </a:xfrm>
          <a:prstGeom prst="rect">
            <a:avLst/>
          </a:prstGeom>
          <a:noFill/>
        </p:spPr>
        <p:txBody>
          <a:bodyPr wrap="square" rtlCol="0">
            <a:spAutoFit/>
          </a:bodyPr>
          <a:p>
            <a:pPr algn="ctr"/>
            <a:r>
              <a:rPr lang="en-US" altLang="zh-CN" b="1">
                <a:solidFill>
                  <a:srgbClr val="3333FF"/>
                </a:solidFill>
                <a:latin typeface="微软雅黑" panose="020B0503020204020204" charset="-122"/>
                <a:ea typeface="微软雅黑" panose="020B0503020204020204" charset="-122"/>
                <a:cs typeface="微软雅黑" panose="020B0503020204020204" charset="-122"/>
              </a:rPr>
              <a:t>E-R</a:t>
            </a:r>
            <a:r>
              <a:rPr lang="zh-CN" altLang="en-US" b="1">
                <a:solidFill>
                  <a:srgbClr val="3333FF"/>
                </a:solidFill>
                <a:latin typeface="微软雅黑" panose="020B0503020204020204" charset="-122"/>
                <a:ea typeface="微软雅黑" panose="020B0503020204020204" charset="-122"/>
                <a:cs typeface="微软雅黑" panose="020B0503020204020204" charset="-122"/>
              </a:rPr>
              <a:t>图</a:t>
            </a:r>
            <a:endParaRPr lang="zh-CN" altLang="en-US" b="1">
              <a:solidFill>
                <a:srgbClr val="3333FF"/>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6165850" y="5574030"/>
            <a:ext cx="1706245" cy="368300"/>
          </a:xfrm>
          <a:prstGeom prst="rect">
            <a:avLst/>
          </a:prstGeom>
          <a:noFill/>
        </p:spPr>
        <p:txBody>
          <a:bodyPr wrap="square" rtlCol="0">
            <a:spAutoFit/>
          </a:bodyPr>
          <a:p>
            <a:pPr algn="ctr"/>
            <a:r>
              <a:rPr lang="zh-CN" altLang="en-US" b="1">
                <a:solidFill>
                  <a:srgbClr val="3333FF"/>
                </a:solidFill>
                <a:latin typeface="微软雅黑" panose="020B0503020204020204" charset="-122"/>
                <a:ea typeface="微软雅黑" panose="020B0503020204020204" charset="-122"/>
              </a:rPr>
              <a:t>关系数据库表</a:t>
            </a:r>
            <a:endParaRPr lang="zh-CN" altLang="en-US" b="1">
              <a:solidFill>
                <a:srgbClr val="3333FF"/>
              </a:solidFill>
              <a:latin typeface="微软雅黑" panose="020B0503020204020204" charset="-122"/>
              <a:ea typeface="微软雅黑" panose="020B0503020204020204" charset="-122"/>
            </a:endParaRPr>
          </a:p>
        </p:txBody>
      </p:sp>
      <p:sp>
        <p:nvSpPr>
          <p:cNvPr id="6" name="文本框 5"/>
          <p:cNvSpPr txBox="1"/>
          <p:nvPr/>
        </p:nvSpPr>
        <p:spPr>
          <a:xfrm>
            <a:off x="1059180" y="5574030"/>
            <a:ext cx="1706245" cy="368300"/>
          </a:xfrm>
          <a:prstGeom prst="rect">
            <a:avLst/>
          </a:prstGeom>
          <a:noFill/>
        </p:spPr>
        <p:txBody>
          <a:bodyPr wrap="square" rtlCol="0">
            <a:spAutoFit/>
          </a:bodyPr>
          <a:p>
            <a:pPr algn="ctr"/>
            <a:r>
              <a:rPr lang="zh-CN" altLang="en-US" b="1">
                <a:solidFill>
                  <a:srgbClr val="3333FF"/>
                </a:solidFill>
                <a:latin typeface="微软雅黑" panose="020B0503020204020204" charset="-122"/>
                <a:ea typeface="微软雅黑" panose="020B0503020204020204" charset="-122"/>
              </a:rPr>
              <a:t>需管理的实务</a:t>
            </a:r>
            <a:endParaRPr lang="zh-CN" altLang="en-US" b="1">
              <a:solidFill>
                <a:srgbClr val="3333FF"/>
              </a:solidFill>
              <a:latin typeface="微软雅黑" panose="020B0503020204020204" charset="-122"/>
              <a:ea typeface="微软雅黑" panose="020B050302020402020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49735" y="3139902"/>
            <a:ext cx="4422590" cy="1084912"/>
          </a:xfrm>
          <a:prstGeom prst="rect">
            <a:avLst/>
          </a:prstGeom>
          <a:noFill/>
        </p:spPr>
        <p:txBody>
          <a:bodyPr wrap="square" lIns="68580" tIns="34290" rIns="68580" bIns="34290">
            <a:spAutoFit/>
          </a:bodyPr>
          <a:lstStyle/>
          <a:p>
            <a:pPr algn="ctr"/>
            <a:r>
              <a:rPr lang="zh-CN" altLang="en-US" sz="6600" b="1" dirty="0">
                <a:ln w="6600">
                  <a:solidFill>
                    <a:schemeClr val="accent2"/>
                  </a:solidFill>
                  <a:prstDash val="solid"/>
                </a:ln>
                <a:solidFill>
                  <a:srgbClr val="FFFFFF"/>
                </a:solidFill>
                <a:effectLst>
                  <a:outerShdw dist="38100" dir="2700000" algn="tl" rotWithShape="0">
                    <a:schemeClr val="accent2"/>
                  </a:outerShdw>
                </a:effectLst>
              </a:rPr>
              <a:t>谢谢！</a:t>
            </a:r>
            <a:endParaRPr lang="zh-CN" altLang="en-US" sz="6600" b="1"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主题1">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9565</Words>
  <Application>WPS 演示</Application>
  <PresentationFormat>全屏显示(4:3)</PresentationFormat>
  <Paragraphs>1400</Paragraphs>
  <Slides>65</Slides>
  <Notes>24</Notes>
  <HiddenSlides>5</HiddenSlides>
  <MMClips>0</MMClips>
  <ScaleCrop>false</ScaleCrop>
  <HeadingPairs>
    <vt:vector size="8" baseType="variant">
      <vt:variant>
        <vt:lpstr>已用的字体</vt:lpstr>
      </vt:variant>
      <vt:variant>
        <vt:i4>25</vt:i4>
      </vt:variant>
      <vt:variant>
        <vt:lpstr>主题</vt:lpstr>
      </vt:variant>
      <vt:variant>
        <vt:i4>2</vt:i4>
      </vt:variant>
      <vt:variant>
        <vt:lpstr>嵌入 OLE 服务器</vt:lpstr>
      </vt:variant>
      <vt:variant>
        <vt:i4>3</vt:i4>
      </vt:variant>
      <vt:variant>
        <vt:lpstr>幻灯片标题</vt:lpstr>
      </vt:variant>
      <vt:variant>
        <vt:i4>65</vt:i4>
      </vt:variant>
    </vt:vector>
  </HeadingPairs>
  <TitlesOfParts>
    <vt:vector size="95" baseType="lpstr">
      <vt:lpstr>Arial</vt:lpstr>
      <vt:lpstr>宋体</vt:lpstr>
      <vt:lpstr>Wingdings</vt:lpstr>
      <vt:lpstr>等线</vt:lpstr>
      <vt:lpstr>黑体</vt:lpstr>
      <vt:lpstr>Times New Roman</vt:lpstr>
      <vt:lpstr></vt:lpstr>
      <vt:lpstr>Segoe Print</vt:lpstr>
      <vt:lpstr>楷体_GB2312</vt:lpstr>
      <vt:lpstr>Verdana</vt:lpstr>
      <vt:lpstr>仿宋_GB2312</vt:lpstr>
      <vt:lpstr>仿宋</vt:lpstr>
      <vt:lpstr>Tahoma</vt:lpstr>
      <vt:lpstr>微软雅黑</vt:lpstr>
      <vt:lpstr>Arial Unicode MS</vt:lpstr>
      <vt:lpstr>MingLiU</vt:lpstr>
      <vt:lpstr>PMingLiU-ExtB</vt:lpstr>
      <vt:lpstr>CommercialPi BT</vt:lpstr>
      <vt:lpstr>Wingdings 3</vt:lpstr>
      <vt:lpstr>Century Gothic</vt:lpstr>
      <vt:lpstr>Times New Roman</vt:lpstr>
      <vt:lpstr>新宋体</vt:lpstr>
      <vt:lpstr>Calibri</vt:lpstr>
      <vt:lpstr>MingLiU-ExtB</vt:lpstr>
      <vt:lpstr>Melanie BT Std Roman</vt:lpstr>
      <vt:lpstr>主题1</vt:lpstr>
      <vt:lpstr>1_默认设计模板</vt:lpstr>
      <vt:lpstr>MS_ClipArt_Gallery.5</vt:lpstr>
      <vt:lpstr>MS_ClipArt_Gallery.5</vt:lpstr>
      <vt:lpstr>MS_ClipArt_Gallery.5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4.1数据管理基本概念</vt:lpstr>
      <vt:lpstr>4.1数据管理基本概念</vt:lpstr>
      <vt:lpstr>PowerPoint 演示文稿</vt:lpstr>
      <vt:lpstr>PowerPoint 演示文稿</vt:lpstr>
      <vt:lpstr>PowerPoint 演示文稿</vt:lpstr>
      <vt:lpstr>4.1数据管理基本概念</vt:lpstr>
      <vt:lpstr>4.1数据管理基本概念</vt:lpstr>
      <vt:lpstr>4.1数据管理基本概念</vt:lpstr>
      <vt:lpstr>PowerPoint 演示文稿</vt:lpstr>
      <vt:lpstr>PowerPoint 演示文稿</vt:lpstr>
      <vt:lpstr>PowerPoint 演示文稿</vt:lpstr>
      <vt:lpstr>４.2 数据表示</vt:lpstr>
      <vt:lpstr>４.2 数据表示</vt:lpstr>
      <vt:lpstr>４.2 数据表示</vt:lpstr>
      <vt:lpstr>４.2 数据表示</vt:lpstr>
      <vt:lpstr>４.2 数据表示</vt:lpstr>
      <vt:lpstr>４.3 关系数据库</vt:lpstr>
      <vt:lpstr>PowerPoint 演示文稿</vt:lpstr>
      <vt:lpstr>PowerPoint 演示文稿</vt:lpstr>
      <vt:lpstr>PowerPoint 演示文稿</vt:lpstr>
      <vt:lpstr>PowerPoint 演示文稿</vt:lpstr>
      <vt:lpstr>４.3 关系数据库</vt:lpstr>
      <vt:lpstr>PowerPoint 演示文稿</vt:lpstr>
      <vt:lpstr>４.3 关系数据库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４.3 关系数据库</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 WJ</dc:creator>
  <cp:lastModifiedBy>勇</cp:lastModifiedBy>
  <cp:revision>233</cp:revision>
  <cp:lastPrinted>2018-10-20T13:32:00Z</cp:lastPrinted>
  <dcterms:created xsi:type="dcterms:W3CDTF">2018-05-27T02:36:00Z</dcterms:created>
  <dcterms:modified xsi:type="dcterms:W3CDTF">2025-11-24T00:31:48Z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F25B6CDF85684A4D86BC45BB56358E79_13</vt:lpwstr>
  </property>
  <property fmtid="{D5CDD505-2E9C-101B-9397-08002B2CF9AE}" pid="3" name="KSOProductBuildVer">
    <vt:lpwstr>2052-12.1.0.23542</vt:lpwstr>
  </property>
</Properties>
</file>