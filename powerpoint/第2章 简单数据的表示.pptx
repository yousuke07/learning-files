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2" r:id="rId3"/>
  </p:sldMasterIdLst>
  <p:notesMasterIdLst>
    <p:notesMasterId r:id="rId5"/>
  </p:notesMasterIdLst>
  <p:sldIdLst>
    <p:sldId id="969" r:id="rId4"/>
    <p:sldId id="1060" r:id="rId6"/>
    <p:sldId id="773" r:id="rId7"/>
    <p:sldId id="1061" r:id="rId8"/>
    <p:sldId id="1006" r:id="rId9"/>
    <p:sldId id="975" r:id="rId10"/>
    <p:sldId id="976" r:id="rId11"/>
    <p:sldId id="1008" r:id="rId12"/>
    <p:sldId id="1009" r:id="rId13"/>
    <p:sldId id="978" r:id="rId14"/>
    <p:sldId id="980" r:id="rId15"/>
    <p:sldId id="1062" r:id="rId16"/>
    <p:sldId id="1081" r:id="rId17"/>
    <p:sldId id="1082" r:id="rId18"/>
    <p:sldId id="1063" r:id="rId19"/>
    <p:sldId id="1064" r:id="rId20"/>
    <p:sldId id="1065" r:id="rId21"/>
    <p:sldId id="1066" r:id="rId22"/>
    <p:sldId id="1070" r:id="rId23"/>
    <p:sldId id="1069" r:id="rId24"/>
    <p:sldId id="981" r:id="rId25"/>
    <p:sldId id="982" r:id="rId26"/>
    <p:sldId id="983" r:id="rId27"/>
    <p:sldId id="984" r:id="rId28"/>
    <p:sldId id="985" r:id="rId29"/>
    <p:sldId id="986" r:id="rId30"/>
    <p:sldId id="1078" r:id="rId31"/>
    <p:sldId id="1083" r:id="rId32"/>
    <p:sldId id="1084" r:id="rId33"/>
    <p:sldId id="992" r:id="rId34"/>
    <p:sldId id="993" r:id="rId35"/>
    <p:sldId id="1074" r:id="rId36"/>
    <p:sldId id="1075" r:id="rId37"/>
    <p:sldId id="1076" r:id="rId38"/>
    <p:sldId id="1077" r:id="rId39"/>
    <p:sldId id="995" r:id="rId40"/>
    <p:sldId id="1032" r:id="rId41"/>
    <p:sldId id="997" r:id="rId42"/>
    <p:sldId id="1029" r:id="rId43"/>
    <p:sldId id="1010" r:id="rId44"/>
    <p:sldId id="1011" r:id="rId45"/>
    <p:sldId id="1085" r:id="rId46"/>
    <p:sldId id="1086" r:id="rId47"/>
    <p:sldId id="1087" r:id="rId48"/>
    <p:sldId id="1088" r:id="rId49"/>
    <p:sldId id="1089" r:id="rId50"/>
    <p:sldId id="1090" r:id="rId51"/>
    <p:sldId id="1034" r:id="rId52"/>
    <p:sldId id="1091" r:id="rId53"/>
    <p:sldId id="1092" r:id="rId54"/>
    <p:sldId id="1002" r:id="rId55"/>
    <p:sldId id="1003" r:id="rId56"/>
    <p:sldId id="1004" r:id="rId57"/>
    <p:sldId id="1012" r:id="rId58"/>
    <p:sldId id="1016" r:id="rId59"/>
    <p:sldId id="1015" r:id="rId60"/>
    <p:sldId id="481" r:id="rId61"/>
    <p:sldId id="1014" r:id="rId62"/>
    <p:sldId id="1018" r:id="rId63"/>
    <p:sldId id="1019" r:id="rId64"/>
    <p:sldId id="1025" r:id="rId6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43" autoAdjust="0"/>
    <p:restoredTop sz="95018" autoAdjust="0"/>
  </p:normalViewPr>
  <p:slideViewPr>
    <p:cSldViewPr snapToGrid="0">
      <p:cViewPr>
        <p:scale>
          <a:sx n="100" d="100"/>
          <a:sy n="100" d="100"/>
        </p:scale>
        <p:origin x="847" y="-3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4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978ACB-9951-498D-BD0C-1F03E536B1FF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3DF26CC5-BDEF-40B8-8400-5742F5D34684}">
      <dgm:prSet phldrT="[文本]" custT="1"/>
      <dgm:spPr>
        <a:solidFill>
          <a:srgbClr val="0053A3"/>
        </a:solidFill>
      </dgm:spPr>
      <dgm:t>
        <a:bodyPr/>
        <a:lstStyle/>
        <a:p>
          <a:pPr algn="ctr"/>
          <a:r>
            <a: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rPr>
            <a:t>第</a:t>
          </a:r>
          <a:r>
            <a:rPr lang="en-US" altLang="zh-CN" sz="1400" dirty="0">
              <a:latin typeface="华文楷体" panose="02010600040101010101" pitchFamily="2" charset="-122"/>
              <a:ea typeface="华文楷体" panose="02010600040101010101" pitchFamily="2" charset="-122"/>
            </a:rPr>
            <a:t>2</a:t>
          </a:r>
          <a:r>
            <a: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rPr>
            <a:t>章    数据的机器级表示与处理</a:t>
          </a:r>
        </a:p>
      </dgm:t>
    </dgm:pt>
    <dgm:pt modelId="{6E32B238-95F4-4D97-864C-91DA976EA048}" cxnId="{11621E09-74FC-4B2B-9D8F-15263373FB3F}" type="parTrans">
      <dgm:prSet/>
      <dgm:spPr/>
      <dgm:t>
        <a:bodyPr/>
        <a:lstStyle/>
        <a:p>
          <a:endParaRPr lang="zh-CN" altLang="en-US"/>
        </a:p>
      </dgm:t>
    </dgm:pt>
    <dgm:pt modelId="{EA11E580-9744-4567-86E7-92D5D6F49199}" cxnId="{11621E09-74FC-4B2B-9D8F-15263373FB3F}" type="sibTrans">
      <dgm:prSet/>
      <dgm:spPr/>
      <dgm:t>
        <a:bodyPr/>
        <a:lstStyle/>
        <a:p>
          <a:endParaRPr lang="zh-CN" altLang="en-US"/>
        </a:p>
      </dgm:t>
    </dgm:pt>
    <dgm:pt modelId="{1DCD3814-D7CD-4A53-B9FE-871B3970E45F}" type="pres">
      <dgm:prSet presAssocID="{8F978ACB-9951-498D-BD0C-1F03E536B1FF}" presName="Name0" presStyleCnt="0">
        <dgm:presLayoutVars>
          <dgm:dir/>
          <dgm:resizeHandles val="exact"/>
        </dgm:presLayoutVars>
      </dgm:prSet>
      <dgm:spPr/>
    </dgm:pt>
    <dgm:pt modelId="{F84B6C07-FC15-4A34-8AC7-9AF90288E288}" type="pres">
      <dgm:prSet presAssocID="{3DF26CC5-BDEF-40B8-8400-5742F5D34684}" presName="parTxOnly" presStyleLbl="node1" presStyleIdx="0" presStyleCnt="1" custLinFactNeighborX="-34905" custLinFactNeighborY="-3837">
        <dgm:presLayoutVars>
          <dgm:bulletEnabled val="1"/>
        </dgm:presLayoutVars>
      </dgm:prSet>
      <dgm:spPr/>
    </dgm:pt>
  </dgm:ptLst>
  <dgm:cxnLst>
    <dgm:cxn modelId="{11621E09-74FC-4B2B-9D8F-15263373FB3F}" srcId="{8F978ACB-9951-498D-BD0C-1F03E536B1FF}" destId="{3DF26CC5-BDEF-40B8-8400-5742F5D34684}" srcOrd="0" destOrd="0" parTransId="{6E32B238-95F4-4D97-864C-91DA976EA048}" sibTransId="{EA11E580-9744-4567-86E7-92D5D6F49199}"/>
    <dgm:cxn modelId="{AFFAE132-889C-457E-AFEC-40B5775008CA}" type="presOf" srcId="{3DF26CC5-BDEF-40B8-8400-5742F5D34684}" destId="{F84B6C07-FC15-4A34-8AC7-9AF90288E288}" srcOrd="0" destOrd="0" presId="urn:microsoft.com/office/officeart/2005/8/layout/hChevron3"/>
    <dgm:cxn modelId="{43CFE9BC-CE16-40ED-A7FD-A997D5250E4D}" type="presOf" srcId="{8F978ACB-9951-498D-BD0C-1F03E536B1FF}" destId="{1DCD3814-D7CD-4A53-B9FE-871B3970E45F}" srcOrd="0" destOrd="0" presId="urn:microsoft.com/office/officeart/2005/8/layout/hChevron3"/>
    <dgm:cxn modelId="{3D797231-74B3-4CED-96DF-090557971315}" type="presParOf" srcId="{1DCD3814-D7CD-4A53-B9FE-871B3970E45F}" destId="{F84B6C07-FC15-4A34-8AC7-9AF90288E288}" srcOrd="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919423" cy="316171"/>
        <a:chOff x="0" y="0"/>
        <a:chExt cx="6919423" cy="316171"/>
      </a:xfrm>
    </dsp:grpSpPr>
    <dsp:sp modelId="{F84B6C07-FC15-4A34-8AC7-9AF90288E288}">
      <dsp:nvSpPr>
        <dsp:cNvPr id="3" name="五边形 2"/>
        <dsp:cNvSpPr/>
      </dsp:nvSpPr>
      <dsp:spPr bwMode="white">
        <a:xfrm>
          <a:off x="0" y="0"/>
          <a:ext cx="6919423" cy="316171"/>
        </a:xfrm>
        <a:prstGeom prst="homePlate">
          <a:avLst/>
        </a:prstGeom>
        <a:solidFill>
          <a:srgbClr val="0053A3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74676" tIns="37338" rIns="18669" bIns="37338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rPr>
            <a:t>第</a:t>
          </a:r>
          <a:r>
            <a:rPr lang="en-US" altLang="zh-CN" sz="1400" dirty="0">
              <a:latin typeface="华文楷体" panose="02010600040101010101" pitchFamily="2" charset="-122"/>
              <a:ea typeface="华文楷体" panose="02010600040101010101" pitchFamily="2" charset="-122"/>
            </a:rPr>
            <a:t>2</a:t>
          </a:r>
          <a:r>
            <a: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rPr>
            <a:t>章    数据的机器级表示与处理</a:t>
          </a:r>
        </a:p>
      </dsp:txBody>
      <dsp:txXfrm>
        <a:off x="0" y="0"/>
        <a:ext cx="6919423" cy="316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type="homePlate" r:blip="" rot="180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type="chevron" r:blip="" rot="180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type="homePlate" r:blip="" rot="180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type="chevron" r:blip="" rot="180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10.jpe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AAA77-13AC-4539-8DB7-80AA46FC13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DAFAC-0223-45E6-B452-BEB1EE0E879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在计算机科学中，编码指的是将数据、指令或其他信息转换成计算机可以处理的格式。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2DAFAC-0223-45E6-B452-BEB1EE0E87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在计算机科学中，编码指的是将数据、指令或其他信息转换成计算机可以处理的格式。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2DAFAC-0223-45E6-B452-BEB1EE0E87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23F6E87F-5DA9-4E19-BB64-0F052D22C25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CE024F9D-D751-4338-8E9C-0DD992C55F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AA51EE29-1A1C-48D7-A3C0-E14B6F69D1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C8ADDDEC-AF98-4CDB-895A-684AB3D5465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29E9F662-A4F9-45EE-B929-5699A3FBBF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/>
              <a:t>使用“原码”储存的方式，方便了看的人类，却苦了计算机</a:t>
            </a:r>
            <a:endParaRPr lang="zh-CN" altLang="en-US"/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CF4EE6C1-FDAD-412B-A87E-C022BC4B29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5938" y="4343400"/>
            <a:ext cx="5910262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282" tIns="40910" rIns="83282" bIns="40910"/>
          <a:lstStyle/>
          <a:p>
            <a:r>
              <a:rPr lang="en-US" altLang="zh-CN">
                <a:latin typeface="Arial" panose="020B0604020202020204" pitchFamily="34" charset="0"/>
              </a:rPr>
              <a:t>Supplement slide: More about 2’s complement.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6525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576263"/>
            <a:ext cx="4586287" cy="3440112"/>
          </a:xfr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4588" y="576263"/>
            <a:ext cx="4586287" cy="3440112"/>
          </a:xfrm>
        </p:spPr>
      </p:sp>
      <p:sp>
        <p:nvSpPr>
          <p:cNvPr id="574467" name="备注占位符 2"/>
          <p:cNvSpPr>
            <a:spLocks noGrp="1"/>
          </p:cNvSpPr>
          <p:nvPr>
            <p:ph type="body" idx="1"/>
          </p:nvPr>
        </p:nvSpPr>
        <p:spPr>
          <a:xfrm>
            <a:off x="515938" y="4343400"/>
            <a:ext cx="5910262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48" tIns="43104" rIns="87748" bIns="43104"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1200" b="1" dirty="0" smtClean="0">
                <a:latin typeface="Century Gothic" panose="020B0502020202020204" pitchFamily="34" charset="0"/>
              </a:rPr>
              <a:t>溢出前提：符号相同的两个补码相加</a:t>
            </a:r>
            <a:endParaRPr lang="en-US" altLang="zh-CN" sz="1200" b="1" dirty="0" smtClean="0">
              <a:latin typeface="Century Gothic" panose="020B0502020202020204" pitchFamily="34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1200" b="1" dirty="0" smtClean="0">
                <a:latin typeface="宋体" panose="02010600030101010101" pitchFamily="2" charset="-122"/>
              </a:rPr>
              <a:t>（</a:t>
            </a:r>
            <a:r>
              <a:rPr lang="en-US" altLang="zh-CN" sz="12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1200" b="1" dirty="0" smtClean="0">
                <a:latin typeface="宋体" panose="02010600030101010101" pitchFamily="2" charset="-122"/>
              </a:rPr>
              <a:t>）补码和的符号位≠（被）加数的符号位；</a:t>
            </a:r>
            <a:endParaRPr lang="en-US" altLang="zh-CN" sz="1200" b="1" dirty="0" smtClean="0">
              <a:latin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1200" b="1" dirty="0" smtClean="0"/>
              <a:t>（</a:t>
            </a:r>
            <a:r>
              <a:rPr lang="en-US" altLang="zh-CN" sz="1200" b="1" dirty="0" smtClean="0"/>
              <a:t>2</a:t>
            </a:r>
            <a:r>
              <a:rPr lang="zh-CN" altLang="en-US" sz="1200" b="1" dirty="0" smtClean="0"/>
              <a:t>）双进位法：数值最高位产生的进位不等于符号位的进位。</a:t>
            </a:r>
            <a:endParaRPr lang="zh-CN" altLang="en-US" sz="1200" b="1" dirty="0" smtClean="0"/>
          </a:p>
          <a:p>
            <a:pPr algn="just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1200" b="1" dirty="0" smtClean="0"/>
              <a:t>（</a:t>
            </a:r>
            <a:r>
              <a:rPr lang="en-US" altLang="zh-CN" sz="1200" b="1" dirty="0" smtClean="0"/>
              <a:t>3</a:t>
            </a:r>
            <a:r>
              <a:rPr lang="zh-CN" altLang="en-US" sz="1200" b="1" dirty="0" smtClean="0"/>
              <a:t>）变形补码，即双符号位。</a:t>
            </a:r>
            <a:endParaRPr lang="zh-CN" altLang="en-US" sz="1200" b="1" dirty="0" smtClean="0"/>
          </a:p>
          <a:p>
            <a:endParaRPr lang="zh-CN" altLang="en-US" dirty="0"/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7DF6F707-B059-402C-A8CE-F01EFF4002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命题：能够判断真假的陈述句。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2DAFAC-0223-45E6-B452-BEB1EE0E87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1200" b="1" dirty="0">
                <a:latin typeface="+mn-lt"/>
              </a:rPr>
              <a:t>与</a:t>
            </a:r>
            <a:r>
              <a:rPr lang="en-US" altLang="zh-CN" sz="1200" b="1" dirty="0">
                <a:latin typeface="+mn-lt"/>
              </a:rPr>
              <a:t>(</a:t>
            </a:r>
            <a:r>
              <a:rPr lang="zh-CN" altLang="en-US" sz="1200" b="1" dirty="0">
                <a:latin typeface="+mn-lt"/>
              </a:rPr>
              <a:t>∧</a:t>
            </a:r>
            <a:r>
              <a:rPr lang="en-US" altLang="zh-CN" sz="1200" b="1" dirty="0">
                <a:latin typeface="+mn-lt"/>
              </a:rPr>
              <a:t>)</a:t>
            </a:r>
            <a:r>
              <a:rPr lang="zh-CN" altLang="en-US" sz="1200" b="1" dirty="0">
                <a:latin typeface="+mn-lt"/>
              </a:rPr>
              <a:t>、或</a:t>
            </a:r>
            <a:r>
              <a:rPr lang="en-US" altLang="zh-CN" sz="1200" b="1" dirty="0">
                <a:latin typeface="+mn-lt"/>
              </a:rPr>
              <a:t>(</a:t>
            </a:r>
            <a:r>
              <a:rPr lang="zh-CN" altLang="en-US" sz="1200" b="1" dirty="0">
                <a:latin typeface="+mn-lt"/>
              </a:rPr>
              <a:t>∨</a:t>
            </a:r>
            <a:r>
              <a:rPr lang="en-US" altLang="zh-CN" sz="1200" b="1" dirty="0">
                <a:latin typeface="+mn-lt"/>
              </a:rPr>
              <a:t>)</a:t>
            </a:r>
            <a:r>
              <a:rPr lang="zh-CN" altLang="en-US" sz="1200" b="1" dirty="0">
                <a:latin typeface="+mn-lt"/>
              </a:rPr>
              <a:t>、非</a:t>
            </a:r>
            <a:r>
              <a:rPr lang="en-US" altLang="zh-CN" sz="1200" b="1" dirty="0">
                <a:latin typeface="+mn-lt"/>
              </a:rPr>
              <a:t>(¬)</a:t>
            </a:r>
            <a:endParaRPr lang="en-US" altLang="zh-CN" sz="1200" b="1" dirty="0">
              <a:latin typeface="+mn-lt"/>
            </a:endParaRPr>
          </a:p>
          <a:p>
            <a:pPr>
              <a:defRPr/>
            </a:pPr>
            <a:r>
              <a:rPr lang="zh-CN" altLang="en-US" sz="1200" b="1" dirty="0">
                <a:latin typeface="+mn-lt"/>
                <a:cs typeface="Times New Roman" panose="02020603050405020304" pitchFamily="18" charset="0"/>
              </a:rPr>
              <a:t>与</a:t>
            </a:r>
            <a:r>
              <a:rPr lang="en-US" altLang="zh-CN" sz="1200" b="1" dirty="0">
                <a:latin typeface="+mn-lt"/>
                <a:cs typeface="Times New Roman" panose="02020603050405020304" pitchFamily="18" charset="0"/>
              </a:rPr>
              <a:t>( ·  )</a:t>
            </a:r>
            <a:r>
              <a:rPr lang="zh-CN" altLang="en-US" sz="1200" b="1" dirty="0">
                <a:latin typeface="+mn-lt"/>
                <a:cs typeface="Times New Roman" panose="02020603050405020304" pitchFamily="18" charset="0"/>
              </a:rPr>
              <a:t>、或</a:t>
            </a:r>
            <a:r>
              <a:rPr lang="en-US" altLang="zh-CN" sz="1200" b="1" dirty="0">
                <a:latin typeface="+mn-lt"/>
                <a:cs typeface="Times New Roman" panose="02020603050405020304" pitchFamily="18" charset="0"/>
              </a:rPr>
              <a:t>( + )</a:t>
            </a:r>
            <a:r>
              <a:rPr lang="zh-CN" altLang="en-US" sz="1200" b="1" dirty="0">
                <a:latin typeface="+mn-lt"/>
                <a:cs typeface="Times New Roman" panose="02020603050405020304" pitchFamily="18" charset="0"/>
              </a:rPr>
              <a:t>、非</a:t>
            </a:r>
            <a:r>
              <a:rPr lang="en-US" altLang="zh-CN" sz="1200" b="1" dirty="0">
                <a:latin typeface="+mn-lt"/>
                <a:cs typeface="Times New Roman" panose="02020603050405020304" pitchFamily="18" charset="0"/>
              </a:rPr>
              <a:t>(¯)</a:t>
            </a:r>
            <a:endParaRPr lang="zh-CN" altLang="en-US" sz="1200" dirty="0">
              <a:latin typeface="+mn-lt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DAFAC-0223-45E6-B452-BEB1EE0E87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7" Type="http://schemas.openxmlformats.org/officeDocument/2006/relationships/diagramColors" Target="../diagrams/colors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noProof="1"/>
              <a:t>单击以编辑母版副标题样式</a:t>
            </a:r>
            <a:endParaRPr lang="zh-CN" altLang="en-US" noProof="1"/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C5CE640-A6E6-4F57-89B1-064340AD2743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B0DBEA-6F4A-4FCA-94FE-B8AF1BFC44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B0DBEA-6F4A-4FCA-94FE-B8AF1BFC44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2"/>
            <a:ext cx="7886700" cy="2852737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7"/>
            <a:ext cx="7886700" cy="150018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C5CE640-A6E6-4F57-89B1-064340AD2743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B0DBEA-6F4A-4FCA-94FE-B8AF1BFC44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600204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54296" y="1600204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B4A94E-E98C-49DC-A86A-BC255F22536C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B0DBEA-6F4A-4FCA-94FE-B8AF1BFC44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90083" y="1778438"/>
            <a:ext cx="3655181" cy="823912"/>
          </a:xfrm>
        </p:spPr>
        <p:txBody>
          <a:bodyPr anchor="ctr"/>
          <a:lstStyle>
            <a:lvl1pPr marL="0" indent="0">
              <a:buNone/>
              <a:defRPr sz="1575"/>
            </a:lvl1pPr>
            <a:lvl2pPr marL="257175" indent="0">
              <a:buNone/>
              <a:defRPr sz="1350"/>
            </a:lvl2pPr>
            <a:lvl3pPr marL="514350" indent="0">
              <a:buNone/>
              <a:defRPr sz="1125"/>
            </a:lvl3pPr>
            <a:lvl4pPr marL="771525" indent="0">
              <a:buNone/>
              <a:defRPr sz="1015"/>
            </a:lvl4pPr>
            <a:lvl5pPr marL="1028700" indent="0">
              <a:buNone/>
              <a:defRPr sz="1015"/>
            </a:lvl5pPr>
            <a:lvl6pPr marL="1285875" indent="0">
              <a:buNone/>
              <a:defRPr sz="1015"/>
            </a:lvl6pPr>
            <a:lvl7pPr marL="1543050" indent="0">
              <a:buNone/>
              <a:defRPr sz="1015"/>
            </a:lvl7pPr>
            <a:lvl8pPr marL="1800225" indent="0">
              <a:buNone/>
              <a:defRPr sz="1015"/>
            </a:lvl8pPr>
            <a:lvl9pPr marL="2057400" indent="0">
              <a:buNone/>
              <a:defRPr sz="1015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90083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1575"/>
            </a:lvl1pPr>
            <a:lvl2pPr marL="257175" indent="0">
              <a:buNone/>
              <a:defRPr sz="1350"/>
            </a:lvl2pPr>
            <a:lvl3pPr marL="514350" indent="0">
              <a:buNone/>
              <a:defRPr sz="1125"/>
            </a:lvl3pPr>
            <a:lvl4pPr marL="771525" indent="0">
              <a:buNone/>
              <a:defRPr sz="1015"/>
            </a:lvl4pPr>
            <a:lvl5pPr marL="1028700" indent="0">
              <a:buNone/>
              <a:defRPr sz="1015"/>
            </a:lvl5pPr>
            <a:lvl6pPr marL="1285875" indent="0">
              <a:buNone/>
              <a:defRPr sz="1015"/>
            </a:lvl6pPr>
            <a:lvl7pPr marL="1543050" indent="0">
              <a:buNone/>
              <a:defRPr sz="1015"/>
            </a:lvl7pPr>
            <a:lvl8pPr marL="1800225" indent="0">
              <a:buNone/>
              <a:defRPr sz="1015"/>
            </a:lvl8pPr>
            <a:lvl9pPr marL="2057400" indent="0">
              <a:buNone/>
              <a:defRPr sz="1015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1BBE15-74E9-4D35-9A44-723FB26F1E86}" type="datetime11">
              <a:rPr lang="zh-CN" altLang="en-US" smtClean="0"/>
            </a:fld>
            <a:endParaRPr lang="zh-CN" altLang="en-US"/>
          </a:p>
        </p:txBody>
      </p:sp>
      <p:sp>
        <p:nvSpPr>
          <p:cNvPr id="8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B0DBEA-6F4A-4FCA-94FE-B8AF1BFC44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39A339-80C3-4515-A5BA-C5CB944CB6D1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B0DBEA-6F4A-4FCA-94FE-B8AF1BFC44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46FFB5-5E77-43CE-BBBC-753A2145657B}" type="datetime11">
              <a:rPr lang="zh-CN" altLang="en-US" smtClean="0"/>
            </a:fld>
            <a:endParaRPr lang="zh-CN" altLang="en-US"/>
          </a:p>
        </p:txBody>
      </p:sp>
      <p:sp>
        <p:nvSpPr>
          <p:cNvPr id="3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B0DBEA-6F4A-4FCA-94FE-B8AF1BFC44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987429"/>
            <a:ext cx="462915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65BA91-24F7-4DBA-9B11-28847043B862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B0DBEA-6F4A-4FCA-94FE-B8AF1BFC44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zh-CN" altLang="en-US" noProof="1"/>
              <a:t>单击图标添加图片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125"/>
            </a:lvl1pPr>
            <a:lvl2pPr marL="257175" indent="0">
              <a:buNone/>
              <a:defRPr sz="1015"/>
            </a:lvl2pPr>
            <a:lvl3pPr marL="514350" indent="0">
              <a:buNone/>
              <a:defRPr sz="900"/>
            </a:lvl3pPr>
            <a:lvl4pPr marL="771525" indent="0">
              <a:buNone/>
              <a:defRPr sz="790"/>
            </a:lvl4pPr>
            <a:lvl5pPr marL="1028700" indent="0">
              <a:buNone/>
              <a:defRPr sz="790"/>
            </a:lvl5pPr>
            <a:lvl6pPr marL="1285875" indent="0">
              <a:buNone/>
              <a:defRPr sz="790"/>
            </a:lvl6pPr>
            <a:lvl7pPr marL="1543050" indent="0">
              <a:buNone/>
              <a:defRPr sz="790"/>
            </a:lvl7pPr>
            <a:lvl8pPr marL="1800225" indent="0">
              <a:buNone/>
              <a:defRPr sz="790"/>
            </a:lvl8pPr>
            <a:lvl9pPr marL="2057400" indent="0">
              <a:buNone/>
              <a:defRPr sz="79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2F43467-D2D7-4F11-AA13-1085B575D5A9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B0DBEA-6F4A-4FCA-94FE-B8AF1BFC44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3046C88-104D-4C99-9645-C46D994B7A2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B0DBEA-6F4A-4FCA-94FE-B8AF1BFC44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42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C5CE640-A6E6-4F57-89B1-064340AD2743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B0DBEA-6F4A-4FCA-94FE-B8AF1BFC44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457200" y="1600206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4648200" y="3938594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CB0DBEA-6F4A-4FCA-94FE-B8AF1BFC44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完整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825624"/>
            <a:ext cx="7886700" cy="4530725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8829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400" b="1"/>
            </a:lvl3pPr>
            <a:lvl4pPr>
              <a:defRPr b="1"/>
            </a:lvl4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628650" y="711280"/>
            <a:ext cx="7886700" cy="979413"/>
          </a:xfrm>
        </p:spPr>
        <p:txBody>
          <a:bodyPr>
            <a:normAutofit/>
          </a:bodyPr>
          <a:lstStyle>
            <a:lvl1pPr algn="ctr">
              <a:defRPr sz="4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628650" y="6356350"/>
            <a:ext cx="7886700" cy="0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6" y="49872"/>
            <a:ext cx="532077" cy="57685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58" y="227009"/>
            <a:ext cx="1036993" cy="22237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350240" y="6367293"/>
            <a:ext cx="6445258" cy="356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陈勇                            计算机系统基础                             南京审计大学</a:t>
            </a:r>
            <a:endParaRPr lang="zh-CN" altLang="en-US" sz="14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1" name="图示 10"/>
          <p:cNvGraphicFramePr/>
          <p:nvPr userDrawn="1"/>
        </p:nvGraphicFramePr>
        <p:xfrm>
          <a:off x="1595929" y="188069"/>
          <a:ext cx="6919423" cy="316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3" name="圆角矩形 12"/>
          <p:cNvSpPr/>
          <p:nvPr userDrawn="1"/>
        </p:nvSpPr>
        <p:spPr>
          <a:xfrm>
            <a:off x="7819402" y="6410325"/>
            <a:ext cx="688807" cy="273050"/>
          </a:xfrm>
          <a:prstGeom prst="roundRect">
            <a:avLst/>
          </a:prstGeom>
          <a:solidFill>
            <a:srgbClr val="0053A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81213D2-B63F-4263-A415-295B02F56D8E}" type="slidenum">
              <a:rPr lang="zh-CN" altLang="en-US" sz="1200" b="0" smtClean="0"/>
            </a:fld>
            <a:r>
              <a:rPr lang="en-US" altLang="zh-CN" sz="1200" b="0" dirty="0">
                <a:latin typeface="+mn-ea"/>
              </a:rPr>
              <a:t>/126</a:t>
            </a:r>
            <a:endParaRPr lang="zh-CN" altLang="en-US" sz="1200" b="0" dirty="0"/>
          </a:p>
        </p:txBody>
      </p:sp>
      <p:sp>
        <p:nvSpPr>
          <p:cNvPr id="16" name="圆角矩形 15"/>
          <p:cNvSpPr/>
          <p:nvPr userDrawn="1"/>
        </p:nvSpPr>
        <p:spPr>
          <a:xfrm>
            <a:off x="630954" y="6410325"/>
            <a:ext cx="688807" cy="273050"/>
          </a:xfrm>
          <a:prstGeom prst="roundRect">
            <a:avLst/>
          </a:prstGeom>
          <a:solidFill>
            <a:srgbClr val="0053A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7F8B708-9537-4A76-B6AA-3BCF07DD9732}" type="datetime11">
              <a:rPr lang="zh-CN" altLang="en-US" sz="1200" b="0" smtClean="0"/>
            </a:fld>
            <a:endParaRPr lang="zh-CN" altLang="en-US" sz="1200" b="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noProof="1"/>
              <a:t>单击以编辑母版副标题样式</a:t>
            </a:r>
            <a:endParaRPr lang="zh-CN" altLang="en-US" noProof="1"/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74B35-9B38-42A5-B4AA-A558EC51124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7EDA5-7006-44A9-8683-BF62FE1B75F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2"/>
            <a:ext cx="7886700" cy="2852737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7"/>
            <a:ext cx="7886700" cy="150018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B9E051-302E-4149-A4CC-467FB7E66D8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600204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54296" y="1600204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C37638-DBB0-4008-AD10-0B87ED8FF6C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90083" y="1778438"/>
            <a:ext cx="3655181" cy="823912"/>
          </a:xfrm>
        </p:spPr>
        <p:txBody>
          <a:bodyPr anchor="ctr"/>
          <a:lstStyle>
            <a:lvl1pPr marL="0" indent="0">
              <a:buNone/>
              <a:defRPr sz="1575"/>
            </a:lvl1pPr>
            <a:lvl2pPr marL="257175" indent="0">
              <a:buNone/>
              <a:defRPr sz="1350"/>
            </a:lvl2pPr>
            <a:lvl3pPr marL="514350" indent="0">
              <a:buNone/>
              <a:defRPr sz="1125"/>
            </a:lvl3pPr>
            <a:lvl4pPr marL="771525" indent="0">
              <a:buNone/>
              <a:defRPr sz="1015"/>
            </a:lvl4pPr>
            <a:lvl5pPr marL="1028700" indent="0">
              <a:buNone/>
              <a:defRPr sz="1015"/>
            </a:lvl5pPr>
            <a:lvl6pPr marL="1285875" indent="0">
              <a:buNone/>
              <a:defRPr sz="1015"/>
            </a:lvl6pPr>
            <a:lvl7pPr marL="1543050" indent="0">
              <a:buNone/>
              <a:defRPr sz="1015"/>
            </a:lvl7pPr>
            <a:lvl8pPr marL="1800225" indent="0">
              <a:buNone/>
              <a:defRPr sz="1015"/>
            </a:lvl8pPr>
            <a:lvl9pPr marL="2057400" indent="0">
              <a:buNone/>
              <a:defRPr sz="1015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90083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1575"/>
            </a:lvl1pPr>
            <a:lvl2pPr marL="257175" indent="0">
              <a:buNone/>
              <a:defRPr sz="1350"/>
            </a:lvl2pPr>
            <a:lvl3pPr marL="514350" indent="0">
              <a:buNone/>
              <a:defRPr sz="1125"/>
            </a:lvl3pPr>
            <a:lvl4pPr marL="771525" indent="0">
              <a:buNone/>
              <a:defRPr sz="1015"/>
            </a:lvl4pPr>
            <a:lvl5pPr marL="1028700" indent="0">
              <a:buNone/>
              <a:defRPr sz="1015"/>
            </a:lvl5pPr>
            <a:lvl6pPr marL="1285875" indent="0">
              <a:buNone/>
              <a:defRPr sz="1015"/>
            </a:lvl6pPr>
            <a:lvl7pPr marL="1543050" indent="0">
              <a:buNone/>
              <a:defRPr sz="1015"/>
            </a:lvl7pPr>
            <a:lvl8pPr marL="1800225" indent="0">
              <a:buNone/>
              <a:defRPr sz="1015"/>
            </a:lvl8pPr>
            <a:lvl9pPr marL="2057400" indent="0">
              <a:buNone/>
              <a:defRPr sz="1015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9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740E90-4513-49F2-9A1D-5D26C8C8CD8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5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C9C05F-9BC1-44D2-907B-45113D53D66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F6C925-DD83-4E21-AFF8-B78AEA0C2E7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987429"/>
            <a:ext cx="462915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23767-FCA5-4C1D-967B-FFFCBD42EBE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zh-CN" altLang="en-US" noProof="1"/>
              <a:t>单击图标添加图片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125"/>
            </a:lvl1pPr>
            <a:lvl2pPr marL="257175" indent="0">
              <a:buNone/>
              <a:defRPr sz="1015"/>
            </a:lvl2pPr>
            <a:lvl3pPr marL="514350" indent="0">
              <a:buNone/>
              <a:defRPr sz="900"/>
            </a:lvl3pPr>
            <a:lvl4pPr marL="771525" indent="0">
              <a:buNone/>
              <a:defRPr sz="790"/>
            </a:lvl4pPr>
            <a:lvl5pPr marL="1028700" indent="0">
              <a:buNone/>
              <a:defRPr sz="790"/>
            </a:lvl5pPr>
            <a:lvl6pPr marL="1285875" indent="0">
              <a:buNone/>
              <a:defRPr sz="790"/>
            </a:lvl6pPr>
            <a:lvl7pPr marL="1543050" indent="0">
              <a:buNone/>
              <a:defRPr sz="790"/>
            </a:lvl7pPr>
            <a:lvl8pPr marL="1800225" indent="0">
              <a:buNone/>
              <a:defRPr sz="790"/>
            </a:lvl8pPr>
            <a:lvl9pPr marL="2057400" indent="0">
              <a:buNone/>
              <a:defRPr sz="79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AB671C-F78C-4D55-B48D-65032CCCB4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44FC1-87E0-479C-8781-161C84489E9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42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3F20A2-25FC-42F4-8BEF-8727FD4DA5A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050" noProof="1"/>
            </a:lvl1pPr>
          </a:lstStyle>
          <a:p>
            <a:fld id="{BC5CE640-A6E6-4F57-89B1-064340AD2743}" type="datetime11">
              <a:rPr lang="zh-CN" altLang="en-US" smtClean="0"/>
            </a:fld>
            <a:endParaRPr lang="zh-CN" altLang="en-US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050" noProof="1"/>
            </a:lvl1pPr>
          </a:lstStyle>
          <a:p>
            <a:endParaRPr lang="zh-CN" altLang="en-US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050"/>
            </a:lvl1pPr>
          </a:lstStyle>
          <a:p>
            <a:fld id="{ECB0DBEA-6F4A-4FCA-94FE-B8AF1BFC44A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lvl="1" indent="-214630" algn="l" rtl="0" eaLnBrk="1" fontAlgn="base" hangingPunct="1">
        <a:spcBef>
          <a:spcPct val="20000"/>
        </a:spcBef>
        <a:spcAft>
          <a:spcPct val="0"/>
        </a:spcAft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lvl="2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lvl="3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lvl="4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lvl="5" indent="-171450" algn="l" defTabSz="6858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228850" lvl="6" indent="-171450" algn="l" defTabSz="6858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71750" lvl="7" indent="-171450" algn="l" defTabSz="6858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14650" lvl="8" indent="-171450" algn="l" defTabSz="6858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5800" lvl="2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28700" lvl="3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lvl="4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14500" lvl="5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7400" lvl="6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lvl="7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3200" lvl="8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02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1026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05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050" noProof="1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050"/>
            </a:lvl1pPr>
          </a:lstStyle>
          <a:p>
            <a:pPr>
              <a:defRPr/>
            </a:pPr>
            <a:fld id="{DC7529A9-0495-43B5-B358-A1161AC9B9AB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lvl="1" indent="-214630" algn="l" rtl="0" eaLnBrk="1" fontAlgn="base" hangingPunct="1">
        <a:spcBef>
          <a:spcPct val="20000"/>
        </a:spcBef>
        <a:spcAft>
          <a:spcPct val="0"/>
        </a:spcAft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lvl="2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lvl="3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lvl="4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lvl="5" indent="-171450" algn="l" defTabSz="6858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228850" lvl="6" indent="-171450" algn="l" defTabSz="6858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71750" lvl="7" indent="-171450" algn="l" defTabSz="6858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14650" lvl="8" indent="-171450" algn="l" defTabSz="6858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5800" lvl="2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28700" lvl="3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lvl="4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14500" lvl="5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7400" lvl="6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lvl="7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3200" lvl="8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jpeg"/><Relationship Id="rId2" Type="http://schemas.openxmlformats.org/officeDocument/2006/relationships/image" Target="../media/image9.wmf"/><Relationship Id="rId1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3.bin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5.bin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6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33.png"/><Relationship Id="rId15" Type="http://schemas.openxmlformats.org/officeDocument/2006/relationships/image" Target="../media/image32.png"/><Relationship Id="rId14" Type="http://schemas.openxmlformats.org/officeDocument/2006/relationships/image" Target="../media/image31.png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33.png"/><Relationship Id="rId14" Type="http://schemas.openxmlformats.org/officeDocument/2006/relationships/image" Target="../media/image44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1" Type="http://schemas.openxmlformats.org/officeDocument/2006/relationships/image" Target="../media/image43.png"/><Relationship Id="rId10" Type="http://schemas.openxmlformats.org/officeDocument/2006/relationships/image" Target="../media/image28.png"/><Relationship Id="rId1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509328" y="2801140"/>
            <a:ext cx="6519550" cy="1171877"/>
            <a:chOff x="3302828" y="2877584"/>
            <a:chExt cx="7332041" cy="1585086"/>
          </a:xfrm>
        </p:grpSpPr>
        <p:grpSp>
          <p:nvGrpSpPr>
            <p:cNvPr id="6" name="Group 3"/>
            <p:cNvGrpSpPr/>
            <p:nvPr/>
          </p:nvGrpSpPr>
          <p:grpSpPr bwMode="auto">
            <a:xfrm>
              <a:off x="3302828" y="2877584"/>
              <a:ext cx="7332041" cy="1585086"/>
              <a:chOff x="1267" y="2532"/>
              <a:chExt cx="3185" cy="582"/>
            </a:xfrm>
          </p:grpSpPr>
          <p:sp>
            <p:nvSpPr>
              <p:cNvPr id="8" name="AutoShape 4"/>
              <p:cNvSpPr>
                <a:spLocks noChangeArrowheads="1"/>
              </p:cNvSpPr>
              <p:nvPr/>
            </p:nvSpPr>
            <p:spPr bwMode="gray">
              <a:xfrm>
                <a:off x="1267" y="2532"/>
                <a:ext cx="3185" cy="582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0000FF"/>
                  </a:gs>
                  <a:gs pos="100000">
                    <a:srgbClr val="0000FF">
                      <a:gamma/>
                      <a:shade val="66275"/>
                      <a:invGamma/>
                    </a:srgbClr>
                  </a:gs>
                </a:gsLst>
                <a:lin ang="0" scaled="1"/>
              </a:gradFill>
              <a:ln w="9525">
                <a:noFill/>
                <a:round/>
              </a:ln>
              <a:effectLst/>
              <a:scene3d>
                <a:camera prst="legacyPerspectiveBottom"/>
                <a:lightRig rig="legacyNormal3" dir="r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0000FF"/>
                </a:extrusionClr>
              </a:sp3d>
            </p:spPr>
            <p:txBody>
              <a:bodyPr wrap="none" anchor="ctr">
                <a:flatTx/>
              </a:bodyPr>
              <a:lstStyle/>
              <a:p>
                <a:pPr defTabSz="685800" eaLnBrk="1" hangingPunct="1">
                  <a:defRPr/>
                </a:pPr>
                <a:endParaRPr lang="zh-CN" altLang="en-US" sz="1350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" name="Line 5"/>
              <p:cNvSpPr>
                <a:spLocks noChangeShapeType="1"/>
              </p:cNvSpPr>
              <p:nvPr/>
            </p:nvSpPr>
            <p:spPr bwMode="gray">
              <a:xfrm>
                <a:off x="1412" y="3111"/>
                <a:ext cx="2950" cy="0"/>
              </a:xfrm>
              <a:prstGeom prst="line">
                <a:avLst/>
              </a:prstGeom>
              <a:noFill/>
              <a:ln w="3175">
                <a:solidFill>
                  <a:srgbClr val="FFFFFF">
                    <a:alpha val="14999"/>
                  </a:srgbClr>
                </a:solidFill>
                <a:round/>
              </a:ln>
              <a:effectLst/>
            </p:spPr>
            <p:txBody>
              <a:bodyPr/>
              <a:lstStyle/>
              <a:p>
                <a:pPr defTabSz="685800" eaLnBrk="1" hangingPunct="1">
                  <a:defRPr/>
                </a:pPr>
                <a:endParaRPr lang="zh-CN" altLang="en-US" sz="1350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" name="Line 6"/>
              <p:cNvSpPr>
                <a:spLocks noChangeShapeType="1"/>
              </p:cNvSpPr>
              <p:nvPr/>
            </p:nvSpPr>
            <p:spPr bwMode="gray">
              <a:xfrm>
                <a:off x="1418" y="2532"/>
                <a:ext cx="2950" cy="0"/>
              </a:xfrm>
              <a:prstGeom prst="line">
                <a:avLst/>
              </a:prstGeom>
              <a:noFill/>
              <a:ln w="3175">
                <a:solidFill>
                  <a:srgbClr val="FFFFFF">
                    <a:alpha val="25000"/>
                  </a:srgbClr>
                </a:solidFill>
                <a:round/>
              </a:ln>
              <a:effectLst/>
            </p:spPr>
            <p:txBody>
              <a:bodyPr/>
              <a:lstStyle/>
              <a:p>
                <a:pPr defTabSz="685800" eaLnBrk="1" hangingPunct="1">
                  <a:defRPr/>
                </a:pPr>
                <a:endParaRPr lang="zh-CN" altLang="en-US" sz="1350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" name="矩形 6"/>
            <p:cNvSpPr/>
            <p:nvPr/>
          </p:nvSpPr>
          <p:spPr>
            <a:xfrm>
              <a:off x="3750090" y="3162295"/>
              <a:ext cx="6791058" cy="1061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altLang="en-US" sz="4500" kern="100" dirty="0">
                  <a:solidFill>
                    <a:srgbClr val="FFFF00"/>
                  </a:solidFill>
                  <a:latin typeface="等线" panose="02010600030101010101" pitchFamily="2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第</a:t>
              </a:r>
              <a:r>
                <a:rPr lang="en-US" altLang="zh-CN" sz="4500" kern="100" dirty="0">
                  <a:solidFill>
                    <a:srgbClr val="FFFF00"/>
                  </a:solidFill>
                  <a:latin typeface="等线" panose="02010600030101010101" pitchFamily="2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4500" kern="100" dirty="0">
                  <a:solidFill>
                    <a:srgbClr val="FFFF00"/>
                  </a:solidFill>
                  <a:latin typeface="等线" panose="02010600030101010101" pitchFamily="2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章 简单数据的表示</a:t>
              </a:r>
              <a:endParaRPr lang="zh-CN" altLang="zh-CN" sz="4500" kern="100" dirty="0">
                <a:solidFill>
                  <a:srgbClr val="FFFF00"/>
                </a:solidFill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 bwMode="auto">
          <a:xfrm>
            <a:off x="1533072" y="1996622"/>
            <a:ext cx="5878513" cy="377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lvl="1" indent="-21463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lvl="2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lvl="3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lvl="4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lvl="5" indent="-171450" algn="l" defTabSz="6858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lvl="6" indent="-171450" algn="l" defTabSz="6858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lvl="7" indent="-171450" algn="l" defTabSz="6858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lvl="8" indent="-171450" algn="l" defTabSz="6858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defRPr/>
            </a:pPr>
            <a:r>
              <a:rPr lang="zh-CN" altLang="en-US" b="1">
                <a:latin typeface="+mn-ea"/>
              </a:rPr>
              <a:t>整数的编码</a:t>
            </a:r>
            <a:endParaRPr lang="en-US" altLang="zh-CN" b="1">
              <a:latin typeface="+mn-ea"/>
            </a:endParaRPr>
          </a:p>
          <a:p>
            <a:pPr marL="0" indent="0">
              <a:spcAft>
                <a:spcPts val="600"/>
              </a:spcAft>
              <a:defRPr/>
            </a:pPr>
            <a:r>
              <a:rPr lang="zh-CN" altLang="en-US" b="1">
                <a:latin typeface="+mn-ea"/>
              </a:rPr>
              <a:t>浮点数的编码</a:t>
            </a:r>
            <a:endParaRPr lang="en-US" altLang="zh-CN" b="1">
              <a:latin typeface="+mn-ea"/>
            </a:endParaRPr>
          </a:p>
          <a:p>
            <a:pPr marL="0" indent="0">
              <a:spcAft>
                <a:spcPts val="600"/>
              </a:spcAft>
              <a:defRPr/>
            </a:pPr>
            <a:r>
              <a:rPr lang="zh-CN" altLang="en-US" b="1">
                <a:latin typeface="+mn-ea"/>
              </a:rPr>
              <a:t>字符的编码</a:t>
            </a:r>
            <a:endParaRPr lang="en-US" altLang="zh-CN" b="1">
              <a:latin typeface="+mn-ea"/>
            </a:endParaRPr>
          </a:p>
          <a:p>
            <a:pPr marL="0" indent="0">
              <a:spcAft>
                <a:spcPts val="600"/>
              </a:spcAft>
              <a:defRPr/>
            </a:pPr>
            <a:r>
              <a:rPr lang="zh-CN" altLang="en-US" b="1">
                <a:latin typeface="+mn-ea"/>
              </a:rPr>
              <a:t>汉字的编码</a:t>
            </a:r>
            <a:endParaRPr lang="en-US" altLang="zh-CN" b="1">
              <a:latin typeface="+mn-ea"/>
            </a:endParaRPr>
          </a:p>
          <a:p>
            <a:pPr marL="0" indent="0">
              <a:spcAft>
                <a:spcPts val="600"/>
              </a:spcAft>
              <a:defRPr/>
            </a:pPr>
            <a:r>
              <a:rPr lang="zh-CN" altLang="en-US" b="1">
                <a:latin typeface="+mn-ea"/>
              </a:rPr>
              <a:t>声音的编码</a:t>
            </a:r>
            <a:endParaRPr lang="en-US" altLang="zh-CN" b="1">
              <a:latin typeface="+mn-ea"/>
            </a:endParaRPr>
          </a:p>
          <a:p>
            <a:pPr marL="0" indent="0">
              <a:spcAft>
                <a:spcPts val="600"/>
              </a:spcAft>
              <a:defRPr/>
            </a:pPr>
            <a:r>
              <a:rPr lang="zh-CN" altLang="en-US" b="1">
                <a:latin typeface="+mn-ea"/>
              </a:rPr>
              <a:t>图形和图像的编码</a:t>
            </a:r>
            <a:endParaRPr lang="en-US" altLang="zh-CN" b="1">
              <a:latin typeface="+mn-ea"/>
            </a:endParaRPr>
          </a:p>
          <a:p>
            <a:pPr marL="0" indent="0">
              <a:spcAft>
                <a:spcPts val="600"/>
              </a:spcAft>
              <a:defRPr/>
            </a:pPr>
            <a:r>
              <a:rPr lang="zh-CN" altLang="en-US" b="1">
                <a:latin typeface="+mn-ea"/>
              </a:rPr>
              <a:t>指令的编码</a:t>
            </a:r>
            <a:endParaRPr lang="zh-CN" altLang="en-US" b="1" dirty="0">
              <a:latin typeface="+mn-ea"/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4133397" y="2044247"/>
            <a:ext cx="214313" cy="925513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4496935" y="2190297"/>
            <a:ext cx="1206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Century Gothic" panose="020B0502020202020204" pitchFamily="34" charset="0"/>
              </a:rPr>
              <a:t>数值型</a:t>
            </a:r>
            <a:endParaRPr lang="zh-CN" altLang="en-US" sz="2400" b="1">
              <a:latin typeface="Century Gothic" panose="020B0502020202020204" pitchFamily="34" charset="0"/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5941560" y="1996622"/>
            <a:ext cx="273050" cy="3338513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6532110" y="3250747"/>
            <a:ext cx="11509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Century Gothic" panose="020B0502020202020204" pitchFamily="34" charset="0"/>
              </a:rPr>
              <a:t>数据的编码</a:t>
            </a:r>
            <a:endParaRPr lang="zh-CN" altLang="en-US" sz="2400" b="1">
              <a:latin typeface="Century Gothic" panose="020B0502020202020204" pitchFamily="34" charset="0"/>
            </a:endParaRPr>
          </a:p>
        </p:txBody>
      </p:sp>
      <p:sp>
        <p:nvSpPr>
          <p:cNvPr id="9" name="右大括号 8"/>
          <p:cNvSpPr/>
          <p:nvPr/>
        </p:nvSpPr>
        <p:spPr>
          <a:xfrm>
            <a:off x="4441372" y="4150542"/>
            <a:ext cx="204788" cy="83502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4625522" y="4336915"/>
            <a:ext cx="1473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Century Gothic" panose="020B0502020202020204" pitchFamily="34" charset="0"/>
              </a:rPr>
              <a:t>多媒体型</a:t>
            </a:r>
            <a:endParaRPr lang="zh-CN" altLang="en-US" sz="2400" b="1"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 bldLvl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457097" y="2898322"/>
            <a:ext cx="6109776" cy="902726"/>
            <a:chOff x="3076803" y="2743200"/>
            <a:chExt cx="5264151" cy="685800"/>
          </a:xfrm>
        </p:grpSpPr>
        <p:grpSp>
          <p:nvGrpSpPr>
            <p:cNvPr id="4" name="Group 6"/>
            <p:cNvGrpSpPr/>
            <p:nvPr/>
          </p:nvGrpSpPr>
          <p:grpSpPr bwMode="auto">
            <a:xfrm>
              <a:off x="3413353" y="2828925"/>
              <a:ext cx="4927601" cy="531813"/>
              <a:chOff x="1341" y="1723"/>
              <a:chExt cx="3104" cy="335"/>
            </a:xfrm>
          </p:grpSpPr>
          <p:sp>
            <p:nvSpPr>
              <p:cNvPr id="5" name="AutoShape 7"/>
              <p:cNvSpPr>
                <a:spLocks noChangeArrowheads="1"/>
              </p:cNvSpPr>
              <p:nvPr/>
            </p:nvSpPr>
            <p:spPr bwMode="ltGray">
              <a:xfrm>
                <a:off x="1341" y="1723"/>
                <a:ext cx="3104" cy="335"/>
              </a:xfrm>
              <a:prstGeom prst="roundRect">
                <a:avLst>
                  <a:gd name="adj" fmla="val 16667"/>
                </a:avLst>
              </a:prstGeom>
              <a:solidFill>
                <a:srgbClr val="FCA304"/>
              </a:solidFill>
              <a:ln w="28575" algn="ctr">
                <a:solidFill>
                  <a:srgbClr val="FFFFFF"/>
                </a:solidFill>
                <a:round/>
              </a:ln>
              <a:effectLst>
                <a:outerShdw dist="71842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0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" name="AutoShape 8"/>
              <p:cNvSpPr>
                <a:spLocks noChangeArrowheads="1"/>
              </p:cNvSpPr>
              <p:nvPr/>
            </p:nvSpPr>
            <p:spPr bwMode="ltGray">
              <a:xfrm>
                <a:off x="1366" y="1735"/>
                <a:ext cx="3068" cy="148"/>
              </a:xfrm>
              <a:prstGeom prst="roundRect">
                <a:avLst>
                  <a:gd name="adj" fmla="val 31505"/>
                </a:avLst>
              </a:prstGeom>
              <a:gradFill rotWithShape="1">
                <a:gsLst>
                  <a:gs pos="0">
                    <a:srgbClr val="FFFFFF">
                      <a:alpha val="70000"/>
                    </a:srgbClr>
                  </a:gs>
                  <a:gs pos="100000">
                    <a:srgbClr val="FCA304">
                      <a:alpha val="70000"/>
                    </a:srgbClr>
                  </a:gs>
                </a:gsLst>
                <a:lin ang="5400000" scaled="1"/>
              </a:gradFill>
              <a:ln w="9525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000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7" name="Text Box 9"/>
            <p:cNvSpPr txBox="1">
              <a:spLocks noChangeArrowheads="1"/>
            </p:cNvSpPr>
            <p:nvPr/>
          </p:nvSpPr>
          <p:spPr bwMode="black">
            <a:xfrm>
              <a:off x="3836712" y="2760662"/>
              <a:ext cx="4114800" cy="631308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>
                <a:lnSpc>
                  <a:spcPct val="160000"/>
                </a:lnSpc>
                <a:spcBef>
                  <a:spcPct val="0"/>
                </a:spcBef>
                <a:buNone/>
              </a:pPr>
              <a:r>
                <a:rPr kumimoji="1" lang="en-US" altLang="zh-CN" sz="3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2.1 </a:t>
              </a:r>
              <a:r>
                <a:rPr kumimoji="1" lang="zh-CN" altLang="zh-CN" sz="3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数值的存储</a:t>
              </a:r>
              <a:endParaRPr kumimoji="1" lang="zh-CN" altLang="en-US" sz="3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AutoShape 18"/>
            <p:cNvSpPr>
              <a:spLocks noChangeArrowheads="1"/>
            </p:cNvSpPr>
            <p:nvPr/>
          </p:nvSpPr>
          <p:spPr bwMode="ltGray">
            <a:xfrm>
              <a:off x="3076803" y="2743200"/>
              <a:ext cx="685800" cy="685800"/>
            </a:xfrm>
            <a:prstGeom prst="diamond">
              <a:avLst/>
            </a:prstGeom>
            <a:solidFill>
              <a:srgbClr val="FCA304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762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0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Text Box 19"/>
            <p:cNvSpPr txBox="1">
              <a:spLocks noChangeArrowheads="1"/>
            </p:cNvSpPr>
            <p:nvPr/>
          </p:nvSpPr>
          <p:spPr bwMode="black">
            <a:xfrm>
              <a:off x="3328215" y="2841625"/>
              <a:ext cx="159163" cy="420872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zh-CN" sz="3000" b="1" kern="0" dirty="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/>
          <p:cNvSpPr txBox="1"/>
          <p:nvPr/>
        </p:nvSpPr>
        <p:spPr>
          <a:xfrm>
            <a:off x="2002409" y="4463838"/>
            <a:ext cx="7025005" cy="1812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20725" algn="just">
              <a:lnSpc>
                <a:spcPct val="150000"/>
              </a:lnSpc>
              <a:spcBef>
                <a:spcPts val="95"/>
              </a:spcBef>
            </a:pPr>
            <a:r>
              <a:rPr sz="2600" spc="-20" dirty="0" err="1">
                <a:solidFill>
                  <a:srgbClr val="0000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数制：</a:t>
            </a:r>
            <a:r>
              <a:rPr sz="2600" spc="-20" dirty="0" err="1" smtClean="0">
                <a:solidFill>
                  <a:srgbClr val="0000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是用一</a:t>
            </a:r>
            <a:r>
              <a:rPr lang="zh-CN" altLang="en-US" sz="2600" spc="-20" dirty="0" smtClean="0">
                <a:solidFill>
                  <a:srgbClr val="0000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组</a:t>
            </a:r>
            <a:r>
              <a:rPr sz="2600" spc="-20" dirty="0" err="1" smtClean="0">
                <a:solidFill>
                  <a:srgbClr val="0000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固定的数字和一套统一的规</a:t>
            </a:r>
            <a:r>
              <a:rPr sz="2600" spc="-25" dirty="0" err="1" smtClean="0">
                <a:solidFill>
                  <a:srgbClr val="0000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则来表示数目的方法</a:t>
            </a:r>
            <a:r>
              <a:rPr sz="2600" spc="-25" dirty="0" err="1">
                <a:solidFill>
                  <a:srgbClr val="0000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。数制</a:t>
            </a:r>
            <a:r>
              <a:rPr lang="zh-CN" sz="2600" spc="-25" dirty="0" err="1">
                <a:solidFill>
                  <a:srgbClr val="0000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一般采用</a:t>
            </a:r>
            <a:r>
              <a:rPr sz="2600" spc="-25" dirty="0" err="1">
                <a:solidFill>
                  <a:srgbClr val="0000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进位计数制</a:t>
            </a:r>
            <a:r>
              <a:rPr sz="2600" spc="-20" dirty="0" err="1">
                <a:solidFill>
                  <a:srgbClr val="0000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，日常生活中，我们用十进制最多</a:t>
            </a:r>
            <a:r>
              <a:rPr sz="2600" spc="-20" dirty="0">
                <a:solidFill>
                  <a:srgbClr val="0000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6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4860" y="1465882"/>
            <a:ext cx="2023153" cy="2097375"/>
          </a:xfrm>
          <a:prstGeom prst="rect">
            <a:avLst/>
          </a:prstGeom>
        </p:spPr>
      </p:pic>
      <p:pic>
        <p:nvPicPr>
          <p:cNvPr id="7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5734" y="1636296"/>
            <a:ext cx="6163741" cy="1810092"/>
          </a:xfrm>
          <a:prstGeom prst="rect">
            <a:avLst/>
          </a:prstGeom>
        </p:spPr>
      </p:pic>
      <p:pic>
        <p:nvPicPr>
          <p:cNvPr id="8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0864" y="3942630"/>
            <a:ext cx="1879092" cy="1042416"/>
          </a:xfrm>
          <a:prstGeom prst="rect">
            <a:avLst/>
          </a:prstGeom>
        </p:spPr>
      </p:pic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054148" y="279399"/>
            <a:ext cx="4667250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40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计数制</a:t>
            </a:r>
            <a:endParaRPr kumimoji="1" lang="zh-CN" altLang="en-US" sz="4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1054148" y="279399"/>
            <a:ext cx="4667250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4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十进制数的特点</a:t>
            </a:r>
            <a:endParaRPr kumimoji="1" lang="zh-CN" altLang="en-US" sz="4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304800" y="1428750"/>
            <a:ext cx="8610600" cy="1000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每一位只能使用十个符号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中的一个。</a:t>
            </a:r>
            <a:endParaRPr kumimoji="1"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4484529" y="3477583"/>
          <a:ext cx="10763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Equation" r:id="rId1" imgW="114300" imgH="215900" progId="Equation.3">
                  <p:embed/>
                </p:oleObj>
              </mc:Choice>
              <mc:Fallback>
                <p:oleObj name="Equation" r:id="rId1" imgW="114300" imgH="215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4529" y="3477583"/>
                        <a:ext cx="107633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304800" y="2823533"/>
            <a:ext cx="8610600" cy="3046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每个数位上的数都有固定的</a:t>
            </a:r>
            <a:r>
              <a:rPr kumimoji="1" lang="zh-CN" alt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“位权”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kumimoji="1"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小数点至左，权值依次为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kumimoji="1" lang="en-US" altLang="zh-CN" sz="2400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kumimoji="1" lang="en-US" altLang="zh-CN" sz="2400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kumimoji="1" lang="en-US" altLang="zh-CN" sz="2400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….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小数点至右，权值依次为</a:t>
            </a: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kumimoji="1" lang="en-US" altLang="zh-CN" sz="2400" b="1" baseline="30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kumimoji="1" lang="en-US" altLang="zh-CN" sz="2400" b="1" baseline="30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-2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kumimoji="1" lang="en-US" altLang="zh-CN" sz="2400" b="1" baseline="30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-3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kumimoji="1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例如：十进制数值</a:t>
            </a:r>
            <a:r>
              <a:rPr kumimoji="1" lang="zh-CN" altLang="en-US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3      3     4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. </a:t>
            </a: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3        8</a:t>
            </a:r>
            <a:endParaRPr kumimoji="1" lang="en-US" altLang="zh-CN" sz="24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每位对应权值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kumimoji="1" lang="en-US" altLang="zh-CN" sz="2400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10</a:t>
            </a:r>
            <a:r>
              <a:rPr kumimoji="1" lang="en-US" altLang="zh-CN" sz="2400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10</a:t>
            </a:r>
            <a:r>
              <a:rPr kumimoji="1" lang="en-US" altLang="zh-CN" sz="2400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. </a:t>
            </a: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10</a:t>
            </a:r>
            <a:r>
              <a:rPr kumimoji="1" lang="en-US" altLang="zh-CN" sz="2400" b="1" baseline="30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10</a:t>
            </a:r>
            <a:r>
              <a:rPr kumimoji="1" lang="en-US" altLang="zh-CN" sz="2400" b="1" baseline="30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-2</a:t>
            </a:r>
            <a:endParaRPr kumimoji="1" lang="en-US" altLang="zh-CN" sz="24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9" name="Line 7"/>
          <p:cNvSpPr>
            <a:spLocks noChangeShapeType="1"/>
          </p:cNvSpPr>
          <p:nvPr/>
        </p:nvSpPr>
        <p:spPr bwMode="auto">
          <a:xfrm>
            <a:off x="3189949" y="5090483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 sz="2400"/>
          </a:p>
        </p:txBody>
      </p:sp>
      <p:sp>
        <p:nvSpPr>
          <p:cNvPr id="33800" name="Line 8"/>
          <p:cNvSpPr>
            <a:spLocks noChangeShapeType="1"/>
          </p:cNvSpPr>
          <p:nvPr/>
        </p:nvSpPr>
        <p:spPr bwMode="auto">
          <a:xfrm>
            <a:off x="3807341" y="5098421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 sz="2400"/>
          </a:p>
        </p:txBody>
      </p:sp>
      <p:sp>
        <p:nvSpPr>
          <p:cNvPr id="33801" name="Line 9"/>
          <p:cNvSpPr>
            <a:spLocks noChangeShapeType="1"/>
          </p:cNvSpPr>
          <p:nvPr/>
        </p:nvSpPr>
        <p:spPr bwMode="auto">
          <a:xfrm>
            <a:off x="4348493" y="5084133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 sz="2400"/>
          </a:p>
        </p:txBody>
      </p:sp>
      <p:sp>
        <p:nvSpPr>
          <p:cNvPr id="33802" name="Line 10"/>
          <p:cNvSpPr>
            <a:spLocks noChangeShapeType="1"/>
          </p:cNvSpPr>
          <p:nvPr/>
        </p:nvSpPr>
        <p:spPr bwMode="auto">
          <a:xfrm>
            <a:off x="5333630" y="5058733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 sz="2400"/>
          </a:p>
        </p:txBody>
      </p:sp>
      <p:sp>
        <p:nvSpPr>
          <p:cNvPr id="33803" name="Line 11"/>
          <p:cNvSpPr>
            <a:spLocks noChangeShapeType="1"/>
          </p:cNvSpPr>
          <p:nvPr/>
        </p:nvSpPr>
        <p:spPr bwMode="auto">
          <a:xfrm>
            <a:off x="6125924" y="5090483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/>
      <p:bldP spid="33799" grpId="0" animBg="1"/>
      <p:bldP spid="33800" grpId="0" animBg="1"/>
      <p:bldP spid="33801" grpId="0" animBg="1"/>
      <p:bldP spid="33802" grpId="0" animBg="1"/>
      <p:bldP spid="3380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383908" y="1490663"/>
            <a:ext cx="8575942" cy="4754562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进位计数制采用位置记数法表示数。</a:t>
            </a:r>
            <a:endParaRPr lang="en-US" altLang="zh-CN" b="1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 基数</a:t>
            </a:r>
            <a:r>
              <a:rPr lang="zh-CN" altLang="en-US" b="1" dirty="0"/>
              <a:t>：每一个数位上允许使用的计数符号的个数。</a:t>
            </a:r>
            <a:endParaRPr lang="en-US" altLang="zh-CN" b="1" dirty="0"/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若以 </a:t>
            </a:r>
            <a:r>
              <a:rPr lang="en-US" altLang="zh-CN" b="1" i="1" dirty="0"/>
              <a:t>r </a:t>
            </a:r>
            <a:r>
              <a:rPr lang="zh-CN" altLang="en-US" b="1" dirty="0"/>
              <a:t>代表基数，则</a:t>
            </a:r>
            <a:endParaRPr lang="zh-CN" altLang="en-US" b="1" i="1" dirty="0"/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i="1" dirty="0"/>
              <a:t> </a:t>
            </a:r>
            <a:r>
              <a:rPr lang="en-US" altLang="zh-CN" sz="2400" b="1" i="1" dirty="0"/>
              <a:t>r</a:t>
            </a:r>
            <a:r>
              <a:rPr lang="en-US" altLang="zh-CN" sz="2400" b="1" dirty="0"/>
              <a:t>=10     </a:t>
            </a:r>
            <a:r>
              <a:rPr lang="zh-CN" altLang="en-US" sz="2400" b="1" dirty="0"/>
              <a:t>   十进制，可使用</a:t>
            </a:r>
            <a:r>
              <a:rPr lang="en-US" altLang="zh-CN" sz="2400" b="1" dirty="0"/>
              <a:t>0, 1, 2, …, 9</a:t>
            </a:r>
            <a:r>
              <a:rPr lang="zh-CN" altLang="en-US" sz="2400" b="1" dirty="0"/>
              <a:t>共</a:t>
            </a:r>
            <a:r>
              <a:rPr lang="en-US" altLang="zh-CN" sz="2400" b="1" dirty="0"/>
              <a:t>10</a:t>
            </a:r>
            <a:r>
              <a:rPr lang="zh-CN" altLang="en-US" sz="2400" b="1" dirty="0"/>
              <a:t>个</a:t>
            </a:r>
            <a:r>
              <a:rPr lang="zh-CN" altLang="en-US" sz="2400" b="1" dirty="0">
                <a:solidFill>
                  <a:srgbClr val="000099"/>
                </a:solidFill>
              </a:rPr>
              <a:t>数码</a:t>
            </a:r>
            <a:r>
              <a:rPr lang="zh-CN" altLang="en-US" sz="2400" b="1" dirty="0"/>
              <a:t>；</a:t>
            </a:r>
            <a:endParaRPr lang="zh-CN" altLang="en-US" sz="2400" b="1" i="1" dirty="0"/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i="1" dirty="0"/>
              <a:t> </a:t>
            </a:r>
            <a:r>
              <a:rPr lang="en-US" altLang="zh-CN" sz="2400" b="1" i="1" dirty="0"/>
              <a:t>r</a:t>
            </a:r>
            <a:r>
              <a:rPr lang="en-US" altLang="zh-CN" sz="2400" b="1" dirty="0"/>
              <a:t>=2</a:t>
            </a:r>
            <a:r>
              <a:rPr lang="zh-CN" altLang="en-US" sz="2400" b="1" dirty="0"/>
              <a:t>          二进制，可使用</a:t>
            </a:r>
            <a:r>
              <a:rPr lang="en-US" altLang="zh-CN" sz="2400" b="1" dirty="0"/>
              <a:t>0, 1</a:t>
            </a:r>
            <a:r>
              <a:rPr lang="zh-CN" altLang="en-US" sz="2400" b="1" dirty="0"/>
              <a:t>共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个数码；</a:t>
            </a:r>
            <a:endParaRPr lang="zh-CN" altLang="en-US" sz="2400" b="1" i="1" dirty="0"/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i="1" dirty="0"/>
              <a:t> </a:t>
            </a:r>
            <a:r>
              <a:rPr lang="en-US" altLang="zh-CN" sz="2400" b="1" i="1" dirty="0"/>
              <a:t>r</a:t>
            </a:r>
            <a:r>
              <a:rPr lang="en-US" altLang="zh-CN" sz="2400" b="1" dirty="0"/>
              <a:t>=8</a:t>
            </a:r>
            <a:r>
              <a:rPr lang="zh-CN" altLang="en-US" sz="2400" b="1" dirty="0"/>
              <a:t>          八进制，可使用</a:t>
            </a:r>
            <a:r>
              <a:rPr lang="en-US" altLang="zh-CN" sz="2400" b="1" dirty="0"/>
              <a:t>0, 1, 2, …, 7</a:t>
            </a:r>
            <a:r>
              <a:rPr lang="zh-CN" altLang="en-US" sz="2400" b="1" dirty="0"/>
              <a:t>共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个数码；</a:t>
            </a:r>
            <a:endParaRPr lang="zh-CN" altLang="en-US" sz="2400" b="1" i="1" dirty="0"/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i="1" dirty="0"/>
              <a:t> </a:t>
            </a:r>
            <a:r>
              <a:rPr lang="en-US" altLang="zh-CN" sz="2400" b="1" i="1" dirty="0"/>
              <a:t>r</a:t>
            </a:r>
            <a:r>
              <a:rPr lang="en-US" altLang="zh-CN" sz="2400" b="1" dirty="0"/>
              <a:t>=16</a:t>
            </a:r>
            <a:r>
              <a:rPr lang="zh-CN" altLang="en-US" sz="2400" b="1" dirty="0"/>
              <a:t>       十六进制，可使用</a:t>
            </a:r>
            <a:r>
              <a:rPr lang="en-US" altLang="zh-CN" sz="2400" b="1" dirty="0">
                <a:solidFill>
                  <a:srgbClr val="FF0000"/>
                </a:solidFill>
              </a:rPr>
              <a:t>0, 1, …, 9, </a:t>
            </a:r>
            <a:r>
              <a:rPr lang="en-US" altLang="zh-CN" sz="2400" b="1" i="1" dirty="0">
                <a:solidFill>
                  <a:srgbClr val="FF0000"/>
                </a:solidFill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</a:rPr>
              <a:t>, </a:t>
            </a:r>
            <a:r>
              <a:rPr lang="en-US" altLang="zh-CN" sz="2400" b="1" i="1" dirty="0">
                <a:solidFill>
                  <a:srgbClr val="FF0000"/>
                </a:solidFill>
              </a:rPr>
              <a:t>B</a:t>
            </a:r>
            <a:r>
              <a:rPr lang="en-US" altLang="zh-CN" sz="2400" b="1" dirty="0">
                <a:solidFill>
                  <a:srgbClr val="FF0000"/>
                </a:solidFill>
              </a:rPr>
              <a:t>, </a:t>
            </a:r>
            <a:r>
              <a:rPr lang="en-US" altLang="zh-CN" sz="2400" b="1" i="1" dirty="0">
                <a:solidFill>
                  <a:srgbClr val="FF0000"/>
                </a:solidFill>
              </a:rPr>
              <a:t>C</a:t>
            </a:r>
            <a:r>
              <a:rPr lang="en-US" altLang="zh-CN" sz="2400" b="1" dirty="0">
                <a:solidFill>
                  <a:srgbClr val="FF0000"/>
                </a:solidFill>
              </a:rPr>
              <a:t>, </a:t>
            </a:r>
            <a:r>
              <a:rPr lang="en-US" altLang="zh-CN" sz="2400" b="1" i="1" dirty="0">
                <a:solidFill>
                  <a:srgbClr val="FF0000"/>
                </a:solidFill>
              </a:rPr>
              <a:t>D</a:t>
            </a:r>
            <a:r>
              <a:rPr lang="en-US" altLang="zh-CN" sz="2400" b="1" dirty="0">
                <a:solidFill>
                  <a:srgbClr val="FF0000"/>
                </a:solidFill>
              </a:rPr>
              <a:t>, </a:t>
            </a:r>
            <a:r>
              <a:rPr lang="en-US" altLang="zh-CN" sz="2400" b="1" i="1" dirty="0">
                <a:solidFill>
                  <a:srgbClr val="FF0000"/>
                </a:solidFill>
              </a:rPr>
              <a:t>E</a:t>
            </a:r>
            <a:r>
              <a:rPr lang="en-US" altLang="zh-CN" sz="2400" b="1" dirty="0">
                <a:solidFill>
                  <a:srgbClr val="FF0000"/>
                </a:solidFill>
              </a:rPr>
              <a:t>,  </a:t>
            </a:r>
            <a:r>
              <a:rPr lang="en-US" altLang="zh-CN" sz="2400" b="1" i="1" dirty="0">
                <a:solidFill>
                  <a:srgbClr val="FF0000"/>
                </a:solidFill>
              </a:rPr>
              <a:t>F</a:t>
            </a:r>
            <a:r>
              <a:rPr lang="zh-CN" altLang="en-US" sz="2400" b="1" dirty="0">
                <a:solidFill>
                  <a:srgbClr val="FF0000"/>
                </a:solidFill>
              </a:rPr>
              <a:t>共   </a:t>
            </a:r>
            <a:r>
              <a:rPr lang="en-US" altLang="zh-CN" sz="2400" b="1" dirty="0">
                <a:solidFill>
                  <a:srgbClr val="FF0000"/>
                </a:solidFill>
              </a:rPr>
              <a:t>16</a:t>
            </a:r>
            <a:r>
              <a:rPr lang="zh-CN" altLang="en-US" sz="2400" b="1" dirty="0">
                <a:solidFill>
                  <a:srgbClr val="FF0000"/>
                </a:solidFill>
              </a:rPr>
              <a:t>个数码</a:t>
            </a:r>
            <a:r>
              <a:rPr lang="zh-CN" altLang="en-US" sz="2400" b="1" dirty="0"/>
              <a:t>。</a:t>
            </a:r>
            <a:endParaRPr lang="zh-CN" altLang="en-US" sz="2400" b="1" i="1" dirty="0"/>
          </a:p>
          <a:p>
            <a:pPr marL="0" indent="0" eaLnBrk="1" hangingPunct="1">
              <a:lnSpc>
                <a:spcPct val="110000"/>
              </a:lnSpc>
              <a:buFont typeface="Wingdings 3" panose="05040102010807070707" pitchFamily="18" charset="2"/>
              <a:buNone/>
              <a:defRPr/>
            </a:pPr>
            <a:r>
              <a:rPr lang="en-US" altLang="zh-CN" b="1" i="1" dirty="0"/>
              <a:t>      r</a:t>
            </a:r>
            <a:r>
              <a:rPr lang="zh-CN" altLang="en-US" b="1" dirty="0"/>
              <a:t>进制数通常写作</a:t>
            </a:r>
            <a:r>
              <a:rPr lang="en-US" altLang="zh-CN" b="1" dirty="0"/>
              <a:t>(</a:t>
            </a:r>
            <a:r>
              <a:rPr lang="en-US" altLang="zh-CN" b="1" i="1" dirty="0"/>
              <a:t>a</a:t>
            </a:r>
            <a:r>
              <a:rPr lang="en-US" altLang="zh-CN" b="1" i="1" baseline="-25000" dirty="0"/>
              <a:t>n</a:t>
            </a:r>
            <a:r>
              <a:rPr lang="en-US" altLang="zh-CN" b="1" dirty="0"/>
              <a:t>…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1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0 </a:t>
            </a:r>
            <a:r>
              <a:rPr lang="en-US" altLang="zh-CN" b="1" dirty="0"/>
              <a:t>. 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-1</a:t>
            </a:r>
            <a:r>
              <a:rPr lang="en-US" altLang="zh-CN" b="1" dirty="0"/>
              <a:t>…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-</a:t>
            </a:r>
            <a:r>
              <a:rPr lang="en-US" altLang="zh-CN" b="1" i="1" baseline="-25000" dirty="0"/>
              <a:t>m</a:t>
            </a:r>
            <a:r>
              <a:rPr lang="en-US" altLang="zh-CN" b="1" dirty="0"/>
              <a:t>)</a:t>
            </a:r>
            <a:r>
              <a:rPr lang="en-US" altLang="zh-CN" b="1" i="1" baseline="-25000" dirty="0"/>
              <a:t>r</a:t>
            </a:r>
            <a:endParaRPr lang="en-US" altLang="zh-CN" b="1" i="1" baseline="-25000" dirty="0"/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        </a:t>
            </a:r>
            <a:r>
              <a:rPr lang="zh-CN" altLang="en-US" b="1" dirty="0"/>
              <a:t>例如， </a:t>
            </a:r>
            <a:r>
              <a:rPr lang="en-US" altLang="zh-CN" b="1" dirty="0"/>
              <a:t>(1101)</a:t>
            </a:r>
            <a:r>
              <a:rPr lang="en-US" altLang="zh-CN" b="1" baseline="-25000" dirty="0"/>
              <a:t>2</a:t>
            </a:r>
            <a:r>
              <a:rPr lang="zh-CN" altLang="en-US" b="1" dirty="0"/>
              <a:t>， </a:t>
            </a:r>
            <a:r>
              <a:rPr lang="en-US" altLang="zh-CN" b="1" dirty="0"/>
              <a:t>(689.12)</a:t>
            </a:r>
            <a:r>
              <a:rPr lang="en-US" altLang="zh-CN" b="1" baseline="-25000" dirty="0"/>
              <a:t>10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dirty="0"/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>
            <a:off x="1071478" y="134405"/>
            <a:ext cx="7362825" cy="842962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defRPr/>
            </a:pPr>
            <a:r>
              <a:rPr kumimoji="1" lang="zh-CN" altLang="en-US" sz="3600" b="1" dirty="0">
                <a:latin typeface="Times New Roman" panose="02020603050405020304" pitchFamily="18" charset="0"/>
              </a:rPr>
              <a:t>进位计数制</a:t>
            </a:r>
            <a:endParaRPr lang="zh-CN" altLang="en-US" sz="4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617538" y="1198563"/>
            <a:ext cx="8377237" cy="21590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latin typeface="+mn-ea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用位权值计数</a:t>
            </a:r>
            <a:r>
              <a:rPr lang="zh-CN" altLang="en-US" sz="2400" b="1" dirty="0">
                <a:latin typeface="+mn-ea"/>
              </a:rPr>
              <a:t>。</a:t>
            </a:r>
            <a:endParaRPr lang="en-US" altLang="zh-CN" sz="2400" b="1" dirty="0">
              <a:latin typeface="+mn-ea"/>
            </a:endParaRPr>
          </a:p>
          <a:p>
            <a:pPr marL="0" indent="-457200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+mn-ea"/>
              </a:rPr>
              <a:t>    </a:t>
            </a:r>
            <a:r>
              <a:rPr lang="zh-CN" altLang="en-US" sz="2200" b="1" dirty="0">
                <a:latin typeface="+mn-ea"/>
              </a:rPr>
              <a:t>每个位置都对应一个在数值中权重的值，称为位权值，表示数码在不同位置上的数值。</a:t>
            </a:r>
            <a:endParaRPr lang="en-US" altLang="zh-CN" sz="2200" b="1" dirty="0">
              <a:latin typeface="+mn-ea"/>
            </a:endParaRPr>
          </a:p>
          <a:p>
            <a:pPr marL="0" indent="-457200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200" b="1" dirty="0">
                <a:latin typeface="+mn-ea"/>
              </a:rPr>
              <a:t>    </a:t>
            </a:r>
            <a:r>
              <a:rPr lang="zh-CN" altLang="en-US" sz="2200" b="1" dirty="0">
                <a:latin typeface="+mn-ea"/>
              </a:rPr>
              <a:t>对于</a:t>
            </a:r>
            <a:r>
              <a:rPr lang="en-US" altLang="zh-CN" sz="2200" b="1" i="1" dirty="0">
                <a:latin typeface="+mn-ea"/>
              </a:rPr>
              <a:t>r</a:t>
            </a:r>
            <a:r>
              <a:rPr lang="zh-CN" altLang="en-US" sz="2200" b="1" dirty="0">
                <a:latin typeface="+mn-ea"/>
              </a:rPr>
              <a:t>进制数</a:t>
            </a:r>
            <a:r>
              <a:rPr lang="en-US" altLang="zh-CN" sz="2200" b="1" dirty="0">
                <a:latin typeface="+mn-ea"/>
              </a:rPr>
              <a:t>(</a:t>
            </a:r>
            <a:r>
              <a:rPr lang="en-US" altLang="zh-CN" sz="2200" b="1" i="1" dirty="0">
                <a:latin typeface="+mn-ea"/>
              </a:rPr>
              <a:t>a</a:t>
            </a:r>
            <a:r>
              <a:rPr lang="en-US" altLang="zh-CN" sz="2200" b="1" i="1" baseline="-25000" dirty="0">
                <a:latin typeface="+mn-ea"/>
              </a:rPr>
              <a:t>n</a:t>
            </a:r>
            <a:r>
              <a:rPr lang="en-US" altLang="zh-CN" sz="2200" b="1" dirty="0">
                <a:latin typeface="+mn-ea"/>
              </a:rPr>
              <a:t>…</a:t>
            </a:r>
            <a:r>
              <a:rPr lang="en-US" altLang="zh-CN" sz="2200" b="1" i="1" dirty="0">
                <a:latin typeface="+mn-ea"/>
              </a:rPr>
              <a:t>a</a:t>
            </a:r>
            <a:r>
              <a:rPr lang="en-US" altLang="zh-CN" sz="2200" b="1" baseline="-25000" dirty="0">
                <a:latin typeface="+mn-ea"/>
              </a:rPr>
              <a:t>1</a:t>
            </a:r>
            <a:r>
              <a:rPr lang="en-US" altLang="zh-CN" sz="2200" b="1" i="1" dirty="0">
                <a:solidFill>
                  <a:srgbClr val="FF0000"/>
                </a:solidFill>
                <a:latin typeface="+mn-ea"/>
              </a:rPr>
              <a:t>a</a:t>
            </a:r>
            <a:r>
              <a:rPr lang="en-US" altLang="zh-CN" sz="2200" b="1" baseline="-25000" dirty="0">
                <a:solidFill>
                  <a:srgbClr val="FF0000"/>
                </a:solidFill>
                <a:latin typeface="+mn-ea"/>
              </a:rPr>
              <a:t>0 </a:t>
            </a:r>
            <a:r>
              <a:rPr lang="en-US" altLang="zh-CN" sz="2200" b="1" dirty="0">
                <a:latin typeface="+mn-ea"/>
              </a:rPr>
              <a:t>.</a:t>
            </a:r>
            <a:r>
              <a:rPr lang="en-US" altLang="zh-CN" sz="2200" b="1" i="1" dirty="0">
                <a:latin typeface="+mn-ea"/>
              </a:rPr>
              <a:t>a</a:t>
            </a:r>
            <a:r>
              <a:rPr lang="en-US" altLang="zh-CN" sz="2200" b="1" baseline="-25000" dirty="0">
                <a:latin typeface="+mn-ea"/>
              </a:rPr>
              <a:t>-1</a:t>
            </a:r>
            <a:r>
              <a:rPr lang="en-US" altLang="zh-CN" sz="2200" b="1" dirty="0">
                <a:latin typeface="+mn-ea"/>
              </a:rPr>
              <a:t>…</a:t>
            </a:r>
            <a:r>
              <a:rPr lang="en-US" altLang="zh-CN" sz="2200" b="1" i="1" dirty="0">
                <a:latin typeface="+mn-ea"/>
              </a:rPr>
              <a:t>a</a:t>
            </a:r>
            <a:r>
              <a:rPr lang="en-US" altLang="zh-CN" sz="2200" b="1" baseline="-25000" dirty="0">
                <a:latin typeface="+mn-ea"/>
              </a:rPr>
              <a:t>-</a:t>
            </a:r>
            <a:r>
              <a:rPr lang="en-US" altLang="zh-CN" sz="2200" b="1" i="1" baseline="-25000" dirty="0">
                <a:latin typeface="+mn-ea"/>
              </a:rPr>
              <a:t>m</a:t>
            </a:r>
            <a:r>
              <a:rPr lang="en-US" altLang="zh-CN" sz="2200" b="1" dirty="0">
                <a:latin typeface="+mn-ea"/>
              </a:rPr>
              <a:t>)</a:t>
            </a:r>
            <a:r>
              <a:rPr lang="en-US" altLang="zh-CN" sz="2200" b="1" i="1" baseline="-25000" dirty="0">
                <a:latin typeface="+mn-ea"/>
              </a:rPr>
              <a:t>r</a:t>
            </a:r>
            <a:r>
              <a:rPr lang="zh-CN" altLang="en-US" sz="2200" b="1" dirty="0">
                <a:latin typeface="+mn-ea"/>
              </a:rPr>
              <a:t>，小数点左面的位权值依次为</a:t>
            </a:r>
            <a:r>
              <a:rPr lang="en-US" altLang="zh-CN" sz="2200" b="1" i="1" dirty="0">
                <a:solidFill>
                  <a:srgbClr val="FF0000"/>
                </a:solidFill>
                <a:latin typeface="+mn-ea"/>
              </a:rPr>
              <a:t>r</a:t>
            </a:r>
            <a:r>
              <a:rPr lang="en-US" altLang="zh-CN" sz="2200" b="1" baseline="30000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2200" b="1" dirty="0">
                <a:latin typeface="+mn-ea"/>
              </a:rPr>
              <a:t>, </a:t>
            </a:r>
            <a:r>
              <a:rPr lang="en-US" altLang="zh-CN" sz="2200" b="1" i="1" dirty="0">
                <a:latin typeface="+mn-ea"/>
              </a:rPr>
              <a:t>r</a:t>
            </a:r>
            <a:r>
              <a:rPr lang="en-US" altLang="zh-CN" sz="2200" b="1" baseline="30000" dirty="0">
                <a:latin typeface="+mn-ea"/>
              </a:rPr>
              <a:t>1</a:t>
            </a:r>
            <a:r>
              <a:rPr lang="en-US" altLang="zh-CN" sz="2200" b="1" dirty="0">
                <a:latin typeface="+mn-ea"/>
              </a:rPr>
              <a:t>, …, </a:t>
            </a:r>
            <a:r>
              <a:rPr lang="en-US" altLang="zh-CN" sz="2200" b="1" i="1" dirty="0" err="1">
                <a:latin typeface="+mn-ea"/>
              </a:rPr>
              <a:t>r</a:t>
            </a:r>
            <a:r>
              <a:rPr lang="en-US" altLang="zh-CN" sz="2200" b="1" i="1" baseline="30000" dirty="0" err="1">
                <a:latin typeface="+mn-ea"/>
              </a:rPr>
              <a:t>n</a:t>
            </a:r>
            <a:r>
              <a:rPr lang="zh-CN" altLang="en-US" sz="2200" b="1" dirty="0">
                <a:latin typeface="+mn-ea"/>
              </a:rPr>
              <a:t>，小数点右面的位权值依次为</a:t>
            </a:r>
            <a:r>
              <a:rPr lang="en-US" altLang="zh-CN" sz="2200" b="1" i="1" dirty="0">
                <a:latin typeface="+mn-ea"/>
              </a:rPr>
              <a:t>r</a:t>
            </a:r>
            <a:r>
              <a:rPr lang="en-US" altLang="zh-CN" sz="2200" b="1" baseline="30000" dirty="0">
                <a:latin typeface="+mn-ea"/>
              </a:rPr>
              <a:t>-1</a:t>
            </a:r>
            <a:r>
              <a:rPr lang="en-US" altLang="zh-CN" sz="2200" b="1" dirty="0">
                <a:latin typeface="+mn-ea"/>
              </a:rPr>
              <a:t>, …, </a:t>
            </a:r>
            <a:r>
              <a:rPr lang="en-US" altLang="zh-CN" sz="2200" b="1" i="1" dirty="0">
                <a:latin typeface="+mn-ea"/>
              </a:rPr>
              <a:t>r</a:t>
            </a:r>
            <a:r>
              <a:rPr lang="en-US" altLang="zh-CN" sz="2200" b="1" baseline="30000" dirty="0">
                <a:latin typeface="+mn-ea"/>
              </a:rPr>
              <a:t>-</a:t>
            </a:r>
            <a:r>
              <a:rPr lang="en-US" altLang="zh-CN" sz="2200" b="1" i="1" baseline="30000" dirty="0">
                <a:latin typeface="+mn-ea"/>
              </a:rPr>
              <a:t>m</a:t>
            </a:r>
            <a:r>
              <a:rPr lang="zh-CN" altLang="en-US" sz="2200" b="1" dirty="0">
                <a:latin typeface="+mn-ea"/>
              </a:rPr>
              <a:t>。</a:t>
            </a:r>
            <a:endParaRPr lang="en-US" altLang="zh-CN" sz="2200" b="1" dirty="0">
              <a:latin typeface="+mn-ea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94879" y="56945"/>
            <a:ext cx="7456487" cy="842962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defRPr/>
            </a:pPr>
            <a:r>
              <a:rPr kumimoji="1" lang="zh-CN" altLang="en-US" sz="3600" b="1" dirty="0">
                <a:latin typeface="Times New Roman" panose="02020603050405020304" pitchFamily="18" charset="0"/>
              </a:rPr>
              <a:t>进位计数制</a:t>
            </a:r>
            <a:endParaRPr lang="zh-CN" altLang="en-US" sz="4400" b="1" dirty="0"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9925" y="4667208"/>
            <a:ext cx="8162925" cy="81560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-457200" eaLnBrk="1" hangingPunct="1">
              <a:spcBef>
                <a:spcPts val="600"/>
              </a:spcBef>
              <a:defRPr/>
            </a:pPr>
            <a:r>
              <a:rPr kumimoji="1" lang="zh-CN" altLang="en-US" sz="2000" b="1" dirty="0">
                <a:latin typeface="Times New Roman" panose="02020603050405020304" pitchFamily="18" charset="0"/>
              </a:rPr>
              <a:t>采用“逢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R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进一”的进位方式。</a:t>
            </a:r>
            <a:endParaRPr lang="en-US" altLang="zh-CN" sz="2200" b="1" dirty="0">
              <a:latin typeface="+mn-ea"/>
            </a:endParaRPr>
          </a:p>
          <a:p>
            <a:pPr indent="-457200"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200" b="1" dirty="0">
                <a:latin typeface="+mn-ea"/>
              </a:rPr>
              <a:t>每个位置上的数值 </a:t>
            </a:r>
            <a:r>
              <a:rPr lang="en-US" altLang="zh-CN" sz="2200" b="1" dirty="0">
                <a:latin typeface="+mn-ea"/>
              </a:rPr>
              <a:t>= </a:t>
            </a:r>
            <a:r>
              <a:rPr lang="zh-CN" altLang="en-US" sz="2200" b="1" dirty="0">
                <a:latin typeface="+mn-ea"/>
              </a:rPr>
              <a:t>该数码乘以该位置的位权值。 </a:t>
            </a:r>
            <a:endParaRPr lang="zh-CN" altLang="en-US" sz="2200" b="1" dirty="0">
              <a:latin typeface="+mn-ea"/>
            </a:endParaRPr>
          </a:p>
        </p:txBody>
      </p:sp>
      <p:sp>
        <p:nvSpPr>
          <p:cNvPr id="34821" name="矩形 17"/>
          <p:cNvSpPr>
            <a:spLocks noChangeArrowheads="1"/>
          </p:cNvSpPr>
          <p:nvPr/>
        </p:nvSpPr>
        <p:spPr bwMode="auto">
          <a:xfrm>
            <a:off x="1590396" y="3495676"/>
            <a:ext cx="5794375" cy="113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200" b="1" dirty="0"/>
              <a:t>例如：十进制数值</a:t>
            </a:r>
            <a:r>
              <a:rPr kumimoji="1" lang="zh-CN" altLang="en-US" sz="2200" b="1" baseline="30000" dirty="0"/>
              <a:t>     </a:t>
            </a:r>
            <a:r>
              <a:rPr kumimoji="1" lang="en-US" altLang="zh-CN" sz="2200" b="1" dirty="0">
                <a:solidFill>
                  <a:srgbClr val="0000FF"/>
                </a:solidFill>
              </a:rPr>
              <a:t>2      3      4</a:t>
            </a:r>
            <a:r>
              <a:rPr kumimoji="1" lang="en-US" altLang="zh-CN" sz="2200" b="1" dirty="0"/>
              <a:t>       . </a:t>
            </a:r>
            <a:r>
              <a:rPr kumimoji="1" lang="en-US" altLang="zh-CN" sz="2200" b="1" dirty="0">
                <a:solidFill>
                  <a:srgbClr val="FF3300"/>
                </a:solidFill>
              </a:rPr>
              <a:t>  3        8</a:t>
            </a:r>
            <a:endParaRPr kumimoji="1" lang="en-US" altLang="zh-CN" sz="2200" b="1" dirty="0">
              <a:solidFill>
                <a:srgbClr val="FF3300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ts val="1800"/>
              </a:spcBef>
              <a:buClrTx/>
              <a:buFont typeface="Wingdings" panose="05000000000000000000" pitchFamily="2" charset="2"/>
              <a:buNone/>
            </a:pPr>
            <a:r>
              <a:rPr kumimoji="1" lang="en-US" altLang="zh-CN" sz="2200" b="1" dirty="0"/>
              <a:t>       </a:t>
            </a:r>
            <a:r>
              <a:rPr kumimoji="1" lang="zh-CN" altLang="en-US" sz="2200" b="1" dirty="0"/>
              <a:t>每位对应权值   </a:t>
            </a:r>
            <a:r>
              <a:rPr kumimoji="1" lang="en-US" altLang="zh-CN" sz="2200" b="1" dirty="0">
                <a:solidFill>
                  <a:srgbClr val="0000FF"/>
                </a:solidFill>
              </a:rPr>
              <a:t>10</a:t>
            </a:r>
            <a:r>
              <a:rPr kumimoji="1" lang="en-US" altLang="zh-CN" sz="2200" b="1" baseline="30000" dirty="0">
                <a:solidFill>
                  <a:srgbClr val="0000FF"/>
                </a:solidFill>
              </a:rPr>
              <a:t>2   </a:t>
            </a:r>
            <a:r>
              <a:rPr kumimoji="1" lang="en-US" altLang="zh-CN" sz="2200" b="1" dirty="0">
                <a:solidFill>
                  <a:srgbClr val="0000FF"/>
                </a:solidFill>
              </a:rPr>
              <a:t> 10</a:t>
            </a:r>
            <a:r>
              <a:rPr kumimoji="1" lang="en-US" altLang="zh-CN" sz="2200" b="1" baseline="30000" dirty="0">
                <a:solidFill>
                  <a:srgbClr val="0000FF"/>
                </a:solidFill>
              </a:rPr>
              <a:t>1</a:t>
            </a:r>
            <a:r>
              <a:rPr kumimoji="1" lang="en-US" altLang="zh-CN" sz="2200" b="1" dirty="0">
                <a:solidFill>
                  <a:srgbClr val="0000FF"/>
                </a:solidFill>
              </a:rPr>
              <a:t>  10</a:t>
            </a:r>
            <a:r>
              <a:rPr kumimoji="1" lang="en-US" altLang="zh-CN" sz="2200" b="1" baseline="30000" dirty="0">
                <a:solidFill>
                  <a:srgbClr val="0000FF"/>
                </a:solidFill>
              </a:rPr>
              <a:t>0</a:t>
            </a:r>
            <a:r>
              <a:rPr kumimoji="1" lang="en-US" altLang="zh-CN" sz="2200" b="1" baseline="30000" dirty="0"/>
              <a:t>       </a:t>
            </a:r>
            <a:r>
              <a:rPr kumimoji="1" lang="en-US" altLang="zh-CN" sz="2200" b="1" dirty="0"/>
              <a:t> . </a:t>
            </a:r>
            <a:r>
              <a:rPr kumimoji="1" lang="en-US" altLang="zh-CN" sz="2200" b="1" dirty="0">
                <a:solidFill>
                  <a:srgbClr val="FF3300"/>
                </a:solidFill>
              </a:rPr>
              <a:t> 10</a:t>
            </a:r>
            <a:r>
              <a:rPr kumimoji="1" lang="en-US" altLang="zh-CN" sz="2200" b="1" baseline="30000" dirty="0">
                <a:solidFill>
                  <a:srgbClr val="FF3300"/>
                </a:solidFill>
              </a:rPr>
              <a:t>-1</a:t>
            </a:r>
            <a:r>
              <a:rPr kumimoji="1" lang="en-US" altLang="zh-CN" sz="2200" b="1" dirty="0">
                <a:solidFill>
                  <a:srgbClr val="FF3300"/>
                </a:solidFill>
              </a:rPr>
              <a:t>    10</a:t>
            </a:r>
            <a:r>
              <a:rPr kumimoji="1" lang="en-US" altLang="zh-CN" sz="2200" b="1" baseline="30000" dirty="0">
                <a:solidFill>
                  <a:srgbClr val="FF3300"/>
                </a:solidFill>
              </a:rPr>
              <a:t>-2</a:t>
            </a:r>
            <a:endParaRPr kumimoji="1" lang="en-US" altLang="zh-CN" sz="2200" b="1" dirty="0">
              <a:solidFill>
                <a:srgbClr val="FF3300"/>
              </a:solidFill>
            </a:endParaRPr>
          </a:p>
        </p:txBody>
      </p:sp>
      <p:sp>
        <p:nvSpPr>
          <p:cNvPr id="34822" name="Line 7"/>
          <p:cNvSpPr>
            <a:spLocks noChangeShapeType="1"/>
          </p:cNvSpPr>
          <p:nvPr/>
        </p:nvSpPr>
        <p:spPr bwMode="auto">
          <a:xfrm>
            <a:off x="4222799" y="3900488"/>
            <a:ext cx="0" cy="3254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4823" name="Line 7"/>
          <p:cNvSpPr>
            <a:spLocks noChangeShapeType="1"/>
          </p:cNvSpPr>
          <p:nvPr/>
        </p:nvSpPr>
        <p:spPr bwMode="auto">
          <a:xfrm>
            <a:off x="4742868" y="3900488"/>
            <a:ext cx="0" cy="323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4824" name="Line 7"/>
          <p:cNvSpPr>
            <a:spLocks noChangeShapeType="1"/>
          </p:cNvSpPr>
          <p:nvPr/>
        </p:nvSpPr>
        <p:spPr bwMode="auto">
          <a:xfrm>
            <a:off x="5352748" y="3900488"/>
            <a:ext cx="0" cy="323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4825" name="Line 7"/>
          <p:cNvSpPr>
            <a:spLocks noChangeShapeType="1"/>
          </p:cNvSpPr>
          <p:nvPr/>
        </p:nvSpPr>
        <p:spPr bwMode="auto">
          <a:xfrm>
            <a:off x="6250691" y="3900488"/>
            <a:ext cx="0" cy="323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4826" name="Line 7"/>
          <p:cNvSpPr>
            <a:spLocks noChangeShapeType="1"/>
          </p:cNvSpPr>
          <p:nvPr/>
        </p:nvSpPr>
        <p:spPr bwMode="auto">
          <a:xfrm>
            <a:off x="6929789" y="3900488"/>
            <a:ext cx="0" cy="323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69925" y="5614194"/>
            <a:ext cx="7308850" cy="973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200" b="1" dirty="0">
                <a:latin typeface="+mn-lt"/>
              </a:rPr>
              <a:t>(100.10)</a:t>
            </a:r>
            <a:r>
              <a:rPr lang="en-US" altLang="zh-CN" sz="2200" b="1" baseline="-25000" dirty="0">
                <a:latin typeface="+mn-lt"/>
              </a:rPr>
              <a:t>2 </a:t>
            </a:r>
            <a:r>
              <a:rPr lang="en-US" altLang="zh-CN" sz="2200" b="1" dirty="0">
                <a:latin typeface="+mn-lt"/>
              </a:rPr>
              <a:t>= 100.10</a:t>
            </a:r>
            <a:r>
              <a:rPr lang="en-US" altLang="zh-CN" sz="2200" b="1" dirty="0">
                <a:solidFill>
                  <a:srgbClr val="0033CC"/>
                </a:solidFill>
                <a:latin typeface="+mn-lt"/>
              </a:rPr>
              <a:t>B</a:t>
            </a:r>
            <a:r>
              <a:rPr lang="en-US" altLang="zh-CN" sz="2200" b="1" dirty="0">
                <a:latin typeface="+mn-lt"/>
              </a:rPr>
              <a:t>            (17.34)</a:t>
            </a:r>
            <a:r>
              <a:rPr lang="en-US" altLang="zh-CN" sz="2200" b="1" baseline="-25000" dirty="0">
                <a:latin typeface="+mn-lt"/>
              </a:rPr>
              <a:t>8 </a:t>
            </a:r>
            <a:r>
              <a:rPr lang="en-US" altLang="zh-CN" sz="2200" b="1" dirty="0">
                <a:latin typeface="+mn-lt"/>
              </a:rPr>
              <a:t>= 17.34</a:t>
            </a:r>
            <a:r>
              <a:rPr lang="en-US" altLang="zh-CN" sz="2200" b="1" dirty="0">
                <a:solidFill>
                  <a:srgbClr val="0033CC"/>
                </a:solidFill>
                <a:latin typeface="+mn-lt"/>
              </a:rPr>
              <a:t>O</a:t>
            </a:r>
            <a:r>
              <a:rPr lang="en-US" altLang="zh-CN" sz="2200" b="1" dirty="0">
                <a:latin typeface="+mn-lt"/>
              </a:rPr>
              <a:t> = 17.34</a:t>
            </a:r>
            <a:r>
              <a:rPr lang="en-US" altLang="zh-CN" sz="2200" b="1" dirty="0">
                <a:solidFill>
                  <a:srgbClr val="0033CC"/>
                </a:solidFill>
                <a:latin typeface="+mn-lt"/>
              </a:rPr>
              <a:t>Q</a:t>
            </a:r>
            <a:endParaRPr lang="en-US" altLang="zh-CN" sz="2200" b="1" dirty="0">
              <a:solidFill>
                <a:srgbClr val="0033CC"/>
              </a:solidFill>
              <a:latin typeface="+mn-lt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2200" b="1" dirty="0">
                <a:latin typeface="+mn-lt"/>
              </a:rPr>
              <a:t>(149.05)</a:t>
            </a:r>
            <a:r>
              <a:rPr lang="en-US" altLang="zh-CN" sz="2200" b="1" baseline="-25000" dirty="0">
                <a:latin typeface="+mn-lt"/>
              </a:rPr>
              <a:t>10 </a:t>
            </a:r>
            <a:r>
              <a:rPr lang="en-US" altLang="zh-CN" sz="2200" b="1" dirty="0">
                <a:latin typeface="+mn-lt"/>
              </a:rPr>
              <a:t>= 149.05</a:t>
            </a:r>
            <a:r>
              <a:rPr lang="en-US" altLang="zh-CN" sz="2200" b="1" dirty="0">
                <a:solidFill>
                  <a:srgbClr val="0033CC"/>
                </a:solidFill>
                <a:latin typeface="+mn-lt"/>
              </a:rPr>
              <a:t>D</a:t>
            </a:r>
            <a:r>
              <a:rPr lang="en-US" altLang="zh-CN" sz="2200" b="1" dirty="0">
                <a:latin typeface="+mn-lt"/>
              </a:rPr>
              <a:t>          (1A.7C)</a:t>
            </a:r>
            <a:r>
              <a:rPr lang="en-US" altLang="zh-CN" sz="2200" b="1" baseline="-25000" dirty="0">
                <a:latin typeface="+mn-lt"/>
              </a:rPr>
              <a:t>16 </a:t>
            </a:r>
            <a:r>
              <a:rPr lang="en-US" altLang="zh-CN" sz="2200" b="1" dirty="0">
                <a:latin typeface="+mn-lt"/>
              </a:rPr>
              <a:t>= 1A.7C</a:t>
            </a:r>
            <a:r>
              <a:rPr lang="en-US" altLang="zh-CN" sz="2200" b="1" dirty="0">
                <a:solidFill>
                  <a:srgbClr val="0033CC"/>
                </a:solidFill>
                <a:latin typeface="+mn-lt"/>
              </a:rPr>
              <a:t>H</a:t>
            </a:r>
            <a:endParaRPr lang="zh-CN" altLang="en-US" sz="2200" b="1" dirty="0">
              <a:solidFill>
                <a:srgbClr val="0033CC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1245958" y="255588"/>
            <a:ext cx="43243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4300" b="1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二进制数</a:t>
            </a:r>
            <a:endParaRPr kumimoji="1" lang="zh-CN" altLang="en-US" sz="4300" b="1" dirty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449263" y="1163638"/>
            <a:ext cx="8870950" cy="2123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0000FF"/>
              </a:buClr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基数为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kumimoji="1"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Clr>
                <a:srgbClr val="0000FF"/>
              </a:buClr>
              <a:buSzTx/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每一位只能使用两个符号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中的一个。</a:t>
            </a:r>
            <a:endParaRPr kumimoji="1"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Clr>
                <a:srgbClr val="0000FF"/>
              </a:buClr>
              <a:buSzTx/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逢二进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一、借一当二（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算术运算）。</a:t>
            </a:r>
            <a:endParaRPr kumimoji="1"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Clr>
                <a:srgbClr val="0000FF"/>
              </a:buClr>
              <a:buSzTx/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具有进位计数制的特点。      </a:t>
            </a:r>
            <a:endParaRPr kumimoji="1"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6869" name="Group 4"/>
          <p:cNvGrpSpPr/>
          <p:nvPr/>
        </p:nvGrpSpPr>
        <p:grpSpPr bwMode="auto">
          <a:xfrm>
            <a:off x="449263" y="3680454"/>
            <a:ext cx="8466137" cy="1185863"/>
            <a:chOff x="0" y="306"/>
            <a:chExt cx="5328" cy="747"/>
          </a:xfrm>
        </p:grpSpPr>
        <p:sp>
          <p:nvSpPr>
            <p:cNvPr id="36870" name="Text Box 5"/>
            <p:cNvSpPr txBox="1">
              <a:spLocks noChangeArrowheads="1"/>
            </p:cNvSpPr>
            <p:nvPr/>
          </p:nvSpPr>
          <p:spPr bwMode="auto">
            <a:xfrm>
              <a:off x="0" y="306"/>
              <a:ext cx="5328" cy="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00" tIns="45700" rIns="91400" bIns="457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  <a:buClr>
                  <a:srgbClr val="FFFF00"/>
                </a:buClr>
                <a:buSzTx/>
                <a:buFont typeface="Wingdings" panose="05000000000000000000" pitchFamily="2" charset="2"/>
                <a:buNone/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二进制数值</a:t>
              </a:r>
              <a:r>
                <a:rPr kumimoji="1" lang="zh-CN" altLang="en-US" sz="2400" b="1" baseline="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1     1       0       1</a:t>
              </a:r>
              <a:r>
                <a:rPr kumimoji="1"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.   </a:t>
              </a:r>
              <a:r>
                <a:rPr kumimoji="1" lang="en-US" altLang="zh-CN" sz="2400" b="1" dirty="0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0         1       1</a:t>
              </a:r>
              <a:endParaRPr kumimoji="1" lang="en-US" altLang="zh-CN" sz="2400" b="1" dirty="0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50000"/>
                </a:spcBef>
                <a:buClr>
                  <a:srgbClr val="FFFF00"/>
                </a:buClr>
                <a:buSzTx/>
                <a:buFont typeface="Wingdings" panose="05000000000000000000" pitchFamily="2" charset="2"/>
                <a:buNone/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每位对应权值  </a:t>
              </a:r>
              <a:r>
                <a:rPr kumimoji="1"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400" b="1" baseline="30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   </a:t>
              </a:r>
              <a:r>
                <a:rPr kumimoji="1"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2</a:t>
              </a:r>
              <a:r>
                <a:rPr kumimoji="1" lang="en-US" altLang="zh-CN" sz="2400" b="1" baseline="30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    </a:t>
              </a:r>
              <a:r>
                <a:rPr kumimoji="1"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2</a:t>
              </a:r>
              <a:r>
                <a:rPr kumimoji="1" lang="en-US" altLang="zh-CN" sz="2400" b="1" baseline="30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      </a:t>
              </a:r>
              <a:r>
                <a:rPr kumimoji="1"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2</a:t>
              </a:r>
              <a:r>
                <a:rPr kumimoji="1" lang="en-US" altLang="zh-CN" sz="2400" b="1" baseline="30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kumimoji="1"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.   </a:t>
              </a:r>
              <a:r>
                <a:rPr kumimoji="1" lang="en-US" altLang="zh-CN" sz="2400" b="1" dirty="0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400" b="1" baseline="30000" dirty="0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-1         </a:t>
              </a:r>
              <a:r>
                <a:rPr kumimoji="1" lang="en-US" altLang="zh-CN" sz="2400" b="1" dirty="0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400" b="1" baseline="30000" dirty="0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-2       </a:t>
              </a:r>
              <a:r>
                <a:rPr kumimoji="1" lang="en-US" altLang="zh-CN" sz="2400" b="1" dirty="0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400" b="1" baseline="30000" dirty="0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-3 </a:t>
              </a:r>
              <a:endParaRPr kumimoji="1" lang="en-US" altLang="zh-CN" sz="2400" b="1" baseline="30000" dirty="0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1" name="Line 6"/>
            <p:cNvSpPr>
              <a:spLocks noChangeShapeType="1"/>
            </p:cNvSpPr>
            <p:nvPr/>
          </p:nvSpPr>
          <p:spPr bwMode="auto">
            <a:xfrm>
              <a:off x="2598" y="552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36872" name="Line 7"/>
            <p:cNvSpPr>
              <a:spLocks noChangeShapeType="1"/>
            </p:cNvSpPr>
            <p:nvPr/>
          </p:nvSpPr>
          <p:spPr bwMode="auto">
            <a:xfrm>
              <a:off x="1395" y="552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36873" name="Line 8"/>
            <p:cNvSpPr>
              <a:spLocks noChangeShapeType="1"/>
            </p:cNvSpPr>
            <p:nvPr/>
          </p:nvSpPr>
          <p:spPr bwMode="auto">
            <a:xfrm>
              <a:off x="1779" y="552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36874" name="Line 9"/>
            <p:cNvSpPr>
              <a:spLocks noChangeShapeType="1"/>
            </p:cNvSpPr>
            <p:nvPr/>
          </p:nvSpPr>
          <p:spPr bwMode="auto">
            <a:xfrm>
              <a:off x="2162" y="552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36875" name="Line 10"/>
            <p:cNvSpPr>
              <a:spLocks noChangeShapeType="1"/>
            </p:cNvSpPr>
            <p:nvPr/>
          </p:nvSpPr>
          <p:spPr bwMode="auto">
            <a:xfrm>
              <a:off x="3130" y="552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36876" name="Line 11"/>
            <p:cNvSpPr>
              <a:spLocks noChangeShapeType="1"/>
            </p:cNvSpPr>
            <p:nvPr/>
          </p:nvSpPr>
          <p:spPr bwMode="auto">
            <a:xfrm>
              <a:off x="3667" y="552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36877" name="Line 12"/>
            <p:cNvSpPr>
              <a:spLocks noChangeShapeType="1"/>
            </p:cNvSpPr>
            <p:nvPr/>
          </p:nvSpPr>
          <p:spPr bwMode="auto">
            <a:xfrm>
              <a:off x="4085" y="552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24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458788" y="1864319"/>
            <a:ext cx="3832225" cy="461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 加法：逢二进一   </a:t>
            </a:r>
            <a:endParaRPr kumimoji="1" lang="zh-CN" altLang="en-US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938213" y="2578694"/>
            <a:ext cx="2462213" cy="1549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0+0=0</a:t>
            </a:r>
            <a:endParaRPr kumimoji="1"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1+0=1</a:t>
            </a:r>
            <a:endParaRPr kumimoji="1"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0+1=1</a:t>
            </a:r>
            <a:endParaRPr kumimoji="1"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1+1=0</a:t>
            </a:r>
            <a:endParaRPr kumimoji="1"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4672013" y="1816694"/>
            <a:ext cx="4029075" cy="461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v"/>
            </a:pP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减法：借一当二   </a:t>
            </a:r>
            <a:endParaRPr kumimoji="1" lang="zh-CN" altLang="en-US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5053013" y="2578694"/>
            <a:ext cx="3033713" cy="153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0-0=0</a:t>
            </a:r>
            <a:endParaRPr kumimoji="1"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1-0=1</a:t>
            </a:r>
            <a:endParaRPr kumimoji="1"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1-1=0</a:t>
            </a:r>
            <a:endParaRPr kumimoji="1"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0-1=1</a:t>
            </a:r>
            <a:endParaRPr kumimoji="1"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4" name="矩形 1"/>
          <p:cNvSpPr>
            <a:spLocks noChangeArrowheads="1"/>
          </p:cNvSpPr>
          <p:nvPr/>
        </p:nvSpPr>
        <p:spPr bwMode="auto">
          <a:xfrm>
            <a:off x="914400" y="4860925"/>
            <a:ext cx="22860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0×0=0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0×1=0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1×0=0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1×1=1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895" name="Text Box 2"/>
          <p:cNvSpPr txBox="1">
            <a:spLocks noChangeArrowheads="1"/>
          </p:cNvSpPr>
          <p:nvPr/>
        </p:nvSpPr>
        <p:spPr bwMode="auto">
          <a:xfrm>
            <a:off x="776288" y="4327864"/>
            <a:ext cx="3581400" cy="461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 乘法</a:t>
            </a:r>
            <a:endParaRPr kumimoji="1" lang="zh-CN" altLang="en-US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6" name="Text Box 2"/>
          <p:cNvSpPr txBox="1">
            <a:spLocks noChangeArrowheads="1"/>
          </p:cNvSpPr>
          <p:nvPr/>
        </p:nvSpPr>
        <p:spPr bwMode="auto">
          <a:xfrm>
            <a:off x="5119688" y="4327864"/>
            <a:ext cx="3581400" cy="461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 除法</a:t>
            </a:r>
            <a:endParaRPr kumimoji="1" lang="zh-CN" altLang="en-US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7" name="矩形 2"/>
          <p:cNvSpPr>
            <a:spLocks noChangeArrowheads="1"/>
          </p:cNvSpPr>
          <p:nvPr/>
        </p:nvSpPr>
        <p:spPr bwMode="auto">
          <a:xfrm>
            <a:off x="5119688" y="4789488"/>
            <a:ext cx="379571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0÷0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（没有意义）</a:t>
            </a: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0÷1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1÷0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（没有意义）</a:t>
            </a: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1÷1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898" name="文本框 1"/>
          <p:cNvSpPr txBox="1">
            <a:spLocks noChangeArrowheads="1"/>
          </p:cNvSpPr>
          <p:nvPr/>
        </p:nvSpPr>
        <p:spPr bwMode="auto">
          <a:xfrm>
            <a:off x="1169987" y="301626"/>
            <a:ext cx="40608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二进制数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8788" y="1245500"/>
            <a:ext cx="36157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 dirty="0"/>
              <a:t>算术运算</a:t>
            </a:r>
            <a:endParaRPr lang="zh-CN" altLang="en-US" sz="26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63" y="1419225"/>
            <a:ext cx="7473950" cy="5119688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331913" y="217488"/>
            <a:ext cx="7500937" cy="842962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defRPr/>
            </a:pPr>
            <a:r>
              <a:rPr lang="zh-CN" altLang="en-US" sz="3600" b="1" dirty="0">
                <a:latin typeface="+mj-ea"/>
                <a:ea typeface="+mj-ea"/>
              </a:rPr>
              <a:t>二进制数</a:t>
            </a:r>
            <a:r>
              <a:rPr lang="zh-CN" altLang="en-US" sz="4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lang="zh-CN" altLang="en-US" sz="4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07143" y="1807029"/>
            <a:ext cx="7097486" cy="1582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67228" y="4053343"/>
            <a:ext cx="7177315" cy="24055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 noChangeArrowheads="1"/>
          </p:cNvSpPr>
          <p:nvPr>
            <p:ph type="title"/>
          </p:nvPr>
        </p:nvSpPr>
        <p:spPr>
          <a:xfrm>
            <a:off x="516532" y="239131"/>
            <a:ext cx="4312353" cy="736600"/>
          </a:xfrm>
        </p:spPr>
        <p:txBody>
          <a:bodyPr/>
          <a:lstStyle/>
          <a:p>
            <a:r>
              <a:rPr lang="zh-CN" altLang="en-US" b="1" dirty="0"/>
              <a:t>进制间的转换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0395" y="2196420"/>
            <a:ext cx="6991350" cy="3460750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lang="zh-CN" altLang="en-US" b="1" dirty="0" smtClean="0">
                <a:latin typeface="+mn-ea"/>
              </a:rPr>
              <a:t>二进制</a:t>
            </a:r>
            <a:r>
              <a:rPr lang="zh-CN" altLang="en-US" b="1" dirty="0">
                <a:latin typeface="+mn-ea"/>
              </a:rPr>
              <a:t>、八进制、十六进制    </a:t>
            </a:r>
            <a:r>
              <a:rPr lang="en-US" altLang="zh-CN" b="1" dirty="0">
                <a:latin typeface="+mn-ea"/>
              </a:rPr>
              <a:t>       </a:t>
            </a:r>
            <a:r>
              <a:rPr lang="zh-CN" altLang="en-US" b="1" dirty="0">
                <a:latin typeface="+mn-ea"/>
              </a:rPr>
              <a:t>十进制</a:t>
            </a:r>
            <a:endParaRPr lang="en-US" altLang="zh-CN" b="1" dirty="0">
              <a:latin typeface="+mn-ea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lang="zh-CN" altLang="en-US" sz="2400" b="1" dirty="0" smtClean="0">
                <a:latin typeface="+mn-ea"/>
              </a:rPr>
              <a:t>二进制         </a:t>
            </a:r>
            <a:r>
              <a:rPr lang="zh-CN" altLang="en-US" sz="2400" b="1" dirty="0">
                <a:latin typeface="+mn-ea"/>
              </a:rPr>
              <a:t>八进制、十六进制</a:t>
            </a:r>
            <a:endParaRPr lang="en-US" altLang="zh-CN" sz="2400" b="1" dirty="0">
              <a:latin typeface="+mn-ea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r>
              <a:rPr lang="zh-CN" altLang="en-US" sz="2200" b="1" dirty="0"/>
              <a:t>        二进制数太长，书写、阅读、记忆均不便；八进制和十六进制与二进制之间的转换直观、方便，在程序和文档中经常使用</a:t>
            </a:r>
            <a:r>
              <a:rPr lang="zh-CN" altLang="en-US" sz="2200" b="1" dirty="0" smtClean="0"/>
              <a:t>。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2" name="左右箭头 1"/>
          <p:cNvSpPr/>
          <p:nvPr/>
        </p:nvSpPr>
        <p:spPr>
          <a:xfrm>
            <a:off x="5539468" y="2375353"/>
            <a:ext cx="884238" cy="1524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左右箭头 4"/>
          <p:cNvSpPr/>
          <p:nvPr/>
        </p:nvSpPr>
        <p:spPr>
          <a:xfrm>
            <a:off x="2577420" y="3041877"/>
            <a:ext cx="884237" cy="1524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70666" y="100013"/>
            <a:ext cx="7362825" cy="842962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defRPr/>
            </a:pPr>
            <a:r>
              <a:rPr lang="en-US" altLang="zh-CN" sz="3200" b="1" dirty="0">
                <a:latin typeface="+mj-ea"/>
                <a:ea typeface="+mj-ea"/>
              </a:rPr>
              <a:t>R</a:t>
            </a:r>
            <a:r>
              <a:rPr lang="zh-CN" altLang="en-US" sz="3200" b="1" dirty="0">
                <a:latin typeface="+mj-ea"/>
                <a:ea typeface="+mj-ea"/>
              </a:rPr>
              <a:t>进制数与十进制数的转换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lang="zh-CN" altLang="en-US" sz="32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8131" name="Group 5"/>
          <p:cNvGrpSpPr/>
          <p:nvPr/>
        </p:nvGrpSpPr>
        <p:grpSpPr bwMode="auto">
          <a:xfrm>
            <a:off x="1640001" y="1493383"/>
            <a:ext cx="6302375" cy="581025"/>
            <a:chOff x="759" y="2235"/>
            <a:chExt cx="4259" cy="366"/>
          </a:xfrm>
        </p:grpSpPr>
        <p:sp>
          <p:nvSpPr>
            <p:cNvPr id="48135" name="Text Box 6"/>
            <p:cNvSpPr txBox="1">
              <a:spLocks noChangeArrowheads="1"/>
            </p:cNvSpPr>
            <p:nvPr/>
          </p:nvSpPr>
          <p:spPr bwMode="auto">
            <a:xfrm>
              <a:off x="759" y="2256"/>
              <a:ext cx="1069" cy="33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00" tIns="45700" rIns="91400" bIns="45700"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800" b="1">
                  <a:solidFill>
                    <a:srgbClr val="FFFF00"/>
                  </a:solidFill>
                </a:rPr>
                <a:t>R</a:t>
              </a:r>
              <a:r>
                <a:rPr kumimoji="1" lang="zh-CN" altLang="en-US" sz="2800" b="1">
                  <a:solidFill>
                    <a:srgbClr val="FFFF00"/>
                  </a:solidFill>
                </a:rPr>
                <a:t>进制数</a:t>
              </a:r>
              <a:endParaRPr kumimoji="1" lang="zh-CN" altLang="en-US" sz="2800" b="1">
                <a:solidFill>
                  <a:srgbClr val="FFFF00"/>
                </a:solidFill>
              </a:endParaRPr>
            </a:p>
          </p:txBody>
        </p:sp>
        <p:sp>
          <p:nvSpPr>
            <p:cNvPr id="48136" name="AutoShape 7"/>
            <p:cNvSpPr>
              <a:spLocks noChangeArrowheads="1"/>
            </p:cNvSpPr>
            <p:nvPr/>
          </p:nvSpPr>
          <p:spPr bwMode="auto">
            <a:xfrm>
              <a:off x="1909" y="2241"/>
              <a:ext cx="1625" cy="360"/>
            </a:xfrm>
            <a:prstGeom prst="notchedRightArrow">
              <a:avLst>
                <a:gd name="adj1" fmla="val 37111"/>
                <a:gd name="adj2" fmla="val 58409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lIns="91400" tIns="45700" rIns="91400" bIns="45700"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kumimoji="1" lang="zh-CN" altLang="zh-CN" sz="1400" b="1"/>
            </a:p>
          </p:txBody>
        </p:sp>
        <p:sp>
          <p:nvSpPr>
            <p:cNvPr id="48137" name="Text Box 8"/>
            <p:cNvSpPr txBox="1">
              <a:spLocks noChangeArrowheads="1"/>
            </p:cNvSpPr>
            <p:nvPr/>
          </p:nvSpPr>
          <p:spPr bwMode="auto">
            <a:xfrm>
              <a:off x="3638" y="2235"/>
              <a:ext cx="1380" cy="33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00" tIns="45700" rIns="91400" bIns="45700"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zh-CN" altLang="en-US" sz="2800" b="1">
                  <a:solidFill>
                    <a:srgbClr val="FFFF00"/>
                  </a:solidFill>
                </a:rPr>
                <a:t>十进制数</a:t>
              </a:r>
              <a:endParaRPr kumimoji="1" lang="zh-CN" altLang="en-US" sz="2800" b="1">
                <a:solidFill>
                  <a:srgbClr val="FFFF00"/>
                </a:solidFill>
              </a:endParaRPr>
            </a:p>
          </p:txBody>
        </p:sp>
      </p:grpSp>
      <p:graphicFrame>
        <p:nvGraphicFramePr>
          <p:cNvPr id="12" name="Object 2" descr="信纸"/>
          <p:cNvGraphicFramePr>
            <a:graphicFrameLocks noChangeAspect="1"/>
          </p:cNvGraphicFramePr>
          <p:nvPr/>
        </p:nvGraphicFramePr>
        <p:xfrm>
          <a:off x="314965" y="3849005"/>
          <a:ext cx="845820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4" name="Equation" r:id="rId1" imgW="6591300" imgH="698500" progId="Equation.3">
                  <p:embed/>
                </p:oleObj>
              </mc:Choice>
              <mc:Fallback>
                <p:oleObj name="Equation" r:id="rId1" imgW="6591300" imgH="698500" progId="Equation.3">
                  <p:embed/>
                  <p:pic>
                    <p:nvPicPr>
                      <p:cNvPr id="0" name="Object 2" descr="信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5" y="3849005"/>
                        <a:ext cx="8458200" cy="858838"/>
                      </a:xfrm>
                      <a:prstGeom prst="rect">
                        <a:avLst/>
                      </a:prstGeom>
                      <a:blipFill dpi="0" rotWithShape="0">
                        <a:blip r:embed="rId3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746250" y="5292725"/>
            <a:ext cx="7200900" cy="11334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2400" b="1" dirty="0">
                <a:latin typeface="+mn-lt"/>
              </a:rPr>
              <a:t>(123)</a:t>
            </a:r>
            <a:r>
              <a:rPr lang="en-US" altLang="zh-CN" sz="2400" b="1" baseline="-25000" dirty="0">
                <a:latin typeface="+mn-lt"/>
              </a:rPr>
              <a:t>8  </a:t>
            </a:r>
            <a:r>
              <a:rPr lang="en-US" altLang="zh-CN" sz="2400" b="1" dirty="0">
                <a:latin typeface="+mn-lt"/>
              </a:rPr>
              <a:t>=1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400" b="1" dirty="0">
                <a:latin typeface="+mn-lt"/>
              </a:rPr>
              <a:t>8</a:t>
            </a:r>
            <a:r>
              <a:rPr lang="en-US" altLang="zh-CN" sz="2400" b="1" baseline="30000" dirty="0">
                <a:latin typeface="+mn-lt"/>
              </a:rPr>
              <a:t>2    </a:t>
            </a:r>
            <a:r>
              <a:rPr lang="en-US" altLang="zh-CN" sz="2400" b="1" dirty="0">
                <a:latin typeface="+mn-lt"/>
              </a:rPr>
              <a:t>+ 2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400" b="1" dirty="0">
                <a:latin typeface="+mn-lt"/>
              </a:rPr>
              <a:t>8</a:t>
            </a:r>
            <a:r>
              <a:rPr lang="en-US" altLang="zh-CN" sz="2400" b="1" baseline="30000" dirty="0">
                <a:latin typeface="+mn-lt"/>
              </a:rPr>
              <a:t>1    </a:t>
            </a:r>
            <a:r>
              <a:rPr lang="en-US" altLang="zh-CN" sz="2400" b="1" dirty="0">
                <a:latin typeface="+mn-lt"/>
              </a:rPr>
              <a:t>+ 3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400" b="1" dirty="0">
                <a:latin typeface="+mn-lt"/>
              </a:rPr>
              <a:t>8</a:t>
            </a:r>
            <a:r>
              <a:rPr lang="en-US" altLang="zh-CN" sz="2400" b="1" baseline="30000" dirty="0">
                <a:latin typeface="+mn-lt"/>
              </a:rPr>
              <a:t>0    </a:t>
            </a:r>
            <a:r>
              <a:rPr lang="en-US" altLang="zh-CN" sz="2400" b="1" dirty="0">
                <a:latin typeface="+mn-lt"/>
              </a:rPr>
              <a:t>= (83)</a:t>
            </a:r>
            <a:r>
              <a:rPr lang="en-US" altLang="zh-CN" sz="2400" b="1" baseline="-25000" dirty="0">
                <a:latin typeface="+mn-lt"/>
              </a:rPr>
              <a:t>10</a:t>
            </a:r>
            <a:endParaRPr lang="en-US" altLang="zh-CN" sz="2400" b="1" baseline="-25000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2400" b="1" dirty="0">
                <a:latin typeface="+mn-lt"/>
              </a:rPr>
              <a:t>(</a:t>
            </a:r>
            <a:r>
              <a:rPr lang="en-US" altLang="zh-CN" sz="2400" b="1" dirty="0" smtClean="0">
                <a:latin typeface="+mn-lt"/>
              </a:rPr>
              <a:t>12A)</a:t>
            </a:r>
            <a:r>
              <a:rPr lang="en-US" altLang="zh-CN" sz="2400" b="1" baseline="-25000" dirty="0" smtClean="0">
                <a:latin typeface="+mn-lt"/>
              </a:rPr>
              <a:t>16</a:t>
            </a:r>
            <a:r>
              <a:rPr lang="en-US" altLang="zh-CN" sz="2400" b="1" dirty="0" smtClean="0">
                <a:latin typeface="+mn-lt"/>
              </a:rPr>
              <a:t>=1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400" b="1" dirty="0" smtClean="0">
                <a:latin typeface="+mn-lt"/>
              </a:rPr>
              <a:t>16</a:t>
            </a:r>
            <a:r>
              <a:rPr lang="en-US" altLang="zh-CN" sz="2400" b="1" baseline="30000" dirty="0" smtClean="0">
                <a:latin typeface="+mn-lt"/>
              </a:rPr>
              <a:t>2</a:t>
            </a:r>
            <a:r>
              <a:rPr lang="en-US" altLang="zh-CN" sz="2400" b="1" dirty="0" smtClean="0">
                <a:latin typeface="+mn-lt"/>
              </a:rPr>
              <a:t> </a:t>
            </a:r>
            <a:r>
              <a:rPr lang="en-US" altLang="zh-CN" sz="2400" b="1" dirty="0">
                <a:latin typeface="+mn-lt"/>
              </a:rPr>
              <a:t>+ 2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400" b="1" dirty="0">
                <a:latin typeface="+mn-lt"/>
              </a:rPr>
              <a:t>16</a:t>
            </a:r>
            <a:r>
              <a:rPr lang="en-US" altLang="zh-CN" sz="2400" b="1" baseline="30000" dirty="0">
                <a:latin typeface="+mn-lt"/>
              </a:rPr>
              <a:t>1 </a:t>
            </a:r>
            <a:r>
              <a:rPr lang="en-US" altLang="zh-CN" sz="2400" b="1" dirty="0">
                <a:latin typeface="+mn-lt"/>
              </a:rPr>
              <a:t>+ </a:t>
            </a:r>
            <a:r>
              <a:rPr lang="en-US" altLang="zh-CN" sz="2400" b="1" dirty="0" smtClean="0">
                <a:latin typeface="+mn-lt"/>
              </a:rPr>
              <a:t>10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400" b="1" dirty="0" smtClean="0">
                <a:latin typeface="+mn-lt"/>
              </a:rPr>
              <a:t>16</a:t>
            </a:r>
            <a:r>
              <a:rPr lang="en-US" altLang="zh-CN" sz="2400" b="1" baseline="30000" dirty="0" smtClean="0">
                <a:latin typeface="+mn-lt"/>
              </a:rPr>
              <a:t>0 </a:t>
            </a:r>
            <a:r>
              <a:rPr lang="en-US" altLang="zh-CN" sz="2400" b="1" dirty="0">
                <a:latin typeface="+mn-lt"/>
              </a:rPr>
              <a:t>= (</a:t>
            </a:r>
            <a:r>
              <a:rPr lang="en-US" altLang="zh-CN" sz="2400" b="1" dirty="0" smtClean="0">
                <a:latin typeface="+mn-lt"/>
              </a:rPr>
              <a:t>298)</a:t>
            </a:r>
            <a:r>
              <a:rPr lang="en-US" altLang="zh-CN" sz="2400" b="1" baseline="-25000" dirty="0" smtClean="0">
                <a:latin typeface="+mn-lt"/>
              </a:rPr>
              <a:t>10</a:t>
            </a:r>
            <a:endParaRPr lang="zh-CN" altLang="en-US" sz="2400" b="1" baseline="-25000" dirty="0">
              <a:latin typeface="+mn-lt"/>
            </a:endParaRPr>
          </a:p>
        </p:txBody>
      </p:sp>
      <p:sp>
        <p:nvSpPr>
          <p:cNvPr id="48134" name="文本框 1"/>
          <p:cNvSpPr txBox="1">
            <a:spLocks noChangeArrowheads="1"/>
          </p:cNvSpPr>
          <p:nvPr/>
        </p:nvSpPr>
        <p:spPr bwMode="auto">
          <a:xfrm>
            <a:off x="3665651" y="1920421"/>
            <a:ext cx="184467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600" b="1">
                <a:latin typeface="Century Gothic" panose="020B0502020202020204" pitchFamily="34" charset="0"/>
              </a:rPr>
              <a:t>按权相加</a:t>
            </a:r>
            <a:endParaRPr lang="zh-CN" altLang="en-US" sz="2600" b="1">
              <a:latin typeface="Century Gothic" panose="020B0502020202020204" pitchFamily="34" charset="0"/>
            </a:endParaRPr>
          </a:p>
        </p:txBody>
      </p:sp>
      <p:grpSp>
        <p:nvGrpSpPr>
          <p:cNvPr id="10" name="Group 4"/>
          <p:cNvGrpSpPr/>
          <p:nvPr/>
        </p:nvGrpSpPr>
        <p:grpSpPr bwMode="auto">
          <a:xfrm>
            <a:off x="173493" y="2356869"/>
            <a:ext cx="8466137" cy="1185863"/>
            <a:chOff x="0" y="306"/>
            <a:chExt cx="5328" cy="747"/>
          </a:xfrm>
        </p:grpSpPr>
        <p:sp>
          <p:nvSpPr>
            <p:cNvPr id="11" name="Text Box 5"/>
            <p:cNvSpPr txBox="1">
              <a:spLocks noChangeArrowheads="1"/>
            </p:cNvSpPr>
            <p:nvPr/>
          </p:nvSpPr>
          <p:spPr bwMode="auto">
            <a:xfrm>
              <a:off x="0" y="306"/>
              <a:ext cx="5328" cy="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00" tIns="45700" rIns="91400" bIns="457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  <a:buClr>
                  <a:srgbClr val="FFFF00"/>
                </a:buClr>
                <a:buSzTx/>
                <a:buFont typeface="Wingdings" panose="05000000000000000000" pitchFamily="2" charset="2"/>
                <a:buNone/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二进制数值</a:t>
              </a:r>
              <a:r>
                <a:rPr kumimoji="1" lang="zh-CN" altLang="en-US" sz="2400" b="1" baseline="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1     1       0       1</a:t>
              </a:r>
              <a:r>
                <a:rPr kumimoji="1"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.   </a:t>
              </a:r>
              <a:r>
                <a:rPr kumimoji="1" lang="en-US" altLang="zh-CN" sz="2400" b="1" dirty="0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0         1       1</a:t>
              </a:r>
              <a:endParaRPr kumimoji="1" lang="en-US" altLang="zh-CN" sz="2400" b="1" dirty="0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50000"/>
                </a:spcBef>
                <a:buClr>
                  <a:srgbClr val="FFFF00"/>
                </a:buClr>
                <a:buSzTx/>
                <a:buFont typeface="Wingdings" panose="05000000000000000000" pitchFamily="2" charset="2"/>
                <a:buNone/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每位对应权值  </a:t>
              </a:r>
              <a:r>
                <a:rPr kumimoji="1"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400" b="1" baseline="30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   </a:t>
              </a:r>
              <a:r>
                <a:rPr kumimoji="1"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2</a:t>
              </a:r>
              <a:r>
                <a:rPr kumimoji="1" lang="en-US" altLang="zh-CN" sz="2400" b="1" baseline="30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    </a:t>
              </a:r>
              <a:r>
                <a:rPr kumimoji="1"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2</a:t>
              </a:r>
              <a:r>
                <a:rPr kumimoji="1" lang="en-US" altLang="zh-CN" sz="2400" b="1" baseline="30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      </a:t>
              </a:r>
              <a:r>
                <a:rPr kumimoji="1"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2</a:t>
              </a:r>
              <a:r>
                <a:rPr kumimoji="1" lang="en-US" altLang="zh-CN" sz="2400" b="1" baseline="30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kumimoji="1"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.   </a:t>
              </a:r>
              <a:r>
                <a:rPr kumimoji="1" lang="en-US" altLang="zh-CN" sz="2400" b="1" dirty="0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400" b="1" baseline="30000" dirty="0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-1         </a:t>
              </a:r>
              <a:r>
                <a:rPr kumimoji="1" lang="en-US" altLang="zh-CN" sz="2400" b="1" dirty="0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400" b="1" baseline="30000" dirty="0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-2       </a:t>
              </a:r>
              <a:r>
                <a:rPr kumimoji="1" lang="en-US" altLang="zh-CN" sz="2400" b="1" dirty="0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400" b="1" baseline="30000" dirty="0">
                  <a:solidFill>
                    <a:srgbClr val="00CC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-3 </a:t>
              </a:r>
              <a:endParaRPr kumimoji="1" lang="en-US" altLang="zh-CN" sz="2400" b="1" baseline="30000" dirty="0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Line 6"/>
            <p:cNvSpPr>
              <a:spLocks noChangeShapeType="1"/>
            </p:cNvSpPr>
            <p:nvPr/>
          </p:nvSpPr>
          <p:spPr bwMode="auto">
            <a:xfrm>
              <a:off x="2598" y="552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15" name="Line 7"/>
            <p:cNvSpPr>
              <a:spLocks noChangeShapeType="1"/>
            </p:cNvSpPr>
            <p:nvPr/>
          </p:nvSpPr>
          <p:spPr bwMode="auto">
            <a:xfrm>
              <a:off x="1395" y="552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16" name="Line 8"/>
            <p:cNvSpPr>
              <a:spLocks noChangeShapeType="1"/>
            </p:cNvSpPr>
            <p:nvPr/>
          </p:nvSpPr>
          <p:spPr bwMode="auto">
            <a:xfrm>
              <a:off x="1779" y="552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17" name="Line 9"/>
            <p:cNvSpPr>
              <a:spLocks noChangeShapeType="1"/>
            </p:cNvSpPr>
            <p:nvPr/>
          </p:nvSpPr>
          <p:spPr bwMode="auto">
            <a:xfrm>
              <a:off x="2162" y="552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>
              <a:off x="3130" y="552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19" name="Line 11"/>
            <p:cNvSpPr>
              <a:spLocks noChangeShapeType="1"/>
            </p:cNvSpPr>
            <p:nvPr/>
          </p:nvSpPr>
          <p:spPr bwMode="auto">
            <a:xfrm>
              <a:off x="3667" y="552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20" name="Line 12"/>
            <p:cNvSpPr>
              <a:spLocks noChangeShapeType="1"/>
            </p:cNvSpPr>
            <p:nvPr/>
          </p:nvSpPr>
          <p:spPr bwMode="auto">
            <a:xfrm>
              <a:off x="4085" y="552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4294967295"/>
          </p:nvPr>
        </p:nvSpPr>
        <p:spPr>
          <a:xfrm>
            <a:off x="800100" y="1575435"/>
            <a:ext cx="7886700" cy="4530725"/>
          </a:xfrm>
        </p:spPr>
        <p:txBody>
          <a:bodyPr>
            <a:noAutofit/>
          </a:bodyPr>
          <a:lstStyle/>
          <a:p>
            <a:pPr marL="609600" indent="-609600">
              <a:buFontTx/>
              <a:buNone/>
            </a:pPr>
            <a:r>
              <a:rPr lang="en-US" altLang="zh-CN" sz="2800" b="1" dirty="0">
                <a:cs typeface="+mn-ea"/>
                <a:sym typeface="+mn-lt"/>
              </a:rPr>
              <a:t>1. </a:t>
            </a:r>
            <a:r>
              <a:rPr lang="zh-CN" altLang="en-US" sz="2800" b="1" dirty="0">
                <a:cs typeface="+mn-ea"/>
                <a:sym typeface="+mn-lt"/>
              </a:rPr>
              <a:t>二、八、十六进制转为十进制</a:t>
            </a:r>
            <a:endParaRPr lang="zh-CN" altLang="en-US" sz="2800" b="1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(101.01)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  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(110101.011)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(1110010.101)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(56.4)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 	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(136.5)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 	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(AF.4)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16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endParaRPr lang="zh-CN" altLang="en-US" sz="2800" b="1" dirty="0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79829" y="180295"/>
            <a:ext cx="4288971" cy="748619"/>
          </a:xfrm>
        </p:spPr>
        <p:txBody>
          <a:bodyPr/>
          <a:lstStyle/>
          <a:p>
            <a:r>
              <a:rPr lang="zh-CN" altLang="en-US" b="1" dirty="0" smtClean="0"/>
              <a:t>练习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4294967295"/>
          </p:nvPr>
        </p:nvSpPr>
        <p:spPr>
          <a:xfrm>
            <a:off x="868045" y="1570355"/>
            <a:ext cx="6456045" cy="4530725"/>
          </a:xfrm>
        </p:spPr>
        <p:txBody>
          <a:bodyPr>
            <a:normAutofit/>
          </a:bodyPr>
          <a:lstStyle/>
          <a:p>
            <a:pPr marL="609600" indent="-609600">
              <a:buFontTx/>
              <a:buNone/>
            </a:pPr>
            <a:r>
              <a:rPr lang="en-US" altLang="zh-CN" sz="2800" b="1" dirty="0">
                <a:cs typeface="+mn-ea"/>
                <a:sym typeface="+mn-lt"/>
              </a:rPr>
              <a:t>1. </a:t>
            </a:r>
            <a:r>
              <a:rPr lang="zh-CN" altLang="en-US" sz="2800" b="1" dirty="0">
                <a:cs typeface="+mn-ea"/>
                <a:sym typeface="+mn-lt"/>
              </a:rPr>
              <a:t>二、八、十六进制转为十进制</a:t>
            </a:r>
            <a:endParaRPr lang="zh-CN" altLang="en-US" sz="2800" b="1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(101.01)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5.25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(110101.011)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53.375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(1110010.101)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114.625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(56.4)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 	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46.5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(136.5)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 	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94.625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(AF.4)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16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175.25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endParaRPr lang="zh-CN" altLang="en-US" sz="2800" b="1" dirty="0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79829" y="180295"/>
            <a:ext cx="4288971" cy="74861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 smtClean="0"/>
              <a:t>练习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550988" y="3476625"/>
            <a:ext cx="8302625" cy="46196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dirty="0">
                <a:latin typeface="+mn-ea"/>
                <a:ea typeface="+mn-ea"/>
              </a:rPr>
              <a:t>将</a:t>
            </a:r>
            <a:r>
              <a:rPr kumimoji="1"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整数</a:t>
            </a:r>
            <a:r>
              <a:rPr kumimoji="1" lang="zh-CN" altLang="en-US" sz="2400" b="1" dirty="0">
                <a:latin typeface="+mn-ea"/>
                <a:ea typeface="+mn-ea"/>
              </a:rPr>
              <a:t>部分和</a:t>
            </a:r>
            <a:r>
              <a:rPr kumimoji="1"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小数</a:t>
            </a:r>
            <a:r>
              <a:rPr kumimoji="1" lang="zh-CN" altLang="en-US" sz="2400" b="1" dirty="0">
                <a:latin typeface="+mn-ea"/>
                <a:ea typeface="+mn-ea"/>
              </a:rPr>
              <a:t>部分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分别</a:t>
            </a:r>
            <a:r>
              <a:rPr kumimoji="1" lang="zh-CN" altLang="en-US" sz="2400" b="1" dirty="0">
                <a:latin typeface="+mn-ea"/>
                <a:ea typeface="+mn-ea"/>
              </a:rPr>
              <a:t>转换。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pSp>
        <p:nvGrpSpPr>
          <p:cNvPr id="49155" name="Group 5"/>
          <p:cNvGrpSpPr/>
          <p:nvPr/>
        </p:nvGrpSpPr>
        <p:grpSpPr bwMode="auto">
          <a:xfrm>
            <a:off x="1414463" y="1952625"/>
            <a:ext cx="6980237" cy="822325"/>
            <a:chOff x="592" y="2185"/>
            <a:chExt cx="4397" cy="518"/>
          </a:xfrm>
        </p:grpSpPr>
        <p:sp>
          <p:nvSpPr>
            <p:cNvPr id="49159" name="Text Box 6"/>
            <p:cNvSpPr txBox="1">
              <a:spLocks noChangeArrowheads="1"/>
            </p:cNvSpPr>
            <p:nvPr/>
          </p:nvSpPr>
          <p:spPr bwMode="auto">
            <a:xfrm>
              <a:off x="592" y="2294"/>
              <a:ext cx="1380" cy="33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00" tIns="45700" rIns="91400" bIns="45700"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zh-CN" altLang="en-US" sz="2800" b="1">
                  <a:solidFill>
                    <a:srgbClr val="FFFF00"/>
                  </a:solidFill>
                </a:rPr>
                <a:t>十进制数</a:t>
              </a:r>
              <a:endParaRPr kumimoji="1" lang="zh-CN" altLang="en-US" sz="2800" b="1">
                <a:solidFill>
                  <a:srgbClr val="FFFF00"/>
                </a:solidFill>
              </a:endParaRPr>
            </a:p>
          </p:txBody>
        </p:sp>
        <p:sp>
          <p:nvSpPr>
            <p:cNvPr id="49160" name="AutoShape 7"/>
            <p:cNvSpPr>
              <a:spLocks noChangeArrowheads="1"/>
            </p:cNvSpPr>
            <p:nvPr/>
          </p:nvSpPr>
          <p:spPr bwMode="auto">
            <a:xfrm>
              <a:off x="2014" y="2185"/>
              <a:ext cx="1528" cy="518"/>
            </a:xfrm>
            <a:prstGeom prst="notchedRightArrow">
              <a:avLst>
                <a:gd name="adj1" fmla="val 37111"/>
                <a:gd name="adj2" fmla="val 78716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lIns="91400" tIns="45700" rIns="91400" bIns="45700"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kumimoji="1" lang="zh-CN" altLang="zh-CN" sz="1400" b="1"/>
            </a:p>
          </p:txBody>
        </p:sp>
        <p:sp>
          <p:nvSpPr>
            <p:cNvPr id="49161" name="Text Box 8"/>
            <p:cNvSpPr txBox="1">
              <a:spLocks noChangeArrowheads="1"/>
            </p:cNvSpPr>
            <p:nvPr/>
          </p:nvSpPr>
          <p:spPr bwMode="auto">
            <a:xfrm>
              <a:off x="3609" y="2280"/>
              <a:ext cx="1380" cy="33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00" tIns="45700" rIns="91400" bIns="45700"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800" b="1">
                  <a:solidFill>
                    <a:srgbClr val="FFFF00"/>
                  </a:solidFill>
                </a:rPr>
                <a:t>R</a:t>
              </a:r>
              <a:r>
                <a:rPr kumimoji="1" lang="zh-CN" altLang="en-US" sz="2800" b="1">
                  <a:solidFill>
                    <a:srgbClr val="FFFF00"/>
                  </a:solidFill>
                </a:rPr>
                <a:t>进制数</a:t>
              </a:r>
              <a:endParaRPr kumimoji="1" lang="zh-CN" altLang="en-US" sz="2800" b="1">
                <a:solidFill>
                  <a:srgbClr val="FFFF00"/>
                </a:solidFill>
              </a:endParaRPr>
            </a:p>
          </p:txBody>
        </p:sp>
      </p:grp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479550" y="4164013"/>
            <a:ext cx="8731250" cy="57150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1"/>
            </a:outerShdw>
          </a:effec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dirty="0">
                <a:latin typeface="+mn-lt"/>
                <a:ea typeface="+mn-ea"/>
              </a:rPr>
              <a:t>整数部分：除</a:t>
            </a:r>
            <a:r>
              <a:rPr kumimoji="1" lang="en-US" altLang="zh-CN" sz="2400" b="1" dirty="0">
                <a:latin typeface="+mn-lt"/>
                <a:ea typeface="+mn-ea"/>
              </a:rPr>
              <a:t>R</a:t>
            </a:r>
            <a:r>
              <a:rPr kumimoji="1" lang="zh-CN" altLang="en-US" sz="2400" b="1" dirty="0">
                <a:latin typeface="+mn-lt"/>
                <a:ea typeface="+mn-ea"/>
              </a:rPr>
              <a:t>取余</a:t>
            </a:r>
            <a:r>
              <a:rPr kumimoji="1" lang="en-US" altLang="zh-CN" sz="2400" b="1" dirty="0">
                <a:latin typeface="+mn-lt"/>
                <a:ea typeface="+mn-ea"/>
              </a:rPr>
              <a:t>,</a:t>
            </a:r>
            <a:r>
              <a:rPr kumimoji="1" lang="zh-CN" altLang="en-US" sz="2400" b="1" dirty="0">
                <a:latin typeface="+mn-lt"/>
                <a:ea typeface="+mn-ea"/>
              </a:rPr>
              <a:t>余数倒序排序。</a:t>
            </a:r>
            <a:endParaRPr kumimoji="1" lang="zh-CN" altLang="en-US" sz="2400" b="1" dirty="0">
              <a:latin typeface="+mn-lt"/>
              <a:ea typeface="+mn-ea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1479550" y="4818063"/>
            <a:ext cx="8731250" cy="57150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1"/>
            </a:outerShdw>
          </a:effec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dirty="0">
                <a:latin typeface="+mn-lt"/>
                <a:ea typeface="+mn-ea"/>
              </a:rPr>
              <a:t>小数部分：乘</a:t>
            </a:r>
            <a:r>
              <a:rPr kumimoji="1" lang="en-US" altLang="zh-CN" sz="2400" b="1" dirty="0">
                <a:latin typeface="+mn-lt"/>
                <a:ea typeface="+mn-ea"/>
              </a:rPr>
              <a:t>R</a:t>
            </a:r>
            <a:r>
              <a:rPr kumimoji="1" lang="zh-CN" altLang="en-US" sz="2400" b="1" dirty="0">
                <a:latin typeface="+mn-lt"/>
                <a:ea typeface="+mn-ea"/>
              </a:rPr>
              <a:t>取整</a:t>
            </a:r>
            <a:r>
              <a:rPr kumimoji="1" lang="zh-CN" altLang="en-US" sz="2400" b="1" dirty="0" smtClean="0">
                <a:latin typeface="+mn-lt"/>
                <a:ea typeface="+mn-ea"/>
              </a:rPr>
              <a:t>，整数顺序</a:t>
            </a:r>
            <a:r>
              <a:rPr kumimoji="1" lang="zh-CN" altLang="en-US" sz="2400" b="1" dirty="0">
                <a:latin typeface="+mn-lt"/>
                <a:ea typeface="+mn-ea"/>
              </a:rPr>
              <a:t>排序。</a:t>
            </a:r>
            <a:endParaRPr kumimoji="1" lang="zh-CN" altLang="en-US" sz="2400" b="1" dirty="0">
              <a:latin typeface="+mn-lt"/>
              <a:ea typeface="+mn-ea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258609" y="81758"/>
            <a:ext cx="7362825" cy="842962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defRPr/>
            </a:pPr>
            <a:r>
              <a:rPr lang="en-US" altLang="zh-CN" sz="3200" b="1" dirty="0">
                <a:latin typeface="+mj-ea"/>
                <a:ea typeface="+mj-ea"/>
              </a:rPr>
              <a:t>R</a:t>
            </a:r>
            <a:r>
              <a:rPr lang="zh-CN" altLang="en-US" sz="3200" b="1" dirty="0">
                <a:latin typeface="+mj-ea"/>
                <a:ea typeface="+mj-ea"/>
              </a:rPr>
              <a:t>进制数与十进制数的转换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lang="zh-CN" altLang="en-US" sz="32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9" grpId="0" autoUpdateAnimBg="0"/>
      <p:bldP spid="1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089025" y="56357"/>
            <a:ext cx="7362825" cy="842962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defRPr/>
            </a:pPr>
            <a:r>
              <a:rPr lang="en-US" altLang="zh-CN" sz="3200" b="1" dirty="0">
                <a:latin typeface="+mj-ea"/>
              </a:rPr>
              <a:t>R</a:t>
            </a:r>
            <a:r>
              <a:rPr lang="zh-CN" altLang="en-US" sz="3200" b="1" dirty="0">
                <a:latin typeface="+mj-ea"/>
              </a:rPr>
              <a:t>进制数与十进制数的转换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lang="zh-CN" altLang="en-US" sz="32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89025" y="2003425"/>
            <a:ext cx="16954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+mn-lt"/>
              </a:rPr>
              <a:t>(45)</a:t>
            </a:r>
            <a:r>
              <a:rPr lang="en-US" altLang="zh-CN" sz="2400" b="1" baseline="-25000" dirty="0">
                <a:latin typeface="+mn-lt"/>
              </a:rPr>
              <a:t>10</a:t>
            </a:r>
            <a:r>
              <a:rPr lang="en-US" altLang="zh-CN" sz="2400" b="1" dirty="0">
                <a:latin typeface="+mn-lt"/>
              </a:rPr>
              <a:t>=(</a:t>
            </a:r>
            <a:r>
              <a:rPr lang="zh-CN" altLang="en-US" sz="2400" b="1" dirty="0">
                <a:latin typeface="+mn-lt"/>
              </a:rPr>
              <a:t>？</a:t>
            </a:r>
            <a:r>
              <a:rPr lang="en-US" altLang="zh-CN" sz="2400" b="1" dirty="0">
                <a:latin typeface="+mn-lt"/>
              </a:rPr>
              <a:t>)</a:t>
            </a:r>
            <a:r>
              <a:rPr lang="en-US" altLang="zh-CN" sz="2400" b="1" baseline="-25000" dirty="0">
                <a:latin typeface="+mn-lt"/>
              </a:rPr>
              <a:t>2</a:t>
            </a:r>
            <a:endParaRPr lang="zh-CN" altLang="en-US" sz="2400" b="1" dirty="0">
              <a:latin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16213" y="2024063"/>
            <a:ext cx="28194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000099"/>
                </a:solidFill>
                <a:latin typeface="+mn-lt"/>
              </a:rPr>
              <a:t>=(101101)</a:t>
            </a:r>
            <a:r>
              <a:rPr lang="en-US" altLang="zh-CN" sz="2400" b="1" baseline="-25000" dirty="0">
                <a:solidFill>
                  <a:srgbClr val="000099"/>
                </a:solidFill>
                <a:latin typeface="+mn-lt"/>
              </a:rPr>
              <a:t>2</a:t>
            </a:r>
            <a:endParaRPr lang="zh-CN" altLang="en-US" sz="2400" b="1" dirty="0">
              <a:solidFill>
                <a:srgbClr val="000099"/>
              </a:solidFill>
              <a:latin typeface="+mn-lt"/>
            </a:endParaRPr>
          </a:p>
        </p:txBody>
      </p:sp>
      <p:grpSp>
        <p:nvGrpSpPr>
          <p:cNvPr id="304139" name="组合 304138"/>
          <p:cNvGrpSpPr/>
          <p:nvPr/>
        </p:nvGrpSpPr>
        <p:grpSpPr bwMode="auto">
          <a:xfrm>
            <a:off x="4937125" y="3109913"/>
            <a:ext cx="3068638" cy="3113087"/>
            <a:chOff x="2551979" y="3280132"/>
            <a:chExt cx="3068670" cy="3113055"/>
          </a:xfrm>
        </p:grpSpPr>
        <p:sp>
          <p:nvSpPr>
            <p:cNvPr id="77" name="文本框 76"/>
            <p:cNvSpPr txBox="1"/>
            <p:nvPr/>
          </p:nvSpPr>
          <p:spPr>
            <a:xfrm>
              <a:off x="4868166" y="5529596"/>
              <a:ext cx="752483" cy="46037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latin typeface="+mn-lt"/>
                </a:rPr>
                <a:t>0</a:t>
              </a:r>
              <a:endParaRPr lang="zh-CN" altLang="en-US" sz="2400" b="1" dirty="0">
                <a:latin typeface="+mn-lt"/>
              </a:endParaRPr>
            </a:p>
          </p:txBody>
        </p:sp>
        <p:grpSp>
          <p:nvGrpSpPr>
            <p:cNvPr id="50191" name="组合 304137"/>
            <p:cNvGrpSpPr/>
            <p:nvPr/>
          </p:nvGrpSpPr>
          <p:grpSpPr bwMode="auto">
            <a:xfrm>
              <a:off x="2551979" y="3280132"/>
              <a:ext cx="3065495" cy="3113055"/>
              <a:chOff x="3310213" y="3276078"/>
              <a:chExt cx="3065495" cy="3113055"/>
            </a:xfrm>
          </p:grpSpPr>
          <p:cxnSp>
            <p:nvCxnSpPr>
              <p:cNvPr id="10" name="肘形连接符 9"/>
              <p:cNvCxnSpPr/>
              <p:nvPr/>
            </p:nvCxnSpPr>
            <p:spPr>
              <a:xfrm>
                <a:off x="3699155" y="3738035"/>
                <a:ext cx="915997" cy="380996"/>
              </a:xfrm>
              <a:prstGeom prst="bentConnector3">
                <a:avLst>
                  <a:gd name="adj1" fmla="val 979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文本框 21"/>
              <p:cNvSpPr txBox="1"/>
              <p:nvPr/>
            </p:nvSpPr>
            <p:spPr>
              <a:xfrm>
                <a:off x="3310213" y="3661836"/>
                <a:ext cx="325441" cy="46195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2</a:t>
                </a:r>
                <a:endParaRPr lang="zh-CN" altLang="en-US" sz="2400" b="1" dirty="0">
                  <a:latin typeface="+mn-lt"/>
                </a:endParaRPr>
              </a:p>
            </p:txBody>
          </p:sp>
          <p:cxnSp>
            <p:nvCxnSpPr>
              <p:cNvPr id="24" name="直接连接符 23"/>
              <p:cNvCxnSpPr/>
              <p:nvPr/>
            </p:nvCxnSpPr>
            <p:spPr>
              <a:xfrm>
                <a:off x="4883442" y="4263493"/>
                <a:ext cx="676282" cy="0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文本框 24"/>
              <p:cNvSpPr txBox="1"/>
              <p:nvPr/>
            </p:nvSpPr>
            <p:spPr>
              <a:xfrm>
                <a:off x="5618462" y="3987271"/>
                <a:ext cx="752483" cy="461957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1</a:t>
                </a:r>
                <a:endParaRPr lang="zh-CN" altLang="en-US" sz="2400" b="1" dirty="0">
                  <a:latin typeface="+mn-lt"/>
                </a:endParaRPr>
              </a:p>
            </p:txBody>
          </p:sp>
          <p:cxnSp>
            <p:nvCxnSpPr>
              <p:cNvPr id="32" name="肘形连接符 31"/>
              <p:cNvCxnSpPr/>
              <p:nvPr/>
            </p:nvCxnSpPr>
            <p:spPr>
              <a:xfrm>
                <a:off x="3770593" y="4125381"/>
                <a:ext cx="811221" cy="342896"/>
              </a:xfrm>
              <a:prstGeom prst="bentConnector3">
                <a:avLst>
                  <a:gd name="adj1" fmla="val 197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文本框 32"/>
              <p:cNvSpPr txBox="1"/>
              <p:nvPr/>
            </p:nvSpPr>
            <p:spPr>
              <a:xfrm>
                <a:off x="3381652" y="4049182"/>
                <a:ext cx="325440" cy="46195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2</a:t>
                </a:r>
                <a:endParaRPr lang="zh-CN" altLang="en-US" sz="2400" b="1" dirty="0">
                  <a:latin typeface="+mn-lt"/>
                </a:endParaRPr>
              </a:p>
            </p:txBody>
          </p:sp>
          <p:cxnSp>
            <p:nvCxnSpPr>
              <p:cNvPr id="34" name="直接连接符 33"/>
              <p:cNvCxnSpPr/>
              <p:nvPr/>
            </p:nvCxnSpPr>
            <p:spPr>
              <a:xfrm>
                <a:off x="4864392" y="4636551"/>
                <a:ext cx="676282" cy="0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文本框 34"/>
              <p:cNvSpPr txBox="1"/>
              <p:nvPr/>
            </p:nvSpPr>
            <p:spPr>
              <a:xfrm>
                <a:off x="5618462" y="4420653"/>
                <a:ext cx="752483" cy="46037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0</a:t>
                </a:r>
                <a:endParaRPr lang="zh-CN" altLang="en-US" sz="2400" b="1" dirty="0">
                  <a:latin typeface="+mn-lt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3837269" y="4049182"/>
                <a:ext cx="703270" cy="46195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22</a:t>
                </a:r>
                <a:endParaRPr lang="zh-CN" altLang="en-US" sz="2400" b="1" dirty="0">
                  <a:latin typeface="+mn-lt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3921407" y="4376204"/>
                <a:ext cx="677869" cy="46037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11</a:t>
                </a:r>
                <a:endParaRPr lang="zh-CN" altLang="en-US" sz="2400" b="1" dirty="0">
                  <a:latin typeface="+mn-lt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3745193" y="3650724"/>
                <a:ext cx="831859" cy="461957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45</a:t>
                </a:r>
                <a:endParaRPr lang="zh-CN" altLang="en-US" sz="2400" b="1" dirty="0">
                  <a:latin typeface="+mn-lt"/>
                </a:endParaRPr>
              </a:p>
            </p:txBody>
          </p:sp>
          <p:cxnSp>
            <p:nvCxnSpPr>
              <p:cNvPr id="39" name="肘形连接符 38"/>
              <p:cNvCxnSpPr/>
              <p:nvPr/>
            </p:nvCxnSpPr>
            <p:spPr>
              <a:xfrm>
                <a:off x="3883307" y="4480978"/>
                <a:ext cx="635007" cy="328610"/>
              </a:xfrm>
              <a:prstGeom prst="bentConnector3">
                <a:avLst>
                  <a:gd name="adj1" fmla="val 41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文本框 39"/>
              <p:cNvSpPr txBox="1"/>
              <p:nvPr/>
            </p:nvSpPr>
            <p:spPr>
              <a:xfrm>
                <a:off x="3492778" y="4412716"/>
                <a:ext cx="325440" cy="461957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2</a:t>
                </a:r>
                <a:endParaRPr lang="zh-CN" altLang="en-US" sz="2400" b="1" dirty="0">
                  <a:latin typeface="+mn-lt"/>
                </a:endParaRPr>
              </a:p>
            </p:txBody>
          </p:sp>
          <p:cxnSp>
            <p:nvCxnSpPr>
              <p:cNvPr id="41" name="直接连接符 40"/>
              <p:cNvCxnSpPr/>
              <p:nvPr/>
            </p:nvCxnSpPr>
            <p:spPr>
              <a:xfrm>
                <a:off x="4870742" y="5031835"/>
                <a:ext cx="676282" cy="0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文本框 41"/>
              <p:cNvSpPr txBox="1"/>
              <p:nvPr/>
            </p:nvSpPr>
            <p:spPr>
              <a:xfrm>
                <a:off x="5613700" y="4768313"/>
                <a:ext cx="752483" cy="461957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1</a:t>
                </a:r>
                <a:endParaRPr lang="zh-CN" altLang="en-US" sz="2400" b="1" dirty="0">
                  <a:latin typeface="+mn-lt"/>
                </a:endParaRPr>
              </a:p>
            </p:txBody>
          </p:sp>
          <p:cxnSp>
            <p:nvCxnSpPr>
              <p:cNvPr id="43" name="肘形连接符 42"/>
              <p:cNvCxnSpPr/>
              <p:nvPr/>
            </p:nvCxnSpPr>
            <p:spPr>
              <a:xfrm>
                <a:off x="3956333" y="4833399"/>
                <a:ext cx="642944" cy="357184"/>
              </a:xfrm>
              <a:prstGeom prst="bentConnector3">
                <a:avLst>
                  <a:gd name="adj1" fmla="val -1301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文本框 43"/>
              <p:cNvSpPr txBox="1"/>
              <p:nvPr/>
            </p:nvSpPr>
            <p:spPr>
              <a:xfrm>
                <a:off x="3583266" y="4803237"/>
                <a:ext cx="325441" cy="461957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2</a:t>
                </a:r>
                <a:endParaRPr lang="zh-CN" altLang="en-US" sz="2400" b="1" dirty="0">
                  <a:latin typeface="+mn-lt"/>
                </a:endParaRPr>
              </a:p>
            </p:txBody>
          </p:sp>
          <p:cxnSp>
            <p:nvCxnSpPr>
              <p:cNvPr id="45" name="直接连接符 44"/>
              <p:cNvCxnSpPr/>
              <p:nvPr/>
            </p:nvCxnSpPr>
            <p:spPr>
              <a:xfrm>
                <a:off x="4885029" y="5376318"/>
                <a:ext cx="676282" cy="0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文本框 45"/>
              <p:cNvSpPr txBox="1"/>
              <p:nvPr/>
            </p:nvSpPr>
            <p:spPr>
              <a:xfrm>
                <a:off x="5623225" y="5112796"/>
                <a:ext cx="752483" cy="46195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1</a:t>
                </a:r>
                <a:endParaRPr lang="zh-CN" altLang="en-US" sz="2400" b="1" dirty="0">
                  <a:latin typeface="+mn-lt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4043646" y="4782600"/>
                <a:ext cx="676282" cy="46037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5</a:t>
                </a:r>
                <a:endParaRPr lang="zh-CN" altLang="en-US" sz="2400" b="1" dirty="0">
                  <a:latin typeface="+mn-lt"/>
                </a:endParaRPr>
              </a:p>
            </p:txBody>
          </p:sp>
          <p:cxnSp>
            <p:nvCxnSpPr>
              <p:cNvPr id="48" name="肘形连接符 47"/>
              <p:cNvCxnSpPr/>
              <p:nvPr/>
            </p:nvCxnSpPr>
            <p:spPr>
              <a:xfrm>
                <a:off x="4018245" y="5196933"/>
                <a:ext cx="642945" cy="357183"/>
              </a:xfrm>
              <a:prstGeom prst="bentConnector3">
                <a:avLst>
                  <a:gd name="adj1" fmla="val -1301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文本框 48"/>
              <p:cNvSpPr txBox="1"/>
              <p:nvPr/>
            </p:nvSpPr>
            <p:spPr>
              <a:xfrm flipH="1">
                <a:off x="3703917" y="5150896"/>
                <a:ext cx="304803" cy="46195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2</a:t>
                </a:r>
                <a:endParaRPr lang="zh-CN" altLang="en-US" sz="2400" b="1" dirty="0">
                  <a:latin typeface="+mn-lt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4078571" y="5173120"/>
                <a:ext cx="676282" cy="46195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2</a:t>
                </a:r>
                <a:endParaRPr lang="zh-CN" altLang="en-US" sz="2400" b="1" dirty="0">
                  <a:latin typeface="+mn-lt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4150010" y="5549355"/>
                <a:ext cx="490542" cy="461957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1</a:t>
                </a:r>
                <a:endParaRPr lang="zh-CN" altLang="en-US" sz="2400" b="1" dirty="0">
                  <a:latin typeface="+mn-lt"/>
                </a:endParaRPr>
              </a:p>
            </p:txBody>
          </p:sp>
          <p:cxnSp>
            <p:nvCxnSpPr>
              <p:cNvPr id="52" name="肘形连接符 51"/>
              <p:cNvCxnSpPr/>
              <p:nvPr/>
            </p:nvCxnSpPr>
            <p:spPr>
              <a:xfrm>
                <a:off x="4140485" y="5558880"/>
                <a:ext cx="642944" cy="357183"/>
              </a:xfrm>
              <a:prstGeom prst="bentConnector3">
                <a:avLst>
                  <a:gd name="adj1" fmla="val -1301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文本框 52"/>
              <p:cNvSpPr txBox="1"/>
              <p:nvPr/>
            </p:nvSpPr>
            <p:spPr>
              <a:xfrm>
                <a:off x="3826156" y="5555705"/>
                <a:ext cx="325440" cy="461957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2</a:t>
                </a:r>
                <a:endParaRPr lang="zh-CN" altLang="en-US" sz="2400" b="1" dirty="0">
                  <a:latin typeface="+mn-lt"/>
                </a:endParaRP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4172235" y="5904951"/>
                <a:ext cx="327028" cy="461957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0</a:t>
                </a:r>
                <a:endParaRPr lang="zh-CN" altLang="en-US" sz="2400" b="1" dirty="0">
                  <a:latin typeface="+mn-lt"/>
                </a:endParaRPr>
              </a:p>
            </p:txBody>
          </p:sp>
          <p:cxnSp>
            <p:nvCxnSpPr>
              <p:cNvPr id="75" name="直接连接符 74"/>
              <p:cNvCxnSpPr/>
              <p:nvPr/>
            </p:nvCxnSpPr>
            <p:spPr>
              <a:xfrm>
                <a:off x="4883442" y="5770014"/>
                <a:ext cx="676282" cy="0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>
                <a:off x="4932655" y="6124024"/>
                <a:ext cx="676282" cy="0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文本框 77"/>
              <p:cNvSpPr txBox="1"/>
              <p:nvPr/>
            </p:nvSpPr>
            <p:spPr>
              <a:xfrm>
                <a:off x="5610525" y="5927176"/>
                <a:ext cx="752483" cy="461957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latin typeface="+mn-lt"/>
                  </a:rPr>
                  <a:t>1</a:t>
                </a:r>
                <a:endParaRPr lang="zh-CN" altLang="en-US" sz="2400" b="1" dirty="0">
                  <a:latin typeface="+mn-lt"/>
                </a:endParaRPr>
              </a:p>
            </p:txBody>
          </p:sp>
          <p:sp>
            <p:nvSpPr>
              <p:cNvPr id="304137" name="矩形 304136"/>
              <p:cNvSpPr/>
              <p:nvPr/>
            </p:nvSpPr>
            <p:spPr>
              <a:xfrm>
                <a:off x="5520036" y="3276078"/>
                <a:ext cx="803283" cy="4619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+mn-lt"/>
                  </a:rPr>
                  <a:t>余数</a:t>
                </a:r>
                <a:endParaRPr lang="zh-CN" altLang="en-US" sz="2400" b="1" dirty="0">
                  <a:solidFill>
                    <a:prstClr val="black"/>
                  </a:solidFill>
                  <a:latin typeface="+mn-lt"/>
                </a:endParaRPr>
              </a:p>
            </p:txBody>
          </p:sp>
        </p:grpSp>
      </p:grpSp>
      <p:cxnSp>
        <p:nvCxnSpPr>
          <p:cNvPr id="5" name="直接箭头连接符 4"/>
          <p:cNvCxnSpPr/>
          <p:nvPr/>
        </p:nvCxnSpPr>
        <p:spPr>
          <a:xfrm flipV="1">
            <a:off x="7786688" y="3568700"/>
            <a:ext cx="22225" cy="24415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7826375" y="4002088"/>
            <a:ext cx="51752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Century Gothic" panose="020B0502020202020204" pitchFamily="34" charset="0"/>
              </a:rPr>
              <a:t>逆序排列</a:t>
            </a:r>
            <a:endParaRPr lang="zh-CN" altLang="en-US" sz="2400" b="1">
              <a:latin typeface="Century Gothic" panose="020B0502020202020204" pitchFamily="34" charset="0"/>
            </a:endParaRPr>
          </a:p>
        </p:txBody>
      </p:sp>
      <p:sp>
        <p:nvSpPr>
          <p:cNvPr id="304132" name="Text Box 4"/>
          <p:cNvSpPr txBox="1">
            <a:spLocks noChangeArrowheads="1"/>
          </p:cNvSpPr>
          <p:nvPr/>
        </p:nvSpPr>
        <p:spPr bwMode="auto">
          <a:xfrm>
            <a:off x="1031875" y="3271838"/>
            <a:ext cx="2936875" cy="2678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b="1" dirty="0">
                <a:latin typeface="+mn-lt"/>
              </a:rPr>
              <a:t>  </a:t>
            </a:r>
            <a:r>
              <a:rPr lang="zh-CN" altLang="en-US" sz="2400" b="1" dirty="0">
                <a:latin typeface="+mn-lt"/>
              </a:rPr>
              <a:t>除数      商    余数</a:t>
            </a:r>
            <a:endParaRPr lang="zh-CN" altLang="en-US" sz="2400" b="1" dirty="0">
              <a:latin typeface="+mn-lt"/>
            </a:endParaRP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400" b="1" dirty="0">
                <a:latin typeface="+mn-lt"/>
              </a:rPr>
              <a:t>     </a:t>
            </a:r>
            <a:r>
              <a:rPr lang="en-US" altLang="zh-CN" sz="2400" b="1" dirty="0">
                <a:latin typeface="+mn-lt"/>
              </a:rPr>
              <a:t>45       22       1  </a:t>
            </a:r>
            <a:endParaRPr lang="en-US" altLang="zh-CN" sz="2400" b="1" dirty="0">
              <a:latin typeface="+mn-lt"/>
            </a:endParaRP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b="1" dirty="0">
                <a:latin typeface="+mn-lt"/>
              </a:rPr>
              <a:t>     22       11       0 </a:t>
            </a:r>
            <a:endParaRPr lang="en-US" altLang="zh-CN" sz="2400" b="1" dirty="0">
              <a:latin typeface="+mn-lt"/>
            </a:endParaRP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b="1" dirty="0">
                <a:latin typeface="+mn-lt"/>
              </a:rPr>
              <a:t>     11        5        1</a:t>
            </a:r>
            <a:endParaRPr lang="en-US" altLang="zh-CN" sz="2400" b="1" dirty="0">
              <a:latin typeface="+mn-lt"/>
            </a:endParaRP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b="1" dirty="0">
                <a:latin typeface="+mn-lt"/>
              </a:rPr>
              <a:t>      5         2        1</a:t>
            </a:r>
            <a:endParaRPr lang="en-US" altLang="zh-CN" sz="2400" b="1" dirty="0">
              <a:latin typeface="+mn-lt"/>
            </a:endParaRP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b="1" dirty="0">
                <a:latin typeface="+mn-lt"/>
              </a:rPr>
              <a:t>      2         1        0</a:t>
            </a:r>
            <a:endParaRPr lang="en-US" altLang="zh-CN" sz="2400" b="1" dirty="0">
              <a:latin typeface="+mn-lt"/>
            </a:endParaRP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b="1" dirty="0">
                <a:latin typeface="+mn-lt"/>
              </a:rPr>
              <a:t>      1         0        1</a:t>
            </a:r>
            <a:endParaRPr lang="en-US" altLang="zh-CN" sz="2400" b="1" dirty="0">
              <a:latin typeface="+mn-lt"/>
            </a:endParaRPr>
          </a:p>
        </p:txBody>
      </p:sp>
      <p:grpSp>
        <p:nvGrpSpPr>
          <p:cNvPr id="7" name="组合 6"/>
          <p:cNvGrpSpPr/>
          <p:nvPr/>
        </p:nvGrpSpPr>
        <p:grpSpPr bwMode="auto">
          <a:xfrm>
            <a:off x="3679825" y="3665538"/>
            <a:ext cx="517525" cy="2308225"/>
            <a:chOff x="3528286" y="3642433"/>
            <a:chExt cx="518131" cy="2308225"/>
          </a:xfrm>
        </p:grpSpPr>
        <p:cxnSp>
          <p:nvCxnSpPr>
            <p:cNvPr id="55" name="直接箭头连接符 54"/>
            <p:cNvCxnSpPr/>
            <p:nvPr/>
          </p:nvCxnSpPr>
          <p:spPr bwMode="auto">
            <a:xfrm flipV="1">
              <a:off x="3528286" y="3642433"/>
              <a:ext cx="9536" cy="23082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189" name="文本框 55"/>
            <p:cNvSpPr txBox="1">
              <a:spLocks noChangeArrowheads="1"/>
            </p:cNvSpPr>
            <p:nvPr/>
          </p:nvSpPr>
          <p:spPr bwMode="auto">
            <a:xfrm>
              <a:off x="3528286" y="3889207"/>
              <a:ext cx="518131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>
                  <a:latin typeface="Century Gothic" panose="020B0502020202020204" pitchFamily="34" charset="0"/>
                </a:rPr>
                <a:t>逆序排列</a:t>
              </a:r>
              <a:endParaRPr lang="zh-CN" altLang="en-US" sz="2400" b="1">
                <a:latin typeface="Century Gothic" panose="020B0502020202020204" pitchFamily="34" charset="0"/>
              </a:endParaRPr>
            </a:p>
          </p:txBody>
        </p:sp>
      </p:grpSp>
      <p:sp>
        <p:nvSpPr>
          <p:cNvPr id="56" name="Text Box 2"/>
          <p:cNvSpPr txBox="1">
            <a:spLocks noChangeArrowheads="1"/>
          </p:cNvSpPr>
          <p:nvPr/>
        </p:nvSpPr>
        <p:spPr bwMode="auto">
          <a:xfrm>
            <a:off x="4759325" y="1622425"/>
            <a:ext cx="5048250" cy="523875"/>
          </a:xfrm>
          <a:prstGeom prst="rect">
            <a:avLst/>
          </a:prstGeom>
          <a:noFill/>
          <a:ln>
            <a:noFill/>
          </a:ln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latin typeface="+mn-ea"/>
                <a:ea typeface="+mn-ea"/>
              </a:rPr>
              <a:t>除</a:t>
            </a:r>
            <a:r>
              <a:rPr kumimoji="1" lang="en-US" altLang="zh-CN" sz="2400" b="1" dirty="0">
                <a:solidFill>
                  <a:srgbClr val="C00000"/>
                </a:solidFill>
                <a:latin typeface="+mn-ea"/>
                <a:ea typeface="+mn-ea"/>
              </a:rPr>
              <a:t>2</a:t>
            </a:r>
            <a:r>
              <a:rPr kumimoji="1"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取</a:t>
            </a:r>
            <a:r>
              <a:rPr kumimoji="1" lang="zh-CN" altLang="en-US" sz="2800" b="1" dirty="0">
                <a:solidFill>
                  <a:srgbClr val="C00000"/>
                </a:solidFill>
                <a:latin typeface="+mn-ea"/>
                <a:ea typeface="+mn-ea"/>
              </a:rPr>
              <a:t>余</a:t>
            </a:r>
            <a:r>
              <a:rPr kumimoji="1"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，直到</a:t>
            </a:r>
            <a:r>
              <a:rPr kumimoji="1" lang="zh-CN" altLang="en-US" sz="2800" b="1" dirty="0">
                <a:solidFill>
                  <a:srgbClr val="C00000"/>
                </a:solidFill>
                <a:latin typeface="+mn-ea"/>
                <a:ea typeface="+mn-ea"/>
              </a:rPr>
              <a:t>商</a:t>
            </a:r>
            <a:r>
              <a:rPr kumimoji="1"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为</a:t>
            </a:r>
            <a:r>
              <a:rPr kumimoji="1" lang="en-US" altLang="zh-CN" sz="2400" b="1" dirty="0">
                <a:solidFill>
                  <a:srgbClr val="C00000"/>
                </a:solidFill>
                <a:latin typeface="+mn-ea"/>
                <a:ea typeface="+mn-ea"/>
              </a:rPr>
              <a:t>0</a:t>
            </a:r>
            <a:r>
              <a:rPr kumimoji="1"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为止</a:t>
            </a:r>
            <a:endParaRPr kumimoji="1"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7" name="Text Box 6"/>
          <p:cNvSpPr txBox="1">
            <a:spLocks noChangeArrowheads="1"/>
          </p:cNvSpPr>
          <p:nvPr/>
        </p:nvSpPr>
        <p:spPr bwMode="auto">
          <a:xfrm>
            <a:off x="4254500" y="2141538"/>
            <a:ext cx="4724400" cy="739775"/>
          </a:xfrm>
          <a:prstGeom prst="rect">
            <a:avLst/>
          </a:prstGeom>
          <a:noFill/>
          <a:ln>
            <a:noFill/>
          </a:ln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结果中</a:t>
            </a:r>
            <a:r>
              <a:rPr kumimoji="1" lang="zh-CN" altLang="en-US" sz="2800" b="1" dirty="0">
                <a:solidFill>
                  <a:srgbClr val="C00000"/>
                </a:solidFill>
                <a:latin typeface="+mn-ea"/>
                <a:ea typeface="+mn-ea"/>
              </a:rPr>
              <a:t>余数由下至上</a:t>
            </a:r>
            <a:endParaRPr kumimoji="1" lang="zh-CN" altLang="en-US" sz="28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304132" grpId="0"/>
      <p:bldP spid="56" grpId="0"/>
      <p:bldP spid="5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190625" y="3157538"/>
            <a:ext cx="3475038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/>
              <a:t> </a:t>
            </a:r>
            <a:r>
              <a:rPr lang="zh-CN" altLang="en-US" sz="2400" b="1"/>
              <a:t>乘数       积      整数</a:t>
            </a:r>
            <a:endParaRPr lang="zh-CN" altLang="en-US" sz="2400" b="1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/>
              <a:t>0.375      0.75        0</a:t>
            </a:r>
            <a:endParaRPr lang="en-US" altLang="zh-CN" sz="2400" b="1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/>
              <a:t>0.75        1.5          1</a:t>
            </a:r>
            <a:endParaRPr lang="en-US" altLang="zh-CN" sz="2400" b="1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/>
              <a:t>0.5          1.0          1</a:t>
            </a:r>
            <a:endParaRPr lang="en-US" altLang="zh-CN" sz="2400" b="1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200150" y="65089"/>
            <a:ext cx="7362825" cy="842962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defRPr/>
            </a:pPr>
            <a:r>
              <a:rPr lang="en-US" altLang="zh-CN" sz="3200" b="1" dirty="0">
                <a:latin typeface="+mj-ea"/>
              </a:rPr>
              <a:t>R</a:t>
            </a:r>
            <a:r>
              <a:rPr lang="zh-CN" altLang="en-US" sz="3200" b="1" dirty="0">
                <a:latin typeface="+mj-ea"/>
              </a:rPr>
              <a:t>进制数与十进制数的转换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lang="zh-CN" altLang="en-US" sz="32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00150" y="1890713"/>
            <a:ext cx="2157413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+mn-lt"/>
              </a:rPr>
              <a:t>(0.375)</a:t>
            </a:r>
            <a:r>
              <a:rPr lang="en-US" altLang="zh-CN" sz="2400" b="1" baseline="-25000" dirty="0">
                <a:latin typeface="+mn-lt"/>
              </a:rPr>
              <a:t>10</a:t>
            </a:r>
            <a:r>
              <a:rPr lang="en-US" altLang="zh-CN" sz="2400" b="1" dirty="0">
                <a:latin typeface="+mn-lt"/>
              </a:rPr>
              <a:t>=(</a:t>
            </a:r>
            <a:r>
              <a:rPr lang="zh-CN" altLang="en-US" sz="2400" b="1" dirty="0">
                <a:latin typeface="+mn-lt"/>
              </a:rPr>
              <a:t>？</a:t>
            </a:r>
            <a:r>
              <a:rPr lang="en-US" altLang="zh-CN" sz="2400" b="1" dirty="0">
                <a:latin typeface="+mn-lt"/>
              </a:rPr>
              <a:t>)</a:t>
            </a:r>
            <a:r>
              <a:rPr lang="en-US" altLang="zh-CN" sz="2400" b="1" baseline="-25000" dirty="0">
                <a:latin typeface="+mn-lt"/>
              </a:rPr>
              <a:t>2</a:t>
            </a:r>
            <a:r>
              <a:rPr lang="en-US" altLang="zh-CN" sz="2400" b="1" dirty="0">
                <a:latin typeface="+mn-lt"/>
              </a:rPr>
              <a:t> </a:t>
            </a:r>
            <a:endParaRPr lang="en-US" altLang="zh-CN" sz="2400" b="1" dirty="0">
              <a:latin typeface="+mn-lt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192463" y="1911350"/>
            <a:ext cx="14208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</a:rPr>
              <a:t>=(0.011)</a:t>
            </a:r>
            <a:r>
              <a:rPr lang="en-US" altLang="zh-CN" sz="2400" b="1" baseline="-25000">
                <a:solidFill>
                  <a:srgbClr val="000099"/>
                </a:solidFill>
              </a:rPr>
              <a:t>2</a:t>
            </a:r>
            <a:r>
              <a:rPr lang="en-US" altLang="zh-CN" sz="2400" b="1">
                <a:solidFill>
                  <a:srgbClr val="000099"/>
                </a:solidFill>
              </a:rPr>
              <a:t> </a:t>
            </a:r>
            <a:endParaRPr lang="en-US" altLang="zh-CN" sz="2400" b="1">
              <a:solidFill>
                <a:srgbClr val="000099"/>
              </a:solidFill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4046538" y="3146425"/>
            <a:ext cx="0" cy="1887538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4003675" y="3238500"/>
            <a:ext cx="51752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Century Gothic" panose="020B0502020202020204" pitchFamily="34" charset="0"/>
              </a:rPr>
              <a:t>正序排列</a:t>
            </a:r>
            <a:endParaRPr lang="zh-CN" altLang="en-US" sz="2400" b="1">
              <a:latin typeface="Century Gothic" panose="020B0502020202020204" pitchFamily="34" charset="0"/>
            </a:endParaRP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5184775" y="1897063"/>
            <a:ext cx="3932238" cy="952500"/>
          </a:xfrm>
          <a:prstGeom prst="rect">
            <a:avLst/>
          </a:prstGeom>
          <a:noFill/>
          <a:ln>
            <a:noFill/>
          </a:ln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latin typeface="+mn-ea"/>
                <a:ea typeface="+mn-ea"/>
              </a:rPr>
              <a:t>乘</a:t>
            </a:r>
            <a:r>
              <a:rPr kumimoji="1" lang="en-US" altLang="zh-CN" sz="2400" b="1" dirty="0">
                <a:solidFill>
                  <a:srgbClr val="C00000"/>
                </a:solidFill>
                <a:latin typeface="+mn-ea"/>
                <a:ea typeface="+mn-ea"/>
              </a:rPr>
              <a:t>2</a:t>
            </a:r>
            <a:r>
              <a:rPr kumimoji="1"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取</a:t>
            </a:r>
            <a:r>
              <a:rPr kumimoji="1" lang="zh-CN" altLang="en-US" sz="2800" b="1" dirty="0">
                <a:solidFill>
                  <a:srgbClr val="C00000"/>
                </a:solidFill>
                <a:latin typeface="+mn-ea"/>
                <a:ea typeface="+mn-ea"/>
              </a:rPr>
              <a:t>整</a:t>
            </a:r>
            <a:r>
              <a:rPr kumimoji="1"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，直到</a:t>
            </a:r>
            <a:r>
              <a:rPr kumimoji="1" lang="zh-CN" altLang="en-US" sz="2800" b="1" dirty="0">
                <a:solidFill>
                  <a:srgbClr val="C00000"/>
                </a:solidFill>
                <a:latin typeface="+mn-ea"/>
                <a:ea typeface="+mn-ea"/>
              </a:rPr>
              <a:t>积的小数部分</a:t>
            </a:r>
            <a:r>
              <a:rPr kumimoji="1"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为</a:t>
            </a:r>
            <a:r>
              <a:rPr kumimoji="1" lang="en-US" altLang="zh-CN" sz="2400" b="1" dirty="0">
                <a:solidFill>
                  <a:srgbClr val="C00000"/>
                </a:solidFill>
                <a:latin typeface="+mn-ea"/>
                <a:ea typeface="+mn-ea"/>
              </a:rPr>
              <a:t>0</a:t>
            </a:r>
            <a:r>
              <a:rPr kumimoji="1"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为止</a:t>
            </a:r>
            <a:endParaRPr kumimoji="1"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4419600" y="2974975"/>
            <a:ext cx="4724400" cy="738188"/>
          </a:xfrm>
          <a:prstGeom prst="rect">
            <a:avLst/>
          </a:prstGeom>
          <a:noFill/>
          <a:ln>
            <a:noFill/>
          </a:ln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结果为</a:t>
            </a:r>
            <a:r>
              <a:rPr kumimoji="1" lang="zh-CN" altLang="en-US" sz="2800" b="1" dirty="0">
                <a:solidFill>
                  <a:srgbClr val="C00000"/>
                </a:solidFill>
                <a:latin typeface="+mn-ea"/>
                <a:ea typeface="+mn-ea"/>
              </a:rPr>
              <a:t>整数由上至下</a:t>
            </a:r>
            <a:endParaRPr kumimoji="1" lang="zh-CN" altLang="en-US" sz="28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3192463" y="1922463"/>
            <a:ext cx="15128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</a:rPr>
              <a:t>=(0.       )</a:t>
            </a:r>
            <a:r>
              <a:rPr lang="en-US" altLang="zh-CN" sz="2400" b="1" baseline="-25000">
                <a:solidFill>
                  <a:srgbClr val="000099"/>
                </a:solidFill>
              </a:rPr>
              <a:t>2</a:t>
            </a:r>
            <a:r>
              <a:rPr lang="en-US" altLang="zh-CN" sz="2400" b="1">
                <a:solidFill>
                  <a:srgbClr val="000099"/>
                </a:solidFill>
              </a:rPr>
              <a:t> </a:t>
            </a:r>
            <a:endParaRPr lang="en-US" altLang="zh-CN" sz="2400" b="1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1" grpId="0"/>
      <p:bldP spid="12" grpId="0"/>
      <p:bldP spid="13" grpId="0" autoUpdateAnimBg="0"/>
      <p:bldP spid="14" grpId="0"/>
      <p:bldP spid="14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4"/>
          <p:cNvSpPr txBox="1">
            <a:spLocks noChangeArrowheads="1"/>
          </p:cNvSpPr>
          <p:nvPr/>
        </p:nvSpPr>
        <p:spPr bwMode="auto">
          <a:xfrm>
            <a:off x="752475" y="2108200"/>
            <a:ext cx="3559175" cy="378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/>
              <a:t>   乘数         积       整数</a:t>
            </a:r>
            <a:endParaRPr lang="zh-CN" altLang="en-US" sz="2400" b="1" dirty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/>
              <a:t>    </a:t>
            </a:r>
            <a:r>
              <a:rPr lang="en-US" altLang="zh-CN" sz="2400" b="1" dirty="0"/>
              <a:t>0.325      0.65         0</a:t>
            </a:r>
            <a:endParaRPr lang="en-US" altLang="zh-CN" sz="2400" b="1" dirty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   0.65         1.3          1</a:t>
            </a:r>
            <a:endParaRPr lang="en-US" altLang="zh-CN" sz="2400" b="1" dirty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   0.3           0.6          0</a:t>
            </a:r>
            <a:endParaRPr lang="en-US" altLang="zh-CN" sz="2400" b="1" dirty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   0.6           1.2          1</a:t>
            </a:r>
            <a:endParaRPr lang="en-US" altLang="zh-CN" sz="2400" b="1" dirty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   0.2           0.4          0</a:t>
            </a:r>
            <a:endParaRPr lang="en-US" altLang="zh-CN" sz="2400" b="1" dirty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   0.4           0.8          0</a:t>
            </a:r>
            <a:endParaRPr lang="en-US" altLang="zh-CN" sz="2400" b="1" dirty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   0.8           1.6          1</a:t>
            </a:r>
            <a:endParaRPr lang="en-US" altLang="zh-CN" sz="2400" b="1" dirty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   0.6           1.2          1</a:t>
            </a:r>
            <a:endParaRPr lang="en-US" altLang="zh-CN" sz="2400" b="1" dirty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   0.2           0.4          0</a:t>
            </a:r>
            <a:endParaRPr lang="en-US" altLang="zh-CN" sz="2400" b="1" dirty="0"/>
          </a:p>
        </p:txBody>
      </p:sp>
      <p:sp>
        <p:nvSpPr>
          <p:cNvPr id="305157" name="Text Box 5"/>
          <p:cNvSpPr txBox="1">
            <a:spLocks noChangeArrowheads="1"/>
          </p:cNvSpPr>
          <p:nvPr/>
        </p:nvSpPr>
        <p:spPr bwMode="auto">
          <a:xfrm>
            <a:off x="4687888" y="2992438"/>
            <a:ext cx="409416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/>
              <a:t>此后处于无限循环状态</a:t>
            </a:r>
            <a:r>
              <a:rPr lang="zh-CN" altLang="en-US" sz="2400" b="1" dirty="0" smtClean="0"/>
              <a:t>，</a:t>
            </a:r>
            <a:endParaRPr lang="en-US" altLang="zh-CN" sz="2400" b="1" dirty="0" smtClean="0"/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 smtClean="0"/>
              <a:t>假设</a:t>
            </a:r>
            <a:r>
              <a:rPr lang="zh-CN" altLang="en-US" sz="2400" b="1" dirty="0"/>
              <a:t>精度为小数点后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位，</a:t>
            </a:r>
            <a:endParaRPr lang="zh-CN" altLang="en-US" sz="2400" b="1" dirty="0"/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/>
              <a:t>则：</a:t>
            </a:r>
            <a:r>
              <a:rPr lang="en-US" altLang="zh-CN" sz="2400" b="1" dirty="0"/>
              <a:t>(0.325)</a:t>
            </a:r>
            <a:r>
              <a:rPr lang="en-US" altLang="zh-CN" sz="2400" b="1" baseline="-25000" dirty="0"/>
              <a:t>10</a:t>
            </a:r>
            <a:r>
              <a:rPr lang="en-US" altLang="zh-CN" sz="2400" b="1" dirty="0"/>
              <a:t>=(0.01010011)</a:t>
            </a:r>
            <a:r>
              <a:rPr lang="en-US" altLang="zh-CN" sz="2400" b="1" baseline="-25000" dirty="0"/>
              <a:t>2</a:t>
            </a:r>
            <a:endParaRPr lang="en-US" altLang="zh-CN" sz="2400" b="1" baseline="-25000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206924" y="0"/>
            <a:ext cx="7348537" cy="842962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defRPr/>
            </a:pPr>
            <a:r>
              <a:rPr lang="en-US" altLang="zh-CN" sz="3200" b="1" dirty="0">
                <a:latin typeface="+mj-ea"/>
              </a:rPr>
              <a:t>R</a:t>
            </a:r>
            <a:r>
              <a:rPr lang="zh-CN" altLang="en-US" sz="3200" b="1" dirty="0">
                <a:latin typeface="+mj-ea"/>
              </a:rPr>
              <a:t>进制数与十进制数的转换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lang="zh-CN" altLang="en-US" sz="32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39825" y="1308100"/>
            <a:ext cx="6434138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+mn-ea"/>
              </a:rPr>
              <a:t>例</a:t>
            </a:r>
            <a:r>
              <a:rPr lang="en-US" altLang="zh-CN" sz="2400" b="1" dirty="0">
                <a:latin typeface="+mn-ea"/>
              </a:rPr>
              <a:t>: </a:t>
            </a:r>
            <a:r>
              <a:rPr lang="zh-CN" altLang="en-US" sz="2400" b="1" dirty="0">
                <a:latin typeface="+mn-ea"/>
              </a:rPr>
              <a:t>将十进制小数</a:t>
            </a:r>
            <a:r>
              <a:rPr lang="en-US" altLang="zh-CN" sz="2400" b="1" dirty="0">
                <a:latin typeface="+mn-ea"/>
              </a:rPr>
              <a:t>0.325</a:t>
            </a:r>
            <a:r>
              <a:rPr lang="zh-CN" altLang="en-US" sz="2400" b="1" dirty="0">
                <a:latin typeface="+mn-ea"/>
              </a:rPr>
              <a:t>转换为二进制小数</a:t>
            </a:r>
            <a:endParaRPr lang="zh-CN" altLang="en-US" sz="2400" b="1" dirty="0">
              <a:latin typeface="+mn-ea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3786188" y="2671763"/>
            <a:ext cx="0" cy="3084512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27" name="文本框 9"/>
          <p:cNvSpPr txBox="1">
            <a:spLocks noChangeArrowheads="1"/>
          </p:cNvSpPr>
          <p:nvPr/>
        </p:nvSpPr>
        <p:spPr bwMode="auto">
          <a:xfrm>
            <a:off x="3813175" y="3079750"/>
            <a:ext cx="51752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Century Gothic" panose="020B0502020202020204" pitchFamily="34" charset="0"/>
              </a:rPr>
              <a:t>正序排列</a:t>
            </a:r>
            <a:endParaRPr lang="zh-CN" altLang="en-US" sz="2400" b="1">
              <a:latin typeface="Century Gothic" panose="020B0502020202020204" pitchFamily="34" charset="0"/>
            </a:endParaRPr>
          </a:p>
        </p:txBody>
      </p:sp>
      <p:sp>
        <p:nvSpPr>
          <p:cNvPr id="12" name="文本框 1"/>
          <p:cNvSpPr txBox="1">
            <a:spLocks noChangeArrowheads="1"/>
          </p:cNvSpPr>
          <p:nvPr/>
        </p:nvSpPr>
        <p:spPr bwMode="auto">
          <a:xfrm>
            <a:off x="4687888" y="4956176"/>
            <a:ext cx="42640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ClrTx/>
              <a:buFont typeface="Wingdings 2" panose="05020102010507070707" pitchFamily="18" charset="2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+mn-lt"/>
              </a:rPr>
              <a:t>并不是所有的十进制小数都能精确地转换为</a:t>
            </a:r>
            <a:r>
              <a:rPr lang="en-US" altLang="zh-CN" sz="2400" b="1" dirty="0">
                <a:solidFill>
                  <a:srgbClr val="0033CC"/>
                </a:solidFill>
                <a:latin typeface="+mn-lt"/>
              </a:rPr>
              <a:t>R</a:t>
            </a:r>
            <a:r>
              <a:rPr lang="zh-CN" altLang="en-US" sz="2400" b="1" dirty="0">
                <a:solidFill>
                  <a:srgbClr val="0033CC"/>
                </a:solidFill>
                <a:latin typeface="+mn-lt"/>
              </a:rPr>
              <a:t>进制小数。</a:t>
            </a:r>
            <a:endParaRPr lang="zh-CN" altLang="en-US" sz="2400" b="1" dirty="0">
              <a:solidFill>
                <a:srgbClr val="0033CC"/>
              </a:solidFill>
              <a:latin typeface="+mn-lt"/>
            </a:endParaRP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1908175" y="6092825"/>
            <a:ext cx="5427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C00000"/>
                </a:solidFill>
                <a:latin typeface="Century Gothic" panose="020B0502020202020204" pitchFamily="34" charset="0"/>
              </a:rPr>
              <a:t>计算机无法精确表示所有外部信息！</a:t>
            </a:r>
            <a:endParaRPr lang="zh-CN" altLang="en-US" sz="2400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/>
      <p:bldP spid="56327" grpId="0"/>
      <p:bldP spid="12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79829" y="180295"/>
            <a:ext cx="4288971" cy="748619"/>
          </a:xfrm>
        </p:spPr>
        <p:txBody>
          <a:bodyPr/>
          <a:lstStyle/>
          <a:p>
            <a:r>
              <a:rPr lang="zh-CN" altLang="en-US" b="1" dirty="0" smtClean="0"/>
              <a:t>练习</a:t>
            </a:r>
            <a:endParaRPr lang="zh-CN" altLang="en-US" b="1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702310" y="1801497"/>
            <a:ext cx="8229600" cy="4525963"/>
          </a:xfrm>
        </p:spPr>
        <p:txBody>
          <a:bodyPr>
            <a:noAutofit/>
          </a:bodyPr>
          <a:lstStyle/>
          <a:p>
            <a:pPr marL="609600" indent="-609600">
              <a:buFontTx/>
              <a:buNone/>
            </a:pPr>
            <a:r>
              <a:rPr lang="en-US" altLang="zh-CN" sz="2800" b="1" dirty="0">
                <a:cs typeface="+mn-ea"/>
                <a:sym typeface="+mn-lt"/>
              </a:rPr>
              <a:t>1. </a:t>
            </a:r>
            <a:r>
              <a:rPr lang="zh-CN" altLang="en-US" sz="2800" b="1" dirty="0">
                <a:cs typeface="+mn-ea"/>
                <a:sym typeface="+mn-lt"/>
              </a:rPr>
              <a:t>十进制转换为二、八、十六进制</a:t>
            </a:r>
            <a:endParaRPr lang="zh-CN" altLang="en-US" sz="2800" b="1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(37.125)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   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   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          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          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16</a:t>
            </a:r>
            <a:endParaRPr lang="en-US" altLang="zh-CN" sz="2800" b="1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(78.32)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10	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精确到小数点后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位</a:t>
            </a:r>
            <a:endParaRPr lang="zh-CN" altLang="en-US" sz="2800" b="1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(66.875)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    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 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(241.5625)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 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16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829" y="180295"/>
            <a:ext cx="4288971" cy="748619"/>
          </a:xfrm>
        </p:spPr>
        <p:txBody>
          <a:bodyPr/>
          <a:lstStyle/>
          <a:p>
            <a:r>
              <a:rPr lang="zh-CN" altLang="en-US" b="1" dirty="0" smtClean="0"/>
              <a:t>练习</a:t>
            </a:r>
            <a:endParaRPr lang="zh-CN" altLang="en-US" b="1" dirty="0"/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28650" y="1825624"/>
            <a:ext cx="7886700" cy="4530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3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8829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None/>
            </a:pPr>
            <a:r>
              <a:rPr lang="en-US" altLang="zh-CN" sz="2800" dirty="0">
                <a:cs typeface="+mn-ea"/>
                <a:sym typeface="+mn-lt"/>
              </a:rPr>
              <a:t>1.</a:t>
            </a:r>
            <a:r>
              <a:rPr lang="zh-CN" altLang="en-US" sz="2800" dirty="0">
                <a:cs typeface="+mn-ea"/>
                <a:sym typeface="+mn-lt"/>
              </a:rPr>
              <a:t>十进制转换为二、八、十六进制</a:t>
            </a:r>
            <a:endParaRPr lang="zh-CN" altLang="en-US" sz="28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cs typeface="+mn-ea"/>
                <a:sym typeface="+mn-lt"/>
              </a:rPr>
              <a:t>(37.125)</a:t>
            </a:r>
            <a:r>
              <a:rPr lang="en-US" altLang="zh-CN" sz="2800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r>
              <a:rPr lang="en-US" altLang="zh-CN" sz="2800" dirty="0">
                <a:solidFill>
                  <a:srgbClr val="0000FF"/>
                </a:solidFill>
                <a:cs typeface="+mn-ea"/>
                <a:sym typeface="+mn-lt"/>
              </a:rPr>
              <a:t>	= </a:t>
            </a:r>
            <a:r>
              <a:rPr lang="zh-CN" altLang="en-US" sz="2800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dirty="0">
                <a:solidFill>
                  <a:srgbClr val="FF0000"/>
                </a:solidFill>
                <a:cs typeface="+mn-ea"/>
                <a:sym typeface="+mn-lt"/>
              </a:rPr>
              <a:t>100101.001</a:t>
            </a:r>
            <a:r>
              <a:rPr lang="en-US" altLang="zh-CN" sz="2800" dirty="0">
                <a:solidFill>
                  <a:srgbClr val="0000FF"/>
                </a:solidFill>
                <a:cs typeface="+mn-ea"/>
                <a:sym typeface="+mn-lt"/>
              </a:rPr>
              <a:t> </a:t>
            </a:r>
            <a:r>
              <a:rPr lang="zh-CN" altLang="en-US" sz="2800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endParaRPr lang="en-US" altLang="zh-CN" sz="2800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cs typeface="+mn-ea"/>
                <a:sym typeface="+mn-lt"/>
              </a:rPr>
              <a:t>	          	= </a:t>
            </a:r>
            <a:r>
              <a:rPr lang="zh-CN" altLang="en-US" sz="2800" dirty="0">
                <a:solidFill>
                  <a:srgbClr val="0000FF"/>
                </a:solidFill>
                <a:cs typeface="+mn-ea"/>
                <a:sym typeface="+mn-lt"/>
              </a:rPr>
              <a:t>（</a:t>
            </a:r>
            <a:r>
              <a:rPr lang="zh-CN" altLang="en-US" sz="2800" dirty="0">
                <a:solidFill>
                  <a:srgbClr val="FF0000"/>
                </a:solidFill>
                <a:cs typeface="+mn-ea"/>
                <a:sym typeface="+mn-lt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cs typeface="+mn-ea"/>
                <a:sym typeface="+mn-lt"/>
              </a:rPr>
              <a:t>45.1 </a:t>
            </a:r>
            <a:r>
              <a:rPr lang="zh-CN" altLang="en-US" sz="2800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aseline="-25000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endParaRPr lang="en-US" altLang="zh-CN" sz="2800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cs typeface="+mn-ea"/>
                <a:sym typeface="+mn-lt"/>
              </a:rPr>
              <a:t>	          	= </a:t>
            </a:r>
            <a:r>
              <a:rPr lang="zh-CN" altLang="en-US" sz="2800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dirty="0">
                <a:solidFill>
                  <a:srgbClr val="FF0000"/>
                </a:solidFill>
                <a:cs typeface="+mn-ea"/>
                <a:sym typeface="+mn-lt"/>
              </a:rPr>
              <a:t>25.2 </a:t>
            </a:r>
            <a:r>
              <a:rPr lang="zh-CN" altLang="en-US" sz="2800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aseline="-25000" dirty="0">
                <a:solidFill>
                  <a:srgbClr val="0000FF"/>
                </a:solidFill>
                <a:cs typeface="+mn-ea"/>
                <a:sym typeface="+mn-lt"/>
              </a:rPr>
              <a:t>16</a:t>
            </a:r>
            <a:endParaRPr lang="en-US" altLang="zh-CN" sz="28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cs typeface="+mn-ea"/>
                <a:sym typeface="+mn-lt"/>
              </a:rPr>
              <a:t>(78.32)</a:t>
            </a:r>
            <a:r>
              <a:rPr lang="en-US" altLang="zh-CN" sz="2800" baseline="-25000" dirty="0">
                <a:solidFill>
                  <a:srgbClr val="0000FF"/>
                </a:solidFill>
                <a:cs typeface="+mn-ea"/>
                <a:sym typeface="+mn-lt"/>
              </a:rPr>
              <a:t>10	</a:t>
            </a:r>
            <a:r>
              <a:rPr lang="en-US" altLang="zh-CN" sz="2800" dirty="0">
                <a:solidFill>
                  <a:srgbClr val="0000FF"/>
                </a:solidFill>
                <a:cs typeface="+mn-ea"/>
                <a:sym typeface="+mn-lt"/>
              </a:rPr>
              <a:t>= </a:t>
            </a:r>
            <a:r>
              <a:rPr lang="zh-CN" altLang="en-US" sz="2800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dirty="0">
                <a:solidFill>
                  <a:srgbClr val="FF0000"/>
                </a:solidFill>
                <a:cs typeface="+mn-ea"/>
                <a:sym typeface="+mn-lt"/>
              </a:rPr>
              <a:t>1001110.01010010 </a:t>
            </a:r>
            <a:r>
              <a:rPr lang="zh-CN" altLang="en-US" sz="2800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aseline="-25000" dirty="0">
                <a:solidFill>
                  <a:srgbClr val="0000FF"/>
                </a:solidFill>
                <a:cs typeface="+mn-ea"/>
                <a:sym typeface="+mn-lt"/>
              </a:rPr>
              <a:t>2  </a:t>
            </a:r>
            <a:r>
              <a:rPr lang="zh-CN" altLang="en-US" sz="2800" dirty="0">
                <a:solidFill>
                  <a:srgbClr val="0000FF"/>
                </a:solidFill>
                <a:cs typeface="+mn-ea"/>
                <a:sym typeface="+mn-lt"/>
              </a:rPr>
              <a:t>精确到小数点后</a:t>
            </a:r>
            <a:r>
              <a:rPr lang="en-US" altLang="zh-CN" sz="2800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r>
              <a:rPr lang="zh-CN" altLang="en-US" sz="2800" dirty="0">
                <a:solidFill>
                  <a:srgbClr val="0000FF"/>
                </a:solidFill>
                <a:cs typeface="+mn-ea"/>
                <a:sym typeface="+mn-lt"/>
              </a:rPr>
              <a:t>位</a:t>
            </a:r>
            <a:endParaRPr lang="zh-CN" altLang="en-US" sz="28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cs typeface="+mn-ea"/>
                <a:sym typeface="+mn-lt"/>
              </a:rPr>
              <a:t>(66.875)</a:t>
            </a:r>
            <a:r>
              <a:rPr lang="en-US" altLang="zh-CN" sz="2800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r>
              <a:rPr lang="en-US" altLang="zh-CN" sz="2800" dirty="0">
                <a:solidFill>
                  <a:srgbClr val="0000FF"/>
                </a:solidFill>
                <a:cs typeface="+mn-ea"/>
                <a:sym typeface="+mn-lt"/>
              </a:rPr>
              <a:t>    	= </a:t>
            </a:r>
            <a:r>
              <a:rPr lang="zh-CN" altLang="en-US" sz="2800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dirty="0">
                <a:solidFill>
                  <a:srgbClr val="FF0000"/>
                </a:solidFill>
                <a:cs typeface="+mn-ea"/>
                <a:sym typeface="+mn-lt"/>
              </a:rPr>
              <a:t>102.7</a:t>
            </a:r>
            <a:r>
              <a:rPr lang="en-US" altLang="zh-CN" sz="2800" dirty="0">
                <a:solidFill>
                  <a:srgbClr val="0000FF"/>
                </a:solidFill>
                <a:cs typeface="+mn-ea"/>
                <a:sym typeface="+mn-lt"/>
              </a:rPr>
              <a:t> </a:t>
            </a:r>
            <a:r>
              <a:rPr lang="zh-CN" altLang="en-US" sz="2800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aseline="-25000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endParaRPr lang="en-US" altLang="zh-CN" sz="2800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cs typeface="+mn-ea"/>
                <a:sym typeface="+mn-lt"/>
              </a:rPr>
              <a:t>(241.5625)</a:t>
            </a:r>
            <a:r>
              <a:rPr lang="en-US" altLang="zh-CN" sz="2800" baseline="-25000" dirty="0">
                <a:solidFill>
                  <a:srgbClr val="0000FF"/>
                </a:solidFill>
                <a:cs typeface="+mn-ea"/>
                <a:sym typeface="+mn-lt"/>
              </a:rPr>
              <a:t>10</a:t>
            </a:r>
            <a:r>
              <a:rPr lang="en-US" altLang="zh-CN" sz="2800" dirty="0">
                <a:solidFill>
                  <a:srgbClr val="0000FF"/>
                </a:solidFill>
                <a:cs typeface="+mn-ea"/>
                <a:sym typeface="+mn-lt"/>
              </a:rPr>
              <a:t> 	= </a:t>
            </a:r>
            <a:r>
              <a:rPr lang="zh-CN" altLang="en-US" sz="2800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dirty="0">
                <a:solidFill>
                  <a:srgbClr val="FF0000"/>
                </a:solidFill>
                <a:cs typeface="+mn-ea"/>
                <a:sym typeface="+mn-lt"/>
              </a:rPr>
              <a:t>F1.9 </a:t>
            </a:r>
            <a:r>
              <a:rPr lang="zh-CN" altLang="en-US" sz="2800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aseline="-25000" dirty="0">
                <a:solidFill>
                  <a:srgbClr val="0000FF"/>
                </a:solidFill>
                <a:cs typeface="+mn-ea"/>
                <a:sym typeface="+mn-lt"/>
              </a:rPr>
              <a:t>16</a:t>
            </a:r>
            <a:endParaRPr lang="en-US" altLang="zh-CN" sz="2800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endParaRPr lang="en-US" altLang="zh-CN" sz="2800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 noChangeArrowheads="1"/>
          </p:cNvSpPr>
          <p:nvPr>
            <p:ph type="title"/>
          </p:nvPr>
        </p:nvSpPr>
        <p:spPr>
          <a:xfrm>
            <a:off x="451076" y="190501"/>
            <a:ext cx="6589713" cy="736600"/>
          </a:xfrm>
        </p:spPr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</a:rPr>
              <a:t>二</a:t>
            </a:r>
            <a:r>
              <a:rPr lang="zh-CN" altLang="en-US" b="1" dirty="0" smtClean="0">
                <a:solidFill>
                  <a:schemeClr val="tx1"/>
                </a:solidFill>
              </a:rPr>
              <a:t>、二进制与八进制</a:t>
            </a:r>
            <a:r>
              <a:rPr lang="zh-CN" altLang="en-US" b="1" dirty="0">
                <a:solidFill>
                  <a:schemeClr val="tx1"/>
                </a:solidFill>
              </a:rPr>
              <a:t>间转换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1987" name="Text Box 2"/>
          <p:cNvSpPr txBox="1">
            <a:spLocks noChangeArrowheads="1"/>
          </p:cNvSpPr>
          <p:nvPr/>
        </p:nvSpPr>
        <p:spPr bwMode="auto">
          <a:xfrm>
            <a:off x="1247775" y="1820863"/>
            <a:ext cx="157321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600" b="1">
                <a:solidFill>
                  <a:srgbClr val="C00000"/>
                </a:solidFill>
              </a:rPr>
              <a:t>二进制数</a:t>
            </a:r>
            <a:endParaRPr kumimoji="1" lang="zh-CN" altLang="en-US" sz="2600" b="1">
              <a:solidFill>
                <a:srgbClr val="C00000"/>
              </a:solidFill>
            </a:endParaRPr>
          </a:p>
        </p:txBody>
      </p:sp>
      <p:sp>
        <p:nvSpPr>
          <p:cNvPr id="41988" name="AutoShape 3"/>
          <p:cNvSpPr>
            <a:spLocks noChangeArrowheads="1"/>
          </p:cNvSpPr>
          <p:nvPr/>
        </p:nvSpPr>
        <p:spPr bwMode="auto">
          <a:xfrm>
            <a:off x="2820988" y="1868488"/>
            <a:ext cx="1395412" cy="396875"/>
          </a:xfrm>
          <a:prstGeom prst="notchedRightArrow">
            <a:avLst>
              <a:gd name="adj1" fmla="val 50000"/>
              <a:gd name="adj2" fmla="val 87900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kumimoji="1" lang="zh-CN" altLang="zh-CN" sz="3200" b="1">
              <a:solidFill>
                <a:srgbClr val="C00000"/>
              </a:solidFill>
            </a:endParaRPr>
          </a:p>
        </p:txBody>
      </p:sp>
      <p:sp>
        <p:nvSpPr>
          <p:cNvPr id="41989" name="Text Box 4"/>
          <p:cNvSpPr txBox="1">
            <a:spLocks noChangeArrowheads="1"/>
          </p:cNvSpPr>
          <p:nvPr/>
        </p:nvSpPr>
        <p:spPr bwMode="auto">
          <a:xfrm>
            <a:off x="4083050" y="1820863"/>
            <a:ext cx="218122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600" b="1">
                <a:solidFill>
                  <a:srgbClr val="C00000"/>
                </a:solidFill>
              </a:rPr>
              <a:t>八进制数</a:t>
            </a:r>
            <a:endParaRPr kumimoji="1" lang="zh-CN" altLang="en-US" sz="2600" b="1">
              <a:solidFill>
                <a:srgbClr val="C00000"/>
              </a:solidFill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855663" y="3159125"/>
            <a:ext cx="4784725" cy="1533525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00" tIns="45700" rIns="91400" bIns="45700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 dirty="0"/>
              <a:t>二进制数的基为</a:t>
            </a:r>
            <a:r>
              <a:rPr kumimoji="1" lang="en-US" altLang="zh-CN" sz="2400" b="1" dirty="0"/>
              <a:t>2</a:t>
            </a:r>
            <a:r>
              <a:rPr kumimoji="1" lang="zh-CN" altLang="en-US" sz="2400" b="1" dirty="0"/>
              <a:t>，八进制数的基为</a:t>
            </a:r>
            <a:r>
              <a:rPr kumimoji="1" lang="en-US" altLang="zh-CN" sz="2400" b="1" dirty="0"/>
              <a:t>8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2</a:t>
            </a:r>
            <a:r>
              <a:rPr kumimoji="1" lang="en-US" altLang="zh-CN" sz="2400" b="1" baseline="30000" dirty="0"/>
              <a:t>3</a:t>
            </a:r>
            <a:r>
              <a:rPr kumimoji="1" lang="en-US" altLang="zh-CN" sz="2400" b="1" dirty="0"/>
              <a:t>=8</a:t>
            </a:r>
            <a:r>
              <a:rPr kumimoji="1" lang="zh-CN" altLang="en-US" sz="2400" b="1" dirty="0"/>
              <a:t>，因此，</a:t>
            </a:r>
            <a:r>
              <a:rPr kumimoji="1"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每位八进制数可以用</a:t>
            </a:r>
            <a:r>
              <a:rPr kumimoji="1"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位二进制数来表示。</a:t>
            </a:r>
            <a:endParaRPr kumimoji="1" lang="zh-CN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Box 6" descr="水滴"/>
          <p:cNvSpPr txBox="1">
            <a:spLocks noChangeArrowheads="1"/>
          </p:cNvSpPr>
          <p:nvPr/>
        </p:nvSpPr>
        <p:spPr bwMode="auto">
          <a:xfrm>
            <a:off x="6084888" y="1820863"/>
            <a:ext cx="2879725" cy="4894262"/>
          </a:xfrm>
          <a:prstGeom prst="rect">
            <a:avLst/>
          </a:prstGeom>
          <a:blipFill dpi="0" rotWithShape="0">
            <a:blip r:embed="rId1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 marL="457200" indent="-4572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</a:rPr>
              <a:t>二进制      </a:t>
            </a:r>
            <a:r>
              <a:rPr kumimoji="1" lang="zh-CN" altLang="en-US" sz="2400" b="1">
                <a:solidFill>
                  <a:srgbClr val="FF0000"/>
                </a:solidFill>
              </a:rPr>
              <a:t>八进制</a:t>
            </a:r>
            <a:endParaRPr kumimoji="1" lang="zh-CN" altLang="en-US" sz="2400" b="1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</a:rPr>
              <a:t>0    0    0       </a:t>
            </a:r>
            <a:r>
              <a:rPr kumimoji="1" lang="en-US" altLang="zh-CN" sz="2400" b="1">
                <a:solidFill>
                  <a:schemeClr val="accent1"/>
                </a:solidFill>
              </a:rPr>
              <a:t>  </a:t>
            </a:r>
            <a:r>
              <a:rPr kumimoji="1" lang="en-US" altLang="zh-CN" sz="2400" b="1">
                <a:solidFill>
                  <a:srgbClr val="FF0000"/>
                </a:solidFill>
              </a:rPr>
              <a:t>0</a:t>
            </a:r>
            <a:endParaRPr kumimoji="1" lang="en-US" altLang="zh-CN" sz="2400" b="1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</a:rPr>
              <a:t>0    0    1         </a:t>
            </a:r>
            <a:r>
              <a:rPr kumimoji="1" lang="en-US" altLang="zh-CN" sz="2400" b="1">
                <a:solidFill>
                  <a:srgbClr val="FF0000"/>
                </a:solidFill>
              </a:rPr>
              <a:t>1</a:t>
            </a:r>
            <a:endParaRPr kumimoji="1" lang="en-US" altLang="zh-CN" sz="2400" b="1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</a:rPr>
              <a:t>0    1    0         </a:t>
            </a:r>
            <a:r>
              <a:rPr kumimoji="1" lang="en-US" altLang="zh-CN" sz="2400" b="1">
                <a:solidFill>
                  <a:srgbClr val="FF0000"/>
                </a:solidFill>
              </a:rPr>
              <a:t>2</a:t>
            </a:r>
            <a:endParaRPr kumimoji="1" lang="en-US" altLang="zh-CN" sz="2400" b="1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</a:rPr>
              <a:t>0    1    1         </a:t>
            </a:r>
            <a:r>
              <a:rPr kumimoji="1" lang="en-US" altLang="zh-CN" sz="2400" b="1">
                <a:solidFill>
                  <a:srgbClr val="FF0000"/>
                </a:solidFill>
              </a:rPr>
              <a:t>3</a:t>
            </a:r>
            <a:endParaRPr kumimoji="1" lang="en-US" altLang="zh-CN" sz="2400" b="1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</a:rPr>
              <a:t>1    0    0        </a:t>
            </a:r>
            <a:r>
              <a:rPr kumimoji="1" lang="en-US" altLang="zh-CN" sz="2400" b="1">
                <a:solidFill>
                  <a:schemeClr val="accent1"/>
                </a:solidFill>
              </a:rPr>
              <a:t> </a:t>
            </a:r>
            <a:r>
              <a:rPr kumimoji="1" lang="en-US" altLang="zh-CN" sz="2400" b="1">
                <a:solidFill>
                  <a:srgbClr val="FF0000"/>
                </a:solidFill>
              </a:rPr>
              <a:t>4</a:t>
            </a:r>
            <a:endParaRPr kumimoji="1" lang="en-US" altLang="zh-CN" sz="2400" b="1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</a:rPr>
              <a:t>1    0    1       </a:t>
            </a:r>
            <a:r>
              <a:rPr kumimoji="1" lang="en-US" altLang="zh-CN" sz="2400" b="1">
                <a:solidFill>
                  <a:schemeClr val="accent1"/>
                </a:solidFill>
              </a:rPr>
              <a:t>  </a:t>
            </a:r>
            <a:r>
              <a:rPr kumimoji="1" lang="en-US" altLang="zh-CN" sz="2400" b="1">
                <a:solidFill>
                  <a:srgbClr val="FF0000"/>
                </a:solidFill>
              </a:rPr>
              <a:t>5</a:t>
            </a:r>
            <a:endParaRPr kumimoji="1" lang="en-US" altLang="zh-CN" sz="2400" b="1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</a:rPr>
              <a:t>1    1    0         </a:t>
            </a:r>
            <a:r>
              <a:rPr kumimoji="1" lang="en-US" altLang="zh-CN" sz="2400" b="1">
                <a:solidFill>
                  <a:srgbClr val="FF0000"/>
                </a:solidFill>
              </a:rPr>
              <a:t>6</a:t>
            </a:r>
            <a:endParaRPr kumimoji="1" lang="en-US" altLang="zh-CN" sz="2400" b="1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</a:rPr>
              <a:t>1    1    1       </a:t>
            </a:r>
            <a:r>
              <a:rPr kumimoji="1" lang="en-US" altLang="zh-CN" sz="2400" b="1">
                <a:solidFill>
                  <a:srgbClr val="FF0000"/>
                </a:solidFill>
              </a:rPr>
              <a:t>  7 </a:t>
            </a:r>
            <a:r>
              <a:rPr kumimoji="1" lang="en-US" altLang="zh-CN" sz="2400" b="1">
                <a:solidFill>
                  <a:schemeClr val="accent1"/>
                </a:solidFill>
              </a:rPr>
              <a:t>  </a:t>
            </a:r>
            <a:endParaRPr kumimoji="1" lang="en-US" altLang="zh-CN" sz="2400" b="1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  <p:bldP spid="9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 noChangeArrowheads="1"/>
          </p:cNvSpPr>
          <p:nvPr>
            <p:ph type="title"/>
          </p:nvPr>
        </p:nvSpPr>
        <p:spPr>
          <a:xfrm>
            <a:off x="1095036" y="230188"/>
            <a:ext cx="6589712" cy="736600"/>
          </a:xfrm>
        </p:spPr>
        <p:txBody>
          <a:bodyPr/>
          <a:lstStyle/>
          <a:p>
            <a:r>
              <a:rPr lang="zh-CN" altLang="en-US" b="1" dirty="0"/>
              <a:t>二进制 转 </a:t>
            </a:r>
            <a:r>
              <a:rPr lang="zh-CN" altLang="en-US" b="1" dirty="0" smtClean="0"/>
              <a:t>八进制（</a:t>
            </a:r>
            <a:r>
              <a:rPr lang="en-US" altLang="zh-CN" b="1" dirty="0" smtClean="0"/>
              <a:t>3</a:t>
            </a:r>
            <a:r>
              <a:rPr lang="zh-CN" altLang="en-US" b="1" dirty="0" smtClean="0"/>
              <a:t>位归并）</a:t>
            </a:r>
            <a:endParaRPr lang="zh-CN" altLang="en-US" b="1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534030" y="1357313"/>
            <a:ext cx="8258175" cy="2247900"/>
          </a:xfrm>
          <a:prstGeom prst="rect">
            <a:avLst/>
          </a:prstGeom>
          <a:noFill/>
          <a:ln>
            <a:noFill/>
          </a:ln>
        </p:spPr>
        <p:txBody>
          <a:bodyPr lIns="91400" tIns="45700" rIns="91400" bIns="45700"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b="1" dirty="0">
                <a:latin typeface="+mn-ea"/>
                <a:ea typeface="+mn-ea"/>
              </a:rPr>
              <a:t>以小数点为界，</a:t>
            </a:r>
            <a:r>
              <a:rPr kumimoji="1"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整数部分从右至左，</a:t>
            </a:r>
            <a:r>
              <a:rPr kumimoji="1" lang="en-US" altLang="zh-CN" sz="2400" b="1" dirty="0">
                <a:solidFill>
                  <a:srgbClr val="0000FF"/>
                </a:solidFill>
                <a:latin typeface="+mn-ea"/>
                <a:ea typeface="+mn-ea"/>
              </a:rPr>
              <a:t>3</a:t>
            </a:r>
            <a:r>
              <a:rPr kumimoji="1"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位一组，不足三位时，在左边高位添</a:t>
            </a:r>
            <a:r>
              <a:rPr kumimoji="1" lang="en-US" altLang="zh-CN" sz="2400" b="1" dirty="0">
                <a:solidFill>
                  <a:srgbClr val="0000FF"/>
                </a:solidFill>
                <a:latin typeface="+mn-ea"/>
                <a:ea typeface="+mn-ea"/>
              </a:rPr>
              <a:t>0</a:t>
            </a:r>
            <a:r>
              <a:rPr kumimoji="1"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补足三位</a:t>
            </a:r>
            <a:r>
              <a:rPr kumimoji="1" lang="zh-CN" altLang="en-US" sz="2400" b="1" dirty="0">
                <a:latin typeface="+mn-ea"/>
                <a:ea typeface="+mn-ea"/>
              </a:rPr>
              <a:t>；</a:t>
            </a:r>
            <a:endParaRPr kumimoji="1" lang="en-US" altLang="zh-CN" sz="2400" b="1" dirty="0">
              <a:latin typeface="+mn-ea"/>
              <a:ea typeface="+mn-ea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小数部分从左至右，以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位一组，不足三位时，在右边低位添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补足三位</a:t>
            </a:r>
            <a:r>
              <a:rPr kumimoji="1" lang="zh-CN" altLang="en-US" sz="2400" b="1" dirty="0">
                <a:latin typeface="+mn-ea"/>
                <a:ea typeface="+mn-ea"/>
              </a:rPr>
              <a:t>；</a:t>
            </a:r>
            <a:endParaRPr kumimoji="1" lang="en-US" altLang="zh-CN" sz="2400" b="1" dirty="0">
              <a:latin typeface="+mn-ea"/>
              <a:ea typeface="+mn-ea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b="1" dirty="0">
                <a:latin typeface="+mn-ea"/>
                <a:ea typeface="+mn-ea"/>
              </a:rPr>
              <a:t>然后把每组的</a:t>
            </a:r>
            <a:r>
              <a:rPr kumimoji="1" lang="en-US" altLang="zh-CN" sz="2400" b="1" dirty="0">
                <a:latin typeface="+mn-ea"/>
                <a:ea typeface="+mn-ea"/>
              </a:rPr>
              <a:t>3</a:t>
            </a:r>
            <a:r>
              <a:rPr kumimoji="1" lang="zh-CN" altLang="en-US" sz="2400" b="1" dirty="0">
                <a:latin typeface="+mn-ea"/>
                <a:ea typeface="+mn-ea"/>
              </a:rPr>
              <a:t>位数用相应的八进制表示，即得八进制数。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43012" name="Text Box 5"/>
          <p:cNvSpPr txBox="1">
            <a:spLocks noChangeArrowheads="1"/>
          </p:cNvSpPr>
          <p:nvPr/>
        </p:nvSpPr>
        <p:spPr bwMode="auto">
          <a:xfrm>
            <a:off x="352425" y="5549900"/>
            <a:ext cx="3500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kumimoji="1" lang="zh-CN" altLang="zh-CN" sz="2400" b="1"/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989263" y="5011738"/>
          <a:ext cx="3656012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公式" r:id="rId1" imgW="1244600" imgH="381000" progId="Equation.3">
                  <p:embed/>
                </p:oleObj>
              </mc:Choice>
              <mc:Fallback>
                <p:oleObj name="公式" r:id="rId1" imgW="1244600" imgH="381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263" y="5011738"/>
                        <a:ext cx="3656012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615113" y="3995738"/>
            <a:ext cx="2644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800" b="1" dirty="0">
                <a:solidFill>
                  <a:srgbClr val="0000FF"/>
                </a:solidFill>
              </a:rPr>
              <a:t>结果为</a:t>
            </a:r>
            <a:r>
              <a:rPr kumimoji="1" lang="en-US" altLang="zh-CN" sz="2800" b="1" dirty="0" smtClean="0">
                <a:solidFill>
                  <a:srgbClr val="0000FF"/>
                </a:solidFill>
              </a:rPr>
              <a:t>35.66O</a:t>
            </a:r>
            <a:endParaRPr kumimoji="1"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976313" y="5011738"/>
            <a:ext cx="1693862" cy="1000125"/>
          </a:xfrm>
          <a:prstGeom prst="wedgeRoundRectCallout">
            <a:avLst>
              <a:gd name="adj1" fmla="val 70431"/>
              <a:gd name="adj2" fmla="val -22981"/>
              <a:gd name="adj3" fmla="val 1666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</a:ln>
        </p:spPr>
        <p:txBody>
          <a:bodyPr lIns="91400" tIns="45700" rIns="91400" bIns="45700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solidFill>
                  <a:srgbClr val="FFFF00"/>
                </a:solidFill>
              </a:rPr>
              <a:t>左边添零补足三位</a:t>
            </a:r>
            <a:endParaRPr kumimoji="1" lang="zh-CN" altLang="en-US" sz="2400" b="1">
              <a:solidFill>
                <a:srgbClr val="FFFF00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7116763" y="5173663"/>
            <a:ext cx="1866900" cy="962025"/>
          </a:xfrm>
          <a:prstGeom prst="wedgeRoundRectCallout">
            <a:avLst>
              <a:gd name="adj1" fmla="val -82398"/>
              <a:gd name="adj2" fmla="val -35102"/>
              <a:gd name="adj3" fmla="val 16667"/>
            </a:avLst>
          </a:prstGeom>
          <a:solidFill>
            <a:srgbClr val="FF3300"/>
          </a:solidFill>
          <a:ln w="9525">
            <a:solidFill>
              <a:schemeClr val="accent1"/>
            </a:solidFill>
            <a:miter lim="800000"/>
          </a:ln>
        </p:spPr>
        <p:txBody>
          <a:bodyPr lIns="91400" tIns="45700" rIns="91400" bIns="45700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solidFill>
                  <a:srgbClr val="FFFF00"/>
                </a:solidFill>
              </a:rPr>
              <a:t>右边添零补足三位</a:t>
            </a:r>
            <a:endParaRPr kumimoji="1" lang="zh-CN" altLang="en-US" sz="2400" b="1">
              <a:solidFill>
                <a:srgbClr val="FFFF00"/>
              </a:solidFill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877888" y="4027488"/>
            <a:ext cx="5949950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/>
              <a:t>例如：将 </a:t>
            </a:r>
            <a:r>
              <a:rPr kumimoji="1" lang="en-US" altLang="zh-CN" sz="2400" b="1"/>
              <a:t>11101.11011B </a:t>
            </a:r>
            <a:r>
              <a:rPr kumimoji="1" lang="zh-CN" altLang="en-US" sz="2400" b="1"/>
              <a:t>转换成八进制数。</a:t>
            </a:r>
            <a:endParaRPr kumimoji="1"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nimBg="1" autoUpdateAnimBg="0"/>
      <p:bldP spid="9" grpId="0" animBg="1" autoUpdateAnimBg="0"/>
      <p:bldP spid="1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1225550" y="1511300"/>
            <a:ext cx="23145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600" b="1">
                <a:solidFill>
                  <a:srgbClr val="C00000"/>
                </a:solidFill>
              </a:rPr>
              <a:t>八进制数</a:t>
            </a:r>
            <a:endParaRPr kumimoji="1" lang="zh-CN" altLang="en-US" sz="2600" b="1">
              <a:solidFill>
                <a:srgbClr val="C00000"/>
              </a:solidFill>
            </a:endParaRPr>
          </a:p>
        </p:txBody>
      </p:sp>
      <p:sp>
        <p:nvSpPr>
          <p:cNvPr id="44035" name="AutoShape 3"/>
          <p:cNvSpPr>
            <a:spLocks noChangeArrowheads="1"/>
          </p:cNvSpPr>
          <p:nvPr/>
        </p:nvSpPr>
        <p:spPr bwMode="auto">
          <a:xfrm>
            <a:off x="2786063" y="1579563"/>
            <a:ext cx="1393825" cy="396875"/>
          </a:xfrm>
          <a:prstGeom prst="notchedRightArrow">
            <a:avLst>
              <a:gd name="adj1" fmla="val 50000"/>
              <a:gd name="adj2" fmla="val 87800"/>
            </a:avLst>
          </a:prstGeom>
          <a:solidFill>
            <a:srgbClr val="CC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kumimoji="1" lang="zh-CN" altLang="zh-CN" sz="2400">
              <a:solidFill>
                <a:srgbClr val="0066FF"/>
              </a:solidFill>
            </a:endParaRP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4192588" y="1481138"/>
            <a:ext cx="303847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600" b="1">
                <a:solidFill>
                  <a:srgbClr val="C00000"/>
                </a:solidFill>
              </a:rPr>
              <a:t>二进制数</a:t>
            </a:r>
            <a:endParaRPr kumimoji="1" lang="zh-CN" altLang="en-US" sz="2600" b="1">
              <a:solidFill>
                <a:srgbClr val="C00000"/>
              </a:solidFill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62000" y="2143125"/>
            <a:ext cx="8207375" cy="978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 marL="457200" indent="-4572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kumimoji="1" lang="zh-CN" altLang="en-US" sz="2400" b="1" dirty="0"/>
              <a:t>将</a:t>
            </a:r>
            <a:r>
              <a:rPr kumimoji="1" lang="zh-CN" altLang="en-US" sz="2400" b="1" dirty="0">
                <a:solidFill>
                  <a:srgbClr val="0000FF"/>
                </a:solidFill>
              </a:rPr>
              <a:t>每位八进制数</a:t>
            </a:r>
            <a:r>
              <a:rPr kumimoji="1" lang="zh-CN" altLang="en-US" sz="2400" b="1" dirty="0"/>
              <a:t>用</a:t>
            </a:r>
            <a:r>
              <a:rPr kumimoji="1" lang="en-US" altLang="zh-CN" sz="2400" b="1" dirty="0">
                <a:solidFill>
                  <a:srgbClr val="0000FF"/>
                </a:solidFill>
              </a:rPr>
              <a:t>3</a:t>
            </a:r>
            <a:r>
              <a:rPr kumimoji="1" lang="zh-CN" altLang="en-US" sz="2400" b="1" dirty="0">
                <a:solidFill>
                  <a:srgbClr val="0000FF"/>
                </a:solidFill>
              </a:rPr>
              <a:t>位二进制数</a:t>
            </a:r>
            <a:r>
              <a:rPr kumimoji="1" lang="zh-CN" altLang="en-US" sz="2400" b="1" dirty="0"/>
              <a:t>表示即可，去掉转换后二进制数整数前和小数点最后的</a:t>
            </a:r>
            <a:r>
              <a:rPr kumimoji="1" lang="en-US" altLang="zh-CN" sz="2400" b="1" dirty="0"/>
              <a:t>0</a:t>
            </a:r>
            <a:r>
              <a:rPr kumimoji="1" lang="zh-CN" altLang="en-US" sz="2400" b="1" dirty="0"/>
              <a:t>。</a:t>
            </a:r>
            <a:endParaRPr kumimoji="1" lang="zh-CN" altLang="en-US" sz="2400" b="1" dirty="0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538288" y="3675063"/>
            <a:ext cx="7431087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/>
              <a:t>例如：将 </a:t>
            </a:r>
            <a:r>
              <a:rPr kumimoji="1" lang="en-US" altLang="zh-CN" sz="2400" b="1"/>
              <a:t>(15.22)</a:t>
            </a:r>
            <a:r>
              <a:rPr kumimoji="1" lang="en-US" altLang="zh-CN" sz="2400" b="1" baseline="-25000"/>
              <a:t>8 </a:t>
            </a:r>
            <a:r>
              <a:rPr kumimoji="1" lang="zh-CN" altLang="en-US" sz="2400" b="1"/>
              <a:t>转换成二进制数。</a:t>
            </a:r>
            <a:endParaRPr kumimoji="1" lang="zh-CN" altLang="en-US" sz="2400" b="1"/>
          </a:p>
        </p:txBody>
      </p:sp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2298700" y="4502150"/>
          <a:ext cx="3517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5" name="公式" r:id="rId1" imgW="723900" imgH="381000" progId="Equation.3">
                  <p:embed/>
                </p:oleObj>
              </mc:Choice>
              <mc:Fallback>
                <p:oleObj name="公式" r:id="rId1" imgW="723900" imgH="38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4502150"/>
                        <a:ext cx="35179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397125" y="5591175"/>
            <a:ext cx="42624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800" b="1">
                <a:solidFill>
                  <a:srgbClr val="0000FF"/>
                </a:solidFill>
              </a:rPr>
              <a:t>结果为</a:t>
            </a:r>
            <a:r>
              <a:rPr kumimoji="1" lang="en-US" altLang="zh-CN" sz="2800" b="1">
                <a:solidFill>
                  <a:srgbClr val="0000FF"/>
                </a:solidFill>
              </a:rPr>
              <a:t>1101.01001B</a:t>
            </a:r>
            <a:endParaRPr kumimoji="1" lang="en-US" altLang="zh-CN" sz="2800" b="1">
              <a:solidFill>
                <a:srgbClr val="0000FF"/>
              </a:solidFill>
            </a:endParaRPr>
          </a:p>
        </p:txBody>
      </p:sp>
      <p:sp>
        <p:nvSpPr>
          <p:cNvPr id="44041" name="标题 1"/>
          <p:cNvSpPr>
            <a:spLocks noGrp="1" noChangeArrowheads="1"/>
          </p:cNvSpPr>
          <p:nvPr>
            <p:ph type="title"/>
          </p:nvPr>
        </p:nvSpPr>
        <p:spPr>
          <a:xfrm>
            <a:off x="992797" y="260350"/>
            <a:ext cx="6589712" cy="736600"/>
          </a:xfrm>
        </p:spPr>
        <p:txBody>
          <a:bodyPr/>
          <a:lstStyle/>
          <a:p>
            <a:r>
              <a:rPr lang="zh-CN" altLang="en-US" b="1" dirty="0"/>
              <a:t>八进制 转 </a:t>
            </a:r>
            <a:r>
              <a:rPr lang="zh-CN" altLang="en-US" b="1" dirty="0" smtClean="0"/>
              <a:t>二进制（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位分</a:t>
            </a:r>
            <a:r>
              <a:rPr lang="en-US" altLang="zh-CN" b="1" dirty="0" smtClean="0"/>
              <a:t>3</a:t>
            </a:r>
            <a:r>
              <a:rPr lang="zh-CN" altLang="en-US" b="1" dirty="0" smtClean="0"/>
              <a:t>位）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1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836613" y="1681163"/>
            <a:ext cx="22764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600" b="1">
                <a:solidFill>
                  <a:srgbClr val="C00000"/>
                </a:solidFill>
              </a:rPr>
              <a:t>二进制数</a:t>
            </a:r>
            <a:endParaRPr kumimoji="1" lang="zh-CN" altLang="en-US" sz="2600" b="1">
              <a:solidFill>
                <a:srgbClr val="C00000"/>
              </a:solidFill>
            </a:endParaRPr>
          </a:p>
        </p:txBody>
      </p:sp>
      <p:sp>
        <p:nvSpPr>
          <p:cNvPr id="45059" name="AutoShape 3"/>
          <p:cNvSpPr>
            <a:spLocks noChangeArrowheads="1"/>
          </p:cNvSpPr>
          <p:nvPr/>
        </p:nvSpPr>
        <p:spPr bwMode="auto">
          <a:xfrm>
            <a:off x="2414588" y="1730375"/>
            <a:ext cx="1397000" cy="396875"/>
          </a:xfrm>
          <a:prstGeom prst="notchedRightArrow">
            <a:avLst>
              <a:gd name="adj1" fmla="val 50000"/>
              <a:gd name="adj2" fmla="val 88000"/>
            </a:avLst>
          </a:prstGeom>
          <a:solidFill>
            <a:srgbClr val="CC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kumimoji="1" lang="zh-CN" altLang="zh-CN" sz="2400">
              <a:solidFill>
                <a:srgbClr val="0000FF"/>
              </a:solidFill>
            </a:endParaRP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3892550" y="1698625"/>
            <a:ext cx="296386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600" b="1">
                <a:solidFill>
                  <a:srgbClr val="C00000"/>
                </a:solidFill>
              </a:rPr>
              <a:t>十六进制数</a:t>
            </a:r>
            <a:endParaRPr kumimoji="1" lang="zh-CN" altLang="en-US" sz="2600" b="1">
              <a:solidFill>
                <a:srgbClr val="C00000"/>
              </a:solidFill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614363" y="2619375"/>
            <a:ext cx="5191125" cy="1643063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/>
              <a:t>二进制数的基为</a:t>
            </a:r>
            <a:r>
              <a:rPr kumimoji="1" lang="en-US" altLang="zh-CN" sz="2400" b="1"/>
              <a:t>2</a:t>
            </a:r>
            <a:r>
              <a:rPr kumimoji="1" lang="zh-CN" altLang="en-US" sz="2400" b="1"/>
              <a:t>，十六进制数的基为</a:t>
            </a:r>
            <a:r>
              <a:rPr kumimoji="1" lang="en-US" altLang="zh-CN" sz="2400" b="1"/>
              <a:t>16</a:t>
            </a:r>
            <a:r>
              <a:rPr kumimoji="1" lang="zh-CN" altLang="en-US" sz="2400" b="1"/>
              <a:t>，</a:t>
            </a:r>
            <a:r>
              <a:rPr kumimoji="1" lang="en-US" altLang="zh-CN" sz="2400" b="1"/>
              <a:t>2</a:t>
            </a:r>
            <a:r>
              <a:rPr kumimoji="1" lang="en-US" altLang="zh-CN" sz="2400" b="1" baseline="30000"/>
              <a:t>4</a:t>
            </a:r>
            <a:r>
              <a:rPr kumimoji="1" lang="en-US" altLang="zh-CN" sz="2400" b="1"/>
              <a:t>=16</a:t>
            </a:r>
            <a:r>
              <a:rPr kumimoji="1" lang="zh-CN" altLang="en-US" sz="2400" b="1"/>
              <a:t>，因此，</a:t>
            </a:r>
            <a:r>
              <a:rPr kumimoji="1" lang="zh-CN" altLang="en-US" sz="2400" b="1">
                <a:solidFill>
                  <a:srgbClr val="0000FF"/>
                </a:solidFill>
              </a:rPr>
              <a:t>每位十六进制数可以用</a:t>
            </a:r>
            <a:r>
              <a:rPr kumimoji="1" lang="en-US" altLang="zh-CN" sz="2400" b="1">
                <a:solidFill>
                  <a:srgbClr val="0000FF"/>
                </a:solidFill>
              </a:rPr>
              <a:t>4</a:t>
            </a:r>
            <a:r>
              <a:rPr kumimoji="1" lang="zh-CN" altLang="en-US" sz="2400" b="1">
                <a:solidFill>
                  <a:srgbClr val="0000FF"/>
                </a:solidFill>
              </a:rPr>
              <a:t>位二进制数来表示</a:t>
            </a:r>
            <a:r>
              <a:rPr kumimoji="1" lang="zh-CN" altLang="en-US" sz="2400" b="1"/>
              <a:t>。</a:t>
            </a:r>
            <a:endParaRPr kumimoji="1" lang="zh-CN" altLang="en-US" sz="2400" b="1"/>
          </a:p>
        </p:txBody>
      </p:sp>
      <p:sp>
        <p:nvSpPr>
          <p:cNvPr id="8" name="Text Box 6" descr="再生纸"/>
          <p:cNvSpPr txBox="1">
            <a:spLocks noChangeArrowheads="1"/>
          </p:cNvSpPr>
          <p:nvPr/>
        </p:nvSpPr>
        <p:spPr bwMode="auto">
          <a:xfrm>
            <a:off x="6208713" y="0"/>
            <a:ext cx="2935287" cy="6937375"/>
          </a:xfrm>
          <a:prstGeom prst="rect">
            <a:avLst/>
          </a:prstGeom>
          <a:blipFill dpi="0" rotWithShape="0">
            <a:blip r:embed="rId1"/>
            <a:srcRect/>
            <a:tile tx="0" ty="0" sx="100000" sy="100000" flip="none" algn="tl"/>
          </a:blipFill>
          <a:ln>
            <a:noFill/>
          </a:ln>
        </p:spPr>
        <p:txBody>
          <a:bodyPr lIns="91400" tIns="45700" rIns="91400" bIns="45700"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150" b="1" dirty="0">
                <a:latin typeface="Times New Roman" panose="02020603050405020304" pitchFamily="18" charset="0"/>
                <a:ea typeface="宋体" panose="02010600030101010101" pitchFamily="2" charset="-122"/>
              </a:rPr>
              <a:t>二进制           十六进制</a:t>
            </a:r>
            <a:endParaRPr kumimoji="1" lang="zh-CN" altLang="en-US" sz="215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150" b="1" dirty="0">
                <a:latin typeface="Times New Roman" panose="02020603050405020304" pitchFamily="18" charset="0"/>
                <a:ea typeface="宋体" panose="02010600030101010101" pitchFamily="2" charset="-122"/>
              </a:rPr>
              <a:t>0   0    0    0             0</a:t>
            </a:r>
            <a:endParaRPr kumimoji="1" lang="en-US" altLang="zh-CN" sz="215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150" b="1" dirty="0">
                <a:latin typeface="Times New Roman" panose="02020603050405020304" pitchFamily="18" charset="0"/>
                <a:ea typeface="宋体" panose="02010600030101010101" pitchFamily="2" charset="-122"/>
              </a:rPr>
              <a:t>0   0    0    1             1</a:t>
            </a:r>
            <a:endParaRPr kumimoji="1" lang="en-US" altLang="zh-CN" sz="215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150" b="1" dirty="0">
                <a:latin typeface="Times New Roman" panose="02020603050405020304" pitchFamily="18" charset="0"/>
                <a:ea typeface="宋体" panose="02010600030101010101" pitchFamily="2" charset="-122"/>
              </a:rPr>
              <a:t>0   0    1    0             2</a:t>
            </a:r>
            <a:endParaRPr kumimoji="1" lang="en-US" altLang="zh-CN" sz="215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150" b="1" dirty="0">
                <a:latin typeface="Times New Roman" panose="02020603050405020304" pitchFamily="18" charset="0"/>
                <a:ea typeface="宋体" panose="02010600030101010101" pitchFamily="2" charset="-122"/>
              </a:rPr>
              <a:t>0   0    1    1             3</a:t>
            </a:r>
            <a:endParaRPr kumimoji="1" lang="en-US" altLang="zh-CN" sz="215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150" b="1" dirty="0">
                <a:latin typeface="Times New Roman" panose="02020603050405020304" pitchFamily="18" charset="0"/>
                <a:ea typeface="宋体" panose="02010600030101010101" pitchFamily="2" charset="-122"/>
              </a:rPr>
              <a:t>0   1    0    0             4</a:t>
            </a:r>
            <a:endParaRPr kumimoji="1" lang="en-US" altLang="zh-CN" sz="215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150" b="1" dirty="0">
                <a:latin typeface="Times New Roman" panose="02020603050405020304" pitchFamily="18" charset="0"/>
                <a:ea typeface="宋体" panose="02010600030101010101" pitchFamily="2" charset="-122"/>
              </a:rPr>
              <a:t>0   1    0    1             5</a:t>
            </a:r>
            <a:endParaRPr kumimoji="1" lang="en-US" altLang="zh-CN" sz="215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150" b="1" dirty="0">
                <a:latin typeface="Times New Roman" panose="02020603050405020304" pitchFamily="18" charset="0"/>
                <a:ea typeface="宋体" panose="02010600030101010101" pitchFamily="2" charset="-122"/>
              </a:rPr>
              <a:t>0   1    1    0             6</a:t>
            </a:r>
            <a:endParaRPr kumimoji="1" lang="en-US" altLang="zh-CN" sz="215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150" b="1" dirty="0">
                <a:latin typeface="Times New Roman" panose="02020603050405020304" pitchFamily="18" charset="0"/>
                <a:ea typeface="宋体" panose="02010600030101010101" pitchFamily="2" charset="-122"/>
              </a:rPr>
              <a:t>0   1    1    1             7   </a:t>
            </a:r>
            <a:endParaRPr kumimoji="1" lang="en-US" altLang="zh-CN" sz="215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150" b="1" dirty="0">
                <a:latin typeface="Times New Roman" panose="02020603050405020304" pitchFamily="18" charset="0"/>
                <a:ea typeface="宋体" panose="02010600030101010101" pitchFamily="2" charset="-122"/>
              </a:rPr>
              <a:t>1   0    0    0             8</a:t>
            </a:r>
            <a:endParaRPr kumimoji="1" lang="en-US" altLang="zh-CN" sz="215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150" b="1" dirty="0">
                <a:latin typeface="Times New Roman" panose="02020603050405020304" pitchFamily="18" charset="0"/>
                <a:ea typeface="宋体" panose="02010600030101010101" pitchFamily="2" charset="-122"/>
              </a:rPr>
              <a:t>1   0    0    1             9</a:t>
            </a:r>
            <a:endParaRPr kumimoji="1" lang="en-US" altLang="zh-CN" sz="215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15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 0    1    0             A</a:t>
            </a:r>
            <a:endParaRPr kumimoji="1" lang="en-US" altLang="zh-CN" sz="215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15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 0    1    1             B</a:t>
            </a:r>
            <a:endParaRPr kumimoji="1" lang="en-US" altLang="zh-CN" sz="215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15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 1    0    0             C</a:t>
            </a:r>
            <a:endParaRPr kumimoji="1" lang="en-US" altLang="zh-CN" sz="215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15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 1    0    1             D</a:t>
            </a:r>
            <a:endParaRPr kumimoji="1" lang="en-US" altLang="zh-CN" sz="215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15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 1    1    0             E</a:t>
            </a:r>
            <a:endParaRPr kumimoji="1" lang="en-US" altLang="zh-CN" sz="215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15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 1    1    1             F</a:t>
            </a:r>
            <a:endParaRPr kumimoji="1" lang="en-US" altLang="zh-CN" sz="215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AutoShape 7" descr="0006"/>
          <p:cNvSpPr>
            <a:spLocks noChangeArrowheads="1"/>
          </p:cNvSpPr>
          <p:nvPr/>
        </p:nvSpPr>
        <p:spPr bwMode="auto">
          <a:xfrm>
            <a:off x="1339850" y="4754563"/>
            <a:ext cx="4667250" cy="877887"/>
          </a:xfrm>
          <a:prstGeom prst="cloudCallout">
            <a:avLst>
              <a:gd name="adj1" fmla="val 49579"/>
              <a:gd name="adj2" fmla="val 71583"/>
            </a:avLst>
          </a:prstGeom>
          <a:blipFill dpi="0" rotWithShape="0">
            <a:blip r:embed="rId2"/>
            <a:srcRect/>
            <a:stretch>
              <a:fillRect/>
            </a:stretch>
          </a:blipFill>
          <a:ln w="9525">
            <a:solidFill>
              <a:srgbClr val="0066FF"/>
            </a:solidFill>
            <a:rou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1400" tIns="45700" rIns="91400" bIns="45700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</a:rPr>
              <a:t>记住六个数符</a:t>
            </a:r>
            <a:endParaRPr kumimoji="1"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45064" name="标题 1"/>
          <p:cNvSpPr>
            <a:spLocks noGrp="1" noChangeArrowheads="1"/>
          </p:cNvSpPr>
          <p:nvPr>
            <p:ph type="title"/>
          </p:nvPr>
        </p:nvSpPr>
        <p:spPr>
          <a:xfrm>
            <a:off x="-181769" y="169051"/>
            <a:ext cx="6589713" cy="735013"/>
          </a:xfrm>
        </p:spPr>
        <p:txBody>
          <a:bodyPr/>
          <a:lstStyle/>
          <a:p>
            <a:r>
              <a:rPr lang="zh-CN" altLang="en-US" b="1" dirty="0"/>
              <a:t>二进制 转 十六进制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nimBg="1" autoUpdateAnimBg="0"/>
      <p:bldP spid="9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498475" y="1423988"/>
            <a:ext cx="8343900" cy="26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 marL="457200" indent="-4572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u"/>
            </a:pPr>
            <a:r>
              <a:rPr kumimoji="1" lang="zh-CN" altLang="en-US" sz="2400" b="1"/>
              <a:t>以小数点为界，</a:t>
            </a:r>
            <a:r>
              <a:rPr kumimoji="1" lang="zh-CN" altLang="en-US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整数部分从右至左，以</a:t>
            </a:r>
            <a:r>
              <a:rPr kumimoji="1" lang="en-US" altLang="zh-CN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1" lang="zh-CN" altLang="en-US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位一组，不足四位时，在左边高位添</a:t>
            </a:r>
            <a:r>
              <a:rPr kumimoji="1" lang="en-US" altLang="zh-CN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1" lang="zh-CN" altLang="en-US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补足四位</a:t>
            </a:r>
            <a:r>
              <a:rPr kumimoji="1" lang="zh-CN" altLang="en-US" sz="2400" b="1">
                <a:solidFill>
                  <a:srgbClr val="0000FF"/>
                </a:solidFill>
              </a:rPr>
              <a:t>；</a:t>
            </a:r>
            <a:endParaRPr kumimoji="1" lang="en-US" altLang="zh-CN" sz="2400" b="1">
              <a:solidFill>
                <a:srgbClr val="0000FF"/>
              </a:solidFill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kumimoji="1"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小数部分从左至右，以</a:t>
            </a:r>
            <a:r>
              <a:rPr kumimoji="1" lang="en-US" altLang="zh-CN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1"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位一组，不足四位时，在右边低位添</a:t>
            </a:r>
            <a:r>
              <a:rPr kumimoji="1" lang="en-US" altLang="zh-CN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1"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补足四位</a:t>
            </a:r>
            <a:r>
              <a:rPr kumimoji="1" lang="zh-CN" altLang="en-US" sz="2400" b="1">
                <a:solidFill>
                  <a:schemeClr val="tx2"/>
                </a:solidFill>
              </a:rPr>
              <a:t>；</a:t>
            </a:r>
            <a:endParaRPr kumimoji="1" lang="en-US" altLang="zh-CN" sz="2400" b="1">
              <a:solidFill>
                <a:schemeClr val="tx2"/>
              </a:solidFill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u"/>
            </a:pPr>
            <a:r>
              <a:rPr kumimoji="1" lang="zh-CN" altLang="en-US" sz="2400" b="1"/>
              <a:t>然后把每组的</a:t>
            </a:r>
            <a:r>
              <a:rPr kumimoji="1" lang="en-US" altLang="zh-CN" sz="2400" b="1"/>
              <a:t>4</a:t>
            </a:r>
            <a:r>
              <a:rPr kumimoji="1" lang="zh-CN" altLang="en-US" sz="2400" b="1"/>
              <a:t>位数用相应的十六进制表示，即得十六进制数。</a:t>
            </a:r>
            <a:endParaRPr kumimoji="1" lang="zh-CN" altLang="en-US" sz="2400" b="1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270125" y="5091113"/>
          <a:ext cx="4603750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9" name="公式" r:id="rId1" imgW="1612900" imgH="381000" progId="Equation.3">
                  <p:embed/>
                </p:oleObj>
              </mc:Choice>
              <mc:Fallback>
                <p:oleObj name="公式" r:id="rId1" imgW="1612900" imgH="38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5" y="5091113"/>
                        <a:ext cx="4603750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657975" y="4276725"/>
            <a:ext cx="26749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800" b="1">
                <a:solidFill>
                  <a:srgbClr val="0000FF"/>
                </a:solidFill>
              </a:rPr>
              <a:t>结果为</a:t>
            </a:r>
            <a:r>
              <a:rPr kumimoji="1" lang="en-US" altLang="zh-CN" sz="2800" b="1">
                <a:solidFill>
                  <a:srgbClr val="0000FF"/>
                </a:solidFill>
              </a:rPr>
              <a:t>1D.D8H</a:t>
            </a:r>
            <a:endParaRPr kumimoji="1" lang="en-US" altLang="zh-CN" sz="2800" b="1">
              <a:solidFill>
                <a:srgbClr val="0000FF"/>
              </a:solidFill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938213" y="5264150"/>
            <a:ext cx="933450" cy="687388"/>
          </a:xfrm>
          <a:prstGeom prst="wedgeRoundRectCallout">
            <a:avLst>
              <a:gd name="adj1" fmla="val 89574"/>
              <a:gd name="adj2" fmla="val -44380"/>
              <a:gd name="adj3" fmla="val 1666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</a:ln>
        </p:spPr>
        <p:txBody>
          <a:bodyPr lIns="91400" tIns="45700" rIns="91400" bIns="45700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solidFill>
                  <a:srgbClr val="FFFF00"/>
                </a:solidFill>
              </a:rPr>
              <a:t>补零</a:t>
            </a:r>
            <a:endParaRPr kumimoji="1" lang="zh-CN" altLang="en-US" sz="2400" b="1">
              <a:solidFill>
                <a:srgbClr val="FFFF00"/>
              </a:solidFill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7381875" y="5159375"/>
            <a:ext cx="1104900" cy="684213"/>
          </a:xfrm>
          <a:prstGeom prst="wedgeRoundRectCallout">
            <a:avLst>
              <a:gd name="adj1" fmla="val -118380"/>
              <a:gd name="adj2" fmla="val -13468"/>
              <a:gd name="adj3" fmla="val 1666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</a:ln>
        </p:spPr>
        <p:txBody>
          <a:bodyPr lIns="91400" tIns="45700" rIns="91400" bIns="45700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补零</a:t>
            </a:r>
            <a:endParaRPr kumimoji="1" lang="zh-CN" altLang="en-US" sz="2400" b="1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7" name="标题 1"/>
          <p:cNvSpPr>
            <a:spLocks noGrp="1" noChangeArrowheads="1"/>
          </p:cNvSpPr>
          <p:nvPr>
            <p:ph type="title"/>
          </p:nvPr>
        </p:nvSpPr>
        <p:spPr>
          <a:xfrm>
            <a:off x="1277937" y="246064"/>
            <a:ext cx="6588125" cy="735012"/>
          </a:xfrm>
        </p:spPr>
        <p:txBody>
          <a:bodyPr/>
          <a:lstStyle/>
          <a:p>
            <a:r>
              <a:rPr lang="zh-CN" altLang="en-US" b="1" dirty="0"/>
              <a:t>二进制 转 十六进制</a:t>
            </a:r>
            <a:r>
              <a:rPr lang="zh-CN" altLang="en-US" b="1" dirty="0" smtClean="0"/>
              <a:t>（</a:t>
            </a:r>
            <a:r>
              <a:rPr lang="en-US" altLang="zh-CN" b="1" dirty="0" smtClean="0"/>
              <a:t>4</a:t>
            </a:r>
            <a:r>
              <a:rPr lang="zh-CN" altLang="en-US" b="1" dirty="0" smtClean="0"/>
              <a:t>位</a:t>
            </a:r>
            <a:r>
              <a:rPr lang="zh-CN" altLang="en-US" b="1" dirty="0"/>
              <a:t>归并）</a:t>
            </a:r>
            <a:endParaRPr lang="zh-CN" altLang="en-US" b="1" dirty="0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893763" y="4284663"/>
            <a:ext cx="5980112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/>
              <a:t>例如：将 </a:t>
            </a:r>
            <a:r>
              <a:rPr kumimoji="1" lang="en-US" altLang="zh-CN" sz="2400" b="1"/>
              <a:t>11101.11011B</a:t>
            </a:r>
            <a:r>
              <a:rPr kumimoji="1" lang="zh-CN" altLang="en-US" sz="2400" b="1"/>
              <a:t>转换成十六进制数。</a:t>
            </a:r>
            <a:endParaRPr kumimoji="1"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nimBg="1" autoUpdateAnimBg="0"/>
      <p:bldP spid="8" grpId="0" animBg="1" autoUpdateAnimBg="0"/>
      <p:bldP spid="11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1844675" y="1457325"/>
            <a:ext cx="268605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600" b="1">
                <a:solidFill>
                  <a:srgbClr val="C00000"/>
                </a:solidFill>
              </a:rPr>
              <a:t>十六进制数</a:t>
            </a:r>
            <a:endParaRPr kumimoji="1" lang="zh-CN" altLang="en-US" sz="2600" b="1">
              <a:solidFill>
                <a:srgbClr val="C00000"/>
              </a:solidFill>
            </a:endParaRPr>
          </a:p>
        </p:txBody>
      </p:sp>
      <p:sp>
        <p:nvSpPr>
          <p:cNvPr id="47107" name="AutoShape 3"/>
          <p:cNvSpPr>
            <a:spLocks noChangeArrowheads="1"/>
          </p:cNvSpPr>
          <p:nvPr/>
        </p:nvSpPr>
        <p:spPr bwMode="auto">
          <a:xfrm>
            <a:off x="3700463" y="1522413"/>
            <a:ext cx="1393825" cy="396875"/>
          </a:xfrm>
          <a:prstGeom prst="notchedRightArrow">
            <a:avLst>
              <a:gd name="adj1" fmla="val 50000"/>
              <a:gd name="adj2" fmla="val 87800"/>
            </a:avLst>
          </a:prstGeom>
          <a:solidFill>
            <a:srgbClr val="CC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kumimoji="1" lang="zh-CN" altLang="zh-CN" sz="2400">
              <a:solidFill>
                <a:srgbClr val="0066FF"/>
              </a:solidFill>
            </a:endParaRP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5108575" y="1476375"/>
            <a:ext cx="25431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600" b="1">
                <a:solidFill>
                  <a:srgbClr val="C00000"/>
                </a:solidFill>
              </a:rPr>
              <a:t>二进制数</a:t>
            </a:r>
            <a:endParaRPr kumimoji="1" lang="zh-CN" altLang="en-US" sz="2600" b="1">
              <a:solidFill>
                <a:srgbClr val="C00000"/>
              </a:solidFill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93686" y="2280444"/>
            <a:ext cx="8474075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 marL="457200" indent="-4572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kumimoji="1" lang="zh-CN" altLang="en-US" sz="2400" b="1" dirty="0"/>
              <a:t>将每位十六进制数用</a:t>
            </a:r>
            <a:r>
              <a:rPr kumimoji="1" lang="en-US" altLang="zh-CN" sz="2400" b="1" dirty="0"/>
              <a:t>4</a:t>
            </a:r>
            <a:r>
              <a:rPr kumimoji="1" lang="zh-CN" altLang="en-US" sz="2400" b="1" dirty="0"/>
              <a:t>位二进制数表示即可，去掉转换后二进制数整数前和小数点后的</a:t>
            </a:r>
            <a:r>
              <a:rPr kumimoji="1" lang="en-US" altLang="zh-CN" sz="2400" b="1" dirty="0"/>
              <a:t>0</a:t>
            </a:r>
            <a:r>
              <a:rPr kumimoji="1" lang="zh-CN" altLang="en-US" sz="2400" b="1" dirty="0"/>
              <a:t>。</a:t>
            </a:r>
            <a:endParaRPr kumimoji="1" lang="zh-CN" altLang="en-US" sz="2400" b="1" dirty="0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874713" y="3719513"/>
            <a:ext cx="8675687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/>
              <a:t>例如：将 </a:t>
            </a:r>
            <a:r>
              <a:rPr kumimoji="1" lang="en-US" altLang="zh-CN" sz="2400" b="1"/>
              <a:t>(7B.A8)</a:t>
            </a:r>
            <a:r>
              <a:rPr kumimoji="1" lang="en-US" altLang="zh-CN" sz="2400" b="1" baseline="-25000"/>
              <a:t>16 </a:t>
            </a:r>
            <a:r>
              <a:rPr kumimoji="1" lang="zh-CN" altLang="en-US" sz="2400" b="1"/>
              <a:t>转换成二进制数。</a:t>
            </a:r>
            <a:endParaRPr kumimoji="1" lang="zh-CN" altLang="en-US" sz="2400" b="1"/>
          </a:p>
        </p:txBody>
      </p:sp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1989138" y="4800600"/>
          <a:ext cx="4876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4" name="Equation" r:id="rId1" imgW="3187700" imgH="838200" progId="Equation.3">
                  <p:embed/>
                </p:oleObj>
              </mc:Choice>
              <mc:Fallback>
                <p:oleObj name="Equation" r:id="rId1" imgW="3187700" imgH="838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4800600"/>
                        <a:ext cx="4876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889125" y="5843588"/>
            <a:ext cx="5768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800" b="1">
                <a:solidFill>
                  <a:srgbClr val="0000FF"/>
                </a:solidFill>
              </a:rPr>
              <a:t>结果为</a:t>
            </a:r>
            <a:r>
              <a:rPr kumimoji="1" lang="en-US" altLang="zh-CN" sz="2800" b="1">
                <a:solidFill>
                  <a:srgbClr val="0000FF"/>
                </a:solidFill>
              </a:rPr>
              <a:t>1111011.10101B</a:t>
            </a:r>
            <a:endParaRPr kumimoji="1" lang="en-US" altLang="zh-CN" sz="2800" b="1">
              <a:solidFill>
                <a:srgbClr val="0000FF"/>
              </a:solidFill>
            </a:endParaRP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7231063" y="4972050"/>
            <a:ext cx="1673225" cy="638175"/>
          </a:xfrm>
          <a:prstGeom prst="wedgeRoundRectCallout">
            <a:avLst>
              <a:gd name="adj1" fmla="val -95875"/>
              <a:gd name="adj2" fmla="val 23681"/>
              <a:gd name="adj3" fmla="val 16667"/>
            </a:avLst>
          </a:prstGeom>
          <a:solidFill>
            <a:srgbClr val="FF3300"/>
          </a:solidFill>
          <a:ln w="9525">
            <a:solidFill>
              <a:srgbClr val="0000FF"/>
            </a:solidFill>
            <a:miter lim="800000"/>
          </a:ln>
        </p:spPr>
        <p:txBody>
          <a:bodyPr lIns="91400" tIns="45700" rIns="91400" bIns="45700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solidFill>
                  <a:srgbClr val="FFFF00"/>
                </a:solidFill>
              </a:rPr>
              <a:t>将零去掉</a:t>
            </a:r>
            <a:endParaRPr kumimoji="1" lang="zh-CN" altLang="en-US" sz="2400" b="1">
              <a:solidFill>
                <a:srgbClr val="FFFF00"/>
              </a:solidFill>
            </a:endParaRPr>
          </a:p>
        </p:txBody>
      </p:sp>
      <p:sp>
        <p:nvSpPr>
          <p:cNvPr id="47114" name="标题 1"/>
          <p:cNvSpPr>
            <a:spLocks noGrp="1" noChangeArrowheads="1"/>
          </p:cNvSpPr>
          <p:nvPr>
            <p:ph type="title"/>
          </p:nvPr>
        </p:nvSpPr>
        <p:spPr>
          <a:xfrm>
            <a:off x="1236662" y="254795"/>
            <a:ext cx="6588125" cy="735012"/>
          </a:xfrm>
        </p:spPr>
        <p:txBody>
          <a:bodyPr/>
          <a:lstStyle/>
          <a:p>
            <a:r>
              <a:rPr lang="zh-CN" altLang="en-US" b="1" dirty="0"/>
              <a:t>十六进制 转 二进制（</a:t>
            </a:r>
            <a:r>
              <a:rPr lang="en-US" altLang="zh-CN" b="1" dirty="0"/>
              <a:t>1</a:t>
            </a:r>
            <a:r>
              <a:rPr lang="zh-CN" altLang="en-US" b="1" dirty="0" smtClean="0"/>
              <a:t>位分</a:t>
            </a:r>
            <a:r>
              <a:rPr lang="en-US" altLang="zh-CN" b="1" dirty="0" smtClean="0"/>
              <a:t>4</a:t>
            </a:r>
            <a:r>
              <a:rPr lang="zh-CN" altLang="en-US" b="1" dirty="0" smtClean="0"/>
              <a:t>位</a:t>
            </a:r>
            <a:r>
              <a:rPr lang="zh-CN" altLang="en-US" b="1" dirty="0"/>
              <a:t>）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10" grpId="0" autoUpdateAnimBg="0"/>
      <p:bldP spid="11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0"/>
          <p:cNvSpPr/>
          <p:nvPr/>
        </p:nvSpPr>
        <p:spPr bwMode="auto">
          <a:xfrm>
            <a:off x="490369" y="2218035"/>
            <a:ext cx="7090064" cy="1801858"/>
          </a:xfrm>
          <a:prstGeom prst="rect">
            <a:avLst/>
          </a:prstGeom>
          <a:solidFill>
            <a:schemeClr val="bg1"/>
          </a:solidFill>
          <a:ln w="9525">
            <a:solidFill>
              <a:srgbClr val="3399FF"/>
            </a:solidFill>
            <a:miter lim="800000"/>
          </a:ln>
        </p:spPr>
        <p:txBody>
          <a:bodyPr/>
          <a:lstStyle>
            <a:lvl1pPr marL="342900" indent="-342900" eaLnBrk="0" hangingPunct="0"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t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t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t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t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marL="0" indent="0" eaLnBrk="1" hangingPunct="1">
              <a:spcAft>
                <a:spcPct val="50000"/>
              </a:spcAft>
            </a:pP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例如：将（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10101101.10111</a:t>
            </a: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kumimoji="0" lang="en-US" altLang="zh-CN" sz="2400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 </a:t>
            </a: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转换成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8</a:t>
            </a: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进制数。</a:t>
            </a:r>
            <a:endParaRPr kumimoji="0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fontAlgn="base" hangingPunct="1">
              <a:lnSpc>
                <a:spcPct val="90000"/>
              </a:lnSpc>
            </a:pP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（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10101101.10111</a:t>
            </a: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kumimoji="0" lang="en-US" altLang="zh-CN" sz="2400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 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= </a:t>
            </a: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kumimoji="0" lang="en-US" altLang="zh-CN" sz="2400" u="sng" dirty="0">
                <a:latin typeface="华文楷体" panose="02010600040101010101" pitchFamily="2" charset="-122"/>
                <a:ea typeface="华文楷体" panose="02010600040101010101" pitchFamily="2" charset="-122"/>
              </a:rPr>
              <a:t>010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0" lang="en-US" altLang="zh-CN" sz="2400" u="sng" dirty="0">
                <a:latin typeface="华文楷体" panose="02010600040101010101" pitchFamily="2" charset="-122"/>
                <a:ea typeface="华文楷体" panose="02010600040101010101" pitchFamily="2" charset="-122"/>
              </a:rPr>
              <a:t>101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0" lang="en-US" altLang="zh-CN" sz="2400" u="sng" dirty="0">
                <a:latin typeface="华文楷体" panose="02010600040101010101" pitchFamily="2" charset="-122"/>
                <a:ea typeface="华文楷体" panose="02010600040101010101" pitchFamily="2" charset="-122"/>
              </a:rPr>
              <a:t>101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.</a:t>
            </a:r>
            <a:r>
              <a:rPr kumimoji="0" lang="en-US" altLang="zh-CN" sz="2400" u="sng" dirty="0">
                <a:latin typeface="华文楷体" panose="02010600040101010101" pitchFamily="2" charset="-122"/>
                <a:ea typeface="华文楷体" panose="02010600040101010101" pitchFamily="2" charset="-122"/>
              </a:rPr>
              <a:t>101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0" lang="en-US" altLang="zh-CN" sz="2400" u="sng" dirty="0">
                <a:latin typeface="华文楷体" panose="02010600040101010101" pitchFamily="2" charset="-122"/>
                <a:ea typeface="华文楷体" panose="02010600040101010101" pitchFamily="2" charset="-122"/>
              </a:rPr>
              <a:t>110</a:t>
            </a: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kumimoji="0" lang="en-US" altLang="zh-CN" sz="2400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b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endParaRPr kumimoji="0"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 eaLnBrk="1" fontAlgn="base" hangingPunct="1">
              <a:lnSpc>
                <a:spcPct val="90000"/>
              </a:lnSpc>
            </a:pP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                       =</a:t>
            </a: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  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2     5     5.     5     6</a:t>
            </a: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kumimoji="0" lang="en-US" altLang="zh-CN" sz="2400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8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            </a:t>
            </a:r>
            <a:endParaRPr kumimoji="0"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7" name="Group 4"/>
          <p:cNvGrpSpPr/>
          <p:nvPr/>
        </p:nvGrpSpPr>
        <p:grpSpPr bwMode="auto">
          <a:xfrm>
            <a:off x="4528339" y="3118963"/>
            <a:ext cx="2104689" cy="408007"/>
            <a:chOff x="2950" y="3033"/>
            <a:chExt cx="1280" cy="192"/>
          </a:xfrm>
        </p:grpSpPr>
        <p:sp>
          <p:nvSpPr>
            <p:cNvPr id="18" name="Line 5"/>
            <p:cNvSpPr>
              <a:spLocks noChangeShapeType="1"/>
            </p:cNvSpPr>
            <p:nvPr/>
          </p:nvSpPr>
          <p:spPr bwMode="auto">
            <a:xfrm>
              <a:off x="2950" y="3033"/>
              <a:ext cx="0" cy="192"/>
            </a:xfrm>
            <a:prstGeom prst="line">
              <a:avLst/>
            </a:prstGeom>
            <a:noFill/>
            <a:ln w="12700" cap="sq">
              <a:solidFill>
                <a:schemeClr val="accent2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Line 6"/>
            <p:cNvSpPr>
              <a:spLocks noChangeShapeType="1"/>
            </p:cNvSpPr>
            <p:nvPr/>
          </p:nvSpPr>
          <p:spPr bwMode="auto">
            <a:xfrm>
              <a:off x="3286" y="3033"/>
              <a:ext cx="0" cy="192"/>
            </a:xfrm>
            <a:prstGeom prst="line">
              <a:avLst/>
            </a:prstGeom>
            <a:noFill/>
            <a:ln w="12700" cap="sq">
              <a:solidFill>
                <a:schemeClr val="accent2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Line 7"/>
            <p:cNvSpPr>
              <a:spLocks noChangeShapeType="1"/>
            </p:cNvSpPr>
            <p:nvPr/>
          </p:nvSpPr>
          <p:spPr bwMode="auto">
            <a:xfrm>
              <a:off x="3593" y="3033"/>
              <a:ext cx="0" cy="192"/>
            </a:xfrm>
            <a:prstGeom prst="line">
              <a:avLst/>
            </a:prstGeom>
            <a:noFill/>
            <a:ln w="12700" cap="sq">
              <a:solidFill>
                <a:schemeClr val="accent2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Line 8"/>
            <p:cNvSpPr>
              <a:spLocks noChangeShapeType="1"/>
            </p:cNvSpPr>
            <p:nvPr/>
          </p:nvSpPr>
          <p:spPr bwMode="auto">
            <a:xfrm>
              <a:off x="3928" y="3033"/>
              <a:ext cx="0" cy="192"/>
            </a:xfrm>
            <a:prstGeom prst="line">
              <a:avLst/>
            </a:prstGeom>
            <a:noFill/>
            <a:ln w="12700" cap="sq">
              <a:solidFill>
                <a:schemeClr val="accent2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Line 9"/>
            <p:cNvSpPr>
              <a:spLocks noChangeShapeType="1"/>
            </p:cNvSpPr>
            <p:nvPr/>
          </p:nvSpPr>
          <p:spPr bwMode="auto">
            <a:xfrm>
              <a:off x="4230" y="3033"/>
              <a:ext cx="0" cy="192"/>
            </a:xfrm>
            <a:prstGeom prst="line">
              <a:avLst/>
            </a:prstGeom>
            <a:noFill/>
            <a:ln w="12700" cap="sq">
              <a:solidFill>
                <a:schemeClr val="accent2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4" name="Rectangle 10"/>
          <p:cNvSpPr/>
          <p:nvPr/>
        </p:nvSpPr>
        <p:spPr bwMode="auto">
          <a:xfrm>
            <a:off x="490369" y="4582883"/>
            <a:ext cx="7090064" cy="1643745"/>
          </a:xfrm>
          <a:prstGeom prst="rect">
            <a:avLst/>
          </a:prstGeom>
          <a:solidFill>
            <a:schemeClr val="bg1"/>
          </a:solidFill>
          <a:ln w="9525">
            <a:solidFill>
              <a:srgbClr val="3399FF"/>
            </a:solidFill>
            <a:miter lim="800000"/>
          </a:ln>
        </p:spPr>
        <p:txBody>
          <a:bodyPr/>
          <a:lstStyle>
            <a:lvl1pPr marL="342900" indent="-342900" eaLnBrk="0" hangingPunct="0"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t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t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t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t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marL="0" indent="0" eaLnBrk="1" hangingPunct="1"/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例如：将（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255.56</a:t>
            </a: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kumimoji="0" lang="en-US" altLang="zh-CN" sz="2400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8 </a:t>
            </a: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转换成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进制数。</a:t>
            </a:r>
            <a:endParaRPr kumimoji="0"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fontAlgn="base" hangingPunct="1"/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（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255.56</a:t>
            </a: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kumimoji="0" lang="en-US" altLang="zh-CN" sz="2400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8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（  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2     5     5.     5     6</a:t>
            </a: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kumimoji="0" lang="en-US" altLang="zh-CN" sz="2400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8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b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endParaRPr kumimoji="0"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fontAlgn="base" hangingPunct="1"/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                =</a:t>
            </a: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（</a:t>
            </a:r>
            <a:r>
              <a:rPr kumimoji="0" lang="en-US" altLang="zh-CN" sz="2400" u="sng" dirty="0">
                <a:latin typeface="华文楷体" panose="02010600040101010101" pitchFamily="2" charset="-122"/>
                <a:ea typeface="华文楷体" panose="02010600040101010101" pitchFamily="2" charset="-122"/>
              </a:rPr>
              <a:t>010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0" lang="en-US" altLang="zh-CN" sz="2400" u="sng" dirty="0">
                <a:latin typeface="华文楷体" panose="02010600040101010101" pitchFamily="2" charset="-122"/>
                <a:ea typeface="华文楷体" panose="02010600040101010101" pitchFamily="2" charset="-122"/>
              </a:rPr>
              <a:t>101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0" lang="en-US" altLang="zh-CN" sz="2400" u="sng" dirty="0">
                <a:latin typeface="华文楷体" panose="02010600040101010101" pitchFamily="2" charset="-122"/>
                <a:ea typeface="华文楷体" panose="02010600040101010101" pitchFamily="2" charset="-122"/>
              </a:rPr>
              <a:t>101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.</a:t>
            </a:r>
            <a:r>
              <a:rPr kumimoji="0" lang="en-US" altLang="zh-CN" sz="2400" u="sng" dirty="0">
                <a:latin typeface="华文楷体" panose="02010600040101010101" pitchFamily="2" charset="-122"/>
                <a:ea typeface="华文楷体" panose="02010600040101010101" pitchFamily="2" charset="-122"/>
              </a:rPr>
              <a:t>101</a:t>
            </a:r>
            <a:r>
              <a:rPr kumimoji="0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0" lang="en-US" altLang="zh-CN" sz="2400" u="sng" dirty="0">
                <a:latin typeface="华文楷体" panose="02010600040101010101" pitchFamily="2" charset="-122"/>
                <a:ea typeface="华文楷体" panose="02010600040101010101" pitchFamily="2" charset="-122"/>
              </a:rPr>
              <a:t>110</a:t>
            </a:r>
            <a:r>
              <a:rPr kumimoji="0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kumimoji="0" lang="en-US" altLang="zh-CN" sz="2400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endParaRPr kumimoji="0"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25" name="Group 4"/>
          <p:cNvGrpSpPr/>
          <p:nvPr/>
        </p:nvGrpSpPr>
        <p:grpSpPr bwMode="auto">
          <a:xfrm>
            <a:off x="4092641" y="5404754"/>
            <a:ext cx="2133988" cy="350159"/>
            <a:chOff x="2680" y="3048"/>
            <a:chExt cx="1258" cy="192"/>
          </a:xfrm>
        </p:grpSpPr>
        <p:sp>
          <p:nvSpPr>
            <p:cNvPr id="26" name="Line 5"/>
            <p:cNvSpPr>
              <a:spLocks noChangeShapeType="1"/>
            </p:cNvSpPr>
            <p:nvPr/>
          </p:nvSpPr>
          <p:spPr bwMode="auto">
            <a:xfrm>
              <a:off x="2680" y="3048"/>
              <a:ext cx="0" cy="192"/>
            </a:xfrm>
            <a:prstGeom prst="line">
              <a:avLst/>
            </a:prstGeom>
            <a:noFill/>
            <a:ln w="12700" cap="sq">
              <a:solidFill>
                <a:schemeClr val="accent2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Line 6"/>
            <p:cNvSpPr>
              <a:spLocks noChangeShapeType="1"/>
            </p:cNvSpPr>
            <p:nvPr/>
          </p:nvSpPr>
          <p:spPr bwMode="auto">
            <a:xfrm>
              <a:off x="2995" y="3048"/>
              <a:ext cx="0" cy="192"/>
            </a:xfrm>
            <a:prstGeom prst="line">
              <a:avLst/>
            </a:prstGeom>
            <a:noFill/>
            <a:ln w="12700" cap="sq">
              <a:solidFill>
                <a:schemeClr val="accent2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>
              <a:off x="3313" y="3048"/>
              <a:ext cx="0" cy="192"/>
            </a:xfrm>
            <a:prstGeom prst="line">
              <a:avLst/>
            </a:prstGeom>
            <a:noFill/>
            <a:ln w="12700" cap="sq">
              <a:solidFill>
                <a:schemeClr val="accent2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" name="Line 8"/>
            <p:cNvSpPr>
              <a:spLocks noChangeShapeType="1"/>
            </p:cNvSpPr>
            <p:nvPr/>
          </p:nvSpPr>
          <p:spPr bwMode="auto">
            <a:xfrm>
              <a:off x="3663" y="3048"/>
              <a:ext cx="0" cy="192"/>
            </a:xfrm>
            <a:prstGeom prst="line">
              <a:avLst/>
            </a:prstGeom>
            <a:noFill/>
            <a:ln w="12700" cap="sq">
              <a:solidFill>
                <a:schemeClr val="accent2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Line 9"/>
            <p:cNvSpPr>
              <a:spLocks noChangeShapeType="1"/>
            </p:cNvSpPr>
            <p:nvPr/>
          </p:nvSpPr>
          <p:spPr bwMode="auto">
            <a:xfrm>
              <a:off x="3938" y="3048"/>
              <a:ext cx="0" cy="192"/>
            </a:xfrm>
            <a:prstGeom prst="line">
              <a:avLst/>
            </a:prstGeom>
            <a:noFill/>
            <a:ln w="12700" cap="sq">
              <a:solidFill>
                <a:schemeClr val="accent2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1" name="AutoShape 4"/>
          <p:cNvSpPr>
            <a:spLocks noChangeArrowheads="1"/>
          </p:cNvSpPr>
          <p:nvPr/>
        </p:nvSpPr>
        <p:spPr bwMode="gray">
          <a:xfrm>
            <a:off x="339458" y="1244629"/>
            <a:ext cx="3465937" cy="58645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1">
                  <a:gamma/>
                  <a:shade val="45490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5490"/>
                  <a:invGamma/>
                </a:schemeClr>
              </a:gs>
            </a:gsLst>
            <a:lin ang="0" scaled="1"/>
          </a:gradFill>
          <a:ln w="38100" algn="ctr">
            <a:solidFill>
              <a:srgbClr val="FFFFFF"/>
            </a:solidFill>
            <a:round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zh-CN" altLang="en-US" sz="2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仿宋_GB2312" pitchFamily="49" charset="-122"/>
              </a:rPr>
              <a:t>二进制和八进制的转换</a:t>
            </a:r>
            <a:endParaRPr lang="en-US" altLang="zh-CN" sz="21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09600" indent="-609600">
              <a:buFontTx/>
              <a:buNone/>
            </a:pPr>
            <a:r>
              <a:rPr lang="en-US" altLang="zh-CN" sz="2800" b="1" dirty="0">
                <a:cs typeface="+mn-ea"/>
                <a:sym typeface="+mn-lt"/>
              </a:rPr>
              <a:t>1. </a:t>
            </a:r>
            <a:r>
              <a:rPr lang="zh-CN" altLang="en-US" sz="2800" b="1" dirty="0">
                <a:cs typeface="+mn-ea"/>
                <a:sym typeface="+mn-lt"/>
              </a:rPr>
              <a:t>二、八、十六进制相互转换</a:t>
            </a:r>
            <a:endParaRPr lang="zh-CN" altLang="en-US" sz="2800" b="1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(11100101.1)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(11100101.011)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16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(1111001101.1101)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(1111001101.11001)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16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(57.4)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 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(164.23)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  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(5D.53)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16	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   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(ABC.9)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16	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      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endParaRPr lang="zh-CN" altLang="en-US" sz="2800" b="1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9829" y="180295"/>
            <a:ext cx="4288971" cy="748619"/>
          </a:xfrm>
        </p:spPr>
        <p:txBody>
          <a:bodyPr/>
          <a:lstStyle/>
          <a:p>
            <a:r>
              <a:rPr lang="zh-CN" altLang="en-US" b="1" dirty="0" smtClean="0"/>
              <a:t>练习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09600" indent="-609600">
              <a:buFontTx/>
              <a:buNone/>
            </a:pPr>
            <a:r>
              <a:rPr lang="en-US" altLang="zh-CN" sz="2800" b="1" dirty="0">
                <a:cs typeface="+mn-ea"/>
                <a:sym typeface="+mn-lt"/>
              </a:rPr>
              <a:t>1.</a:t>
            </a:r>
            <a:r>
              <a:rPr lang="zh-CN" altLang="en-US" sz="2800" b="1" dirty="0">
                <a:cs typeface="+mn-ea"/>
                <a:sym typeface="+mn-lt"/>
              </a:rPr>
              <a:t>二、八、十六进制相互转换</a:t>
            </a:r>
            <a:endParaRPr lang="zh-CN" altLang="en-US" sz="2800" b="1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(11100101.1)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345.4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(11100101.011)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E5.6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16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(1111001101.1101)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1715.64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(1111001101.11001)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3CD.C8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16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(57.4)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101111.1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(164.23)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8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	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1110100.010011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(5D.53)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16	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1011101.01010011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endParaRPr lang="en-US" altLang="zh-CN" sz="2800" b="1" baseline="-25000" dirty="0">
              <a:solidFill>
                <a:srgbClr val="0000FF"/>
              </a:solidFill>
              <a:cs typeface="+mn-ea"/>
              <a:sym typeface="+mn-lt"/>
            </a:endParaRPr>
          </a:p>
          <a:p>
            <a:pPr marL="609600" indent="-609600"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(ABC.9)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16	</a:t>
            </a:r>
            <a:r>
              <a:rPr lang="en-US" altLang="zh-CN" sz="2800" b="1" dirty="0">
                <a:solidFill>
                  <a:srgbClr val="0000FF"/>
                </a:solidFill>
                <a:cs typeface="+mn-ea"/>
                <a:sym typeface="+mn-lt"/>
              </a:rPr>
              <a:t>= 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cs typeface="+mn-ea"/>
                <a:sym typeface="+mn-lt"/>
              </a:rPr>
              <a:t>101010111100.1001</a:t>
            </a:r>
            <a:r>
              <a:rPr lang="zh-CN" altLang="en-US" sz="2800" b="1" dirty="0">
                <a:solidFill>
                  <a:srgbClr val="0000FF"/>
                </a:solidFill>
                <a:cs typeface="+mn-ea"/>
                <a:sym typeface="+mn-lt"/>
              </a:rPr>
              <a:t>）</a:t>
            </a:r>
            <a:r>
              <a:rPr lang="en-US" altLang="zh-CN" sz="2800" b="1" baseline="-25000" dirty="0">
                <a:solidFill>
                  <a:srgbClr val="0000FF"/>
                </a:solidFill>
                <a:cs typeface="+mn-ea"/>
                <a:sym typeface="+mn-lt"/>
              </a:rPr>
              <a:t>2</a:t>
            </a:r>
            <a:endParaRPr lang="zh-CN" altLang="en-US" sz="2800" b="1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9829" y="180295"/>
            <a:ext cx="4288971" cy="748619"/>
          </a:xfrm>
        </p:spPr>
        <p:txBody>
          <a:bodyPr/>
          <a:lstStyle/>
          <a:p>
            <a:r>
              <a:rPr lang="zh-CN" altLang="en-US" b="1" dirty="0" smtClean="0"/>
              <a:t>练习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 noChangeArrowheads="1"/>
          </p:cNvSpPr>
          <p:nvPr>
            <p:ph type="title"/>
          </p:nvPr>
        </p:nvSpPr>
        <p:spPr>
          <a:xfrm>
            <a:off x="-428976" y="243312"/>
            <a:ext cx="6588125" cy="736600"/>
          </a:xfrm>
        </p:spPr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</a:rPr>
              <a:t>进制之间的转换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7347" name="内容占位符 2"/>
          <p:cNvSpPr>
            <a:spLocks noGrp="1" noChangeArrowheads="1"/>
          </p:cNvSpPr>
          <p:nvPr>
            <p:ph idx="1"/>
          </p:nvPr>
        </p:nvSpPr>
        <p:spPr>
          <a:xfrm>
            <a:off x="757918" y="1722438"/>
            <a:ext cx="7248525" cy="3776662"/>
          </a:xfrm>
        </p:spPr>
        <p:txBody>
          <a:bodyPr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8/16</a:t>
            </a:r>
            <a:r>
              <a:rPr lang="zh-CN" altLang="en-US" sz="2400" b="1" dirty="0"/>
              <a:t>进制         ↔     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进制  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逐位转换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分组转换</a:t>
            </a:r>
            <a:r>
              <a:rPr lang="en-US" altLang="zh-CN" sz="2400" b="1" dirty="0"/>
              <a:t>) </a:t>
            </a:r>
            <a:endParaRPr lang="en-US" altLang="zh-CN" sz="2400" b="1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）整数 </a:t>
            </a:r>
            <a:r>
              <a:rPr lang="en-US" altLang="zh-CN" sz="2400" b="1" dirty="0"/>
              <a:t>2/8/16</a:t>
            </a:r>
            <a:r>
              <a:rPr lang="zh-CN" altLang="en-US" sz="2400" b="1" dirty="0"/>
              <a:t>进制</a:t>
            </a:r>
            <a:r>
              <a:rPr lang="en-US" altLang="zh-CN" sz="2400" b="1" dirty="0"/>
              <a:t>     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-&gt; 10</a:t>
            </a:r>
            <a:r>
              <a:rPr lang="zh-CN" altLang="en-US" sz="2400" b="1" dirty="0"/>
              <a:t>进制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按权相加</a:t>
            </a:r>
            <a:r>
              <a:rPr lang="en-US" altLang="zh-CN" sz="2400" b="1" dirty="0"/>
              <a:t>) </a:t>
            </a:r>
            <a:endParaRPr lang="zh-CN" altLang="en-US" sz="2400" b="1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）小数 </a:t>
            </a:r>
            <a:r>
              <a:rPr lang="en-US" altLang="zh-CN" sz="2400" b="1" dirty="0"/>
              <a:t>2/8/16</a:t>
            </a:r>
            <a:r>
              <a:rPr lang="zh-CN" altLang="en-US" sz="2400" b="1" dirty="0"/>
              <a:t>进制      </a:t>
            </a:r>
            <a:r>
              <a:rPr lang="en-US" altLang="zh-CN" sz="2400" b="1" dirty="0"/>
              <a:t>-&gt;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10</a:t>
            </a:r>
            <a:r>
              <a:rPr lang="zh-CN" altLang="en-US" sz="2400" b="1" dirty="0"/>
              <a:t>进制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按权相加</a:t>
            </a:r>
            <a:r>
              <a:rPr lang="en-US" altLang="zh-CN" sz="2400" b="1" dirty="0"/>
              <a:t>) </a:t>
            </a:r>
            <a:endParaRPr lang="en-US" altLang="zh-CN" sz="2400" b="1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）整数 </a:t>
            </a:r>
            <a:r>
              <a:rPr lang="en-US" altLang="zh-CN" sz="2400" b="1" dirty="0"/>
              <a:t>10 </a:t>
            </a:r>
            <a:r>
              <a:rPr lang="zh-CN" altLang="en-US" sz="2400" b="1" dirty="0"/>
              <a:t>进制           </a:t>
            </a:r>
            <a:r>
              <a:rPr lang="en-US" altLang="zh-CN" sz="2400" b="1" dirty="0"/>
              <a:t>-&gt;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2/8/16</a:t>
            </a:r>
            <a:r>
              <a:rPr lang="zh-CN" altLang="en-US" sz="2400" b="1" dirty="0"/>
              <a:t>进制</a:t>
            </a:r>
            <a:r>
              <a:rPr lang="en-US" altLang="zh-CN" sz="2400" b="1" dirty="0"/>
              <a:t> (</a:t>
            </a:r>
            <a:r>
              <a:rPr lang="zh-CN" altLang="en-US" sz="2400" b="1" dirty="0"/>
              <a:t>除基取余法</a:t>
            </a:r>
            <a:r>
              <a:rPr lang="en-US" altLang="zh-CN" sz="2400" b="1" dirty="0"/>
              <a:t>) </a:t>
            </a:r>
            <a:endParaRPr lang="zh-CN" altLang="en-US" sz="2400" b="1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）小数 </a:t>
            </a:r>
            <a:r>
              <a:rPr lang="en-US" altLang="zh-CN" sz="2400" b="1" dirty="0"/>
              <a:t>10 </a:t>
            </a:r>
            <a:r>
              <a:rPr lang="zh-CN" altLang="en-US" sz="2400" b="1" dirty="0"/>
              <a:t>进制           </a:t>
            </a:r>
            <a:r>
              <a:rPr lang="en-US" altLang="zh-CN" sz="2400" b="1" dirty="0"/>
              <a:t>-&gt;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2/8/16</a:t>
            </a:r>
            <a:r>
              <a:rPr lang="zh-CN" altLang="en-US" sz="2400" b="1" dirty="0"/>
              <a:t>进制</a:t>
            </a:r>
            <a:r>
              <a:rPr lang="en-US" altLang="zh-CN" sz="2400" b="1" dirty="0"/>
              <a:t> (</a:t>
            </a:r>
            <a:r>
              <a:rPr lang="zh-CN" altLang="en-US" sz="2400" b="1" dirty="0"/>
              <a:t>乘基取整法</a:t>
            </a:r>
            <a:r>
              <a:rPr lang="en-US" altLang="zh-CN" sz="2400" b="1" dirty="0"/>
              <a:t>) </a:t>
            </a:r>
            <a:endParaRPr lang="zh-CN" altLang="en-US" sz="2400" b="1" dirty="0"/>
          </a:p>
        </p:txBody>
      </p:sp>
      <p:sp>
        <p:nvSpPr>
          <p:cNvPr id="65540" name="文本框 1"/>
          <p:cNvSpPr txBox="1">
            <a:spLocks noChangeArrowheads="1"/>
          </p:cNvSpPr>
          <p:nvPr/>
        </p:nvSpPr>
        <p:spPr bwMode="auto">
          <a:xfrm>
            <a:off x="946831" y="5268118"/>
            <a:ext cx="7059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latin typeface="+mn-lt"/>
              </a:rPr>
              <a:t>分组转换时，整数部分高位补</a:t>
            </a:r>
            <a:r>
              <a:rPr lang="en-US" altLang="zh-CN" sz="2400" b="1" dirty="0">
                <a:solidFill>
                  <a:srgbClr val="000099"/>
                </a:solidFill>
                <a:latin typeface="+mn-lt"/>
              </a:rPr>
              <a:t>0</a:t>
            </a:r>
            <a:r>
              <a:rPr lang="zh-CN" altLang="en-US" sz="2400" b="1" dirty="0">
                <a:solidFill>
                  <a:srgbClr val="000099"/>
                </a:solidFill>
                <a:latin typeface="+mn-lt"/>
              </a:rPr>
              <a:t>，小数部分低位补</a:t>
            </a:r>
            <a:r>
              <a:rPr lang="en-US" altLang="zh-CN" sz="2400" b="1" dirty="0">
                <a:solidFill>
                  <a:srgbClr val="000099"/>
                </a:solidFill>
                <a:latin typeface="+mn-lt"/>
              </a:rPr>
              <a:t>0</a:t>
            </a:r>
            <a:endParaRPr lang="zh-CN" altLang="en-US" sz="2400" b="1" dirty="0">
              <a:solidFill>
                <a:srgbClr val="000099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72958" y="1887210"/>
            <a:ext cx="5878513" cy="3778250"/>
          </a:xfrm>
        </p:spPr>
        <p:txBody>
          <a:bodyPr/>
          <a:lstStyle/>
          <a:p>
            <a:pPr marL="0" indent="0">
              <a:spcAft>
                <a:spcPts val="600"/>
              </a:spcAft>
              <a:defRPr/>
            </a:pPr>
            <a:r>
              <a:rPr lang="zh-CN" altLang="en-US" sz="2400" b="1" dirty="0">
                <a:latin typeface="+mn-ea"/>
              </a:rPr>
              <a:t>定点数的编码</a:t>
            </a:r>
            <a:endParaRPr lang="en-US" altLang="zh-CN" sz="2400" b="1" dirty="0">
              <a:latin typeface="+mn-ea"/>
            </a:endParaRPr>
          </a:p>
          <a:p>
            <a:pPr marL="0" indent="0">
              <a:spcAft>
                <a:spcPts val="600"/>
              </a:spcAft>
              <a:defRPr/>
            </a:pPr>
            <a:r>
              <a:rPr lang="zh-CN" altLang="en-US" sz="2400" b="1" dirty="0">
                <a:latin typeface="+mn-ea"/>
              </a:rPr>
              <a:t>浮点数的编码</a:t>
            </a:r>
            <a:endParaRPr lang="en-US" altLang="zh-CN" sz="2400" b="1" dirty="0">
              <a:latin typeface="+mn-ea"/>
            </a:endParaRPr>
          </a:p>
          <a:p>
            <a:pPr marL="0" indent="0">
              <a:spcAft>
                <a:spcPts val="600"/>
              </a:spcAft>
              <a:defRPr/>
            </a:pPr>
            <a:r>
              <a:rPr lang="zh-CN" altLang="en-US" sz="2400" b="1" dirty="0">
                <a:latin typeface="+mn-ea"/>
              </a:rPr>
              <a:t>字符的编码</a:t>
            </a:r>
            <a:endParaRPr lang="en-US" altLang="zh-CN" sz="2400" b="1" dirty="0">
              <a:latin typeface="+mn-ea"/>
            </a:endParaRPr>
          </a:p>
          <a:p>
            <a:pPr marL="0" indent="0">
              <a:spcAft>
                <a:spcPts val="600"/>
              </a:spcAft>
              <a:defRPr/>
            </a:pPr>
            <a:r>
              <a:rPr lang="zh-CN" altLang="en-US" sz="2400" b="1" dirty="0">
                <a:latin typeface="+mn-ea"/>
              </a:rPr>
              <a:t>汉字的编码</a:t>
            </a:r>
            <a:endParaRPr lang="en-US" altLang="zh-CN" sz="2400" b="1" dirty="0">
              <a:latin typeface="+mn-ea"/>
            </a:endParaRPr>
          </a:p>
          <a:p>
            <a:pPr marL="0" indent="0">
              <a:spcAft>
                <a:spcPts val="600"/>
              </a:spcAft>
              <a:defRPr/>
            </a:pPr>
            <a:r>
              <a:rPr lang="zh-CN" altLang="en-US" sz="2400" b="1" dirty="0">
                <a:latin typeface="+mn-ea"/>
              </a:rPr>
              <a:t>声音的编码</a:t>
            </a:r>
            <a:endParaRPr lang="en-US" altLang="zh-CN" sz="2400" b="1" dirty="0">
              <a:latin typeface="+mn-ea"/>
            </a:endParaRPr>
          </a:p>
          <a:p>
            <a:pPr marL="0" indent="0">
              <a:spcAft>
                <a:spcPts val="600"/>
              </a:spcAft>
              <a:defRPr/>
            </a:pPr>
            <a:r>
              <a:rPr lang="zh-CN" altLang="en-US" sz="2400" b="1" dirty="0">
                <a:latin typeface="+mn-ea"/>
              </a:rPr>
              <a:t>图形和图像的编码</a:t>
            </a:r>
            <a:endParaRPr lang="en-US" altLang="zh-CN" sz="2400" b="1" dirty="0">
              <a:latin typeface="+mn-ea"/>
            </a:endParaRPr>
          </a:p>
          <a:p>
            <a:pPr marL="0" indent="0">
              <a:spcAft>
                <a:spcPts val="600"/>
              </a:spcAft>
              <a:defRPr/>
            </a:pPr>
            <a:r>
              <a:rPr lang="zh-CN" altLang="en-US" sz="2400" b="1" dirty="0">
                <a:latin typeface="+mn-ea"/>
              </a:rPr>
              <a:t>指令的编码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288118" y="55562"/>
            <a:ext cx="7497762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b="1" dirty="0">
                <a:latin typeface="+mj-ea"/>
                <a:ea typeface="+mj-ea"/>
              </a:rPr>
              <a:t>信息的编码 </a:t>
            </a:r>
            <a:endParaRPr lang="zh-CN" altLang="en-US" sz="3600" b="1" dirty="0">
              <a:latin typeface="+mj-ea"/>
              <a:ea typeface="+mj-ea"/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4173283" y="1934835"/>
            <a:ext cx="214313" cy="925513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9397" name="文本框 5"/>
          <p:cNvSpPr txBox="1">
            <a:spLocks noChangeArrowheads="1"/>
          </p:cNvSpPr>
          <p:nvPr/>
        </p:nvSpPr>
        <p:spPr bwMode="auto">
          <a:xfrm>
            <a:off x="4536821" y="2080885"/>
            <a:ext cx="1206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Century Gothic" panose="020B0502020202020204" pitchFamily="34" charset="0"/>
              </a:rPr>
              <a:t>数值型</a:t>
            </a:r>
            <a:endParaRPr lang="zh-CN" altLang="en-US" sz="2400" b="1">
              <a:latin typeface="Century Gothic" panose="020B0502020202020204" pitchFamily="34" charset="0"/>
            </a:endParaRPr>
          </a:p>
        </p:txBody>
      </p:sp>
      <p:sp>
        <p:nvSpPr>
          <p:cNvPr id="8" name="右大括号 7"/>
          <p:cNvSpPr/>
          <p:nvPr/>
        </p:nvSpPr>
        <p:spPr>
          <a:xfrm>
            <a:off x="5981446" y="1887210"/>
            <a:ext cx="273050" cy="3338513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9399" name="文本框 8"/>
          <p:cNvSpPr txBox="1">
            <a:spLocks noChangeArrowheads="1"/>
          </p:cNvSpPr>
          <p:nvPr/>
        </p:nvSpPr>
        <p:spPr bwMode="auto">
          <a:xfrm>
            <a:off x="6571996" y="3141335"/>
            <a:ext cx="11509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Century Gothic" panose="020B0502020202020204" pitchFamily="34" charset="0"/>
              </a:rPr>
              <a:t>数据的编码</a:t>
            </a:r>
            <a:endParaRPr lang="zh-CN" altLang="en-US" sz="2400" b="1">
              <a:latin typeface="Century Gothic" panose="020B0502020202020204" pitchFamily="34" charset="0"/>
            </a:endParaRPr>
          </a:p>
        </p:txBody>
      </p:sp>
      <p:sp>
        <p:nvSpPr>
          <p:cNvPr id="2" name="右大括号 1"/>
          <p:cNvSpPr/>
          <p:nvPr/>
        </p:nvSpPr>
        <p:spPr>
          <a:xfrm>
            <a:off x="4481258" y="4224010"/>
            <a:ext cx="204788" cy="83502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9401" name="文本框 9"/>
          <p:cNvSpPr txBox="1">
            <a:spLocks noChangeArrowheads="1"/>
          </p:cNvSpPr>
          <p:nvPr/>
        </p:nvSpPr>
        <p:spPr bwMode="auto">
          <a:xfrm>
            <a:off x="4665408" y="4393873"/>
            <a:ext cx="1473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Century Gothic" panose="020B0502020202020204" pitchFamily="34" charset="0"/>
              </a:rPr>
              <a:t>多媒体型</a:t>
            </a:r>
            <a:endParaRPr lang="zh-CN" altLang="en-US" sz="2400" b="1"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内容占位符 2"/>
          <p:cNvSpPr>
            <a:spLocks noGrp="1" noChangeArrowheads="1"/>
          </p:cNvSpPr>
          <p:nvPr>
            <p:ph idx="1"/>
          </p:nvPr>
        </p:nvSpPr>
        <p:spPr>
          <a:xfrm>
            <a:off x="341993" y="1513682"/>
            <a:ext cx="8435975" cy="4794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800" b="1" dirty="0" smtClean="0">
                <a:solidFill>
                  <a:srgbClr val="C00000"/>
                </a:solidFill>
              </a:rPr>
              <a:t> 真值 </a:t>
            </a:r>
            <a:r>
              <a:rPr lang="en-US" altLang="zh-CN" sz="2800" b="1" dirty="0" smtClean="0">
                <a:solidFill>
                  <a:srgbClr val="C00000"/>
                </a:solidFill>
              </a:rPr>
              <a:t>VS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 机器数 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247775" y="80963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b="1" dirty="0" smtClean="0">
                <a:latin typeface="+mj-ea"/>
              </a:rPr>
              <a:t>数值</a:t>
            </a:r>
            <a:r>
              <a:rPr lang="zh-CN" altLang="en-US" sz="3600" b="1" dirty="0" smtClean="0">
                <a:latin typeface="+mj-ea"/>
                <a:ea typeface="+mj-ea"/>
              </a:rPr>
              <a:t>的</a:t>
            </a:r>
            <a:r>
              <a:rPr lang="zh-CN" altLang="en-US" sz="3600" b="1" dirty="0">
                <a:latin typeface="+mj-ea"/>
                <a:ea typeface="+mj-ea"/>
              </a:rPr>
              <a:t>编码 </a:t>
            </a:r>
            <a:endParaRPr lang="zh-CN" altLang="en-US" sz="3600" b="1" dirty="0">
              <a:latin typeface="+mj-ea"/>
              <a:ea typeface="+mj-ea"/>
            </a:endParaRPr>
          </a:p>
        </p:txBody>
      </p:sp>
      <p:sp>
        <p:nvSpPr>
          <p:cNvPr id="63494" name="矩形 5"/>
          <p:cNvSpPr>
            <a:spLocks noChangeArrowheads="1"/>
          </p:cNvSpPr>
          <p:nvPr/>
        </p:nvSpPr>
        <p:spPr bwMode="auto">
          <a:xfrm>
            <a:off x="4036106" y="2921000"/>
            <a:ext cx="20510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X=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+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1000101 </a:t>
            </a:r>
            <a:endParaRPr lang="zh-CN" altLang="en-US" dirty="0">
              <a:latin typeface="Century Gothic" panose="020B0502020202020204" pitchFamily="34" charset="0"/>
            </a:endParaRPr>
          </a:p>
        </p:txBody>
      </p:sp>
      <p:sp>
        <p:nvSpPr>
          <p:cNvPr id="63495" name="文本框 6"/>
          <p:cNvSpPr txBox="1">
            <a:spLocks noChangeArrowheads="1"/>
          </p:cNvSpPr>
          <p:nvPr/>
        </p:nvSpPr>
        <p:spPr bwMode="auto">
          <a:xfrm>
            <a:off x="2304143" y="2917825"/>
            <a:ext cx="965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99"/>
                </a:solidFill>
                <a:latin typeface="Century Gothic" panose="020B0502020202020204" pitchFamily="34" charset="0"/>
              </a:rPr>
              <a:t>真值</a:t>
            </a:r>
            <a:endParaRPr lang="zh-CN" altLang="en-US" sz="2400" b="1">
              <a:solidFill>
                <a:srgbClr val="000099"/>
              </a:solidFill>
              <a:latin typeface="Century Gothic" panose="020B0502020202020204" pitchFamily="34" charset="0"/>
            </a:endParaRPr>
          </a:p>
        </p:txBody>
      </p:sp>
      <p:sp>
        <p:nvSpPr>
          <p:cNvPr id="31752" name="文本框 10"/>
          <p:cNvSpPr txBox="1">
            <a:spLocks noChangeArrowheads="1"/>
          </p:cNvSpPr>
          <p:nvPr/>
        </p:nvSpPr>
        <p:spPr bwMode="auto">
          <a:xfrm>
            <a:off x="3767818" y="3702050"/>
            <a:ext cx="973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Century Gothic" panose="020B0502020202020204" pitchFamily="34" charset="0"/>
              </a:rPr>
              <a:t>符号</a:t>
            </a:r>
            <a:endParaRPr lang="zh-CN" altLang="en-US" sz="2400" b="1">
              <a:latin typeface="Century Gothic" panose="020B0502020202020204" pitchFamily="34" charset="0"/>
            </a:endParaRPr>
          </a:p>
        </p:txBody>
      </p:sp>
      <p:sp>
        <p:nvSpPr>
          <p:cNvPr id="8" name="线形标注 1 7"/>
          <p:cNvSpPr/>
          <p:nvPr/>
        </p:nvSpPr>
        <p:spPr>
          <a:xfrm>
            <a:off x="4679043" y="2952750"/>
            <a:ext cx="1182688" cy="460375"/>
          </a:xfrm>
          <a:prstGeom prst="borderCallout1">
            <a:avLst>
              <a:gd name="adj1" fmla="val 104123"/>
              <a:gd name="adj2" fmla="val 69000"/>
              <a:gd name="adj3" fmla="val 163724"/>
              <a:gd name="adj4" fmla="val 97667"/>
            </a:avLst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线形标注 1 8"/>
          <p:cNvSpPr/>
          <p:nvPr/>
        </p:nvSpPr>
        <p:spPr>
          <a:xfrm>
            <a:off x="4426631" y="2952750"/>
            <a:ext cx="236537" cy="460375"/>
          </a:xfrm>
          <a:prstGeom prst="borderCallout1">
            <a:avLst>
              <a:gd name="adj1" fmla="val 104123"/>
              <a:gd name="adj2" fmla="val 51666"/>
              <a:gd name="adj3" fmla="val 150064"/>
              <a:gd name="adj4" fmla="val -64999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177143" y="3470275"/>
            <a:ext cx="1193800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+mn-ea"/>
              </a:rPr>
              <a:t>符号数码化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1756" name="文本框 14"/>
          <p:cNvSpPr txBox="1">
            <a:spLocks noChangeArrowheads="1"/>
          </p:cNvSpPr>
          <p:nvPr/>
        </p:nvSpPr>
        <p:spPr bwMode="auto">
          <a:xfrm>
            <a:off x="2145393" y="4651375"/>
            <a:ext cx="1304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99"/>
                </a:solidFill>
                <a:latin typeface="Century Gothic" panose="020B0502020202020204" pitchFamily="34" charset="0"/>
              </a:rPr>
              <a:t>机器数</a:t>
            </a:r>
            <a:endParaRPr lang="zh-CN" altLang="en-US" sz="2400" b="1">
              <a:solidFill>
                <a:srgbClr val="000099"/>
              </a:solidFill>
              <a:latin typeface="Century Gothic" panose="020B0502020202020204" pitchFamily="34" charset="0"/>
            </a:endParaRPr>
          </a:p>
        </p:txBody>
      </p:sp>
      <p:sp>
        <p:nvSpPr>
          <p:cNvPr id="31757" name="文本框 15"/>
          <p:cNvSpPr txBox="1">
            <a:spLocks noChangeArrowheads="1"/>
          </p:cNvSpPr>
          <p:nvPr/>
        </p:nvSpPr>
        <p:spPr bwMode="auto">
          <a:xfrm>
            <a:off x="5509306" y="3730625"/>
            <a:ext cx="965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Century Gothic" panose="020B0502020202020204" pitchFamily="34" charset="0"/>
              </a:rPr>
              <a:t>数值</a:t>
            </a:r>
            <a:endParaRPr lang="zh-CN" altLang="en-US" sz="2400" b="1">
              <a:latin typeface="Century Gothic" panose="020B0502020202020204" pitchFamily="34" charset="0"/>
            </a:endParaRPr>
          </a:p>
        </p:txBody>
      </p:sp>
      <p:sp>
        <p:nvSpPr>
          <p:cNvPr id="14" name="下箭头 13"/>
          <p:cNvSpPr/>
          <p:nvPr/>
        </p:nvSpPr>
        <p:spPr>
          <a:xfrm>
            <a:off x="1792968" y="3411538"/>
            <a:ext cx="1817688" cy="1223962"/>
          </a:xfrm>
          <a:prstGeom prst="downArrow">
            <a:avLst>
              <a:gd name="adj1" fmla="val 61657"/>
              <a:gd name="adj2" fmla="val 35832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1759" name="矩形 18"/>
          <p:cNvSpPr>
            <a:spLocks noChangeArrowheads="1"/>
          </p:cNvSpPr>
          <p:nvPr/>
        </p:nvSpPr>
        <p:spPr bwMode="auto">
          <a:xfrm>
            <a:off x="4348843" y="4597400"/>
            <a:ext cx="1584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0 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1000101</a:t>
            </a:r>
            <a:endParaRPr lang="zh-CN" altLang="en-US">
              <a:latin typeface="Century Gothic" panose="020B0502020202020204" pitchFamily="34" charset="0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4559981" y="3622675"/>
            <a:ext cx="0" cy="9969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13431" y="2262188"/>
            <a:ext cx="828516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buClr>
                <a:srgbClr val="A53010"/>
              </a:buClr>
            </a:pPr>
            <a:r>
              <a:rPr lang="zh-CN" altLang="en-US" sz="2200" b="1">
                <a:solidFill>
                  <a:srgbClr val="000000"/>
                </a:solidFill>
                <a:latin typeface="宋体" panose="02010600030101010101" pitchFamily="2" charset="-122"/>
              </a:rPr>
              <a:t>最高位为符号位，</a:t>
            </a:r>
            <a:r>
              <a:rPr lang="zh-CN" altLang="en-US" sz="2200" b="1">
                <a:solidFill>
                  <a:srgbClr val="000000"/>
                </a:solidFill>
              </a:rPr>
              <a:t>“</a:t>
            </a:r>
            <a:r>
              <a:rPr lang="en-US" altLang="zh-CN" sz="2200" b="1">
                <a:solidFill>
                  <a:srgbClr val="000000"/>
                </a:solidFill>
              </a:rPr>
              <a:t>0”</a:t>
            </a:r>
            <a:r>
              <a:rPr lang="zh-CN" altLang="en-US" sz="2200" b="1">
                <a:solidFill>
                  <a:srgbClr val="000000"/>
                </a:solidFill>
              </a:rPr>
              <a:t>表示正号“</a:t>
            </a:r>
            <a:r>
              <a:rPr lang="en-US" altLang="zh-CN" sz="2200" b="1">
                <a:solidFill>
                  <a:srgbClr val="000000"/>
                </a:solidFill>
              </a:rPr>
              <a:t>+”</a:t>
            </a:r>
            <a:r>
              <a:rPr lang="zh-CN" altLang="en-US" sz="2200" b="1">
                <a:solidFill>
                  <a:srgbClr val="000000"/>
                </a:solidFill>
              </a:rPr>
              <a:t>，“</a:t>
            </a:r>
            <a:r>
              <a:rPr lang="en-US" altLang="zh-CN" sz="2200" b="1">
                <a:solidFill>
                  <a:srgbClr val="000000"/>
                </a:solidFill>
              </a:rPr>
              <a:t>1”</a:t>
            </a:r>
            <a:r>
              <a:rPr lang="zh-CN" altLang="en-US" sz="2200" b="1">
                <a:solidFill>
                  <a:srgbClr val="000000"/>
                </a:solidFill>
              </a:rPr>
              <a:t>表示负号“</a:t>
            </a:r>
            <a:r>
              <a:rPr lang="en-US" altLang="zh-CN" sz="2200" b="1">
                <a:solidFill>
                  <a:srgbClr val="000000"/>
                </a:solidFill>
              </a:rPr>
              <a:t>-”</a:t>
            </a:r>
            <a:r>
              <a:rPr lang="zh-CN" altLang="en-US" sz="2200" b="1">
                <a:solidFill>
                  <a:srgbClr val="000000"/>
                </a:solidFill>
              </a:rPr>
              <a:t>。</a:t>
            </a:r>
            <a:endParaRPr lang="zh-CN" altLang="en-US" sz="2200">
              <a:solidFill>
                <a:srgbClr val="000000"/>
              </a:solidFill>
            </a:endParaRPr>
          </a:p>
        </p:txBody>
      </p:sp>
      <p:sp>
        <p:nvSpPr>
          <p:cNvPr id="16" name="矩形 5"/>
          <p:cNvSpPr>
            <a:spLocks noChangeArrowheads="1"/>
          </p:cNvSpPr>
          <p:nvPr/>
        </p:nvSpPr>
        <p:spPr bwMode="auto">
          <a:xfrm>
            <a:off x="650762" y="5787572"/>
            <a:ext cx="20510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X</a:t>
            </a:r>
            <a:r>
              <a:rPr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=</a:t>
            </a:r>
            <a:r>
              <a:rPr lang="en-US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-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1000101 </a:t>
            </a:r>
            <a:endParaRPr lang="zh-CN" altLang="en-US" dirty="0">
              <a:latin typeface="Century Gothic" panose="020B0502020202020204" pitchFamily="34" charset="0"/>
            </a:endParaRPr>
          </a:p>
        </p:txBody>
      </p:sp>
      <p:sp>
        <p:nvSpPr>
          <p:cNvPr id="17" name="矩形 5"/>
          <p:cNvSpPr>
            <a:spLocks noChangeArrowheads="1"/>
          </p:cNvSpPr>
          <p:nvPr/>
        </p:nvSpPr>
        <p:spPr bwMode="auto">
          <a:xfrm>
            <a:off x="3637643" y="5787572"/>
            <a:ext cx="17395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 1000101 </a:t>
            </a:r>
            <a:endParaRPr lang="zh-CN" altLang="en-US" dirty="0">
              <a:latin typeface="Century Gothic" panose="020B0502020202020204" pitchFamily="34" charset="0"/>
            </a:endParaRPr>
          </a:p>
        </p:txBody>
      </p:sp>
      <p:cxnSp>
        <p:nvCxnSpPr>
          <p:cNvPr id="18" name="直接箭头连接符 17"/>
          <p:cNvCxnSpPr>
            <a:stCxn id="16" idx="3"/>
            <a:endCxn id="17" idx="1"/>
          </p:cNvCxnSpPr>
          <p:nvPr/>
        </p:nvCxnSpPr>
        <p:spPr>
          <a:xfrm>
            <a:off x="2701812" y="6017760"/>
            <a:ext cx="935831" cy="6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2" grpId="0"/>
      <p:bldP spid="8" grpId="0" animBg="1"/>
      <p:bldP spid="9" grpId="0" animBg="1"/>
      <p:bldP spid="10" grpId="0"/>
      <p:bldP spid="31756" grpId="0"/>
      <p:bldP spid="31757" grpId="0"/>
      <p:bldP spid="14" grpId="0" animBg="1"/>
      <p:bldP spid="31759" grpId="0"/>
      <p:bldP spid="6" grpId="0"/>
      <p:bldP spid="16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342" y="1436914"/>
            <a:ext cx="3744686" cy="653143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p"/>
            </a:pPr>
            <a:r>
              <a:rPr lang="zh-CN" altLang="en-US" sz="2800" b="1" spc="-10" dirty="0">
                <a:solidFill>
                  <a:srgbClr val="C00000"/>
                </a:solidFill>
              </a:rPr>
              <a:t>带小数点的</a:t>
            </a:r>
            <a:r>
              <a:rPr lang="zh-CN" altLang="en-US" sz="2800" b="1" spc="-10" dirty="0" smtClean="0">
                <a:solidFill>
                  <a:srgbClr val="C00000"/>
                </a:solidFill>
              </a:rPr>
              <a:t>数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4" name="object 14"/>
          <p:cNvSpPr txBox="1">
            <a:spLocks noGrp="1"/>
          </p:cNvSpPr>
          <p:nvPr>
            <p:ph idx="1"/>
          </p:nvPr>
        </p:nvSpPr>
        <p:spPr>
          <a:xfrm>
            <a:off x="457200" y="2267859"/>
            <a:ext cx="8229600" cy="32783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30000"/>
              </a:lnSpc>
              <a:spcBef>
                <a:spcPts val="600"/>
              </a:spcBef>
            </a:pPr>
            <a:r>
              <a:rPr lang="zh-CN" altLang="en-US" b="1" dirty="0" smtClean="0"/>
              <a:t>小数点</a:t>
            </a:r>
            <a:r>
              <a:rPr lang="zh-CN" altLang="en-US" b="1" dirty="0"/>
              <a:t>位置固定的数称为</a:t>
            </a:r>
            <a:r>
              <a:rPr lang="zh-CN" altLang="en-US" b="1" dirty="0" smtClean="0"/>
              <a:t>定点数</a:t>
            </a:r>
            <a:endParaRPr lang="zh-CN" altLang="en-US" b="1" dirty="0"/>
          </a:p>
          <a:p>
            <a:pPr marL="855345" lvl="2" indent="-457200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 smtClean="0"/>
              <a:t>定点整数</a:t>
            </a:r>
            <a:r>
              <a:rPr lang="en-US" altLang="zh-CN" sz="2400" b="1" dirty="0" smtClean="0"/>
              <a:t>(</a:t>
            </a:r>
            <a:r>
              <a:rPr lang="zh-CN" altLang="en-US" sz="2400" b="1" dirty="0" smtClean="0"/>
              <a:t>小数点固定在最低数据位的右边，纯整数</a:t>
            </a:r>
            <a:r>
              <a:rPr lang="en-US" altLang="zh-CN" sz="2400" b="1" dirty="0" smtClean="0"/>
              <a:t>)</a:t>
            </a:r>
            <a:endParaRPr lang="zh-CN" altLang="en-US" sz="2400" b="1" dirty="0"/>
          </a:p>
          <a:p>
            <a:pPr marL="855345" lvl="2" indent="-457200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 smtClean="0"/>
              <a:t>定点小数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小数点固定在</a:t>
            </a:r>
            <a:r>
              <a:rPr lang="zh-CN" altLang="en-US" sz="2400" b="1" dirty="0" smtClean="0"/>
              <a:t>最高数据位的左边，</a:t>
            </a:r>
            <a:r>
              <a:rPr lang="en-US" altLang="zh-CN" sz="2400" b="1" dirty="0" smtClean="0"/>
              <a:t>&lt;1</a:t>
            </a:r>
            <a:r>
              <a:rPr lang="zh-CN" altLang="en-US" sz="2400" b="1" dirty="0" smtClean="0"/>
              <a:t>纯小数</a:t>
            </a:r>
            <a:r>
              <a:rPr lang="en-US" altLang="zh-CN" sz="2400" b="1" dirty="0"/>
              <a:t>)</a:t>
            </a:r>
            <a:endParaRPr lang="en-US" altLang="zh-CN" sz="2400" b="1" dirty="0" smtClean="0"/>
          </a:p>
          <a:p>
            <a:pPr marL="12700">
              <a:lnSpc>
                <a:spcPct val="130000"/>
              </a:lnSpc>
              <a:spcBef>
                <a:spcPts val="600"/>
              </a:spcBef>
            </a:pPr>
            <a:r>
              <a:rPr lang="zh-CN" altLang="en-US" b="1" dirty="0" smtClean="0"/>
              <a:t>小数点</a:t>
            </a:r>
            <a:r>
              <a:rPr lang="zh-CN" altLang="en-US" b="1" dirty="0"/>
              <a:t>位置不固定的数成为浮点数</a:t>
            </a:r>
            <a:endParaRPr lang="zh-CN" altLang="en-US" b="1" dirty="0"/>
          </a:p>
          <a:p>
            <a:pPr marL="927100" lvl="2" indent="-571500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 smtClean="0"/>
              <a:t>分为</a:t>
            </a:r>
            <a:r>
              <a:rPr lang="zh-CN" altLang="en-US" sz="2400" b="1" dirty="0"/>
              <a:t>整数部分和小数部分</a:t>
            </a:r>
            <a:endParaRPr lang="zh-CN" altLang="en-US" sz="2400" b="1" dirty="0"/>
          </a:p>
          <a:p>
            <a:pPr marL="927100" lvl="2" indent="-571500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 smtClean="0"/>
              <a:t>在</a:t>
            </a:r>
            <a:r>
              <a:rPr lang="zh-CN" altLang="en-US" sz="2400" b="1" dirty="0"/>
              <a:t>计算机中用阶码部分和尾数部分</a:t>
            </a:r>
            <a:endParaRPr sz="2400" b="1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47775" y="80963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b="1" dirty="0" smtClean="0">
                <a:latin typeface="+mj-ea"/>
              </a:rPr>
              <a:t>数值</a:t>
            </a:r>
            <a:r>
              <a:rPr lang="zh-CN" altLang="en-US" sz="3600" b="1" dirty="0" smtClean="0">
                <a:latin typeface="+mj-ea"/>
                <a:ea typeface="+mj-ea"/>
              </a:rPr>
              <a:t>的</a:t>
            </a:r>
            <a:r>
              <a:rPr lang="zh-CN" altLang="en-US" sz="3600" b="1" dirty="0">
                <a:latin typeface="+mj-ea"/>
                <a:ea typeface="+mj-ea"/>
              </a:rPr>
              <a:t>编码 </a:t>
            </a:r>
            <a:endParaRPr lang="zh-CN" altLang="en-US" sz="36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4" name="object 2"/>
          <p:cNvGrpSpPr/>
          <p:nvPr/>
        </p:nvGrpSpPr>
        <p:grpSpPr>
          <a:xfrm>
            <a:off x="3124898" y="4493831"/>
            <a:ext cx="3863975" cy="754380"/>
            <a:chOff x="3124898" y="4493831"/>
            <a:chExt cx="3863975" cy="754380"/>
          </a:xfrm>
        </p:grpSpPr>
        <p:sp>
          <p:nvSpPr>
            <p:cNvPr id="5" name="object 3"/>
            <p:cNvSpPr/>
            <p:nvPr/>
          </p:nvSpPr>
          <p:spPr>
            <a:xfrm>
              <a:off x="3126485" y="4666805"/>
              <a:ext cx="514350" cy="579755"/>
            </a:xfrm>
            <a:custGeom>
              <a:avLst/>
              <a:gdLst/>
              <a:ahLst/>
              <a:cxnLst/>
              <a:rect l="l" t="t" r="r" b="b"/>
              <a:pathLst>
                <a:path w="514350" h="579754">
                  <a:moveTo>
                    <a:pt x="514350" y="0"/>
                  </a:moveTo>
                  <a:lnTo>
                    <a:pt x="0" y="0"/>
                  </a:lnTo>
                  <a:lnTo>
                    <a:pt x="0" y="579437"/>
                  </a:lnTo>
                  <a:lnTo>
                    <a:pt x="514350" y="579437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4"/>
            <p:cNvSpPr/>
            <p:nvPr/>
          </p:nvSpPr>
          <p:spPr>
            <a:xfrm>
              <a:off x="3640835" y="4495419"/>
              <a:ext cx="171450" cy="751205"/>
            </a:xfrm>
            <a:custGeom>
              <a:avLst/>
              <a:gdLst/>
              <a:ahLst/>
              <a:cxnLst/>
              <a:rect l="l" t="t" r="r" b="b"/>
              <a:pathLst>
                <a:path w="171450" h="751204">
                  <a:moveTo>
                    <a:pt x="171450" y="0"/>
                  </a:moveTo>
                  <a:lnTo>
                    <a:pt x="0" y="171449"/>
                  </a:lnTo>
                  <a:lnTo>
                    <a:pt x="0" y="750823"/>
                  </a:lnTo>
                  <a:lnTo>
                    <a:pt x="171450" y="579373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52A3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5"/>
            <p:cNvSpPr/>
            <p:nvPr/>
          </p:nvSpPr>
          <p:spPr>
            <a:xfrm>
              <a:off x="3126485" y="4495419"/>
              <a:ext cx="685800" cy="171450"/>
            </a:xfrm>
            <a:custGeom>
              <a:avLst/>
              <a:gdLst/>
              <a:ahLst/>
              <a:cxnLst/>
              <a:rect l="l" t="t" r="r" b="b"/>
              <a:pathLst>
                <a:path w="685800" h="171450">
                  <a:moveTo>
                    <a:pt x="685800" y="0"/>
                  </a:moveTo>
                  <a:lnTo>
                    <a:pt x="171450" y="0"/>
                  </a:lnTo>
                  <a:lnTo>
                    <a:pt x="0" y="171449"/>
                  </a:lnTo>
                  <a:lnTo>
                    <a:pt x="514350" y="17144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84D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6"/>
            <p:cNvSpPr/>
            <p:nvPr/>
          </p:nvSpPr>
          <p:spPr>
            <a:xfrm>
              <a:off x="3126485" y="4495419"/>
              <a:ext cx="685800" cy="751205"/>
            </a:xfrm>
            <a:custGeom>
              <a:avLst/>
              <a:gdLst/>
              <a:ahLst/>
              <a:cxnLst/>
              <a:rect l="l" t="t" r="r" b="b"/>
              <a:pathLst>
                <a:path w="685800" h="751204">
                  <a:moveTo>
                    <a:pt x="0" y="171449"/>
                  </a:moveTo>
                  <a:lnTo>
                    <a:pt x="171450" y="0"/>
                  </a:lnTo>
                  <a:lnTo>
                    <a:pt x="685800" y="0"/>
                  </a:lnTo>
                  <a:lnTo>
                    <a:pt x="685800" y="579373"/>
                  </a:lnTo>
                  <a:lnTo>
                    <a:pt x="514350" y="750823"/>
                  </a:lnTo>
                  <a:lnTo>
                    <a:pt x="0" y="750823"/>
                  </a:lnTo>
                  <a:lnTo>
                    <a:pt x="0" y="171449"/>
                  </a:lnTo>
                  <a:close/>
                </a:path>
                <a:path w="685800" h="751204">
                  <a:moveTo>
                    <a:pt x="0" y="171449"/>
                  </a:moveTo>
                  <a:lnTo>
                    <a:pt x="514350" y="171449"/>
                  </a:lnTo>
                  <a:lnTo>
                    <a:pt x="685800" y="0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7"/>
            <p:cNvSpPr/>
            <p:nvPr/>
          </p:nvSpPr>
          <p:spPr>
            <a:xfrm>
              <a:off x="3558285" y="4666805"/>
              <a:ext cx="514350" cy="579755"/>
            </a:xfrm>
            <a:custGeom>
              <a:avLst/>
              <a:gdLst/>
              <a:ahLst/>
              <a:cxnLst/>
              <a:rect l="l" t="t" r="r" b="b"/>
              <a:pathLst>
                <a:path w="514350" h="579754">
                  <a:moveTo>
                    <a:pt x="514350" y="0"/>
                  </a:moveTo>
                  <a:lnTo>
                    <a:pt x="0" y="0"/>
                  </a:lnTo>
                  <a:lnTo>
                    <a:pt x="0" y="579437"/>
                  </a:lnTo>
                  <a:lnTo>
                    <a:pt x="514350" y="579437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8"/>
            <p:cNvSpPr/>
            <p:nvPr/>
          </p:nvSpPr>
          <p:spPr>
            <a:xfrm>
              <a:off x="4072635" y="4495419"/>
              <a:ext cx="171450" cy="751205"/>
            </a:xfrm>
            <a:custGeom>
              <a:avLst/>
              <a:gdLst/>
              <a:ahLst/>
              <a:cxnLst/>
              <a:rect l="l" t="t" r="r" b="b"/>
              <a:pathLst>
                <a:path w="171450" h="751204">
                  <a:moveTo>
                    <a:pt x="171450" y="0"/>
                  </a:moveTo>
                  <a:lnTo>
                    <a:pt x="0" y="171449"/>
                  </a:lnTo>
                  <a:lnTo>
                    <a:pt x="0" y="750823"/>
                  </a:lnTo>
                  <a:lnTo>
                    <a:pt x="171450" y="579373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A35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9"/>
            <p:cNvSpPr/>
            <p:nvPr/>
          </p:nvSpPr>
          <p:spPr>
            <a:xfrm>
              <a:off x="3558285" y="4495419"/>
              <a:ext cx="685800" cy="171450"/>
            </a:xfrm>
            <a:custGeom>
              <a:avLst/>
              <a:gdLst/>
              <a:ahLst/>
              <a:cxnLst/>
              <a:rect l="l" t="t" r="r" b="b"/>
              <a:pathLst>
                <a:path w="685800" h="171450">
                  <a:moveTo>
                    <a:pt x="685800" y="0"/>
                  </a:moveTo>
                  <a:lnTo>
                    <a:pt x="171450" y="0"/>
                  </a:lnTo>
                  <a:lnTo>
                    <a:pt x="0" y="171449"/>
                  </a:lnTo>
                  <a:lnTo>
                    <a:pt x="514350" y="17144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84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0"/>
            <p:cNvSpPr/>
            <p:nvPr/>
          </p:nvSpPr>
          <p:spPr>
            <a:xfrm>
              <a:off x="3558285" y="4495419"/>
              <a:ext cx="685800" cy="751205"/>
            </a:xfrm>
            <a:custGeom>
              <a:avLst/>
              <a:gdLst/>
              <a:ahLst/>
              <a:cxnLst/>
              <a:rect l="l" t="t" r="r" b="b"/>
              <a:pathLst>
                <a:path w="685800" h="751204">
                  <a:moveTo>
                    <a:pt x="0" y="171449"/>
                  </a:moveTo>
                  <a:lnTo>
                    <a:pt x="171450" y="0"/>
                  </a:lnTo>
                  <a:lnTo>
                    <a:pt x="685800" y="0"/>
                  </a:lnTo>
                  <a:lnTo>
                    <a:pt x="685800" y="579373"/>
                  </a:lnTo>
                  <a:lnTo>
                    <a:pt x="514350" y="750823"/>
                  </a:lnTo>
                  <a:lnTo>
                    <a:pt x="0" y="750823"/>
                  </a:lnTo>
                  <a:lnTo>
                    <a:pt x="0" y="171449"/>
                  </a:lnTo>
                  <a:close/>
                </a:path>
                <a:path w="685800" h="751204">
                  <a:moveTo>
                    <a:pt x="0" y="171449"/>
                  </a:moveTo>
                  <a:lnTo>
                    <a:pt x="514350" y="171449"/>
                  </a:lnTo>
                  <a:lnTo>
                    <a:pt x="685800" y="0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1"/>
            <p:cNvSpPr/>
            <p:nvPr/>
          </p:nvSpPr>
          <p:spPr>
            <a:xfrm>
              <a:off x="4017009" y="4666805"/>
              <a:ext cx="514350" cy="579755"/>
            </a:xfrm>
            <a:custGeom>
              <a:avLst/>
              <a:gdLst/>
              <a:ahLst/>
              <a:cxnLst/>
              <a:rect l="l" t="t" r="r" b="b"/>
              <a:pathLst>
                <a:path w="514350" h="579754">
                  <a:moveTo>
                    <a:pt x="514350" y="0"/>
                  </a:moveTo>
                  <a:lnTo>
                    <a:pt x="0" y="0"/>
                  </a:lnTo>
                  <a:lnTo>
                    <a:pt x="0" y="579437"/>
                  </a:lnTo>
                  <a:lnTo>
                    <a:pt x="514350" y="579437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2"/>
            <p:cNvSpPr/>
            <p:nvPr/>
          </p:nvSpPr>
          <p:spPr>
            <a:xfrm>
              <a:off x="4531359" y="4495419"/>
              <a:ext cx="171450" cy="751205"/>
            </a:xfrm>
            <a:custGeom>
              <a:avLst/>
              <a:gdLst/>
              <a:ahLst/>
              <a:cxnLst/>
              <a:rect l="l" t="t" r="r" b="b"/>
              <a:pathLst>
                <a:path w="171450" h="751204">
                  <a:moveTo>
                    <a:pt x="171450" y="0"/>
                  </a:moveTo>
                  <a:lnTo>
                    <a:pt x="0" y="171449"/>
                  </a:lnTo>
                  <a:lnTo>
                    <a:pt x="0" y="750823"/>
                  </a:lnTo>
                  <a:lnTo>
                    <a:pt x="171450" y="579373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A35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3"/>
            <p:cNvSpPr/>
            <p:nvPr/>
          </p:nvSpPr>
          <p:spPr>
            <a:xfrm>
              <a:off x="4017009" y="4495419"/>
              <a:ext cx="685800" cy="171450"/>
            </a:xfrm>
            <a:custGeom>
              <a:avLst/>
              <a:gdLst/>
              <a:ahLst/>
              <a:cxnLst/>
              <a:rect l="l" t="t" r="r" b="b"/>
              <a:pathLst>
                <a:path w="685800" h="171450">
                  <a:moveTo>
                    <a:pt x="685800" y="0"/>
                  </a:moveTo>
                  <a:lnTo>
                    <a:pt x="171450" y="0"/>
                  </a:lnTo>
                  <a:lnTo>
                    <a:pt x="0" y="171449"/>
                  </a:lnTo>
                  <a:lnTo>
                    <a:pt x="514350" y="17144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84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4"/>
            <p:cNvSpPr/>
            <p:nvPr/>
          </p:nvSpPr>
          <p:spPr>
            <a:xfrm>
              <a:off x="4017009" y="4495419"/>
              <a:ext cx="685800" cy="751205"/>
            </a:xfrm>
            <a:custGeom>
              <a:avLst/>
              <a:gdLst/>
              <a:ahLst/>
              <a:cxnLst/>
              <a:rect l="l" t="t" r="r" b="b"/>
              <a:pathLst>
                <a:path w="685800" h="751204">
                  <a:moveTo>
                    <a:pt x="0" y="171449"/>
                  </a:moveTo>
                  <a:lnTo>
                    <a:pt x="171450" y="0"/>
                  </a:lnTo>
                  <a:lnTo>
                    <a:pt x="685800" y="0"/>
                  </a:lnTo>
                  <a:lnTo>
                    <a:pt x="685800" y="579373"/>
                  </a:lnTo>
                  <a:lnTo>
                    <a:pt x="514350" y="750823"/>
                  </a:lnTo>
                  <a:lnTo>
                    <a:pt x="0" y="750823"/>
                  </a:lnTo>
                  <a:lnTo>
                    <a:pt x="0" y="171449"/>
                  </a:lnTo>
                  <a:close/>
                </a:path>
                <a:path w="685800" h="751204">
                  <a:moveTo>
                    <a:pt x="0" y="171449"/>
                  </a:moveTo>
                  <a:lnTo>
                    <a:pt x="514350" y="171449"/>
                  </a:lnTo>
                  <a:lnTo>
                    <a:pt x="685800" y="0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5"/>
            <p:cNvSpPr/>
            <p:nvPr/>
          </p:nvSpPr>
          <p:spPr>
            <a:xfrm>
              <a:off x="4472685" y="4666805"/>
              <a:ext cx="514350" cy="579755"/>
            </a:xfrm>
            <a:custGeom>
              <a:avLst/>
              <a:gdLst/>
              <a:ahLst/>
              <a:cxnLst/>
              <a:rect l="l" t="t" r="r" b="b"/>
              <a:pathLst>
                <a:path w="514350" h="579754">
                  <a:moveTo>
                    <a:pt x="514350" y="0"/>
                  </a:moveTo>
                  <a:lnTo>
                    <a:pt x="0" y="0"/>
                  </a:lnTo>
                  <a:lnTo>
                    <a:pt x="0" y="579437"/>
                  </a:lnTo>
                  <a:lnTo>
                    <a:pt x="514350" y="579437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6"/>
            <p:cNvSpPr/>
            <p:nvPr/>
          </p:nvSpPr>
          <p:spPr>
            <a:xfrm>
              <a:off x="4987035" y="4495419"/>
              <a:ext cx="171450" cy="751205"/>
            </a:xfrm>
            <a:custGeom>
              <a:avLst/>
              <a:gdLst/>
              <a:ahLst/>
              <a:cxnLst/>
              <a:rect l="l" t="t" r="r" b="b"/>
              <a:pathLst>
                <a:path w="171450" h="751204">
                  <a:moveTo>
                    <a:pt x="171450" y="0"/>
                  </a:moveTo>
                  <a:lnTo>
                    <a:pt x="0" y="171449"/>
                  </a:lnTo>
                  <a:lnTo>
                    <a:pt x="0" y="750823"/>
                  </a:lnTo>
                  <a:lnTo>
                    <a:pt x="171450" y="579373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A35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7"/>
            <p:cNvSpPr/>
            <p:nvPr/>
          </p:nvSpPr>
          <p:spPr>
            <a:xfrm>
              <a:off x="4472685" y="4495419"/>
              <a:ext cx="685800" cy="171450"/>
            </a:xfrm>
            <a:custGeom>
              <a:avLst/>
              <a:gdLst/>
              <a:ahLst/>
              <a:cxnLst/>
              <a:rect l="l" t="t" r="r" b="b"/>
              <a:pathLst>
                <a:path w="685800" h="171450">
                  <a:moveTo>
                    <a:pt x="685800" y="0"/>
                  </a:moveTo>
                  <a:lnTo>
                    <a:pt x="171450" y="0"/>
                  </a:lnTo>
                  <a:lnTo>
                    <a:pt x="0" y="171449"/>
                  </a:lnTo>
                  <a:lnTo>
                    <a:pt x="514350" y="17144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84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18"/>
            <p:cNvSpPr/>
            <p:nvPr/>
          </p:nvSpPr>
          <p:spPr>
            <a:xfrm>
              <a:off x="4472685" y="4495419"/>
              <a:ext cx="685800" cy="751205"/>
            </a:xfrm>
            <a:custGeom>
              <a:avLst/>
              <a:gdLst/>
              <a:ahLst/>
              <a:cxnLst/>
              <a:rect l="l" t="t" r="r" b="b"/>
              <a:pathLst>
                <a:path w="685800" h="751204">
                  <a:moveTo>
                    <a:pt x="0" y="171449"/>
                  </a:moveTo>
                  <a:lnTo>
                    <a:pt x="171450" y="0"/>
                  </a:lnTo>
                  <a:lnTo>
                    <a:pt x="685800" y="0"/>
                  </a:lnTo>
                  <a:lnTo>
                    <a:pt x="685800" y="579373"/>
                  </a:lnTo>
                  <a:lnTo>
                    <a:pt x="514350" y="750823"/>
                  </a:lnTo>
                  <a:lnTo>
                    <a:pt x="0" y="750823"/>
                  </a:lnTo>
                  <a:lnTo>
                    <a:pt x="0" y="171449"/>
                  </a:lnTo>
                  <a:close/>
                </a:path>
                <a:path w="685800" h="751204">
                  <a:moveTo>
                    <a:pt x="0" y="171449"/>
                  </a:moveTo>
                  <a:lnTo>
                    <a:pt x="514350" y="171449"/>
                  </a:lnTo>
                  <a:lnTo>
                    <a:pt x="685800" y="0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19"/>
            <p:cNvSpPr/>
            <p:nvPr/>
          </p:nvSpPr>
          <p:spPr>
            <a:xfrm>
              <a:off x="4929885" y="4666805"/>
              <a:ext cx="514350" cy="579755"/>
            </a:xfrm>
            <a:custGeom>
              <a:avLst/>
              <a:gdLst/>
              <a:ahLst/>
              <a:cxnLst/>
              <a:rect l="l" t="t" r="r" b="b"/>
              <a:pathLst>
                <a:path w="514350" h="579754">
                  <a:moveTo>
                    <a:pt x="514350" y="0"/>
                  </a:moveTo>
                  <a:lnTo>
                    <a:pt x="0" y="0"/>
                  </a:lnTo>
                  <a:lnTo>
                    <a:pt x="0" y="579437"/>
                  </a:lnTo>
                  <a:lnTo>
                    <a:pt x="514350" y="579437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0"/>
            <p:cNvSpPr/>
            <p:nvPr/>
          </p:nvSpPr>
          <p:spPr>
            <a:xfrm>
              <a:off x="5444235" y="4495419"/>
              <a:ext cx="171450" cy="751205"/>
            </a:xfrm>
            <a:custGeom>
              <a:avLst/>
              <a:gdLst/>
              <a:ahLst/>
              <a:cxnLst/>
              <a:rect l="l" t="t" r="r" b="b"/>
              <a:pathLst>
                <a:path w="171450" h="751204">
                  <a:moveTo>
                    <a:pt x="171450" y="0"/>
                  </a:moveTo>
                  <a:lnTo>
                    <a:pt x="0" y="171449"/>
                  </a:lnTo>
                  <a:lnTo>
                    <a:pt x="0" y="750823"/>
                  </a:lnTo>
                  <a:lnTo>
                    <a:pt x="171450" y="579373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A35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1"/>
            <p:cNvSpPr/>
            <p:nvPr/>
          </p:nvSpPr>
          <p:spPr>
            <a:xfrm>
              <a:off x="4929885" y="4495419"/>
              <a:ext cx="685800" cy="171450"/>
            </a:xfrm>
            <a:custGeom>
              <a:avLst/>
              <a:gdLst/>
              <a:ahLst/>
              <a:cxnLst/>
              <a:rect l="l" t="t" r="r" b="b"/>
              <a:pathLst>
                <a:path w="685800" h="171450">
                  <a:moveTo>
                    <a:pt x="685800" y="0"/>
                  </a:moveTo>
                  <a:lnTo>
                    <a:pt x="171450" y="0"/>
                  </a:lnTo>
                  <a:lnTo>
                    <a:pt x="0" y="171449"/>
                  </a:lnTo>
                  <a:lnTo>
                    <a:pt x="514350" y="17144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84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2"/>
            <p:cNvSpPr/>
            <p:nvPr/>
          </p:nvSpPr>
          <p:spPr>
            <a:xfrm>
              <a:off x="4929885" y="4495419"/>
              <a:ext cx="685800" cy="751205"/>
            </a:xfrm>
            <a:custGeom>
              <a:avLst/>
              <a:gdLst/>
              <a:ahLst/>
              <a:cxnLst/>
              <a:rect l="l" t="t" r="r" b="b"/>
              <a:pathLst>
                <a:path w="685800" h="751204">
                  <a:moveTo>
                    <a:pt x="0" y="171449"/>
                  </a:moveTo>
                  <a:lnTo>
                    <a:pt x="171450" y="0"/>
                  </a:lnTo>
                  <a:lnTo>
                    <a:pt x="685800" y="0"/>
                  </a:lnTo>
                  <a:lnTo>
                    <a:pt x="685800" y="579373"/>
                  </a:lnTo>
                  <a:lnTo>
                    <a:pt x="514350" y="750823"/>
                  </a:lnTo>
                  <a:lnTo>
                    <a:pt x="0" y="750823"/>
                  </a:lnTo>
                  <a:lnTo>
                    <a:pt x="0" y="171449"/>
                  </a:lnTo>
                  <a:close/>
                </a:path>
                <a:path w="685800" h="751204">
                  <a:moveTo>
                    <a:pt x="0" y="171449"/>
                  </a:moveTo>
                  <a:lnTo>
                    <a:pt x="514350" y="171449"/>
                  </a:lnTo>
                  <a:lnTo>
                    <a:pt x="685800" y="0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3"/>
            <p:cNvSpPr/>
            <p:nvPr/>
          </p:nvSpPr>
          <p:spPr>
            <a:xfrm>
              <a:off x="5385434" y="4666805"/>
              <a:ext cx="514350" cy="579755"/>
            </a:xfrm>
            <a:custGeom>
              <a:avLst/>
              <a:gdLst/>
              <a:ahLst/>
              <a:cxnLst/>
              <a:rect l="l" t="t" r="r" b="b"/>
              <a:pathLst>
                <a:path w="514350" h="579754">
                  <a:moveTo>
                    <a:pt x="514350" y="0"/>
                  </a:moveTo>
                  <a:lnTo>
                    <a:pt x="0" y="0"/>
                  </a:lnTo>
                  <a:lnTo>
                    <a:pt x="0" y="579437"/>
                  </a:lnTo>
                  <a:lnTo>
                    <a:pt x="514350" y="579437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4"/>
            <p:cNvSpPr/>
            <p:nvPr/>
          </p:nvSpPr>
          <p:spPr>
            <a:xfrm>
              <a:off x="5899784" y="4495419"/>
              <a:ext cx="171450" cy="751205"/>
            </a:xfrm>
            <a:custGeom>
              <a:avLst/>
              <a:gdLst/>
              <a:ahLst/>
              <a:cxnLst/>
              <a:rect l="l" t="t" r="r" b="b"/>
              <a:pathLst>
                <a:path w="171450" h="751204">
                  <a:moveTo>
                    <a:pt x="171450" y="0"/>
                  </a:moveTo>
                  <a:lnTo>
                    <a:pt x="0" y="171449"/>
                  </a:lnTo>
                  <a:lnTo>
                    <a:pt x="0" y="750823"/>
                  </a:lnTo>
                  <a:lnTo>
                    <a:pt x="171450" y="579373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A35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5"/>
            <p:cNvSpPr/>
            <p:nvPr/>
          </p:nvSpPr>
          <p:spPr>
            <a:xfrm>
              <a:off x="5385434" y="4495419"/>
              <a:ext cx="685800" cy="171450"/>
            </a:xfrm>
            <a:custGeom>
              <a:avLst/>
              <a:gdLst/>
              <a:ahLst/>
              <a:cxnLst/>
              <a:rect l="l" t="t" r="r" b="b"/>
              <a:pathLst>
                <a:path w="685800" h="171450">
                  <a:moveTo>
                    <a:pt x="685800" y="0"/>
                  </a:moveTo>
                  <a:lnTo>
                    <a:pt x="171450" y="0"/>
                  </a:lnTo>
                  <a:lnTo>
                    <a:pt x="0" y="171449"/>
                  </a:lnTo>
                  <a:lnTo>
                    <a:pt x="514350" y="17144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84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6"/>
            <p:cNvSpPr/>
            <p:nvPr/>
          </p:nvSpPr>
          <p:spPr>
            <a:xfrm>
              <a:off x="5385434" y="4495419"/>
              <a:ext cx="685800" cy="751205"/>
            </a:xfrm>
            <a:custGeom>
              <a:avLst/>
              <a:gdLst/>
              <a:ahLst/>
              <a:cxnLst/>
              <a:rect l="l" t="t" r="r" b="b"/>
              <a:pathLst>
                <a:path w="685800" h="751204">
                  <a:moveTo>
                    <a:pt x="0" y="171449"/>
                  </a:moveTo>
                  <a:lnTo>
                    <a:pt x="171450" y="0"/>
                  </a:lnTo>
                  <a:lnTo>
                    <a:pt x="685800" y="0"/>
                  </a:lnTo>
                  <a:lnTo>
                    <a:pt x="685800" y="579373"/>
                  </a:lnTo>
                  <a:lnTo>
                    <a:pt x="514350" y="750823"/>
                  </a:lnTo>
                  <a:lnTo>
                    <a:pt x="0" y="750823"/>
                  </a:lnTo>
                  <a:lnTo>
                    <a:pt x="0" y="171449"/>
                  </a:lnTo>
                  <a:close/>
                </a:path>
                <a:path w="685800" h="751204">
                  <a:moveTo>
                    <a:pt x="0" y="171449"/>
                  </a:moveTo>
                  <a:lnTo>
                    <a:pt x="514350" y="171449"/>
                  </a:lnTo>
                  <a:lnTo>
                    <a:pt x="685800" y="0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7"/>
            <p:cNvSpPr/>
            <p:nvPr/>
          </p:nvSpPr>
          <p:spPr>
            <a:xfrm>
              <a:off x="5844285" y="4666805"/>
              <a:ext cx="514350" cy="579755"/>
            </a:xfrm>
            <a:custGeom>
              <a:avLst/>
              <a:gdLst/>
              <a:ahLst/>
              <a:cxnLst/>
              <a:rect l="l" t="t" r="r" b="b"/>
              <a:pathLst>
                <a:path w="514350" h="579754">
                  <a:moveTo>
                    <a:pt x="514350" y="0"/>
                  </a:moveTo>
                  <a:lnTo>
                    <a:pt x="0" y="0"/>
                  </a:lnTo>
                  <a:lnTo>
                    <a:pt x="0" y="579437"/>
                  </a:lnTo>
                  <a:lnTo>
                    <a:pt x="514350" y="579437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28"/>
            <p:cNvSpPr/>
            <p:nvPr/>
          </p:nvSpPr>
          <p:spPr>
            <a:xfrm>
              <a:off x="6358635" y="4495419"/>
              <a:ext cx="171450" cy="751205"/>
            </a:xfrm>
            <a:custGeom>
              <a:avLst/>
              <a:gdLst/>
              <a:ahLst/>
              <a:cxnLst/>
              <a:rect l="l" t="t" r="r" b="b"/>
              <a:pathLst>
                <a:path w="171450" h="751204">
                  <a:moveTo>
                    <a:pt x="171449" y="0"/>
                  </a:moveTo>
                  <a:lnTo>
                    <a:pt x="0" y="171449"/>
                  </a:lnTo>
                  <a:lnTo>
                    <a:pt x="0" y="750823"/>
                  </a:lnTo>
                  <a:lnTo>
                    <a:pt x="171449" y="579373"/>
                  </a:lnTo>
                  <a:lnTo>
                    <a:pt x="171449" y="0"/>
                  </a:lnTo>
                  <a:close/>
                </a:path>
              </a:pathLst>
            </a:custGeom>
            <a:solidFill>
              <a:srgbClr val="A35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29"/>
            <p:cNvSpPr/>
            <p:nvPr/>
          </p:nvSpPr>
          <p:spPr>
            <a:xfrm>
              <a:off x="5844285" y="4495419"/>
              <a:ext cx="685800" cy="171450"/>
            </a:xfrm>
            <a:custGeom>
              <a:avLst/>
              <a:gdLst/>
              <a:ahLst/>
              <a:cxnLst/>
              <a:rect l="l" t="t" r="r" b="b"/>
              <a:pathLst>
                <a:path w="685800" h="171450">
                  <a:moveTo>
                    <a:pt x="685799" y="0"/>
                  </a:moveTo>
                  <a:lnTo>
                    <a:pt x="171450" y="0"/>
                  </a:lnTo>
                  <a:lnTo>
                    <a:pt x="0" y="171449"/>
                  </a:lnTo>
                  <a:lnTo>
                    <a:pt x="514350" y="171449"/>
                  </a:lnTo>
                  <a:lnTo>
                    <a:pt x="685799" y="0"/>
                  </a:lnTo>
                  <a:close/>
                </a:path>
              </a:pathLst>
            </a:custGeom>
            <a:solidFill>
              <a:srgbClr val="D584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0"/>
            <p:cNvSpPr/>
            <p:nvPr/>
          </p:nvSpPr>
          <p:spPr>
            <a:xfrm>
              <a:off x="5844285" y="4495419"/>
              <a:ext cx="685800" cy="751205"/>
            </a:xfrm>
            <a:custGeom>
              <a:avLst/>
              <a:gdLst/>
              <a:ahLst/>
              <a:cxnLst/>
              <a:rect l="l" t="t" r="r" b="b"/>
              <a:pathLst>
                <a:path w="685800" h="751204">
                  <a:moveTo>
                    <a:pt x="0" y="171449"/>
                  </a:moveTo>
                  <a:lnTo>
                    <a:pt x="171450" y="0"/>
                  </a:lnTo>
                  <a:lnTo>
                    <a:pt x="685799" y="0"/>
                  </a:lnTo>
                  <a:lnTo>
                    <a:pt x="685799" y="579373"/>
                  </a:lnTo>
                  <a:lnTo>
                    <a:pt x="514350" y="750823"/>
                  </a:lnTo>
                  <a:lnTo>
                    <a:pt x="0" y="750823"/>
                  </a:lnTo>
                  <a:lnTo>
                    <a:pt x="0" y="171449"/>
                  </a:lnTo>
                  <a:close/>
                </a:path>
                <a:path w="685800" h="751204">
                  <a:moveTo>
                    <a:pt x="0" y="171449"/>
                  </a:moveTo>
                  <a:lnTo>
                    <a:pt x="514350" y="171449"/>
                  </a:lnTo>
                  <a:lnTo>
                    <a:pt x="685799" y="0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1"/>
            <p:cNvSpPr/>
            <p:nvPr/>
          </p:nvSpPr>
          <p:spPr>
            <a:xfrm>
              <a:off x="6301485" y="4666805"/>
              <a:ext cx="514350" cy="579755"/>
            </a:xfrm>
            <a:custGeom>
              <a:avLst/>
              <a:gdLst/>
              <a:ahLst/>
              <a:cxnLst/>
              <a:rect l="l" t="t" r="r" b="b"/>
              <a:pathLst>
                <a:path w="514350" h="579754">
                  <a:moveTo>
                    <a:pt x="514350" y="0"/>
                  </a:moveTo>
                  <a:lnTo>
                    <a:pt x="0" y="0"/>
                  </a:lnTo>
                  <a:lnTo>
                    <a:pt x="0" y="579437"/>
                  </a:lnTo>
                  <a:lnTo>
                    <a:pt x="514350" y="579437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2"/>
            <p:cNvSpPr/>
            <p:nvPr/>
          </p:nvSpPr>
          <p:spPr>
            <a:xfrm>
              <a:off x="6815835" y="4495419"/>
              <a:ext cx="171450" cy="751205"/>
            </a:xfrm>
            <a:custGeom>
              <a:avLst/>
              <a:gdLst/>
              <a:ahLst/>
              <a:cxnLst/>
              <a:rect l="l" t="t" r="r" b="b"/>
              <a:pathLst>
                <a:path w="171450" h="751204">
                  <a:moveTo>
                    <a:pt x="171450" y="0"/>
                  </a:moveTo>
                  <a:lnTo>
                    <a:pt x="0" y="171449"/>
                  </a:lnTo>
                  <a:lnTo>
                    <a:pt x="0" y="750823"/>
                  </a:lnTo>
                  <a:lnTo>
                    <a:pt x="171450" y="579373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A35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3"/>
            <p:cNvSpPr/>
            <p:nvPr/>
          </p:nvSpPr>
          <p:spPr>
            <a:xfrm>
              <a:off x="6301485" y="4495419"/>
              <a:ext cx="685800" cy="171450"/>
            </a:xfrm>
            <a:custGeom>
              <a:avLst/>
              <a:gdLst/>
              <a:ahLst/>
              <a:cxnLst/>
              <a:rect l="l" t="t" r="r" b="b"/>
              <a:pathLst>
                <a:path w="685800" h="171450">
                  <a:moveTo>
                    <a:pt x="685799" y="0"/>
                  </a:moveTo>
                  <a:lnTo>
                    <a:pt x="171450" y="0"/>
                  </a:lnTo>
                  <a:lnTo>
                    <a:pt x="0" y="171449"/>
                  </a:lnTo>
                  <a:lnTo>
                    <a:pt x="514349" y="171449"/>
                  </a:lnTo>
                  <a:lnTo>
                    <a:pt x="685799" y="0"/>
                  </a:lnTo>
                  <a:close/>
                </a:path>
              </a:pathLst>
            </a:custGeom>
            <a:solidFill>
              <a:srgbClr val="D584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4"/>
            <p:cNvSpPr/>
            <p:nvPr/>
          </p:nvSpPr>
          <p:spPr>
            <a:xfrm>
              <a:off x="6301485" y="4495419"/>
              <a:ext cx="685800" cy="751205"/>
            </a:xfrm>
            <a:custGeom>
              <a:avLst/>
              <a:gdLst/>
              <a:ahLst/>
              <a:cxnLst/>
              <a:rect l="l" t="t" r="r" b="b"/>
              <a:pathLst>
                <a:path w="685800" h="751204">
                  <a:moveTo>
                    <a:pt x="0" y="171449"/>
                  </a:moveTo>
                  <a:lnTo>
                    <a:pt x="171450" y="0"/>
                  </a:lnTo>
                  <a:lnTo>
                    <a:pt x="685799" y="0"/>
                  </a:lnTo>
                  <a:lnTo>
                    <a:pt x="685799" y="579373"/>
                  </a:lnTo>
                  <a:lnTo>
                    <a:pt x="514349" y="750823"/>
                  </a:lnTo>
                  <a:lnTo>
                    <a:pt x="0" y="750823"/>
                  </a:lnTo>
                  <a:lnTo>
                    <a:pt x="0" y="171449"/>
                  </a:lnTo>
                  <a:close/>
                </a:path>
                <a:path w="685800" h="751204">
                  <a:moveTo>
                    <a:pt x="0" y="171449"/>
                  </a:moveTo>
                  <a:lnTo>
                    <a:pt x="514349" y="171449"/>
                  </a:lnTo>
                  <a:lnTo>
                    <a:pt x="685799" y="0"/>
                  </a:lnTo>
                </a:path>
                <a:path w="685800" h="751204">
                  <a:moveTo>
                    <a:pt x="514349" y="171449"/>
                  </a:moveTo>
                  <a:lnTo>
                    <a:pt x="514349" y="750823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5"/>
          <p:cNvSpPr txBox="1"/>
          <p:nvPr/>
        </p:nvSpPr>
        <p:spPr>
          <a:xfrm>
            <a:off x="3277870" y="4750054"/>
            <a:ext cx="33896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4500" algn="l"/>
                <a:tab pos="903605" algn="l"/>
                <a:tab pos="1358900" algn="l"/>
                <a:tab pos="1816100" algn="l"/>
                <a:tab pos="2272030" algn="l"/>
                <a:tab pos="2731135" algn="l"/>
                <a:tab pos="3188335" algn="l"/>
              </a:tabLst>
            </a:pPr>
            <a:r>
              <a:rPr sz="2400" b="1" spc="-50" dirty="0">
                <a:solidFill>
                  <a:srgbClr val="1D528D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sz="2400" b="1" dirty="0">
                <a:solidFill>
                  <a:srgbClr val="1D528D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sz="24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sz="24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sz="24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sz="24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sz="24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sz="24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sz="24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8" name="object 36"/>
          <p:cNvGrpSpPr/>
          <p:nvPr/>
        </p:nvGrpSpPr>
        <p:grpSpPr>
          <a:xfrm>
            <a:off x="1559052" y="5096255"/>
            <a:ext cx="1729739" cy="1318260"/>
            <a:chOff x="1559052" y="5096255"/>
            <a:chExt cx="1729739" cy="1318260"/>
          </a:xfrm>
        </p:grpSpPr>
        <p:pic>
          <p:nvPicPr>
            <p:cNvPr id="39" name="object 3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559052" y="5096255"/>
              <a:ext cx="1703832" cy="1292352"/>
            </a:xfrm>
            <a:prstGeom prst="rect">
              <a:avLst/>
            </a:prstGeom>
          </p:spPr>
        </p:pic>
        <p:pic>
          <p:nvPicPr>
            <p:cNvPr id="40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4960" y="5122163"/>
              <a:ext cx="1703831" cy="1292352"/>
            </a:xfrm>
            <a:prstGeom prst="rect">
              <a:avLst/>
            </a:prstGeom>
          </p:spPr>
        </p:pic>
        <p:sp>
          <p:nvSpPr>
            <p:cNvPr id="41" name="object 39"/>
            <p:cNvSpPr/>
            <p:nvPr/>
          </p:nvSpPr>
          <p:spPr>
            <a:xfrm>
              <a:off x="1573149" y="5111241"/>
              <a:ext cx="1701800" cy="1289685"/>
            </a:xfrm>
            <a:custGeom>
              <a:avLst/>
              <a:gdLst/>
              <a:ahLst/>
              <a:cxnLst/>
              <a:rect l="l" t="t" r="r" b="b"/>
              <a:pathLst>
                <a:path w="1701800" h="1289685">
                  <a:moveTo>
                    <a:pt x="1587373" y="603338"/>
                  </a:moveTo>
                  <a:lnTo>
                    <a:pt x="114300" y="603338"/>
                  </a:lnTo>
                  <a:lnTo>
                    <a:pt x="69812" y="612320"/>
                  </a:lnTo>
                  <a:lnTo>
                    <a:pt x="33480" y="636814"/>
                  </a:lnTo>
                  <a:lnTo>
                    <a:pt x="8983" y="673145"/>
                  </a:lnTo>
                  <a:lnTo>
                    <a:pt x="0" y="717638"/>
                  </a:lnTo>
                  <a:lnTo>
                    <a:pt x="0" y="1174838"/>
                  </a:lnTo>
                  <a:lnTo>
                    <a:pt x="8983" y="1219326"/>
                  </a:lnTo>
                  <a:lnTo>
                    <a:pt x="33480" y="1255658"/>
                  </a:lnTo>
                  <a:lnTo>
                    <a:pt x="69812" y="1280155"/>
                  </a:lnTo>
                  <a:lnTo>
                    <a:pt x="114300" y="1289138"/>
                  </a:lnTo>
                  <a:lnTo>
                    <a:pt x="1587373" y="1289138"/>
                  </a:lnTo>
                  <a:lnTo>
                    <a:pt x="1631860" y="1280155"/>
                  </a:lnTo>
                  <a:lnTo>
                    <a:pt x="1668192" y="1255658"/>
                  </a:lnTo>
                  <a:lnTo>
                    <a:pt x="1692689" y="1219326"/>
                  </a:lnTo>
                  <a:lnTo>
                    <a:pt x="1701673" y="1174838"/>
                  </a:lnTo>
                  <a:lnTo>
                    <a:pt x="1701673" y="717638"/>
                  </a:lnTo>
                  <a:lnTo>
                    <a:pt x="1692689" y="673145"/>
                  </a:lnTo>
                  <a:lnTo>
                    <a:pt x="1668192" y="636814"/>
                  </a:lnTo>
                  <a:lnTo>
                    <a:pt x="1631860" y="612320"/>
                  </a:lnTo>
                  <a:lnTo>
                    <a:pt x="1587373" y="603338"/>
                  </a:lnTo>
                  <a:close/>
                </a:path>
                <a:path w="1701800" h="1289685">
                  <a:moveTo>
                    <a:pt x="1684781" y="0"/>
                  </a:moveTo>
                  <a:lnTo>
                    <a:pt x="992632" y="603338"/>
                  </a:lnTo>
                  <a:lnTo>
                    <a:pt x="1418082" y="603338"/>
                  </a:lnTo>
                  <a:lnTo>
                    <a:pt x="168478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0"/>
          <p:cNvSpPr txBox="1"/>
          <p:nvPr/>
        </p:nvSpPr>
        <p:spPr>
          <a:xfrm>
            <a:off x="1878329" y="5819038"/>
            <a:ext cx="1092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符号</a:t>
            </a:r>
            <a:r>
              <a:rPr sz="28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位</a:t>
            </a:r>
            <a:endParaRPr sz="28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3" name="object 41"/>
          <p:cNvGrpSpPr/>
          <p:nvPr/>
        </p:nvGrpSpPr>
        <p:grpSpPr>
          <a:xfrm>
            <a:off x="5349240" y="5160264"/>
            <a:ext cx="3394075" cy="1254760"/>
            <a:chOff x="5349240" y="5160264"/>
            <a:chExt cx="3394075" cy="1254760"/>
          </a:xfrm>
        </p:grpSpPr>
        <p:pic>
          <p:nvPicPr>
            <p:cNvPr id="44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9240" y="5160264"/>
              <a:ext cx="3369564" cy="1228344"/>
            </a:xfrm>
            <a:prstGeom prst="rect">
              <a:avLst/>
            </a:prstGeom>
          </p:spPr>
        </p:pic>
        <p:pic>
          <p:nvPicPr>
            <p:cNvPr id="45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75148" y="5184648"/>
              <a:ext cx="3368040" cy="1229867"/>
            </a:xfrm>
            <a:prstGeom prst="rect">
              <a:avLst/>
            </a:prstGeom>
          </p:spPr>
        </p:pic>
        <p:sp>
          <p:nvSpPr>
            <p:cNvPr id="46" name="object 44"/>
            <p:cNvSpPr/>
            <p:nvPr/>
          </p:nvSpPr>
          <p:spPr>
            <a:xfrm>
              <a:off x="5364099" y="5174107"/>
              <a:ext cx="3365500" cy="1226820"/>
            </a:xfrm>
            <a:custGeom>
              <a:avLst/>
              <a:gdLst/>
              <a:ahLst/>
              <a:cxnLst/>
              <a:rect l="l" t="t" r="r" b="b"/>
              <a:pathLst>
                <a:path w="3365500" h="1226820">
                  <a:moveTo>
                    <a:pt x="3251200" y="540473"/>
                  </a:moveTo>
                  <a:lnTo>
                    <a:pt x="114300" y="540473"/>
                  </a:lnTo>
                  <a:lnTo>
                    <a:pt x="69812" y="549455"/>
                  </a:lnTo>
                  <a:lnTo>
                    <a:pt x="33480" y="573949"/>
                  </a:lnTo>
                  <a:lnTo>
                    <a:pt x="8983" y="610280"/>
                  </a:lnTo>
                  <a:lnTo>
                    <a:pt x="0" y="654773"/>
                  </a:lnTo>
                  <a:lnTo>
                    <a:pt x="0" y="1111973"/>
                  </a:lnTo>
                  <a:lnTo>
                    <a:pt x="8983" y="1156461"/>
                  </a:lnTo>
                  <a:lnTo>
                    <a:pt x="33480" y="1192793"/>
                  </a:lnTo>
                  <a:lnTo>
                    <a:pt x="69812" y="1217290"/>
                  </a:lnTo>
                  <a:lnTo>
                    <a:pt x="114300" y="1226273"/>
                  </a:lnTo>
                  <a:lnTo>
                    <a:pt x="3251200" y="1226273"/>
                  </a:lnTo>
                  <a:lnTo>
                    <a:pt x="3295741" y="1217290"/>
                  </a:lnTo>
                  <a:lnTo>
                    <a:pt x="3332067" y="1192793"/>
                  </a:lnTo>
                  <a:lnTo>
                    <a:pt x="3356534" y="1156461"/>
                  </a:lnTo>
                  <a:lnTo>
                    <a:pt x="3365500" y="1111973"/>
                  </a:lnTo>
                  <a:lnTo>
                    <a:pt x="3365500" y="654773"/>
                  </a:lnTo>
                  <a:lnTo>
                    <a:pt x="3356534" y="610280"/>
                  </a:lnTo>
                  <a:lnTo>
                    <a:pt x="3332067" y="573949"/>
                  </a:lnTo>
                  <a:lnTo>
                    <a:pt x="3295741" y="549455"/>
                  </a:lnTo>
                  <a:lnTo>
                    <a:pt x="3251200" y="540473"/>
                  </a:lnTo>
                  <a:close/>
                </a:path>
                <a:path w="3365500" h="1226820">
                  <a:moveTo>
                    <a:pt x="1424685" y="0"/>
                  </a:moveTo>
                  <a:lnTo>
                    <a:pt x="560959" y="540473"/>
                  </a:lnTo>
                  <a:lnTo>
                    <a:pt x="1402333" y="540473"/>
                  </a:lnTo>
                  <a:lnTo>
                    <a:pt x="142468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5"/>
          <p:cNvSpPr txBox="1"/>
          <p:nvPr/>
        </p:nvSpPr>
        <p:spPr>
          <a:xfrm>
            <a:off x="5614796" y="5819038"/>
            <a:ext cx="28676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4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隐含</a:t>
            </a:r>
            <a:r>
              <a:rPr sz="2800" b="1" spc="-3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小数位在</a:t>
            </a:r>
            <a:r>
              <a:rPr sz="28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最右</a:t>
            </a:r>
            <a:endParaRPr sz="28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8" name="object 46"/>
          <p:cNvGrpSpPr/>
          <p:nvPr/>
        </p:nvGrpSpPr>
        <p:grpSpPr>
          <a:xfrm>
            <a:off x="441959" y="2470594"/>
            <a:ext cx="5431790" cy="914400"/>
            <a:chOff x="441959" y="2470594"/>
            <a:chExt cx="5431790" cy="914400"/>
          </a:xfrm>
        </p:grpSpPr>
        <p:pic>
          <p:nvPicPr>
            <p:cNvPr id="49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2355" y="2494788"/>
              <a:ext cx="5311140" cy="890015"/>
            </a:xfrm>
            <a:prstGeom prst="rect">
              <a:avLst/>
            </a:prstGeom>
          </p:spPr>
        </p:pic>
        <p:pic>
          <p:nvPicPr>
            <p:cNvPr id="50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1959" y="2616708"/>
              <a:ext cx="3950208" cy="749808"/>
            </a:xfrm>
            <a:prstGeom prst="rect">
              <a:avLst/>
            </a:prstGeom>
          </p:spPr>
        </p:pic>
        <p:sp>
          <p:nvSpPr>
            <p:cNvPr id="51" name="object 49"/>
            <p:cNvSpPr/>
            <p:nvPr/>
          </p:nvSpPr>
          <p:spPr>
            <a:xfrm>
              <a:off x="539546" y="2472182"/>
              <a:ext cx="5304790" cy="885190"/>
            </a:xfrm>
            <a:custGeom>
              <a:avLst/>
              <a:gdLst/>
              <a:ahLst/>
              <a:cxnLst/>
              <a:rect l="l" t="t" r="r" b="b"/>
              <a:pathLst>
                <a:path w="5304790" h="885189">
                  <a:moveTo>
                    <a:pt x="5304790" y="0"/>
                  </a:moveTo>
                  <a:lnTo>
                    <a:pt x="0" y="0"/>
                  </a:lnTo>
                  <a:lnTo>
                    <a:pt x="0" y="884809"/>
                  </a:lnTo>
                  <a:lnTo>
                    <a:pt x="5304790" y="884809"/>
                  </a:lnTo>
                  <a:lnTo>
                    <a:pt x="5304790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0"/>
            <p:cNvSpPr/>
            <p:nvPr/>
          </p:nvSpPr>
          <p:spPr>
            <a:xfrm>
              <a:off x="539546" y="2472182"/>
              <a:ext cx="5304790" cy="885190"/>
            </a:xfrm>
            <a:custGeom>
              <a:avLst/>
              <a:gdLst/>
              <a:ahLst/>
              <a:cxnLst/>
              <a:rect l="l" t="t" r="r" b="b"/>
              <a:pathLst>
                <a:path w="5304790" h="885189">
                  <a:moveTo>
                    <a:pt x="0" y="884809"/>
                  </a:moveTo>
                  <a:lnTo>
                    <a:pt x="5304790" y="884809"/>
                  </a:lnTo>
                  <a:lnTo>
                    <a:pt x="5304790" y="0"/>
                  </a:lnTo>
                  <a:lnTo>
                    <a:pt x="0" y="0"/>
                  </a:lnTo>
                  <a:lnTo>
                    <a:pt x="0" y="884809"/>
                  </a:lnTo>
                  <a:close/>
                </a:path>
              </a:pathLst>
            </a:custGeom>
            <a:ln w="3175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1"/>
          <p:cNvSpPr txBox="1"/>
          <p:nvPr/>
        </p:nvSpPr>
        <p:spPr>
          <a:xfrm>
            <a:off x="515734" y="2675636"/>
            <a:ext cx="5353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95"/>
              </a:spcBef>
              <a:tabLst>
                <a:tab pos="2288540" algn="l"/>
                <a:tab pos="2771775" algn="l"/>
              </a:tabLst>
            </a:pPr>
            <a:r>
              <a:rPr sz="2800" b="1" spc="-35" dirty="0">
                <a:solidFill>
                  <a:srgbClr val="FFFF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因为</a:t>
            </a:r>
            <a:r>
              <a:rPr sz="2800" b="1" spc="-10" dirty="0">
                <a:solidFill>
                  <a:srgbClr val="FFFF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sz="2800" b="1" spc="-1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(3)</a:t>
            </a:r>
            <a:r>
              <a:rPr sz="2775" b="1" spc="-15" baseline="-210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sz="2775" b="1" baseline="-210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8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sz="28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(11)</a:t>
            </a:r>
            <a:r>
              <a:rPr sz="2775" b="1" spc="-15" baseline="-210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sz="2775" baseline="-210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54" name="object 52"/>
          <p:cNvGrpSpPr/>
          <p:nvPr/>
        </p:nvGrpSpPr>
        <p:grpSpPr>
          <a:xfrm>
            <a:off x="472440" y="1555178"/>
            <a:ext cx="5401310" cy="965835"/>
            <a:chOff x="472440" y="1555178"/>
            <a:chExt cx="5401310" cy="965835"/>
          </a:xfrm>
        </p:grpSpPr>
        <p:pic>
          <p:nvPicPr>
            <p:cNvPr id="55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2356" y="1578864"/>
              <a:ext cx="5311140" cy="891539"/>
            </a:xfrm>
            <a:prstGeom prst="rect">
              <a:avLst/>
            </a:prstGeom>
          </p:spPr>
        </p:pic>
        <p:pic>
          <p:nvPicPr>
            <p:cNvPr id="56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2440" y="1700784"/>
              <a:ext cx="5056632" cy="819912"/>
            </a:xfrm>
            <a:prstGeom prst="rect">
              <a:avLst/>
            </a:prstGeom>
          </p:spPr>
        </p:pic>
        <p:sp>
          <p:nvSpPr>
            <p:cNvPr id="57" name="object 55"/>
            <p:cNvSpPr/>
            <p:nvPr/>
          </p:nvSpPr>
          <p:spPr>
            <a:xfrm>
              <a:off x="539546" y="1556766"/>
              <a:ext cx="5306060" cy="885190"/>
            </a:xfrm>
            <a:custGeom>
              <a:avLst/>
              <a:gdLst/>
              <a:ahLst/>
              <a:cxnLst/>
              <a:rect l="l" t="t" r="r" b="b"/>
              <a:pathLst>
                <a:path w="5306060" h="885189">
                  <a:moveTo>
                    <a:pt x="5305552" y="0"/>
                  </a:moveTo>
                  <a:lnTo>
                    <a:pt x="0" y="0"/>
                  </a:lnTo>
                  <a:lnTo>
                    <a:pt x="0" y="884809"/>
                  </a:lnTo>
                  <a:lnTo>
                    <a:pt x="5305552" y="884809"/>
                  </a:lnTo>
                  <a:lnTo>
                    <a:pt x="530555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6"/>
            <p:cNvSpPr/>
            <p:nvPr/>
          </p:nvSpPr>
          <p:spPr>
            <a:xfrm>
              <a:off x="539546" y="1556766"/>
              <a:ext cx="5306060" cy="885190"/>
            </a:xfrm>
            <a:custGeom>
              <a:avLst/>
              <a:gdLst/>
              <a:ahLst/>
              <a:cxnLst/>
              <a:rect l="l" t="t" r="r" b="b"/>
              <a:pathLst>
                <a:path w="5306060" h="885189">
                  <a:moveTo>
                    <a:pt x="0" y="884809"/>
                  </a:moveTo>
                  <a:lnTo>
                    <a:pt x="5305552" y="884809"/>
                  </a:lnTo>
                  <a:lnTo>
                    <a:pt x="5305552" y="0"/>
                  </a:lnTo>
                  <a:lnTo>
                    <a:pt x="0" y="0"/>
                  </a:lnTo>
                  <a:lnTo>
                    <a:pt x="0" y="884809"/>
                  </a:lnTo>
                  <a:close/>
                </a:path>
              </a:pathLst>
            </a:custGeom>
            <a:ln w="3175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7"/>
          <p:cNvSpPr txBox="1"/>
          <p:nvPr/>
        </p:nvSpPr>
        <p:spPr>
          <a:xfrm>
            <a:off x="515734" y="1759966"/>
            <a:ext cx="5353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105">
              <a:lnSpc>
                <a:spcPct val="100000"/>
              </a:lnSpc>
              <a:spcBef>
                <a:spcPts val="95"/>
              </a:spcBef>
            </a:pPr>
            <a:r>
              <a:rPr sz="2800" b="1" spc="-35" dirty="0">
                <a:solidFill>
                  <a:srgbClr val="FFFF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例如</a:t>
            </a:r>
            <a:r>
              <a:rPr sz="2800" b="1" spc="5" dirty="0">
                <a:solidFill>
                  <a:srgbClr val="FFFF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 </a:t>
            </a:r>
            <a:r>
              <a:rPr sz="2800" b="1" spc="-2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(-</a:t>
            </a:r>
            <a:r>
              <a:rPr sz="28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3)</a:t>
            </a:r>
            <a:r>
              <a:rPr sz="2775" b="1" baseline="-210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sz="2775" b="1" spc="405" baseline="-210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800" b="1" spc="-3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的存储表</a:t>
            </a:r>
            <a:r>
              <a:rPr sz="28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sz="2800" b="1" spc="-1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？</a:t>
            </a:r>
            <a:endParaRPr sz="28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60" name="object 58"/>
          <p:cNvGrpSpPr/>
          <p:nvPr/>
        </p:nvGrpSpPr>
        <p:grpSpPr>
          <a:xfrm>
            <a:off x="3260534" y="3308603"/>
            <a:ext cx="3702050" cy="1033144"/>
            <a:chOff x="3260534" y="3308603"/>
            <a:chExt cx="3702050" cy="1033144"/>
          </a:xfrm>
        </p:grpSpPr>
        <p:sp>
          <p:nvSpPr>
            <p:cNvPr id="61" name="object 59"/>
            <p:cNvSpPr/>
            <p:nvPr/>
          </p:nvSpPr>
          <p:spPr>
            <a:xfrm>
              <a:off x="3274821" y="3895597"/>
              <a:ext cx="3673475" cy="431800"/>
            </a:xfrm>
            <a:custGeom>
              <a:avLst/>
              <a:gdLst/>
              <a:ahLst/>
              <a:cxnLst/>
              <a:rect l="l" t="t" r="r" b="b"/>
              <a:pathLst>
                <a:path w="3673475" h="431800">
                  <a:moveTo>
                    <a:pt x="0" y="431800"/>
                  </a:moveTo>
                  <a:lnTo>
                    <a:pt x="4931" y="392987"/>
                  </a:lnTo>
                  <a:lnTo>
                    <a:pt x="19148" y="356459"/>
                  </a:lnTo>
                  <a:lnTo>
                    <a:pt x="41787" y="322824"/>
                  </a:lnTo>
                  <a:lnTo>
                    <a:pt x="71984" y="292692"/>
                  </a:lnTo>
                  <a:lnTo>
                    <a:pt x="108873" y="266672"/>
                  </a:lnTo>
                  <a:lnTo>
                    <a:pt x="151590" y="245373"/>
                  </a:lnTo>
                  <a:lnTo>
                    <a:pt x="199272" y="229405"/>
                  </a:lnTo>
                  <a:lnTo>
                    <a:pt x="251053" y="219377"/>
                  </a:lnTo>
                  <a:lnTo>
                    <a:pt x="306069" y="215900"/>
                  </a:lnTo>
                  <a:lnTo>
                    <a:pt x="1530603" y="215900"/>
                  </a:lnTo>
                  <a:lnTo>
                    <a:pt x="1585620" y="212422"/>
                  </a:lnTo>
                  <a:lnTo>
                    <a:pt x="1637401" y="202394"/>
                  </a:lnTo>
                  <a:lnTo>
                    <a:pt x="1685083" y="186426"/>
                  </a:lnTo>
                  <a:lnTo>
                    <a:pt x="1727800" y="165127"/>
                  </a:lnTo>
                  <a:lnTo>
                    <a:pt x="1764689" y="139107"/>
                  </a:lnTo>
                  <a:lnTo>
                    <a:pt x="1794886" y="108975"/>
                  </a:lnTo>
                  <a:lnTo>
                    <a:pt x="1817525" y="75340"/>
                  </a:lnTo>
                  <a:lnTo>
                    <a:pt x="1831742" y="38812"/>
                  </a:lnTo>
                  <a:lnTo>
                    <a:pt x="1836674" y="0"/>
                  </a:lnTo>
                  <a:lnTo>
                    <a:pt x="1841605" y="38812"/>
                  </a:lnTo>
                  <a:lnTo>
                    <a:pt x="1855823" y="75340"/>
                  </a:lnTo>
                  <a:lnTo>
                    <a:pt x="1878466" y="108975"/>
                  </a:lnTo>
                  <a:lnTo>
                    <a:pt x="1908669" y="139107"/>
                  </a:lnTo>
                  <a:lnTo>
                    <a:pt x="1945569" y="165127"/>
                  </a:lnTo>
                  <a:lnTo>
                    <a:pt x="1988302" y="186426"/>
                  </a:lnTo>
                  <a:lnTo>
                    <a:pt x="2036006" y="202394"/>
                  </a:lnTo>
                  <a:lnTo>
                    <a:pt x="2087816" y="212422"/>
                  </a:lnTo>
                  <a:lnTo>
                    <a:pt x="2142870" y="215900"/>
                  </a:lnTo>
                  <a:lnTo>
                    <a:pt x="3367278" y="215900"/>
                  </a:lnTo>
                  <a:lnTo>
                    <a:pt x="3422332" y="219377"/>
                  </a:lnTo>
                  <a:lnTo>
                    <a:pt x="3474142" y="229405"/>
                  </a:lnTo>
                  <a:lnTo>
                    <a:pt x="3521846" y="245373"/>
                  </a:lnTo>
                  <a:lnTo>
                    <a:pt x="3564579" y="266672"/>
                  </a:lnTo>
                  <a:lnTo>
                    <a:pt x="3601479" y="292692"/>
                  </a:lnTo>
                  <a:lnTo>
                    <a:pt x="3631682" y="322824"/>
                  </a:lnTo>
                  <a:lnTo>
                    <a:pt x="3654325" y="356459"/>
                  </a:lnTo>
                  <a:lnTo>
                    <a:pt x="3668543" y="392987"/>
                  </a:lnTo>
                  <a:lnTo>
                    <a:pt x="3673475" y="431800"/>
                  </a:lnTo>
                </a:path>
              </a:pathLst>
            </a:custGeom>
            <a:ln w="285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68723" y="3308603"/>
              <a:ext cx="688848" cy="789432"/>
            </a:xfrm>
            <a:prstGeom prst="rect">
              <a:avLst/>
            </a:prstGeom>
          </p:spPr>
        </p:pic>
        <p:pic>
          <p:nvPicPr>
            <p:cNvPr id="63" name="object 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88179" y="3308603"/>
              <a:ext cx="1534668" cy="789432"/>
            </a:xfrm>
            <a:prstGeom prst="rect">
              <a:avLst/>
            </a:prstGeom>
          </p:spPr>
        </p:pic>
      </p:grpSp>
      <p:sp>
        <p:nvSpPr>
          <p:cNvPr id="64" name="object 62"/>
          <p:cNvSpPr txBox="1"/>
          <p:nvPr/>
        </p:nvSpPr>
        <p:spPr>
          <a:xfrm>
            <a:off x="4477892" y="3398596"/>
            <a:ext cx="1310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1D528D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sz="2800" b="1" spc="-40" dirty="0">
                <a:solidFill>
                  <a:srgbClr val="1D528D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个字</a:t>
            </a:r>
            <a:r>
              <a:rPr sz="2800" b="1" spc="-50" dirty="0">
                <a:solidFill>
                  <a:srgbClr val="1D528D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节</a:t>
            </a:r>
            <a:endParaRPr sz="28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65" name="object 63"/>
          <p:cNvGrpSpPr/>
          <p:nvPr/>
        </p:nvGrpSpPr>
        <p:grpSpPr>
          <a:xfrm>
            <a:off x="1528798" y="1700783"/>
            <a:ext cx="7372984" cy="3390265"/>
            <a:chOff x="1528798" y="1700783"/>
            <a:chExt cx="7372984" cy="3390265"/>
          </a:xfrm>
        </p:grpSpPr>
        <p:sp>
          <p:nvSpPr>
            <p:cNvPr id="66" name="object 64"/>
            <p:cNvSpPr/>
            <p:nvPr/>
          </p:nvSpPr>
          <p:spPr>
            <a:xfrm>
              <a:off x="1614678" y="4378705"/>
              <a:ext cx="1039494" cy="711200"/>
            </a:xfrm>
            <a:custGeom>
              <a:avLst/>
              <a:gdLst/>
              <a:ahLst/>
              <a:cxnLst/>
              <a:rect l="l" t="t" r="r" b="b"/>
              <a:pathLst>
                <a:path w="1039494" h="711200">
                  <a:moveTo>
                    <a:pt x="0" y="0"/>
                  </a:moveTo>
                  <a:lnTo>
                    <a:pt x="189738" y="306070"/>
                  </a:lnTo>
                  <a:lnTo>
                    <a:pt x="216080" y="344779"/>
                  </a:lnTo>
                  <a:lnTo>
                    <a:pt x="245324" y="380810"/>
                  </a:lnTo>
                  <a:lnTo>
                    <a:pt x="277291" y="414102"/>
                  </a:lnTo>
                  <a:lnTo>
                    <a:pt x="311804" y="444591"/>
                  </a:lnTo>
                  <a:lnTo>
                    <a:pt x="348685" y="472216"/>
                  </a:lnTo>
                  <a:lnTo>
                    <a:pt x="387755" y="496914"/>
                  </a:lnTo>
                  <a:lnTo>
                    <a:pt x="428836" y="518624"/>
                  </a:lnTo>
                  <a:lnTo>
                    <a:pt x="471750" y="537283"/>
                  </a:lnTo>
                  <a:lnTo>
                    <a:pt x="516320" y="552828"/>
                  </a:lnTo>
                  <a:lnTo>
                    <a:pt x="562366" y="565199"/>
                  </a:lnTo>
                  <a:lnTo>
                    <a:pt x="609712" y="574331"/>
                  </a:lnTo>
                  <a:lnTo>
                    <a:pt x="658179" y="580164"/>
                  </a:lnTo>
                  <a:lnTo>
                    <a:pt x="707589" y="582635"/>
                  </a:lnTo>
                  <a:lnTo>
                    <a:pt x="757764" y="581682"/>
                  </a:lnTo>
                  <a:lnTo>
                    <a:pt x="808526" y="577243"/>
                  </a:lnTo>
                  <a:lnTo>
                    <a:pt x="859696" y="569255"/>
                  </a:lnTo>
                  <a:lnTo>
                    <a:pt x="911097" y="557657"/>
                  </a:lnTo>
                  <a:lnTo>
                    <a:pt x="1005966" y="710692"/>
                  </a:lnTo>
                  <a:lnTo>
                    <a:pt x="1039367" y="308737"/>
                  </a:lnTo>
                  <a:lnTo>
                    <a:pt x="626491" y="98679"/>
                  </a:lnTo>
                  <a:lnTo>
                    <a:pt x="721360" y="251714"/>
                  </a:lnTo>
                  <a:lnTo>
                    <a:pt x="669958" y="263312"/>
                  </a:lnTo>
                  <a:lnTo>
                    <a:pt x="618788" y="271300"/>
                  </a:lnTo>
                  <a:lnTo>
                    <a:pt x="568026" y="275739"/>
                  </a:lnTo>
                  <a:lnTo>
                    <a:pt x="517851" y="276691"/>
                  </a:lnTo>
                  <a:lnTo>
                    <a:pt x="468441" y="274218"/>
                  </a:lnTo>
                  <a:lnTo>
                    <a:pt x="419974" y="268383"/>
                  </a:lnTo>
                  <a:lnTo>
                    <a:pt x="372628" y="259247"/>
                  </a:lnTo>
                  <a:lnTo>
                    <a:pt x="326582" y="246872"/>
                  </a:lnTo>
                  <a:lnTo>
                    <a:pt x="282012" y="231321"/>
                  </a:lnTo>
                  <a:lnTo>
                    <a:pt x="239098" y="212655"/>
                  </a:lnTo>
                  <a:lnTo>
                    <a:pt x="198017" y="190937"/>
                  </a:lnTo>
                  <a:lnTo>
                    <a:pt x="158947" y="166228"/>
                  </a:lnTo>
                  <a:lnTo>
                    <a:pt x="122066" y="138591"/>
                  </a:lnTo>
                  <a:lnTo>
                    <a:pt x="87553" y="108088"/>
                  </a:lnTo>
                  <a:lnTo>
                    <a:pt x="55586" y="74780"/>
                  </a:lnTo>
                  <a:lnTo>
                    <a:pt x="26342" y="38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5"/>
            <p:cNvSpPr/>
            <p:nvPr/>
          </p:nvSpPr>
          <p:spPr>
            <a:xfrm>
              <a:off x="1530806" y="3463416"/>
              <a:ext cx="554355" cy="1052830"/>
            </a:xfrm>
            <a:custGeom>
              <a:avLst/>
              <a:gdLst/>
              <a:ahLst/>
              <a:cxnLst/>
              <a:rect l="l" t="t" r="r" b="b"/>
              <a:pathLst>
                <a:path w="554355" h="1052829">
                  <a:moveTo>
                    <a:pt x="364414" y="0"/>
                  </a:moveTo>
                  <a:lnTo>
                    <a:pt x="320909" y="28886"/>
                  </a:lnTo>
                  <a:lnTo>
                    <a:pt x="279451" y="60404"/>
                  </a:lnTo>
                  <a:lnTo>
                    <a:pt x="240184" y="94422"/>
                  </a:lnTo>
                  <a:lnTo>
                    <a:pt x="203251" y="130810"/>
                  </a:lnTo>
                  <a:lnTo>
                    <a:pt x="169330" y="168743"/>
                  </a:lnTo>
                  <a:lnTo>
                    <a:pt x="138498" y="207963"/>
                  </a:lnTo>
                  <a:lnTo>
                    <a:pt x="110756" y="248312"/>
                  </a:lnTo>
                  <a:lnTo>
                    <a:pt x="86102" y="289636"/>
                  </a:lnTo>
                  <a:lnTo>
                    <a:pt x="64538" y="331777"/>
                  </a:lnTo>
                  <a:lnTo>
                    <a:pt x="46061" y="374581"/>
                  </a:lnTo>
                  <a:lnTo>
                    <a:pt x="30673" y="417891"/>
                  </a:lnTo>
                  <a:lnTo>
                    <a:pt x="18374" y="461552"/>
                  </a:lnTo>
                  <a:lnTo>
                    <a:pt x="9161" y="505406"/>
                  </a:lnTo>
                  <a:lnTo>
                    <a:pt x="3037" y="549299"/>
                  </a:lnTo>
                  <a:lnTo>
                    <a:pt x="0" y="593075"/>
                  </a:lnTo>
                  <a:lnTo>
                    <a:pt x="49" y="636577"/>
                  </a:lnTo>
                  <a:lnTo>
                    <a:pt x="3186" y="679650"/>
                  </a:lnTo>
                  <a:lnTo>
                    <a:pt x="9409" y="722137"/>
                  </a:lnTo>
                  <a:lnTo>
                    <a:pt x="18718" y="763883"/>
                  </a:lnTo>
                  <a:lnTo>
                    <a:pt x="31113" y="804731"/>
                  </a:lnTo>
                  <a:lnTo>
                    <a:pt x="46594" y="844527"/>
                  </a:lnTo>
                  <a:lnTo>
                    <a:pt x="65161" y="883113"/>
                  </a:lnTo>
                  <a:lnTo>
                    <a:pt x="86812" y="920334"/>
                  </a:lnTo>
                  <a:lnTo>
                    <a:pt x="111549" y="956034"/>
                  </a:lnTo>
                  <a:lnTo>
                    <a:pt x="139371" y="990057"/>
                  </a:lnTo>
                  <a:lnTo>
                    <a:pt x="170277" y="1022247"/>
                  </a:lnTo>
                  <a:lnTo>
                    <a:pt x="204267" y="1052449"/>
                  </a:lnTo>
                  <a:lnTo>
                    <a:pt x="195597" y="1006386"/>
                  </a:lnTo>
                  <a:lnTo>
                    <a:pt x="190657" y="959964"/>
                  </a:lnTo>
                  <a:lnTo>
                    <a:pt x="189368" y="913350"/>
                  </a:lnTo>
                  <a:lnTo>
                    <a:pt x="191651" y="866714"/>
                  </a:lnTo>
                  <a:lnTo>
                    <a:pt x="197426" y="820224"/>
                  </a:lnTo>
                  <a:lnTo>
                    <a:pt x="206614" y="774050"/>
                  </a:lnTo>
                  <a:lnTo>
                    <a:pt x="219136" y="728361"/>
                  </a:lnTo>
                  <a:lnTo>
                    <a:pt x="234911" y="683325"/>
                  </a:lnTo>
                  <a:lnTo>
                    <a:pt x="253861" y="639111"/>
                  </a:lnTo>
                  <a:lnTo>
                    <a:pt x="275906" y="595889"/>
                  </a:lnTo>
                  <a:lnTo>
                    <a:pt x="300966" y="553827"/>
                  </a:lnTo>
                  <a:lnTo>
                    <a:pt x="328962" y="513094"/>
                  </a:lnTo>
                  <a:lnTo>
                    <a:pt x="359816" y="473859"/>
                  </a:lnTo>
                  <a:lnTo>
                    <a:pt x="393446" y="436291"/>
                  </a:lnTo>
                  <a:lnTo>
                    <a:pt x="429775" y="400559"/>
                  </a:lnTo>
                  <a:lnTo>
                    <a:pt x="468721" y="366832"/>
                  </a:lnTo>
                  <a:lnTo>
                    <a:pt x="510207" y="335280"/>
                  </a:lnTo>
                  <a:lnTo>
                    <a:pt x="554152" y="306070"/>
                  </a:lnTo>
                  <a:lnTo>
                    <a:pt x="364414" y="0"/>
                  </a:lnTo>
                  <a:close/>
                </a:path>
              </a:pathLst>
            </a:custGeom>
            <a:solidFill>
              <a:srgbClr val="007A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6"/>
            <p:cNvSpPr/>
            <p:nvPr/>
          </p:nvSpPr>
          <p:spPr>
            <a:xfrm>
              <a:off x="1530386" y="3463416"/>
              <a:ext cx="1123950" cy="1626235"/>
            </a:xfrm>
            <a:custGeom>
              <a:avLst/>
              <a:gdLst/>
              <a:ahLst/>
              <a:cxnLst/>
              <a:rect l="l" t="t" r="r" b="b"/>
              <a:pathLst>
                <a:path w="1123950" h="1626235">
                  <a:moveTo>
                    <a:pt x="84291" y="915289"/>
                  </a:moveTo>
                  <a:lnTo>
                    <a:pt x="110634" y="954019"/>
                  </a:lnTo>
                  <a:lnTo>
                    <a:pt x="139878" y="990069"/>
                  </a:lnTo>
                  <a:lnTo>
                    <a:pt x="171845" y="1023377"/>
                  </a:lnTo>
                  <a:lnTo>
                    <a:pt x="206358" y="1053880"/>
                  </a:lnTo>
                  <a:lnTo>
                    <a:pt x="243239" y="1081517"/>
                  </a:lnTo>
                  <a:lnTo>
                    <a:pt x="282308" y="1106226"/>
                  </a:lnTo>
                  <a:lnTo>
                    <a:pt x="323389" y="1127944"/>
                  </a:lnTo>
                  <a:lnTo>
                    <a:pt x="366304" y="1146610"/>
                  </a:lnTo>
                  <a:lnTo>
                    <a:pt x="410873" y="1162161"/>
                  </a:lnTo>
                  <a:lnTo>
                    <a:pt x="456920" y="1174536"/>
                  </a:lnTo>
                  <a:lnTo>
                    <a:pt x="504266" y="1183672"/>
                  </a:lnTo>
                  <a:lnTo>
                    <a:pt x="552733" y="1189507"/>
                  </a:lnTo>
                  <a:lnTo>
                    <a:pt x="602143" y="1191980"/>
                  </a:lnTo>
                  <a:lnTo>
                    <a:pt x="652318" y="1191028"/>
                  </a:lnTo>
                  <a:lnTo>
                    <a:pt x="703079" y="1186589"/>
                  </a:lnTo>
                  <a:lnTo>
                    <a:pt x="754250" y="1178601"/>
                  </a:lnTo>
                  <a:lnTo>
                    <a:pt x="805651" y="1167003"/>
                  </a:lnTo>
                  <a:lnTo>
                    <a:pt x="710782" y="1013968"/>
                  </a:lnTo>
                  <a:lnTo>
                    <a:pt x="1123659" y="1224026"/>
                  </a:lnTo>
                  <a:lnTo>
                    <a:pt x="1090258" y="1625981"/>
                  </a:lnTo>
                  <a:lnTo>
                    <a:pt x="995389" y="1472946"/>
                  </a:lnTo>
                  <a:lnTo>
                    <a:pt x="943988" y="1484544"/>
                  </a:lnTo>
                  <a:lnTo>
                    <a:pt x="892817" y="1492532"/>
                  </a:lnTo>
                  <a:lnTo>
                    <a:pt x="842056" y="1496971"/>
                  </a:lnTo>
                  <a:lnTo>
                    <a:pt x="791881" y="1497924"/>
                  </a:lnTo>
                  <a:lnTo>
                    <a:pt x="742471" y="1495453"/>
                  </a:lnTo>
                  <a:lnTo>
                    <a:pt x="694004" y="1489620"/>
                  </a:lnTo>
                  <a:lnTo>
                    <a:pt x="646658" y="1480488"/>
                  </a:lnTo>
                  <a:lnTo>
                    <a:pt x="600611" y="1468117"/>
                  </a:lnTo>
                  <a:lnTo>
                    <a:pt x="556042" y="1452572"/>
                  </a:lnTo>
                  <a:lnTo>
                    <a:pt x="513127" y="1433913"/>
                  </a:lnTo>
                  <a:lnTo>
                    <a:pt x="472046" y="1412203"/>
                  </a:lnTo>
                  <a:lnTo>
                    <a:pt x="432977" y="1387505"/>
                  </a:lnTo>
                  <a:lnTo>
                    <a:pt x="396096" y="1359880"/>
                  </a:lnTo>
                  <a:lnTo>
                    <a:pt x="361583" y="1329391"/>
                  </a:lnTo>
                  <a:lnTo>
                    <a:pt x="329616" y="1296099"/>
                  </a:lnTo>
                  <a:lnTo>
                    <a:pt x="300372" y="1260068"/>
                  </a:lnTo>
                  <a:lnTo>
                    <a:pt x="274029" y="1221359"/>
                  </a:lnTo>
                  <a:lnTo>
                    <a:pt x="84291" y="915289"/>
                  </a:lnTo>
                  <a:lnTo>
                    <a:pt x="62115" y="876088"/>
                  </a:lnTo>
                  <a:lnTo>
                    <a:pt x="43397" y="835750"/>
                  </a:lnTo>
                  <a:lnTo>
                    <a:pt x="28088" y="794429"/>
                  </a:lnTo>
                  <a:lnTo>
                    <a:pt x="16141" y="752281"/>
                  </a:lnTo>
                  <a:lnTo>
                    <a:pt x="7509" y="709460"/>
                  </a:lnTo>
                  <a:lnTo>
                    <a:pt x="2144" y="666120"/>
                  </a:lnTo>
                  <a:lnTo>
                    <a:pt x="0" y="622416"/>
                  </a:lnTo>
                  <a:lnTo>
                    <a:pt x="1027" y="578504"/>
                  </a:lnTo>
                  <a:lnTo>
                    <a:pt x="5179" y="534538"/>
                  </a:lnTo>
                  <a:lnTo>
                    <a:pt x="12409" y="490673"/>
                  </a:lnTo>
                  <a:lnTo>
                    <a:pt x="22668" y="447063"/>
                  </a:lnTo>
                  <a:lnTo>
                    <a:pt x="35910" y="403863"/>
                  </a:lnTo>
                  <a:lnTo>
                    <a:pt x="52087" y="361228"/>
                  </a:lnTo>
                  <a:lnTo>
                    <a:pt x="71151" y="319313"/>
                  </a:lnTo>
                  <a:lnTo>
                    <a:pt x="93056" y="278272"/>
                  </a:lnTo>
                  <a:lnTo>
                    <a:pt x="117753" y="238261"/>
                  </a:lnTo>
                  <a:lnTo>
                    <a:pt x="145195" y="199434"/>
                  </a:lnTo>
                  <a:lnTo>
                    <a:pt x="175334" y="161945"/>
                  </a:lnTo>
                  <a:lnTo>
                    <a:pt x="208124" y="125950"/>
                  </a:lnTo>
                  <a:lnTo>
                    <a:pt x="243516" y="91603"/>
                  </a:lnTo>
                  <a:lnTo>
                    <a:pt x="281464" y="59059"/>
                  </a:lnTo>
                  <a:lnTo>
                    <a:pt x="321919" y="28473"/>
                  </a:lnTo>
                  <a:lnTo>
                    <a:pt x="364834" y="0"/>
                  </a:lnTo>
                  <a:lnTo>
                    <a:pt x="554572" y="306070"/>
                  </a:lnTo>
                  <a:lnTo>
                    <a:pt x="510627" y="335280"/>
                  </a:lnTo>
                  <a:lnTo>
                    <a:pt x="469141" y="366832"/>
                  </a:lnTo>
                  <a:lnTo>
                    <a:pt x="430195" y="400559"/>
                  </a:lnTo>
                  <a:lnTo>
                    <a:pt x="393866" y="436291"/>
                  </a:lnTo>
                  <a:lnTo>
                    <a:pt x="360236" y="473859"/>
                  </a:lnTo>
                  <a:lnTo>
                    <a:pt x="329382" y="513094"/>
                  </a:lnTo>
                  <a:lnTo>
                    <a:pt x="301386" y="553827"/>
                  </a:lnTo>
                  <a:lnTo>
                    <a:pt x="276326" y="595889"/>
                  </a:lnTo>
                  <a:lnTo>
                    <a:pt x="254281" y="639111"/>
                  </a:lnTo>
                  <a:lnTo>
                    <a:pt x="235331" y="683325"/>
                  </a:lnTo>
                  <a:lnTo>
                    <a:pt x="219556" y="728361"/>
                  </a:lnTo>
                  <a:lnTo>
                    <a:pt x="207034" y="774050"/>
                  </a:lnTo>
                  <a:lnTo>
                    <a:pt x="197846" y="820224"/>
                  </a:lnTo>
                  <a:lnTo>
                    <a:pt x="192071" y="866714"/>
                  </a:lnTo>
                  <a:lnTo>
                    <a:pt x="189788" y="913350"/>
                  </a:lnTo>
                  <a:lnTo>
                    <a:pt x="191077" y="959964"/>
                  </a:lnTo>
                  <a:lnTo>
                    <a:pt x="196017" y="1006386"/>
                  </a:lnTo>
                  <a:lnTo>
                    <a:pt x="204687" y="1052449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36407" y="1725167"/>
              <a:ext cx="917448" cy="2668523"/>
            </a:xfrm>
            <a:prstGeom prst="rect">
              <a:avLst/>
            </a:prstGeom>
          </p:spPr>
        </p:pic>
        <p:pic>
          <p:nvPicPr>
            <p:cNvPr id="70" name="object 6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39456" y="1953767"/>
              <a:ext cx="1062227" cy="2362199"/>
            </a:xfrm>
            <a:prstGeom prst="rect">
              <a:avLst/>
            </a:prstGeom>
          </p:spPr>
        </p:pic>
        <p:sp>
          <p:nvSpPr>
            <p:cNvPr id="71" name="object 69"/>
            <p:cNvSpPr/>
            <p:nvPr/>
          </p:nvSpPr>
          <p:spPr>
            <a:xfrm>
              <a:off x="7812405" y="1700783"/>
              <a:ext cx="914400" cy="2665730"/>
            </a:xfrm>
            <a:custGeom>
              <a:avLst/>
              <a:gdLst/>
              <a:ahLst/>
              <a:cxnLst/>
              <a:rect l="l" t="t" r="r" b="b"/>
              <a:pathLst>
                <a:path w="914400" h="2665729">
                  <a:moveTo>
                    <a:pt x="7620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2513076"/>
                  </a:lnTo>
                  <a:lnTo>
                    <a:pt x="7766" y="2561210"/>
                  </a:lnTo>
                  <a:lnTo>
                    <a:pt x="29394" y="2603040"/>
                  </a:lnTo>
                  <a:lnTo>
                    <a:pt x="62380" y="2636044"/>
                  </a:lnTo>
                  <a:lnTo>
                    <a:pt x="104217" y="2657697"/>
                  </a:lnTo>
                  <a:lnTo>
                    <a:pt x="152400" y="2665476"/>
                  </a:lnTo>
                  <a:lnTo>
                    <a:pt x="762000" y="2665476"/>
                  </a:lnTo>
                  <a:lnTo>
                    <a:pt x="810134" y="2657697"/>
                  </a:lnTo>
                  <a:lnTo>
                    <a:pt x="851964" y="2636044"/>
                  </a:lnTo>
                  <a:lnTo>
                    <a:pt x="884968" y="2603040"/>
                  </a:lnTo>
                  <a:lnTo>
                    <a:pt x="906621" y="2561210"/>
                  </a:lnTo>
                  <a:lnTo>
                    <a:pt x="914400" y="2513076"/>
                  </a:lnTo>
                  <a:lnTo>
                    <a:pt x="914400" y="152400"/>
                  </a:lnTo>
                  <a:lnTo>
                    <a:pt x="906621" y="104217"/>
                  </a:lnTo>
                  <a:lnTo>
                    <a:pt x="884968" y="62380"/>
                  </a:lnTo>
                  <a:lnTo>
                    <a:pt x="851964" y="29394"/>
                  </a:lnTo>
                  <a:lnTo>
                    <a:pt x="810134" y="7766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5072" y="1927859"/>
              <a:ext cx="940307" cy="899160"/>
            </a:xfrm>
            <a:prstGeom prst="rect">
              <a:avLst/>
            </a:prstGeom>
          </p:spPr>
        </p:pic>
        <p:pic>
          <p:nvPicPr>
            <p:cNvPr id="73" name="object 7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15072" y="2415539"/>
              <a:ext cx="940307" cy="899160"/>
            </a:xfrm>
            <a:prstGeom prst="rect">
              <a:avLst/>
            </a:prstGeom>
          </p:spPr>
        </p:pic>
        <p:pic>
          <p:nvPicPr>
            <p:cNvPr id="74" name="object 7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15072" y="2903219"/>
              <a:ext cx="940307" cy="899159"/>
            </a:xfrm>
            <a:prstGeom prst="rect">
              <a:avLst/>
            </a:prstGeom>
          </p:spPr>
        </p:pic>
        <p:pic>
          <p:nvPicPr>
            <p:cNvPr id="75" name="object 7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15072" y="3390900"/>
              <a:ext cx="940307" cy="899160"/>
            </a:xfrm>
            <a:prstGeom prst="rect">
              <a:avLst/>
            </a:prstGeom>
          </p:spPr>
        </p:pic>
      </p:grpSp>
      <p:sp>
        <p:nvSpPr>
          <p:cNvPr id="76" name="object 74"/>
          <p:cNvSpPr txBox="1"/>
          <p:nvPr/>
        </p:nvSpPr>
        <p:spPr>
          <a:xfrm>
            <a:off x="8055102" y="2030730"/>
            <a:ext cx="43307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200" b="1" spc="-50" dirty="0">
                <a:solidFill>
                  <a:srgbClr val="003366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定点整数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4" name="object 2"/>
          <p:cNvGrpSpPr/>
          <p:nvPr/>
        </p:nvGrpSpPr>
        <p:grpSpPr>
          <a:xfrm>
            <a:off x="3170745" y="4301680"/>
            <a:ext cx="3889375" cy="787400"/>
            <a:chOff x="3170745" y="4301680"/>
            <a:chExt cx="3889375" cy="787400"/>
          </a:xfrm>
        </p:grpSpPr>
        <p:sp>
          <p:nvSpPr>
            <p:cNvPr id="5" name="object 3"/>
            <p:cNvSpPr/>
            <p:nvPr/>
          </p:nvSpPr>
          <p:spPr>
            <a:xfrm>
              <a:off x="3172332" y="4474717"/>
              <a:ext cx="514350" cy="612775"/>
            </a:xfrm>
            <a:custGeom>
              <a:avLst/>
              <a:gdLst/>
              <a:ahLst/>
              <a:cxnLst/>
              <a:rect l="l" t="t" r="r" b="b"/>
              <a:pathLst>
                <a:path w="514350" h="612775">
                  <a:moveTo>
                    <a:pt x="514349" y="0"/>
                  </a:moveTo>
                  <a:lnTo>
                    <a:pt x="0" y="0"/>
                  </a:lnTo>
                  <a:lnTo>
                    <a:pt x="0" y="612774"/>
                  </a:lnTo>
                  <a:lnTo>
                    <a:pt x="514349" y="612774"/>
                  </a:lnTo>
                  <a:lnTo>
                    <a:pt x="514349" y="0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4"/>
            <p:cNvSpPr/>
            <p:nvPr/>
          </p:nvSpPr>
          <p:spPr>
            <a:xfrm>
              <a:off x="3686682" y="4303267"/>
              <a:ext cx="171450" cy="784225"/>
            </a:xfrm>
            <a:custGeom>
              <a:avLst/>
              <a:gdLst/>
              <a:ahLst/>
              <a:cxnLst/>
              <a:rect l="l" t="t" r="r" b="b"/>
              <a:pathLst>
                <a:path w="171450" h="784225">
                  <a:moveTo>
                    <a:pt x="171450" y="0"/>
                  </a:moveTo>
                  <a:lnTo>
                    <a:pt x="0" y="171449"/>
                  </a:lnTo>
                  <a:lnTo>
                    <a:pt x="0" y="784224"/>
                  </a:lnTo>
                  <a:lnTo>
                    <a:pt x="171450" y="612774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52A3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5"/>
            <p:cNvSpPr/>
            <p:nvPr/>
          </p:nvSpPr>
          <p:spPr>
            <a:xfrm>
              <a:off x="3172332" y="4303267"/>
              <a:ext cx="685800" cy="171450"/>
            </a:xfrm>
            <a:custGeom>
              <a:avLst/>
              <a:gdLst/>
              <a:ahLst/>
              <a:cxnLst/>
              <a:rect l="l" t="t" r="r" b="b"/>
              <a:pathLst>
                <a:path w="685800" h="171450">
                  <a:moveTo>
                    <a:pt x="685800" y="0"/>
                  </a:moveTo>
                  <a:lnTo>
                    <a:pt x="171450" y="0"/>
                  </a:lnTo>
                  <a:lnTo>
                    <a:pt x="0" y="171449"/>
                  </a:lnTo>
                  <a:lnTo>
                    <a:pt x="514350" y="17144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84D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6"/>
            <p:cNvSpPr/>
            <p:nvPr/>
          </p:nvSpPr>
          <p:spPr>
            <a:xfrm>
              <a:off x="3172332" y="4303267"/>
              <a:ext cx="685800" cy="784225"/>
            </a:xfrm>
            <a:custGeom>
              <a:avLst/>
              <a:gdLst/>
              <a:ahLst/>
              <a:cxnLst/>
              <a:rect l="l" t="t" r="r" b="b"/>
              <a:pathLst>
                <a:path w="685800" h="784225">
                  <a:moveTo>
                    <a:pt x="0" y="171449"/>
                  </a:moveTo>
                  <a:lnTo>
                    <a:pt x="171450" y="0"/>
                  </a:lnTo>
                  <a:lnTo>
                    <a:pt x="685800" y="0"/>
                  </a:lnTo>
                  <a:lnTo>
                    <a:pt x="685800" y="612774"/>
                  </a:lnTo>
                  <a:lnTo>
                    <a:pt x="514350" y="784224"/>
                  </a:lnTo>
                  <a:lnTo>
                    <a:pt x="0" y="784224"/>
                  </a:lnTo>
                  <a:lnTo>
                    <a:pt x="0" y="171449"/>
                  </a:lnTo>
                  <a:close/>
                </a:path>
                <a:path w="685800" h="784225">
                  <a:moveTo>
                    <a:pt x="0" y="171449"/>
                  </a:moveTo>
                  <a:lnTo>
                    <a:pt x="514350" y="171449"/>
                  </a:lnTo>
                  <a:lnTo>
                    <a:pt x="685800" y="0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7"/>
            <p:cNvSpPr/>
            <p:nvPr/>
          </p:nvSpPr>
          <p:spPr>
            <a:xfrm>
              <a:off x="3604132" y="4474717"/>
              <a:ext cx="514350" cy="612775"/>
            </a:xfrm>
            <a:custGeom>
              <a:avLst/>
              <a:gdLst/>
              <a:ahLst/>
              <a:cxnLst/>
              <a:rect l="l" t="t" r="r" b="b"/>
              <a:pathLst>
                <a:path w="514350" h="612775">
                  <a:moveTo>
                    <a:pt x="514350" y="0"/>
                  </a:moveTo>
                  <a:lnTo>
                    <a:pt x="0" y="0"/>
                  </a:lnTo>
                  <a:lnTo>
                    <a:pt x="0" y="612774"/>
                  </a:lnTo>
                  <a:lnTo>
                    <a:pt x="514350" y="612774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8"/>
            <p:cNvSpPr/>
            <p:nvPr/>
          </p:nvSpPr>
          <p:spPr>
            <a:xfrm>
              <a:off x="4118482" y="4303267"/>
              <a:ext cx="171450" cy="784225"/>
            </a:xfrm>
            <a:custGeom>
              <a:avLst/>
              <a:gdLst/>
              <a:ahLst/>
              <a:cxnLst/>
              <a:rect l="l" t="t" r="r" b="b"/>
              <a:pathLst>
                <a:path w="171450" h="784225">
                  <a:moveTo>
                    <a:pt x="171450" y="0"/>
                  </a:moveTo>
                  <a:lnTo>
                    <a:pt x="0" y="171449"/>
                  </a:lnTo>
                  <a:lnTo>
                    <a:pt x="0" y="784224"/>
                  </a:lnTo>
                  <a:lnTo>
                    <a:pt x="171450" y="612774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A35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9"/>
            <p:cNvSpPr/>
            <p:nvPr/>
          </p:nvSpPr>
          <p:spPr>
            <a:xfrm>
              <a:off x="3604132" y="4303267"/>
              <a:ext cx="685800" cy="171450"/>
            </a:xfrm>
            <a:custGeom>
              <a:avLst/>
              <a:gdLst/>
              <a:ahLst/>
              <a:cxnLst/>
              <a:rect l="l" t="t" r="r" b="b"/>
              <a:pathLst>
                <a:path w="685800" h="171450">
                  <a:moveTo>
                    <a:pt x="685800" y="0"/>
                  </a:moveTo>
                  <a:lnTo>
                    <a:pt x="171450" y="0"/>
                  </a:lnTo>
                  <a:lnTo>
                    <a:pt x="0" y="171449"/>
                  </a:lnTo>
                  <a:lnTo>
                    <a:pt x="514350" y="17144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84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0"/>
            <p:cNvSpPr/>
            <p:nvPr/>
          </p:nvSpPr>
          <p:spPr>
            <a:xfrm>
              <a:off x="3604132" y="4303267"/>
              <a:ext cx="685800" cy="784225"/>
            </a:xfrm>
            <a:custGeom>
              <a:avLst/>
              <a:gdLst/>
              <a:ahLst/>
              <a:cxnLst/>
              <a:rect l="l" t="t" r="r" b="b"/>
              <a:pathLst>
                <a:path w="685800" h="784225">
                  <a:moveTo>
                    <a:pt x="0" y="171449"/>
                  </a:moveTo>
                  <a:lnTo>
                    <a:pt x="171450" y="0"/>
                  </a:lnTo>
                  <a:lnTo>
                    <a:pt x="685800" y="0"/>
                  </a:lnTo>
                  <a:lnTo>
                    <a:pt x="685800" y="612774"/>
                  </a:lnTo>
                  <a:lnTo>
                    <a:pt x="514350" y="784224"/>
                  </a:lnTo>
                  <a:lnTo>
                    <a:pt x="0" y="784224"/>
                  </a:lnTo>
                  <a:lnTo>
                    <a:pt x="0" y="171449"/>
                  </a:lnTo>
                  <a:close/>
                </a:path>
                <a:path w="685800" h="784225">
                  <a:moveTo>
                    <a:pt x="0" y="171449"/>
                  </a:moveTo>
                  <a:lnTo>
                    <a:pt x="514350" y="171449"/>
                  </a:lnTo>
                  <a:lnTo>
                    <a:pt x="685800" y="0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1"/>
            <p:cNvSpPr/>
            <p:nvPr/>
          </p:nvSpPr>
          <p:spPr>
            <a:xfrm>
              <a:off x="4088256" y="4474717"/>
              <a:ext cx="514350" cy="612775"/>
            </a:xfrm>
            <a:custGeom>
              <a:avLst/>
              <a:gdLst/>
              <a:ahLst/>
              <a:cxnLst/>
              <a:rect l="l" t="t" r="r" b="b"/>
              <a:pathLst>
                <a:path w="514350" h="612775">
                  <a:moveTo>
                    <a:pt x="514350" y="0"/>
                  </a:moveTo>
                  <a:lnTo>
                    <a:pt x="0" y="0"/>
                  </a:lnTo>
                  <a:lnTo>
                    <a:pt x="0" y="612774"/>
                  </a:lnTo>
                  <a:lnTo>
                    <a:pt x="514350" y="612774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2"/>
            <p:cNvSpPr/>
            <p:nvPr/>
          </p:nvSpPr>
          <p:spPr>
            <a:xfrm>
              <a:off x="4602606" y="4303267"/>
              <a:ext cx="171450" cy="784225"/>
            </a:xfrm>
            <a:custGeom>
              <a:avLst/>
              <a:gdLst/>
              <a:ahLst/>
              <a:cxnLst/>
              <a:rect l="l" t="t" r="r" b="b"/>
              <a:pathLst>
                <a:path w="171450" h="784225">
                  <a:moveTo>
                    <a:pt x="171450" y="0"/>
                  </a:moveTo>
                  <a:lnTo>
                    <a:pt x="0" y="171449"/>
                  </a:lnTo>
                  <a:lnTo>
                    <a:pt x="0" y="784224"/>
                  </a:lnTo>
                  <a:lnTo>
                    <a:pt x="171450" y="612774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A35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3"/>
            <p:cNvSpPr/>
            <p:nvPr/>
          </p:nvSpPr>
          <p:spPr>
            <a:xfrm>
              <a:off x="4088256" y="4303267"/>
              <a:ext cx="685800" cy="171450"/>
            </a:xfrm>
            <a:custGeom>
              <a:avLst/>
              <a:gdLst/>
              <a:ahLst/>
              <a:cxnLst/>
              <a:rect l="l" t="t" r="r" b="b"/>
              <a:pathLst>
                <a:path w="685800" h="171450">
                  <a:moveTo>
                    <a:pt x="685800" y="0"/>
                  </a:moveTo>
                  <a:lnTo>
                    <a:pt x="171450" y="0"/>
                  </a:lnTo>
                  <a:lnTo>
                    <a:pt x="0" y="171449"/>
                  </a:lnTo>
                  <a:lnTo>
                    <a:pt x="514350" y="17144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84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4"/>
            <p:cNvSpPr/>
            <p:nvPr/>
          </p:nvSpPr>
          <p:spPr>
            <a:xfrm>
              <a:off x="4088256" y="4303267"/>
              <a:ext cx="685800" cy="784225"/>
            </a:xfrm>
            <a:custGeom>
              <a:avLst/>
              <a:gdLst/>
              <a:ahLst/>
              <a:cxnLst/>
              <a:rect l="l" t="t" r="r" b="b"/>
              <a:pathLst>
                <a:path w="685800" h="784225">
                  <a:moveTo>
                    <a:pt x="0" y="171449"/>
                  </a:moveTo>
                  <a:lnTo>
                    <a:pt x="171450" y="0"/>
                  </a:lnTo>
                  <a:lnTo>
                    <a:pt x="685800" y="0"/>
                  </a:lnTo>
                  <a:lnTo>
                    <a:pt x="685800" y="612774"/>
                  </a:lnTo>
                  <a:lnTo>
                    <a:pt x="514350" y="784224"/>
                  </a:lnTo>
                  <a:lnTo>
                    <a:pt x="0" y="784224"/>
                  </a:lnTo>
                  <a:lnTo>
                    <a:pt x="0" y="171449"/>
                  </a:lnTo>
                  <a:close/>
                </a:path>
                <a:path w="685800" h="784225">
                  <a:moveTo>
                    <a:pt x="0" y="171449"/>
                  </a:moveTo>
                  <a:lnTo>
                    <a:pt x="514350" y="171449"/>
                  </a:lnTo>
                  <a:lnTo>
                    <a:pt x="685800" y="0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5"/>
            <p:cNvSpPr/>
            <p:nvPr/>
          </p:nvSpPr>
          <p:spPr>
            <a:xfrm>
              <a:off x="4543932" y="4474717"/>
              <a:ext cx="514350" cy="612775"/>
            </a:xfrm>
            <a:custGeom>
              <a:avLst/>
              <a:gdLst/>
              <a:ahLst/>
              <a:cxnLst/>
              <a:rect l="l" t="t" r="r" b="b"/>
              <a:pathLst>
                <a:path w="514350" h="612775">
                  <a:moveTo>
                    <a:pt x="514350" y="0"/>
                  </a:moveTo>
                  <a:lnTo>
                    <a:pt x="0" y="0"/>
                  </a:lnTo>
                  <a:lnTo>
                    <a:pt x="0" y="612774"/>
                  </a:lnTo>
                  <a:lnTo>
                    <a:pt x="514350" y="612774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6"/>
            <p:cNvSpPr/>
            <p:nvPr/>
          </p:nvSpPr>
          <p:spPr>
            <a:xfrm>
              <a:off x="5058282" y="4303267"/>
              <a:ext cx="171450" cy="784225"/>
            </a:xfrm>
            <a:custGeom>
              <a:avLst/>
              <a:gdLst/>
              <a:ahLst/>
              <a:cxnLst/>
              <a:rect l="l" t="t" r="r" b="b"/>
              <a:pathLst>
                <a:path w="171450" h="784225">
                  <a:moveTo>
                    <a:pt x="171450" y="0"/>
                  </a:moveTo>
                  <a:lnTo>
                    <a:pt x="0" y="171449"/>
                  </a:lnTo>
                  <a:lnTo>
                    <a:pt x="0" y="784224"/>
                  </a:lnTo>
                  <a:lnTo>
                    <a:pt x="171450" y="612774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A35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7"/>
            <p:cNvSpPr/>
            <p:nvPr/>
          </p:nvSpPr>
          <p:spPr>
            <a:xfrm>
              <a:off x="4543932" y="4303267"/>
              <a:ext cx="685800" cy="171450"/>
            </a:xfrm>
            <a:custGeom>
              <a:avLst/>
              <a:gdLst/>
              <a:ahLst/>
              <a:cxnLst/>
              <a:rect l="l" t="t" r="r" b="b"/>
              <a:pathLst>
                <a:path w="685800" h="171450">
                  <a:moveTo>
                    <a:pt x="685800" y="0"/>
                  </a:moveTo>
                  <a:lnTo>
                    <a:pt x="171450" y="0"/>
                  </a:lnTo>
                  <a:lnTo>
                    <a:pt x="0" y="171449"/>
                  </a:lnTo>
                  <a:lnTo>
                    <a:pt x="514350" y="17144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84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18"/>
            <p:cNvSpPr/>
            <p:nvPr/>
          </p:nvSpPr>
          <p:spPr>
            <a:xfrm>
              <a:off x="4543932" y="4303267"/>
              <a:ext cx="685800" cy="784225"/>
            </a:xfrm>
            <a:custGeom>
              <a:avLst/>
              <a:gdLst/>
              <a:ahLst/>
              <a:cxnLst/>
              <a:rect l="l" t="t" r="r" b="b"/>
              <a:pathLst>
                <a:path w="685800" h="784225">
                  <a:moveTo>
                    <a:pt x="0" y="171449"/>
                  </a:moveTo>
                  <a:lnTo>
                    <a:pt x="171450" y="0"/>
                  </a:lnTo>
                  <a:lnTo>
                    <a:pt x="685800" y="0"/>
                  </a:lnTo>
                  <a:lnTo>
                    <a:pt x="685800" y="612774"/>
                  </a:lnTo>
                  <a:lnTo>
                    <a:pt x="514350" y="784224"/>
                  </a:lnTo>
                  <a:lnTo>
                    <a:pt x="0" y="784224"/>
                  </a:lnTo>
                  <a:lnTo>
                    <a:pt x="0" y="171449"/>
                  </a:lnTo>
                  <a:close/>
                </a:path>
                <a:path w="685800" h="784225">
                  <a:moveTo>
                    <a:pt x="0" y="171449"/>
                  </a:moveTo>
                  <a:lnTo>
                    <a:pt x="514350" y="171449"/>
                  </a:lnTo>
                  <a:lnTo>
                    <a:pt x="685800" y="0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19"/>
            <p:cNvSpPr/>
            <p:nvPr/>
          </p:nvSpPr>
          <p:spPr>
            <a:xfrm>
              <a:off x="5001132" y="4474717"/>
              <a:ext cx="514350" cy="612775"/>
            </a:xfrm>
            <a:custGeom>
              <a:avLst/>
              <a:gdLst/>
              <a:ahLst/>
              <a:cxnLst/>
              <a:rect l="l" t="t" r="r" b="b"/>
              <a:pathLst>
                <a:path w="514350" h="612775">
                  <a:moveTo>
                    <a:pt x="514350" y="0"/>
                  </a:moveTo>
                  <a:lnTo>
                    <a:pt x="0" y="0"/>
                  </a:lnTo>
                  <a:lnTo>
                    <a:pt x="0" y="612774"/>
                  </a:lnTo>
                  <a:lnTo>
                    <a:pt x="514350" y="612774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0"/>
            <p:cNvSpPr/>
            <p:nvPr/>
          </p:nvSpPr>
          <p:spPr>
            <a:xfrm>
              <a:off x="5515482" y="4303267"/>
              <a:ext cx="171450" cy="784225"/>
            </a:xfrm>
            <a:custGeom>
              <a:avLst/>
              <a:gdLst/>
              <a:ahLst/>
              <a:cxnLst/>
              <a:rect l="l" t="t" r="r" b="b"/>
              <a:pathLst>
                <a:path w="171450" h="784225">
                  <a:moveTo>
                    <a:pt x="171450" y="0"/>
                  </a:moveTo>
                  <a:lnTo>
                    <a:pt x="0" y="171449"/>
                  </a:lnTo>
                  <a:lnTo>
                    <a:pt x="0" y="784224"/>
                  </a:lnTo>
                  <a:lnTo>
                    <a:pt x="171450" y="612774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A35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1"/>
            <p:cNvSpPr/>
            <p:nvPr/>
          </p:nvSpPr>
          <p:spPr>
            <a:xfrm>
              <a:off x="5001132" y="4303267"/>
              <a:ext cx="685800" cy="171450"/>
            </a:xfrm>
            <a:custGeom>
              <a:avLst/>
              <a:gdLst/>
              <a:ahLst/>
              <a:cxnLst/>
              <a:rect l="l" t="t" r="r" b="b"/>
              <a:pathLst>
                <a:path w="685800" h="171450">
                  <a:moveTo>
                    <a:pt x="685800" y="0"/>
                  </a:moveTo>
                  <a:lnTo>
                    <a:pt x="171450" y="0"/>
                  </a:lnTo>
                  <a:lnTo>
                    <a:pt x="0" y="171449"/>
                  </a:lnTo>
                  <a:lnTo>
                    <a:pt x="514350" y="17144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84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2"/>
            <p:cNvSpPr/>
            <p:nvPr/>
          </p:nvSpPr>
          <p:spPr>
            <a:xfrm>
              <a:off x="5001132" y="4303267"/>
              <a:ext cx="685800" cy="784225"/>
            </a:xfrm>
            <a:custGeom>
              <a:avLst/>
              <a:gdLst/>
              <a:ahLst/>
              <a:cxnLst/>
              <a:rect l="l" t="t" r="r" b="b"/>
              <a:pathLst>
                <a:path w="685800" h="784225">
                  <a:moveTo>
                    <a:pt x="0" y="171449"/>
                  </a:moveTo>
                  <a:lnTo>
                    <a:pt x="171450" y="0"/>
                  </a:lnTo>
                  <a:lnTo>
                    <a:pt x="685800" y="0"/>
                  </a:lnTo>
                  <a:lnTo>
                    <a:pt x="685800" y="612774"/>
                  </a:lnTo>
                  <a:lnTo>
                    <a:pt x="514350" y="784224"/>
                  </a:lnTo>
                  <a:lnTo>
                    <a:pt x="0" y="784224"/>
                  </a:lnTo>
                  <a:lnTo>
                    <a:pt x="0" y="171449"/>
                  </a:lnTo>
                  <a:close/>
                </a:path>
                <a:path w="685800" h="784225">
                  <a:moveTo>
                    <a:pt x="0" y="171449"/>
                  </a:moveTo>
                  <a:lnTo>
                    <a:pt x="514350" y="171449"/>
                  </a:lnTo>
                  <a:lnTo>
                    <a:pt x="685800" y="0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3"/>
            <p:cNvSpPr/>
            <p:nvPr/>
          </p:nvSpPr>
          <p:spPr>
            <a:xfrm>
              <a:off x="5456681" y="4474717"/>
              <a:ext cx="514350" cy="612775"/>
            </a:xfrm>
            <a:custGeom>
              <a:avLst/>
              <a:gdLst/>
              <a:ahLst/>
              <a:cxnLst/>
              <a:rect l="l" t="t" r="r" b="b"/>
              <a:pathLst>
                <a:path w="514350" h="612775">
                  <a:moveTo>
                    <a:pt x="514350" y="0"/>
                  </a:moveTo>
                  <a:lnTo>
                    <a:pt x="0" y="0"/>
                  </a:lnTo>
                  <a:lnTo>
                    <a:pt x="0" y="612774"/>
                  </a:lnTo>
                  <a:lnTo>
                    <a:pt x="514350" y="612774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4"/>
            <p:cNvSpPr/>
            <p:nvPr/>
          </p:nvSpPr>
          <p:spPr>
            <a:xfrm>
              <a:off x="5971031" y="4303267"/>
              <a:ext cx="171450" cy="784225"/>
            </a:xfrm>
            <a:custGeom>
              <a:avLst/>
              <a:gdLst/>
              <a:ahLst/>
              <a:cxnLst/>
              <a:rect l="l" t="t" r="r" b="b"/>
              <a:pathLst>
                <a:path w="171450" h="784225">
                  <a:moveTo>
                    <a:pt x="171450" y="0"/>
                  </a:moveTo>
                  <a:lnTo>
                    <a:pt x="0" y="171449"/>
                  </a:lnTo>
                  <a:lnTo>
                    <a:pt x="0" y="784224"/>
                  </a:lnTo>
                  <a:lnTo>
                    <a:pt x="171450" y="612774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A35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5"/>
            <p:cNvSpPr/>
            <p:nvPr/>
          </p:nvSpPr>
          <p:spPr>
            <a:xfrm>
              <a:off x="5456681" y="4303267"/>
              <a:ext cx="685800" cy="171450"/>
            </a:xfrm>
            <a:custGeom>
              <a:avLst/>
              <a:gdLst/>
              <a:ahLst/>
              <a:cxnLst/>
              <a:rect l="l" t="t" r="r" b="b"/>
              <a:pathLst>
                <a:path w="685800" h="171450">
                  <a:moveTo>
                    <a:pt x="685800" y="0"/>
                  </a:moveTo>
                  <a:lnTo>
                    <a:pt x="171450" y="0"/>
                  </a:lnTo>
                  <a:lnTo>
                    <a:pt x="0" y="171449"/>
                  </a:lnTo>
                  <a:lnTo>
                    <a:pt x="514350" y="17144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84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6"/>
            <p:cNvSpPr/>
            <p:nvPr/>
          </p:nvSpPr>
          <p:spPr>
            <a:xfrm>
              <a:off x="5456681" y="4303267"/>
              <a:ext cx="685800" cy="784225"/>
            </a:xfrm>
            <a:custGeom>
              <a:avLst/>
              <a:gdLst/>
              <a:ahLst/>
              <a:cxnLst/>
              <a:rect l="l" t="t" r="r" b="b"/>
              <a:pathLst>
                <a:path w="685800" h="784225">
                  <a:moveTo>
                    <a:pt x="0" y="171449"/>
                  </a:moveTo>
                  <a:lnTo>
                    <a:pt x="171450" y="0"/>
                  </a:lnTo>
                  <a:lnTo>
                    <a:pt x="685800" y="0"/>
                  </a:lnTo>
                  <a:lnTo>
                    <a:pt x="685800" y="612774"/>
                  </a:lnTo>
                  <a:lnTo>
                    <a:pt x="514350" y="784224"/>
                  </a:lnTo>
                  <a:lnTo>
                    <a:pt x="0" y="784224"/>
                  </a:lnTo>
                  <a:lnTo>
                    <a:pt x="0" y="171449"/>
                  </a:lnTo>
                  <a:close/>
                </a:path>
                <a:path w="685800" h="784225">
                  <a:moveTo>
                    <a:pt x="0" y="171449"/>
                  </a:moveTo>
                  <a:lnTo>
                    <a:pt x="514350" y="171449"/>
                  </a:lnTo>
                  <a:lnTo>
                    <a:pt x="685800" y="0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7"/>
            <p:cNvSpPr/>
            <p:nvPr/>
          </p:nvSpPr>
          <p:spPr>
            <a:xfrm>
              <a:off x="5915532" y="4474717"/>
              <a:ext cx="514350" cy="612775"/>
            </a:xfrm>
            <a:custGeom>
              <a:avLst/>
              <a:gdLst/>
              <a:ahLst/>
              <a:cxnLst/>
              <a:rect l="l" t="t" r="r" b="b"/>
              <a:pathLst>
                <a:path w="514350" h="612775">
                  <a:moveTo>
                    <a:pt x="514350" y="0"/>
                  </a:moveTo>
                  <a:lnTo>
                    <a:pt x="0" y="0"/>
                  </a:lnTo>
                  <a:lnTo>
                    <a:pt x="0" y="612774"/>
                  </a:lnTo>
                  <a:lnTo>
                    <a:pt x="514350" y="612774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28"/>
            <p:cNvSpPr/>
            <p:nvPr/>
          </p:nvSpPr>
          <p:spPr>
            <a:xfrm>
              <a:off x="6429882" y="4303267"/>
              <a:ext cx="171450" cy="784225"/>
            </a:xfrm>
            <a:custGeom>
              <a:avLst/>
              <a:gdLst/>
              <a:ahLst/>
              <a:cxnLst/>
              <a:rect l="l" t="t" r="r" b="b"/>
              <a:pathLst>
                <a:path w="171450" h="784225">
                  <a:moveTo>
                    <a:pt x="171449" y="0"/>
                  </a:moveTo>
                  <a:lnTo>
                    <a:pt x="0" y="171449"/>
                  </a:lnTo>
                  <a:lnTo>
                    <a:pt x="0" y="784224"/>
                  </a:lnTo>
                  <a:lnTo>
                    <a:pt x="171449" y="612774"/>
                  </a:lnTo>
                  <a:lnTo>
                    <a:pt x="171449" y="0"/>
                  </a:lnTo>
                  <a:close/>
                </a:path>
              </a:pathLst>
            </a:custGeom>
            <a:solidFill>
              <a:srgbClr val="A35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29"/>
            <p:cNvSpPr/>
            <p:nvPr/>
          </p:nvSpPr>
          <p:spPr>
            <a:xfrm>
              <a:off x="5915532" y="4303267"/>
              <a:ext cx="685800" cy="171450"/>
            </a:xfrm>
            <a:custGeom>
              <a:avLst/>
              <a:gdLst/>
              <a:ahLst/>
              <a:cxnLst/>
              <a:rect l="l" t="t" r="r" b="b"/>
              <a:pathLst>
                <a:path w="685800" h="171450">
                  <a:moveTo>
                    <a:pt x="685799" y="0"/>
                  </a:moveTo>
                  <a:lnTo>
                    <a:pt x="171450" y="0"/>
                  </a:lnTo>
                  <a:lnTo>
                    <a:pt x="0" y="171449"/>
                  </a:lnTo>
                  <a:lnTo>
                    <a:pt x="514350" y="171449"/>
                  </a:lnTo>
                  <a:lnTo>
                    <a:pt x="685799" y="0"/>
                  </a:lnTo>
                  <a:close/>
                </a:path>
              </a:pathLst>
            </a:custGeom>
            <a:solidFill>
              <a:srgbClr val="D584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0"/>
            <p:cNvSpPr/>
            <p:nvPr/>
          </p:nvSpPr>
          <p:spPr>
            <a:xfrm>
              <a:off x="5915532" y="4303267"/>
              <a:ext cx="685800" cy="784225"/>
            </a:xfrm>
            <a:custGeom>
              <a:avLst/>
              <a:gdLst/>
              <a:ahLst/>
              <a:cxnLst/>
              <a:rect l="l" t="t" r="r" b="b"/>
              <a:pathLst>
                <a:path w="685800" h="784225">
                  <a:moveTo>
                    <a:pt x="0" y="171449"/>
                  </a:moveTo>
                  <a:lnTo>
                    <a:pt x="171450" y="0"/>
                  </a:lnTo>
                  <a:lnTo>
                    <a:pt x="685799" y="0"/>
                  </a:lnTo>
                  <a:lnTo>
                    <a:pt x="685799" y="612774"/>
                  </a:lnTo>
                  <a:lnTo>
                    <a:pt x="514350" y="784224"/>
                  </a:lnTo>
                  <a:lnTo>
                    <a:pt x="0" y="784224"/>
                  </a:lnTo>
                  <a:lnTo>
                    <a:pt x="0" y="171449"/>
                  </a:lnTo>
                  <a:close/>
                </a:path>
                <a:path w="685800" h="784225">
                  <a:moveTo>
                    <a:pt x="0" y="171449"/>
                  </a:moveTo>
                  <a:lnTo>
                    <a:pt x="514350" y="171449"/>
                  </a:lnTo>
                  <a:lnTo>
                    <a:pt x="685799" y="0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1"/>
            <p:cNvSpPr/>
            <p:nvPr/>
          </p:nvSpPr>
          <p:spPr>
            <a:xfrm>
              <a:off x="6372732" y="4474717"/>
              <a:ext cx="514350" cy="612775"/>
            </a:xfrm>
            <a:custGeom>
              <a:avLst/>
              <a:gdLst/>
              <a:ahLst/>
              <a:cxnLst/>
              <a:rect l="l" t="t" r="r" b="b"/>
              <a:pathLst>
                <a:path w="514350" h="612775">
                  <a:moveTo>
                    <a:pt x="514349" y="0"/>
                  </a:moveTo>
                  <a:lnTo>
                    <a:pt x="0" y="0"/>
                  </a:lnTo>
                  <a:lnTo>
                    <a:pt x="0" y="612774"/>
                  </a:lnTo>
                  <a:lnTo>
                    <a:pt x="514349" y="612774"/>
                  </a:lnTo>
                  <a:lnTo>
                    <a:pt x="514349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2"/>
            <p:cNvSpPr/>
            <p:nvPr/>
          </p:nvSpPr>
          <p:spPr>
            <a:xfrm>
              <a:off x="6887082" y="4303267"/>
              <a:ext cx="171450" cy="784225"/>
            </a:xfrm>
            <a:custGeom>
              <a:avLst/>
              <a:gdLst/>
              <a:ahLst/>
              <a:cxnLst/>
              <a:rect l="l" t="t" r="r" b="b"/>
              <a:pathLst>
                <a:path w="171450" h="784225">
                  <a:moveTo>
                    <a:pt x="171450" y="0"/>
                  </a:moveTo>
                  <a:lnTo>
                    <a:pt x="0" y="171449"/>
                  </a:lnTo>
                  <a:lnTo>
                    <a:pt x="0" y="784224"/>
                  </a:lnTo>
                  <a:lnTo>
                    <a:pt x="171450" y="612774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A352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3"/>
            <p:cNvSpPr/>
            <p:nvPr/>
          </p:nvSpPr>
          <p:spPr>
            <a:xfrm>
              <a:off x="6372732" y="4303267"/>
              <a:ext cx="685800" cy="171450"/>
            </a:xfrm>
            <a:custGeom>
              <a:avLst/>
              <a:gdLst/>
              <a:ahLst/>
              <a:cxnLst/>
              <a:rect l="l" t="t" r="r" b="b"/>
              <a:pathLst>
                <a:path w="685800" h="171450">
                  <a:moveTo>
                    <a:pt x="685799" y="0"/>
                  </a:moveTo>
                  <a:lnTo>
                    <a:pt x="171449" y="0"/>
                  </a:lnTo>
                  <a:lnTo>
                    <a:pt x="0" y="171449"/>
                  </a:lnTo>
                  <a:lnTo>
                    <a:pt x="514349" y="171449"/>
                  </a:lnTo>
                  <a:lnTo>
                    <a:pt x="685799" y="0"/>
                  </a:lnTo>
                  <a:close/>
                </a:path>
              </a:pathLst>
            </a:custGeom>
            <a:solidFill>
              <a:srgbClr val="D584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4"/>
            <p:cNvSpPr/>
            <p:nvPr/>
          </p:nvSpPr>
          <p:spPr>
            <a:xfrm>
              <a:off x="6372732" y="4303267"/>
              <a:ext cx="685800" cy="784225"/>
            </a:xfrm>
            <a:custGeom>
              <a:avLst/>
              <a:gdLst/>
              <a:ahLst/>
              <a:cxnLst/>
              <a:rect l="l" t="t" r="r" b="b"/>
              <a:pathLst>
                <a:path w="685800" h="784225">
                  <a:moveTo>
                    <a:pt x="0" y="171449"/>
                  </a:moveTo>
                  <a:lnTo>
                    <a:pt x="171449" y="0"/>
                  </a:lnTo>
                  <a:lnTo>
                    <a:pt x="685799" y="0"/>
                  </a:lnTo>
                  <a:lnTo>
                    <a:pt x="685799" y="612774"/>
                  </a:lnTo>
                  <a:lnTo>
                    <a:pt x="514349" y="784224"/>
                  </a:lnTo>
                  <a:lnTo>
                    <a:pt x="0" y="784224"/>
                  </a:lnTo>
                  <a:lnTo>
                    <a:pt x="0" y="171449"/>
                  </a:lnTo>
                  <a:close/>
                </a:path>
                <a:path w="685800" h="784225">
                  <a:moveTo>
                    <a:pt x="0" y="171449"/>
                  </a:moveTo>
                  <a:lnTo>
                    <a:pt x="514349" y="171449"/>
                  </a:lnTo>
                  <a:lnTo>
                    <a:pt x="685799" y="0"/>
                  </a:lnTo>
                </a:path>
                <a:path w="685800" h="784225">
                  <a:moveTo>
                    <a:pt x="514349" y="171449"/>
                  </a:moveTo>
                  <a:lnTo>
                    <a:pt x="514349" y="784224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5"/>
          <p:cNvSpPr txBox="1"/>
          <p:nvPr/>
        </p:nvSpPr>
        <p:spPr>
          <a:xfrm>
            <a:off x="3323971" y="4574540"/>
            <a:ext cx="34150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4500" algn="l"/>
                <a:tab pos="927735" algn="l"/>
                <a:tab pos="1384300" algn="l"/>
                <a:tab pos="1841500" algn="l"/>
                <a:tab pos="2296795" algn="l"/>
                <a:tab pos="2755900" algn="l"/>
                <a:tab pos="3213100" algn="l"/>
              </a:tabLst>
            </a:pPr>
            <a:r>
              <a:rPr sz="2400" b="1" spc="-50" dirty="0">
                <a:solidFill>
                  <a:srgbClr val="1D528D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sz="2400" b="1" dirty="0">
                <a:solidFill>
                  <a:srgbClr val="1D528D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sz="24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sz="24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sz="24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sz="24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sz="24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sz="24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endParaRPr sz="24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8" name="object 36"/>
          <p:cNvGrpSpPr/>
          <p:nvPr/>
        </p:nvGrpSpPr>
        <p:grpSpPr>
          <a:xfrm>
            <a:off x="1671827" y="4928615"/>
            <a:ext cx="1630680" cy="1468120"/>
            <a:chOff x="1671827" y="4928615"/>
            <a:chExt cx="1630680" cy="1468120"/>
          </a:xfrm>
        </p:grpSpPr>
        <p:pic>
          <p:nvPicPr>
            <p:cNvPr id="39" name="object 3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671827" y="4928615"/>
              <a:ext cx="1604772" cy="1441703"/>
            </a:xfrm>
            <a:prstGeom prst="rect">
              <a:avLst/>
            </a:prstGeom>
          </p:spPr>
        </p:pic>
        <p:pic>
          <p:nvPicPr>
            <p:cNvPr id="40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6211" y="4952999"/>
              <a:ext cx="1606296" cy="1443228"/>
            </a:xfrm>
            <a:prstGeom prst="rect">
              <a:avLst/>
            </a:prstGeom>
          </p:spPr>
        </p:pic>
        <p:sp>
          <p:nvSpPr>
            <p:cNvPr id="41" name="object 39"/>
            <p:cNvSpPr/>
            <p:nvPr/>
          </p:nvSpPr>
          <p:spPr>
            <a:xfrm>
              <a:off x="1685543" y="4942458"/>
              <a:ext cx="1602105" cy="1438910"/>
            </a:xfrm>
            <a:custGeom>
              <a:avLst/>
              <a:gdLst/>
              <a:ahLst/>
              <a:cxnLst/>
              <a:rect l="l" t="t" r="r" b="b"/>
              <a:pathLst>
                <a:path w="1602104" h="1438910">
                  <a:moveTo>
                    <a:pt x="1327150" y="714971"/>
                  </a:moveTo>
                  <a:lnTo>
                    <a:pt x="120650" y="714971"/>
                  </a:lnTo>
                  <a:lnTo>
                    <a:pt x="73669" y="724452"/>
                  </a:lnTo>
                  <a:lnTo>
                    <a:pt x="35321" y="750308"/>
                  </a:lnTo>
                  <a:lnTo>
                    <a:pt x="9475" y="788657"/>
                  </a:lnTo>
                  <a:lnTo>
                    <a:pt x="0" y="835621"/>
                  </a:lnTo>
                  <a:lnTo>
                    <a:pt x="0" y="1318221"/>
                  </a:lnTo>
                  <a:lnTo>
                    <a:pt x="9475" y="1365180"/>
                  </a:lnTo>
                  <a:lnTo>
                    <a:pt x="35321" y="1403530"/>
                  </a:lnTo>
                  <a:lnTo>
                    <a:pt x="73669" y="1429389"/>
                  </a:lnTo>
                  <a:lnTo>
                    <a:pt x="120650" y="1438871"/>
                  </a:lnTo>
                  <a:lnTo>
                    <a:pt x="1327150" y="1438871"/>
                  </a:lnTo>
                  <a:lnTo>
                    <a:pt x="1374076" y="1429389"/>
                  </a:lnTo>
                  <a:lnTo>
                    <a:pt x="1412430" y="1403530"/>
                  </a:lnTo>
                  <a:lnTo>
                    <a:pt x="1438306" y="1365180"/>
                  </a:lnTo>
                  <a:lnTo>
                    <a:pt x="1447800" y="1318221"/>
                  </a:lnTo>
                  <a:lnTo>
                    <a:pt x="1447800" y="835621"/>
                  </a:lnTo>
                  <a:lnTo>
                    <a:pt x="1438306" y="788657"/>
                  </a:lnTo>
                  <a:lnTo>
                    <a:pt x="1412430" y="750308"/>
                  </a:lnTo>
                  <a:lnTo>
                    <a:pt x="1374076" y="724452"/>
                  </a:lnTo>
                  <a:lnTo>
                    <a:pt x="1327150" y="714971"/>
                  </a:lnTo>
                  <a:close/>
                </a:path>
                <a:path w="1602104" h="1438910">
                  <a:moveTo>
                    <a:pt x="1602105" y="0"/>
                  </a:moveTo>
                  <a:lnTo>
                    <a:pt x="844550" y="714971"/>
                  </a:lnTo>
                  <a:lnTo>
                    <a:pt x="1206500" y="714971"/>
                  </a:lnTo>
                  <a:lnTo>
                    <a:pt x="160210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0"/>
          <p:cNvSpPr txBox="1"/>
          <p:nvPr/>
        </p:nvSpPr>
        <p:spPr>
          <a:xfrm>
            <a:off x="1864232" y="5780938"/>
            <a:ext cx="10909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4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符号</a:t>
            </a:r>
            <a:r>
              <a:rPr sz="28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位</a:t>
            </a:r>
            <a:endParaRPr sz="28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3" name="object 41"/>
          <p:cNvGrpSpPr/>
          <p:nvPr/>
        </p:nvGrpSpPr>
        <p:grpSpPr>
          <a:xfrm>
            <a:off x="3538728" y="5082540"/>
            <a:ext cx="3382010" cy="1313815"/>
            <a:chOff x="3538728" y="5082540"/>
            <a:chExt cx="3382010" cy="1313815"/>
          </a:xfrm>
        </p:grpSpPr>
        <p:pic>
          <p:nvPicPr>
            <p:cNvPr id="44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8728" y="5082540"/>
              <a:ext cx="3355848" cy="1287780"/>
            </a:xfrm>
            <a:prstGeom prst="rect">
              <a:avLst/>
            </a:prstGeom>
          </p:spPr>
        </p:pic>
        <p:pic>
          <p:nvPicPr>
            <p:cNvPr id="45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64636" y="5108448"/>
              <a:ext cx="3355848" cy="1287780"/>
            </a:xfrm>
            <a:prstGeom prst="rect">
              <a:avLst/>
            </a:prstGeom>
          </p:spPr>
        </p:pic>
        <p:sp>
          <p:nvSpPr>
            <p:cNvPr id="46" name="object 44"/>
            <p:cNvSpPr/>
            <p:nvPr/>
          </p:nvSpPr>
          <p:spPr>
            <a:xfrm>
              <a:off x="3553333" y="5097018"/>
              <a:ext cx="3352800" cy="1284605"/>
            </a:xfrm>
            <a:custGeom>
              <a:avLst/>
              <a:gdLst/>
              <a:ahLst/>
              <a:cxnLst/>
              <a:rect l="l" t="t" r="r" b="b"/>
              <a:pathLst>
                <a:path w="3352800" h="1284604">
                  <a:moveTo>
                    <a:pt x="3232149" y="560412"/>
                  </a:moveTo>
                  <a:lnTo>
                    <a:pt x="120650" y="560412"/>
                  </a:lnTo>
                  <a:lnTo>
                    <a:pt x="73669" y="569893"/>
                  </a:lnTo>
                  <a:lnTo>
                    <a:pt x="35321" y="595749"/>
                  </a:lnTo>
                  <a:lnTo>
                    <a:pt x="9475" y="634098"/>
                  </a:lnTo>
                  <a:lnTo>
                    <a:pt x="0" y="681062"/>
                  </a:lnTo>
                  <a:lnTo>
                    <a:pt x="0" y="1163662"/>
                  </a:lnTo>
                  <a:lnTo>
                    <a:pt x="9475" y="1210621"/>
                  </a:lnTo>
                  <a:lnTo>
                    <a:pt x="35321" y="1248971"/>
                  </a:lnTo>
                  <a:lnTo>
                    <a:pt x="73669" y="1274830"/>
                  </a:lnTo>
                  <a:lnTo>
                    <a:pt x="120650" y="1284312"/>
                  </a:lnTo>
                  <a:lnTo>
                    <a:pt x="3232149" y="1284312"/>
                  </a:lnTo>
                  <a:lnTo>
                    <a:pt x="3279130" y="1274830"/>
                  </a:lnTo>
                  <a:lnTo>
                    <a:pt x="3317478" y="1248971"/>
                  </a:lnTo>
                  <a:lnTo>
                    <a:pt x="3343324" y="1210621"/>
                  </a:lnTo>
                  <a:lnTo>
                    <a:pt x="3352799" y="1163662"/>
                  </a:lnTo>
                  <a:lnTo>
                    <a:pt x="3352799" y="681062"/>
                  </a:lnTo>
                  <a:lnTo>
                    <a:pt x="3343324" y="634098"/>
                  </a:lnTo>
                  <a:lnTo>
                    <a:pt x="3317478" y="595749"/>
                  </a:lnTo>
                  <a:lnTo>
                    <a:pt x="3279130" y="569893"/>
                  </a:lnTo>
                  <a:lnTo>
                    <a:pt x="3232149" y="560412"/>
                  </a:lnTo>
                  <a:close/>
                </a:path>
                <a:path w="3352800" h="1284604">
                  <a:moveTo>
                    <a:pt x="60325" y="0"/>
                  </a:moveTo>
                  <a:lnTo>
                    <a:pt x="558800" y="560412"/>
                  </a:lnTo>
                  <a:lnTo>
                    <a:pt x="1397000" y="560412"/>
                  </a:lnTo>
                  <a:lnTo>
                    <a:pt x="6032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5"/>
          <p:cNvSpPr txBox="1"/>
          <p:nvPr/>
        </p:nvSpPr>
        <p:spPr>
          <a:xfrm>
            <a:off x="3796410" y="5780938"/>
            <a:ext cx="2866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4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隐含小数位在最</a:t>
            </a:r>
            <a:r>
              <a:rPr sz="28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左</a:t>
            </a:r>
            <a:endParaRPr sz="28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8" name="object 46"/>
          <p:cNvGrpSpPr/>
          <p:nvPr/>
        </p:nvGrpSpPr>
        <p:grpSpPr>
          <a:xfrm>
            <a:off x="472440" y="1556766"/>
            <a:ext cx="5507990" cy="955040"/>
            <a:chOff x="472440" y="1556766"/>
            <a:chExt cx="5507990" cy="955040"/>
          </a:xfrm>
        </p:grpSpPr>
        <p:pic>
          <p:nvPicPr>
            <p:cNvPr id="49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2356" y="1578864"/>
              <a:ext cx="5417820" cy="870203"/>
            </a:xfrm>
            <a:prstGeom prst="rect">
              <a:avLst/>
            </a:prstGeom>
          </p:spPr>
        </p:pic>
        <p:pic>
          <p:nvPicPr>
            <p:cNvPr id="50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2440" y="1691640"/>
              <a:ext cx="5222748" cy="819912"/>
            </a:xfrm>
            <a:prstGeom prst="rect">
              <a:avLst/>
            </a:prstGeom>
          </p:spPr>
        </p:pic>
        <p:sp>
          <p:nvSpPr>
            <p:cNvPr id="51" name="object 49"/>
            <p:cNvSpPr/>
            <p:nvPr/>
          </p:nvSpPr>
          <p:spPr>
            <a:xfrm>
              <a:off x="539546" y="1556766"/>
              <a:ext cx="5412105" cy="864235"/>
            </a:xfrm>
            <a:custGeom>
              <a:avLst/>
              <a:gdLst/>
              <a:ahLst/>
              <a:cxnLst/>
              <a:rect l="l" t="t" r="r" b="b"/>
              <a:pathLst>
                <a:path w="5412105" h="864235">
                  <a:moveTo>
                    <a:pt x="5411597" y="0"/>
                  </a:moveTo>
                  <a:lnTo>
                    <a:pt x="0" y="0"/>
                  </a:lnTo>
                  <a:lnTo>
                    <a:pt x="0" y="863726"/>
                  </a:lnTo>
                  <a:lnTo>
                    <a:pt x="5411597" y="863726"/>
                  </a:lnTo>
                  <a:lnTo>
                    <a:pt x="5411597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0"/>
          <p:cNvSpPr txBox="1"/>
          <p:nvPr/>
        </p:nvSpPr>
        <p:spPr>
          <a:xfrm>
            <a:off x="539546" y="1556766"/>
            <a:ext cx="5412105" cy="864235"/>
          </a:xfrm>
          <a:prstGeom prst="rect">
            <a:avLst/>
          </a:prstGeom>
          <a:ln w="3175">
            <a:solidFill>
              <a:srgbClr val="FF9900"/>
            </a:solidFill>
          </a:ln>
        </p:spPr>
        <p:txBody>
          <a:bodyPr vert="horz" wrap="square" lIns="0" tIns="2044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610"/>
              </a:spcBef>
            </a:pPr>
            <a:r>
              <a:rPr sz="2800" b="1" spc="-35" dirty="0">
                <a:solidFill>
                  <a:srgbClr val="FFFF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例如</a:t>
            </a:r>
            <a:r>
              <a:rPr sz="2800" b="1" spc="-5" dirty="0">
                <a:solidFill>
                  <a:srgbClr val="FFFF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 </a:t>
            </a:r>
            <a:r>
              <a:rPr sz="28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(0.5)</a:t>
            </a:r>
            <a:r>
              <a:rPr sz="2775" b="1" baseline="-210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sz="2775" b="1" spc="367" baseline="-210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800" b="1" spc="-3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的存储表</a:t>
            </a:r>
            <a:r>
              <a:rPr sz="28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sz="2800" b="1" spc="-2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？</a:t>
            </a:r>
            <a:endParaRPr sz="28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53" name="object 51"/>
          <p:cNvGrpSpPr/>
          <p:nvPr/>
        </p:nvGrpSpPr>
        <p:grpSpPr>
          <a:xfrm>
            <a:off x="472440" y="2420873"/>
            <a:ext cx="5507990" cy="955040"/>
            <a:chOff x="472440" y="2420873"/>
            <a:chExt cx="5507990" cy="955040"/>
          </a:xfrm>
        </p:grpSpPr>
        <p:pic>
          <p:nvPicPr>
            <p:cNvPr id="54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2356" y="2442971"/>
              <a:ext cx="5417820" cy="870203"/>
            </a:xfrm>
            <a:prstGeom prst="rect">
              <a:avLst/>
            </a:prstGeom>
          </p:spPr>
        </p:pic>
        <p:pic>
          <p:nvPicPr>
            <p:cNvPr id="55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2440" y="2555747"/>
              <a:ext cx="4326636" cy="819912"/>
            </a:xfrm>
            <a:prstGeom prst="rect">
              <a:avLst/>
            </a:prstGeom>
          </p:spPr>
        </p:pic>
        <p:sp>
          <p:nvSpPr>
            <p:cNvPr id="56" name="object 54"/>
            <p:cNvSpPr/>
            <p:nvPr/>
          </p:nvSpPr>
          <p:spPr>
            <a:xfrm>
              <a:off x="539546" y="2420873"/>
              <a:ext cx="5412105" cy="864235"/>
            </a:xfrm>
            <a:custGeom>
              <a:avLst/>
              <a:gdLst/>
              <a:ahLst/>
              <a:cxnLst/>
              <a:rect l="l" t="t" r="r" b="b"/>
              <a:pathLst>
                <a:path w="5412105" h="864235">
                  <a:moveTo>
                    <a:pt x="5411597" y="0"/>
                  </a:moveTo>
                  <a:lnTo>
                    <a:pt x="0" y="0"/>
                  </a:lnTo>
                  <a:lnTo>
                    <a:pt x="0" y="863726"/>
                  </a:lnTo>
                  <a:lnTo>
                    <a:pt x="5411597" y="863726"/>
                  </a:lnTo>
                  <a:lnTo>
                    <a:pt x="5411597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5"/>
          <p:cNvSpPr txBox="1"/>
          <p:nvPr/>
        </p:nvSpPr>
        <p:spPr>
          <a:xfrm>
            <a:off x="539546" y="2420683"/>
            <a:ext cx="5412105" cy="864235"/>
          </a:xfrm>
          <a:prstGeom prst="rect">
            <a:avLst/>
          </a:prstGeom>
          <a:ln w="3175">
            <a:solidFill>
              <a:srgbClr val="FF9900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615"/>
              </a:spcBef>
              <a:tabLst>
                <a:tab pos="2569845" algn="l"/>
                <a:tab pos="3053080" algn="l"/>
              </a:tabLst>
            </a:pPr>
            <a:r>
              <a:rPr sz="2800" b="1" spc="-35" dirty="0">
                <a:solidFill>
                  <a:srgbClr val="FFFF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因为</a:t>
            </a:r>
            <a:r>
              <a:rPr sz="2800" b="1" spc="-10" dirty="0">
                <a:solidFill>
                  <a:srgbClr val="FFFF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sz="2800" b="1" spc="-1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(0.5)</a:t>
            </a:r>
            <a:r>
              <a:rPr sz="2775" b="1" spc="-15" baseline="-210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sz="2775" b="1" baseline="-210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800" b="1" spc="-5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sz="2800" b="1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(0.1)</a:t>
            </a:r>
            <a:r>
              <a:rPr sz="2775" b="1" spc="-15" baseline="-210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sz="2775" baseline="-210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58" name="object 56"/>
          <p:cNvGrpSpPr/>
          <p:nvPr/>
        </p:nvGrpSpPr>
        <p:grpSpPr>
          <a:xfrm>
            <a:off x="3331781" y="3275076"/>
            <a:ext cx="3702050" cy="1032510"/>
            <a:chOff x="3331781" y="3275076"/>
            <a:chExt cx="3702050" cy="1032510"/>
          </a:xfrm>
        </p:grpSpPr>
        <p:sp>
          <p:nvSpPr>
            <p:cNvPr id="59" name="object 57"/>
            <p:cNvSpPr/>
            <p:nvPr/>
          </p:nvSpPr>
          <p:spPr>
            <a:xfrm>
              <a:off x="3346069" y="3861308"/>
              <a:ext cx="3673475" cy="431800"/>
            </a:xfrm>
            <a:custGeom>
              <a:avLst/>
              <a:gdLst/>
              <a:ahLst/>
              <a:cxnLst/>
              <a:rect l="l" t="t" r="r" b="b"/>
              <a:pathLst>
                <a:path w="3673475" h="431800">
                  <a:moveTo>
                    <a:pt x="0" y="431800"/>
                  </a:moveTo>
                  <a:lnTo>
                    <a:pt x="4931" y="392987"/>
                  </a:lnTo>
                  <a:lnTo>
                    <a:pt x="19148" y="356459"/>
                  </a:lnTo>
                  <a:lnTo>
                    <a:pt x="41787" y="322824"/>
                  </a:lnTo>
                  <a:lnTo>
                    <a:pt x="71984" y="292692"/>
                  </a:lnTo>
                  <a:lnTo>
                    <a:pt x="108873" y="266672"/>
                  </a:lnTo>
                  <a:lnTo>
                    <a:pt x="151590" y="245373"/>
                  </a:lnTo>
                  <a:lnTo>
                    <a:pt x="199272" y="229405"/>
                  </a:lnTo>
                  <a:lnTo>
                    <a:pt x="251053" y="219377"/>
                  </a:lnTo>
                  <a:lnTo>
                    <a:pt x="306069" y="215900"/>
                  </a:lnTo>
                  <a:lnTo>
                    <a:pt x="1530603" y="215900"/>
                  </a:lnTo>
                  <a:lnTo>
                    <a:pt x="1585620" y="212422"/>
                  </a:lnTo>
                  <a:lnTo>
                    <a:pt x="1637401" y="202394"/>
                  </a:lnTo>
                  <a:lnTo>
                    <a:pt x="1685083" y="186426"/>
                  </a:lnTo>
                  <a:lnTo>
                    <a:pt x="1727800" y="165127"/>
                  </a:lnTo>
                  <a:lnTo>
                    <a:pt x="1764689" y="139107"/>
                  </a:lnTo>
                  <a:lnTo>
                    <a:pt x="1794886" y="108975"/>
                  </a:lnTo>
                  <a:lnTo>
                    <a:pt x="1817525" y="75340"/>
                  </a:lnTo>
                  <a:lnTo>
                    <a:pt x="1831742" y="38812"/>
                  </a:lnTo>
                  <a:lnTo>
                    <a:pt x="1836673" y="0"/>
                  </a:lnTo>
                  <a:lnTo>
                    <a:pt x="1841605" y="38812"/>
                  </a:lnTo>
                  <a:lnTo>
                    <a:pt x="1855823" y="75340"/>
                  </a:lnTo>
                  <a:lnTo>
                    <a:pt x="1878466" y="108975"/>
                  </a:lnTo>
                  <a:lnTo>
                    <a:pt x="1908669" y="139107"/>
                  </a:lnTo>
                  <a:lnTo>
                    <a:pt x="1945569" y="165127"/>
                  </a:lnTo>
                  <a:lnTo>
                    <a:pt x="1988302" y="186426"/>
                  </a:lnTo>
                  <a:lnTo>
                    <a:pt x="2036006" y="202394"/>
                  </a:lnTo>
                  <a:lnTo>
                    <a:pt x="2087816" y="212422"/>
                  </a:lnTo>
                  <a:lnTo>
                    <a:pt x="2142870" y="215900"/>
                  </a:lnTo>
                  <a:lnTo>
                    <a:pt x="3367278" y="215900"/>
                  </a:lnTo>
                  <a:lnTo>
                    <a:pt x="3422298" y="219377"/>
                  </a:lnTo>
                  <a:lnTo>
                    <a:pt x="3474091" y="229405"/>
                  </a:lnTo>
                  <a:lnTo>
                    <a:pt x="3521789" y="245373"/>
                  </a:lnTo>
                  <a:lnTo>
                    <a:pt x="3564527" y="266672"/>
                  </a:lnTo>
                  <a:lnTo>
                    <a:pt x="3601437" y="292692"/>
                  </a:lnTo>
                  <a:lnTo>
                    <a:pt x="3631654" y="322824"/>
                  </a:lnTo>
                  <a:lnTo>
                    <a:pt x="3654310" y="356459"/>
                  </a:lnTo>
                  <a:lnTo>
                    <a:pt x="3668539" y="392987"/>
                  </a:lnTo>
                  <a:lnTo>
                    <a:pt x="3673475" y="431800"/>
                  </a:lnTo>
                </a:path>
              </a:pathLst>
            </a:custGeom>
            <a:ln w="285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93108" y="3275076"/>
              <a:ext cx="688848" cy="789432"/>
            </a:xfrm>
            <a:prstGeom prst="rect">
              <a:avLst/>
            </a:prstGeom>
          </p:spPr>
        </p:pic>
        <p:pic>
          <p:nvPicPr>
            <p:cNvPr id="61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12563" y="3275076"/>
              <a:ext cx="1534667" cy="789432"/>
            </a:xfrm>
            <a:prstGeom prst="rect">
              <a:avLst/>
            </a:prstGeom>
          </p:spPr>
        </p:pic>
      </p:grpSp>
      <p:sp>
        <p:nvSpPr>
          <p:cNvPr id="62" name="object 60"/>
          <p:cNvSpPr txBox="1"/>
          <p:nvPr/>
        </p:nvSpPr>
        <p:spPr>
          <a:xfrm>
            <a:off x="4502277" y="3366008"/>
            <a:ext cx="1310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1D528D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sz="2800" b="1" spc="-35" dirty="0">
                <a:solidFill>
                  <a:srgbClr val="1D528D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个字</a:t>
            </a:r>
            <a:r>
              <a:rPr sz="2800" b="1" spc="-50" dirty="0">
                <a:solidFill>
                  <a:srgbClr val="1D528D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节</a:t>
            </a:r>
            <a:endParaRPr sz="28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63" name="object 61"/>
          <p:cNvGrpSpPr/>
          <p:nvPr/>
        </p:nvGrpSpPr>
        <p:grpSpPr>
          <a:xfrm>
            <a:off x="1747470" y="3283394"/>
            <a:ext cx="1028700" cy="1745614"/>
            <a:chOff x="1747470" y="3283394"/>
            <a:chExt cx="1028700" cy="1745614"/>
          </a:xfrm>
        </p:grpSpPr>
        <p:sp>
          <p:nvSpPr>
            <p:cNvPr id="64" name="object 62"/>
            <p:cNvSpPr/>
            <p:nvPr/>
          </p:nvSpPr>
          <p:spPr>
            <a:xfrm>
              <a:off x="1793493" y="4154424"/>
              <a:ext cx="981075" cy="873125"/>
            </a:xfrm>
            <a:custGeom>
              <a:avLst/>
              <a:gdLst/>
              <a:ahLst/>
              <a:cxnLst/>
              <a:rect l="l" t="t" r="r" b="b"/>
              <a:pathLst>
                <a:path w="981075" h="873125">
                  <a:moveTo>
                    <a:pt x="0" y="0"/>
                  </a:moveTo>
                  <a:lnTo>
                    <a:pt x="138303" y="332486"/>
                  </a:lnTo>
                  <a:lnTo>
                    <a:pt x="158425" y="375729"/>
                  </a:lnTo>
                  <a:lnTo>
                    <a:pt x="181838" y="416781"/>
                  </a:lnTo>
                  <a:lnTo>
                    <a:pt x="208374" y="455548"/>
                  </a:lnTo>
                  <a:lnTo>
                    <a:pt x="237866" y="491940"/>
                  </a:lnTo>
                  <a:lnTo>
                    <a:pt x="270147" y="525862"/>
                  </a:lnTo>
                  <a:lnTo>
                    <a:pt x="305050" y="557222"/>
                  </a:lnTo>
                  <a:lnTo>
                    <a:pt x="342408" y="585928"/>
                  </a:lnTo>
                  <a:lnTo>
                    <a:pt x="382055" y="611887"/>
                  </a:lnTo>
                  <a:lnTo>
                    <a:pt x="423824" y="635007"/>
                  </a:lnTo>
                  <a:lnTo>
                    <a:pt x="467547" y="655194"/>
                  </a:lnTo>
                  <a:lnTo>
                    <a:pt x="513058" y="672357"/>
                  </a:lnTo>
                  <a:lnTo>
                    <a:pt x="560190" y="686402"/>
                  </a:lnTo>
                  <a:lnTo>
                    <a:pt x="608776" y="697237"/>
                  </a:lnTo>
                  <a:lnTo>
                    <a:pt x="658650" y="704770"/>
                  </a:lnTo>
                  <a:lnTo>
                    <a:pt x="709643" y="708908"/>
                  </a:lnTo>
                  <a:lnTo>
                    <a:pt x="761590" y="709558"/>
                  </a:lnTo>
                  <a:lnTo>
                    <a:pt x="814324" y="706627"/>
                  </a:lnTo>
                  <a:lnTo>
                    <a:pt x="883538" y="872870"/>
                  </a:lnTo>
                  <a:lnTo>
                    <a:pt x="981075" y="482092"/>
                  </a:lnTo>
                  <a:lnTo>
                    <a:pt x="606932" y="208025"/>
                  </a:lnTo>
                  <a:lnTo>
                    <a:pt x="676020" y="374269"/>
                  </a:lnTo>
                  <a:lnTo>
                    <a:pt x="623287" y="377179"/>
                  </a:lnTo>
                  <a:lnTo>
                    <a:pt x="571340" y="376514"/>
                  </a:lnTo>
                  <a:lnTo>
                    <a:pt x="520347" y="372365"/>
                  </a:lnTo>
                  <a:lnTo>
                    <a:pt x="470473" y="364824"/>
                  </a:lnTo>
                  <a:lnTo>
                    <a:pt x="421887" y="353984"/>
                  </a:lnTo>
                  <a:lnTo>
                    <a:pt x="374755" y="339936"/>
                  </a:lnTo>
                  <a:lnTo>
                    <a:pt x="329244" y="322772"/>
                  </a:lnTo>
                  <a:lnTo>
                    <a:pt x="285521" y="302584"/>
                  </a:lnTo>
                  <a:lnTo>
                    <a:pt x="243752" y="279465"/>
                  </a:lnTo>
                  <a:lnTo>
                    <a:pt x="204105" y="253505"/>
                  </a:lnTo>
                  <a:lnTo>
                    <a:pt x="166747" y="224798"/>
                  </a:lnTo>
                  <a:lnTo>
                    <a:pt x="131844" y="193435"/>
                  </a:lnTo>
                  <a:lnTo>
                    <a:pt x="99563" y="159508"/>
                  </a:lnTo>
                  <a:lnTo>
                    <a:pt x="70071" y="123109"/>
                  </a:lnTo>
                  <a:lnTo>
                    <a:pt x="43535" y="84330"/>
                  </a:lnTo>
                  <a:lnTo>
                    <a:pt x="20122" y="432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3"/>
            <p:cNvSpPr/>
            <p:nvPr/>
          </p:nvSpPr>
          <p:spPr>
            <a:xfrm>
              <a:off x="1749328" y="3284982"/>
              <a:ext cx="601345" cy="1024890"/>
            </a:xfrm>
            <a:custGeom>
              <a:avLst/>
              <a:gdLst/>
              <a:ahLst/>
              <a:cxnLst/>
              <a:rect l="l" t="t" r="r" b="b"/>
              <a:pathLst>
                <a:path w="601344" h="1024889">
                  <a:moveTo>
                    <a:pt x="463011" y="0"/>
                  </a:moveTo>
                  <a:lnTo>
                    <a:pt x="416368" y="21177"/>
                  </a:lnTo>
                  <a:lnTo>
                    <a:pt x="371238" y="45211"/>
                  </a:lnTo>
                  <a:lnTo>
                    <a:pt x="327798" y="72008"/>
                  </a:lnTo>
                  <a:lnTo>
                    <a:pt x="286227" y="101472"/>
                  </a:lnTo>
                  <a:lnTo>
                    <a:pt x="246612" y="133547"/>
                  </a:lnTo>
                  <a:lnTo>
                    <a:pt x="209848" y="167447"/>
                  </a:lnTo>
                  <a:lnTo>
                    <a:pt x="175959" y="203018"/>
                  </a:lnTo>
                  <a:lnTo>
                    <a:pt x="144971" y="240102"/>
                  </a:lnTo>
                  <a:lnTo>
                    <a:pt x="116907" y="278543"/>
                  </a:lnTo>
                  <a:lnTo>
                    <a:pt x="91792" y="318186"/>
                  </a:lnTo>
                  <a:lnTo>
                    <a:pt x="69651" y="358874"/>
                  </a:lnTo>
                  <a:lnTo>
                    <a:pt x="50509" y="400451"/>
                  </a:lnTo>
                  <a:lnTo>
                    <a:pt x="34389" y="442761"/>
                  </a:lnTo>
                  <a:lnTo>
                    <a:pt x="21317" y="485648"/>
                  </a:lnTo>
                  <a:lnTo>
                    <a:pt x="11318" y="528956"/>
                  </a:lnTo>
                  <a:lnTo>
                    <a:pt x="4415" y="572529"/>
                  </a:lnTo>
                  <a:lnTo>
                    <a:pt x="634" y="616210"/>
                  </a:lnTo>
                  <a:lnTo>
                    <a:pt x="0" y="659843"/>
                  </a:lnTo>
                  <a:lnTo>
                    <a:pt x="2535" y="703272"/>
                  </a:lnTo>
                  <a:lnTo>
                    <a:pt x="8267" y="746342"/>
                  </a:lnTo>
                  <a:lnTo>
                    <a:pt x="17218" y="788895"/>
                  </a:lnTo>
                  <a:lnTo>
                    <a:pt x="29414" y="830777"/>
                  </a:lnTo>
                  <a:lnTo>
                    <a:pt x="44879" y="871830"/>
                  </a:lnTo>
                  <a:lnTo>
                    <a:pt x="63638" y="911898"/>
                  </a:lnTo>
                  <a:lnTo>
                    <a:pt x="85715" y="950826"/>
                  </a:lnTo>
                  <a:lnTo>
                    <a:pt x="111135" y="988457"/>
                  </a:lnTo>
                  <a:lnTo>
                    <a:pt x="139923" y="1024635"/>
                  </a:lnTo>
                  <a:lnTo>
                    <a:pt x="138146" y="979343"/>
                  </a:lnTo>
                  <a:lnTo>
                    <a:pt x="139772" y="934274"/>
                  </a:lnTo>
                  <a:lnTo>
                    <a:pt x="144712" y="889562"/>
                  </a:lnTo>
                  <a:lnTo>
                    <a:pt x="152877" y="845342"/>
                  </a:lnTo>
                  <a:lnTo>
                    <a:pt x="164177" y="801749"/>
                  </a:lnTo>
                  <a:lnTo>
                    <a:pt x="178521" y="758916"/>
                  </a:lnTo>
                  <a:lnTo>
                    <a:pt x="195821" y="716979"/>
                  </a:lnTo>
                  <a:lnTo>
                    <a:pt x="215987" y="676071"/>
                  </a:lnTo>
                  <a:lnTo>
                    <a:pt x="238929" y="636327"/>
                  </a:lnTo>
                  <a:lnTo>
                    <a:pt x="264558" y="597882"/>
                  </a:lnTo>
                  <a:lnTo>
                    <a:pt x="292783" y="560869"/>
                  </a:lnTo>
                  <a:lnTo>
                    <a:pt x="323516" y="525424"/>
                  </a:lnTo>
                  <a:lnTo>
                    <a:pt x="356666" y="491681"/>
                  </a:lnTo>
                  <a:lnTo>
                    <a:pt x="392144" y="459774"/>
                  </a:lnTo>
                  <a:lnTo>
                    <a:pt x="429860" y="429837"/>
                  </a:lnTo>
                  <a:lnTo>
                    <a:pt x="469725" y="402006"/>
                  </a:lnTo>
                  <a:lnTo>
                    <a:pt x="511649" y="376414"/>
                  </a:lnTo>
                  <a:lnTo>
                    <a:pt x="555542" y="353195"/>
                  </a:lnTo>
                  <a:lnTo>
                    <a:pt x="601314" y="332485"/>
                  </a:lnTo>
                  <a:lnTo>
                    <a:pt x="463011" y="0"/>
                  </a:lnTo>
                  <a:close/>
                </a:path>
              </a:pathLst>
            </a:custGeom>
            <a:solidFill>
              <a:srgbClr val="007A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4"/>
            <p:cNvSpPr/>
            <p:nvPr/>
          </p:nvSpPr>
          <p:spPr>
            <a:xfrm>
              <a:off x="1749057" y="3284982"/>
              <a:ext cx="1025525" cy="1742439"/>
            </a:xfrm>
            <a:custGeom>
              <a:avLst/>
              <a:gdLst/>
              <a:ahLst/>
              <a:cxnLst/>
              <a:rect l="l" t="t" r="r" b="b"/>
              <a:pathLst>
                <a:path w="1025525" h="1742439">
                  <a:moveTo>
                    <a:pt x="44436" y="869441"/>
                  </a:moveTo>
                  <a:lnTo>
                    <a:pt x="64559" y="912705"/>
                  </a:lnTo>
                  <a:lnTo>
                    <a:pt x="87972" y="953772"/>
                  </a:lnTo>
                  <a:lnTo>
                    <a:pt x="114507" y="992551"/>
                  </a:lnTo>
                  <a:lnTo>
                    <a:pt x="143999" y="1028950"/>
                  </a:lnTo>
                  <a:lnTo>
                    <a:pt x="176280" y="1062877"/>
                  </a:lnTo>
                  <a:lnTo>
                    <a:pt x="211183" y="1094240"/>
                  </a:lnTo>
                  <a:lnTo>
                    <a:pt x="248541" y="1122947"/>
                  </a:lnTo>
                  <a:lnTo>
                    <a:pt x="288188" y="1148907"/>
                  </a:lnTo>
                  <a:lnTo>
                    <a:pt x="329957" y="1172026"/>
                  </a:lnTo>
                  <a:lnTo>
                    <a:pt x="373680" y="1192214"/>
                  </a:lnTo>
                  <a:lnTo>
                    <a:pt x="419191" y="1209378"/>
                  </a:lnTo>
                  <a:lnTo>
                    <a:pt x="466323" y="1223426"/>
                  </a:lnTo>
                  <a:lnTo>
                    <a:pt x="514910" y="1234266"/>
                  </a:lnTo>
                  <a:lnTo>
                    <a:pt x="564783" y="1241807"/>
                  </a:lnTo>
                  <a:lnTo>
                    <a:pt x="615776" y="1245956"/>
                  </a:lnTo>
                  <a:lnTo>
                    <a:pt x="667723" y="1246621"/>
                  </a:lnTo>
                  <a:lnTo>
                    <a:pt x="720457" y="1243710"/>
                  </a:lnTo>
                  <a:lnTo>
                    <a:pt x="651369" y="1077467"/>
                  </a:lnTo>
                  <a:lnTo>
                    <a:pt x="1025511" y="1351533"/>
                  </a:lnTo>
                  <a:lnTo>
                    <a:pt x="927975" y="1742312"/>
                  </a:lnTo>
                  <a:lnTo>
                    <a:pt x="858760" y="1576069"/>
                  </a:lnTo>
                  <a:lnTo>
                    <a:pt x="806026" y="1579000"/>
                  </a:lnTo>
                  <a:lnTo>
                    <a:pt x="754079" y="1578350"/>
                  </a:lnTo>
                  <a:lnTo>
                    <a:pt x="703086" y="1574212"/>
                  </a:lnTo>
                  <a:lnTo>
                    <a:pt x="653213" y="1566679"/>
                  </a:lnTo>
                  <a:lnTo>
                    <a:pt x="604626" y="1555844"/>
                  </a:lnTo>
                  <a:lnTo>
                    <a:pt x="557494" y="1541799"/>
                  </a:lnTo>
                  <a:lnTo>
                    <a:pt x="511983" y="1524636"/>
                  </a:lnTo>
                  <a:lnTo>
                    <a:pt x="468260" y="1504449"/>
                  </a:lnTo>
                  <a:lnTo>
                    <a:pt x="426491" y="1481329"/>
                  </a:lnTo>
                  <a:lnTo>
                    <a:pt x="386844" y="1455370"/>
                  </a:lnTo>
                  <a:lnTo>
                    <a:pt x="349486" y="1426664"/>
                  </a:lnTo>
                  <a:lnTo>
                    <a:pt x="314583" y="1395304"/>
                  </a:lnTo>
                  <a:lnTo>
                    <a:pt x="282302" y="1361382"/>
                  </a:lnTo>
                  <a:lnTo>
                    <a:pt x="252810" y="1324990"/>
                  </a:lnTo>
                  <a:lnTo>
                    <a:pt x="226275" y="1286223"/>
                  </a:lnTo>
                  <a:lnTo>
                    <a:pt x="202862" y="1245171"/>
                  </a:lnTo>
                  <a:lnTo>
                    <a:pt x="182739" y="1201927"/>
                  </a:lnTo>
                  <a:lnTo>
                    <a:pt x="44436" y="869441"/>
                  </a:lnTo>
                  <a:lnTo>
                    <a:pt x="28486" y="826426"/>
                  </a:lnTo>
                  <a:lnTo>
                    <a:pt x="16138" y="782855"/>
                  </a:lnTo>
                  <a:lnTo>
                    <a:pt x="7322" y="738875"/>
                  </a:lnTo>
                  <a:lnTo>
                    <a:pt x="1966" y="694633"/>
                  </a:lnTo>
                  <a:lnTo>
                    <a:pt x="0" y="650277"/>
                  </a:lnTo>
                  <a:lnTo>
                    <a:pt x="1351" y="605953"/>
                  </a:lnTo>
                  <a:lnTo>
                    <a:pt x="5950" y="561810"/>
                  </a:lnTo>
                  <a:lnTo>
                    <a:pt x="13726" y="517993"/>
                  </a:lnTo>
                  <a:lnTo>
                    <a:pt x="24607" y="474650"/>
                  </a:lnTo>
                  <a:lnTo>
                    <a:pt x="38522" y="431928"/>
                  </a:lnTo>
                  <a:lnTo>
                    <a:pt x="55402" y="389974"/>
                  </a:lnTo>
                  <a:lnTo>
                    <a:pt x="75173" y="348936"/>
                  </a:lnTo>
                  <a:lnTo>
                    <a:pt x="97767" y="308960"/>
                  </a:lnTo>
                  <a:lnTo>
                    <a:pt x="123111" y="270194"/>
                  </a:lnTo>
                  <a:lnTo>
                    <a:pt x="151135" y="232784"/>
                  </a:lnTo>
                  <a:lnTo>
                    <a:pt x="181767" y="196878"/>
                  </a:lnTo>
                  <a:lnTo>
                    <a:pt x="214938" y="162623"/>
                  </a:lnTo>
                  <a:lnTo>
                    <a:pt x="250575" y="130166"/>
                  </a:lnTo>
                  <a:lnTo>
                    <a:pt x="288609" y="99654"/>
                  </a:lnTo>
                  <a:lnTo>
                    <a:pt x="328967" y="71234"/>
                  </a:lnTo>
                  <a:lnTo>
                    <a:pt x="371579" y="45054"/>
                  </a:lnTo>
                  <a:lnTo>
                    <a:pt x="416374" y="21260"/>
                  </a:lnTo>
                  <a:lnTo>
                    <a:pt x="463282" y="0"/>
                  </a:lnTo>
                  <a:lnTo>
                    <a:pt x="601585" y="332485"/>
                  </a:lnTo>
                  <a:lnTo>
                    <a:pt x="555812" y="353195"/>
                  </a:lnTo>
                  <a:lnTo>
                    <a:pt x="511919" y="376414"/>
                  </a:lnTo>
                  <a:lnTo>
                    <a:pt x="469995" y="402006"/>
                  </a:lnTo>
                  <a:lnTo>
                    <a:pt x="430131" y="429837"/>
                  </a:lnTo>
                  <a:lnTo>
                    <a:pt x="392414" y="459774"/>
                  </a:lnTo>
                  <a:lnTo>
                    <a:pt x="356936" y="491681"/>
                  </a:lnTo>
                  <a:lnTo>
                    <a:pt x="323786" y="525424"/>
                  </a:lnTo>
                  <a:lnTo>
                    <a:pt x="293054" y="560869"/>
                  </a:lnTo>
                  <a:lnTo>
                    <a:pt x="264828" y="597882"/>
                  </a:lnTo>
                  <a:lnTo>
                    <a:pt x="239200" y="636327"/>
                  </a:lnTo>
                  <a:lnTo>
                    <a:pt x="216258" y="676071"/>
                  </a:lnTo>
                  <a:lnTo>
                    <a:pt x="196092" y="716979"/>
                  </a:lnTo>
                  <a:lnTo>
                    <a:pt x="178792" y="758916"/>
                  </a:lnTo>
                  <a:lnTo>
                    <a:pt x="164447" y="801749"/>
                  </a:lnTo>
                  <a:lnTo>
                    <a:pt x="153148" y="845342"/>
                  </a:lnTo>
                  <a:lnTo>
                    <a:pt x="144983" y="889562"/>
                  </a:lnTo>
                  <a:lnTo>
                    <a:pt x="140043" y="934274"/>
                  </a:lnTo>
                  <a:lnTo>
                    <a:pt x="138416" y="979343"/>
                  </a:lnTo>
                  <a:lnTo>
                    <a:pt x="140194" y="1024635"/>
                  </a:lnTo>
                </a:path>
              </a:pathLst>
            </a:custGeom>
            <a:ln w="31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7" name="object 65"/>
          <p:cNvGrpSpPr/>
          <p:nvPr/>
        </p:nvGrpSpPr>
        <p:grpSpPr>
          <a:xfrm>
            <a:off x="7812405" y="1700783"/>
            <a:ext cx="1089660" cy="2693035"/>
            <a:chOff x="7812405" y="1700783"/>
            <a:chExt cx="1089660" cy="2693035"/>
          </a:xfrm>
        </p:grpSpPr>
        <p:pic>
          <p:nvPicPr>
            <p:cNvPr id="68" name="object 6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36408" y="1725167"/>
              <a:ext cx="917448" cy="2668523"/>
            </a:xfrm>
            <a:prstGeom prst="rect">
              <a:avLst/>
            </a:prstGeom>
          </p:spPr>
        </p:pic>
        <p:pic>
          <p:nvPicPr>
            <p:cNvPr id="69" name="object 6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39456" y="1953767"/>
              <a:ext cx="1062227" cy="2362199"/>
            </a:xfrm>
            <a:prstGeom prst="rect">
              <a:avLst/>
            </a:prstGeom>
          </p:spPr>
        </p:pic>
        <p:sp>
          <p:nvSpPr>
            <p:cNvPr id="70" name="object 68"/>
            <p:cNvSpPr/>
            <p:nvPr/>
          </p:nvSpPr>
          <p:spPr>
            <a:xfrm>
              <a:off x="7812405" y="1700783"/>
              <a:ext cx="914400" cy="2665730"/>
            </a:xfrm>
            <a:custGeom>
              <a:avLst/>
              <a:gdLst/>
              <a:ahLst/>
              <a:cxnLst/>
              <a:rect l="l" t="t" r="r" b="b"/>
              <a:pathLst>
                <a:path w="914400" h="2665729">
                  <a:moveTo>
                    <a:pt x="7620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2513076"/>
                  </a:lnTo>
                  <a:lnTo>
                    <a:pt x="7766" y="2561210"/>
                  </a:lnTo>
                  <a:lnTo>
                    <a:pt x="29394" y="2603040"/>
                  </a:lnTo>
                  <a:lnTo>
                    <a:pt x="62380" y="2636044"/>
                  </a:lnTo>
                  <a:lnTo>
                    <a:pt x="104217" y="2657697"/>
                  </a:lnTo>
                  <a:lnTo>
                    <a:pt x="152400" y="2665476"/>
                  </a:lnTo>
                  <a:lnTo>
                    <a:pt x="762000" y="2665476"/>
                  </a:lnTo>
                  <a:lnTo>
                    <a:pt x="810134" y="2657697"/>
                  </a:lnTo>
                  <a:lnTo>
                    <a:pt x="851964" y="2636044"/>
                  </a:lnTo>
                  <a:lnTo>
                    <a:pt x="884968" y="2603040"/>
                  </a:lnTo>
                  <a:lnTo>
                    <a:pt x="906621" y="2561210"/>
                  </a:lnTo>
                  <a:lnTo>
                    <a:pt x="914400" y="2513076"/>
                  </a:lnTo>
                  <a:lnTo>
                    <a:pt x="914400" y="152400"/>
                  </a:lnTo>
                  <a:lnTo>
                    <a:pt x="906621" y="104217"/>
                  </a:lnTo>
                  <a:lnTo>
                    <a:pt x="884968" y="62380"/>
                  </a:lnTo>
                  <a:lnTo>
                    <a:pt x="851964" y="29394"/>
                  </a:lnTo>
                  <a:lnTo>
                    <a:pt x="810134" y="7766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6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5072" y="1927859"/>
              <a:ext cx="940307" cy="899160"/>
            </a:xfrm>
            <a:prstGeom prst="rect">
              <a:avLst/>
            </a:prstGeom>
          </p:spPr>
        </p:pic>
        <p:pic>
          <p:nvPicPr>
            <p:cNvPr id="72" name="object 7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5072" y="2415539"/>
              <a:ext cx="940307" cy="899160"/>
            </a:xfrm>
            <a:prstGeom prst="rect">
              <a:avLst/>
            </a:prstGeom>
          </p:spPr>
        </p:pic>
        <p:pic>
          <p:nvPicPr>
            <p:cNvPr id="73" name="object 7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15072" y="2903219"/>
              <a:ext cx="940307" cy="899159"/>
            </a:xfrm>
            <a:prstGeom prst="rect">
              <a:avLst/>
            </a:prstGeom>
          </p:spPr>
        </p:pic>
        <p:pic>
          <p:nvPicPr>
            <p:cNvPr id="74" name="object 7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15072" y="3390900"/>
              <a:ext cx="940307" cy="899160"/>
            </a:xfrm>
            <a:prstGeom prst="rect">
              <a:avLst/>
            </a:prstGeom>
          </p:spPr>
        </p:pic>
      </p:grpSp>
      <p:sp>
        <p:nvSpPr>
          <p:cNvPr id="75" name="object 73"/>
          <p:cNvSpPr txBox="1"/>
          <p:nvPr/>
        </p:nvSpPr>
        <p:spPr>
          <a:xfrm>
            <a:off x="8055102" y="2030730"/>
            <a:ext cx="43307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200" b="1" spc="-50" dirty="0">
                <a:solidFill>
                  <a:srgbClr val="003366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定点小数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5"/>
          <p:cNvSpPr>
            <a:spLocks noChangeArrowheads="1"/>
          </p:cNvSpPr>
          <p:nvPr/>
        </p:nvSpPr>
        <p:spPr bwMode="auto">
          <a:xfrm>
            <a:off x="1228822" y="50006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b="1" dirty="0">
                <a:latin typeface="+mj-ea"/>
                <a:ea typeface="+mj-ea"/>
              </a:rPr>
              <a:t>定点数的编码 </a:t>
            </a:r>
            <a:endParaRPr lang="zh-CN" altLang="en-US" sz="3600" b="1" dirty="0">
              <a:latin typeface="+mj-ea"/>
              <a:ea typeface="+mj-ea"/>
            </a:endParaRPr>
          </a:p>
        </p:txBody>
      </p:sp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67474" y="1539635"/>
            <a:ext cx="8588375" cy="441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3429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A53010"/>
              </a:buClr>
              <a:buSzPct val="103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计算机中参与运算的数分为：</a:t>
            </a:r>
            <a:endParaRPr lang="en-US" altLang="zh-CN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A53010"/>
              </a:buClr>
              <a:buSzPct val="103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无符号数</a:t>
            </a:r>
            <a:endParaRPr lang="en-US" altLang="zh-CN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2" algn="just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A53010"/>
              </a:buClr>
              <a:buSzPct val="103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latin typeface="+mn-ea"/>
              </a:rPr>
              <a:t>全部</a:t>
            </a:r>
            <a:r>
              <a:rPr lang="zh-CN" altLang="en-US" sz="2000" b="1" dirty="0">
                <a:latin typeface="+mn-ea"/>
              </a:rPr>
              <a:t>数位都用来存放数值。 </a:t>
            </a:r>
            <a:endParaRPr lang="en-US" altLang="zh-CN" sz="2000" b="1" dirty="0">
              <a:latin typeface="+mn-ea"/>
            </a:endParaRPr>
          </a:p>
          <a:p>
            <a:pPr lvl="2" algn="just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A53010"/>
              </a:buClr>
              <a:buSzPct val="103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+mn-ea"/>
              </a:rPr>
              <a:t>字长为</a:t>
            </a:r>
            <a:r>
              <a:rPr lang="en-US" altLang="zh-CN" sz="2000" b="1" dirty="0">
                <a:latin typeface="+mn-ea"/>
              </a:rPr>
              <a:t>8</a:t>
            </a:r>
            <a:r>
              <a:rPr lang="zh-CN" altLang="en-US" sz="2000" b="1" dirty="0">
                <a:latin typeface="+mn-ea"/>
              </a:rPr>
              <a:t>位的无符号整数表示范围为：</a:t>
            </a:r>
            <a:r>
              <a:rPr lang="en-US" altLang="zh-CN" sz="2000" b="1" dirty="0">
                <a:latin typeface="+mn-ea"/>
              </a:rPr>
              <a:t>(00000000)</a:t>
            </a:r>
            <a:r>
              <a:rPr lang="en-US" altLang="zh-CN" sz="2000" b="1" baseline="-25000" dirty="0">
                <a:latin typeface="+mn-ea"/>
              </a:rPr>
              <a:t>2</a:t>
            </a:r>
            <a:r>
              <a:rPr lang="zh-CN" altLang="en-US" sz="2000" b="1" dirty="0">
                <a:latin typeface="+mn-ea"/>
              </a:rPr>
              <a:t>～</a:t>
            </a:r>
            <a:r>
              <a:rPr lang="en-US" altLang="zh-CN" sz="2000" b="1" dirty="0">
                <a:latin typeface="+mn-ea"/>
              </a:rPr>
              <a:t>(11111111)</a:t>
            </a:r>
            <a:r>
              <a:rPr lang="en-US" altLang="zh-CN" sz="2000" b="1" baseline="-25000" dirty="0">
                <a:latin typeface="+mn-ea"/>
              </a:rPr>
              <a:t>2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>
                <a:latin typeface="+mn-ea"/>
              </a:rPr>
              <a:t> (0)</a:t>
            </a:r>
            <a:r>
              <a:rPr lang="en-US" altLang="zh-CN" sz="2000" b="1" baseline="-25000" dirty="0">
                <a:latin typeface="+mn-ea"/>
              </a:rPr>
              <a:t>10</a:t>
            </a:r>
            <a:r>
              <a:rPr lang="zh-CN" altLang="en-US" sz="2000" b="1" dirty="0">
                <a:latin typeface="+mn-ea"/>
              </a:rPr>
              <a:t>～</a:t>
            </a:r>
            <a:r>
              <a:rPr lang="en-US" altLang="zh-CN" sz="2000" b="1" dirty="0">
                <a:latin typeface="+mn-ea"/>
              </a:rPr>
              <a:t>(255)</a:t>
            </a:r>
            <a:r>
              <a:rPr lang="en-US" altLang="zh-CN" sz="2000" b="1" baseline="-25000" dirty="0">
                <a:latin typeface="+mn-ea"/>
              </a:rPr>
              <a:t>10</a:t>
            </a:r>
            <a:endParaRPr lang="en-US" altLang="zh-CN" sz="2000" b="1" baseline="-25000" dirty="0">
              <a:latin typeface="+mn-ea"/>
            </a:endParaRPr>
          </a:p>
          <a:p>
            <a:pPr lvl="2" algn="just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A53010"/>
              </a:buClr>
              <a:buSzPct val="103000"/>
              <a:buFont typeface="Wingdings" panose="05000000000000000000" pitchFamily="2" charset="2"/>
              <a:buChar char="p"/>
              <a:defRPr/>
            </a:pPr>
            <a:r>
              <a:rPr lang="en-US" altLang="zh-CN" sz="2000" b="1" dirty="0">
                <a:latin typeface="+mn-ea"/>
              </a:rPr>
              <a:t>n</a:t>
            </a:r>
            <a:r>
              <a:rPr lang="zh-CN" altLang="en-US" sz="2000" b="1" dirty="0">
                <a:latin typeface="+mn-ea"/>
              </a:rPr>
              <a:t>位无符号整数表示范围：</a:t>
            </a:r>
            <a:r>
              <a:rPr lang="en-US" altLang="zh-CN" sz="2000" b="1" dirty="0">
                <a:latin typeface="+mn-ea"/>
              </a:rPr>
              <a:t>0</a:t>
            </a:r>
            <a:r>
              <a:rPr lang="zh-CN" altLang="en-US" sz="2000" b="1" dirty="0">
                <a:latin typeface="+mn-ea"/>
              </a:rPr>
              <a:t>～</a:t>
            </a:r>
            <a:r>
              <a:rPr lang="en-US" altLang="zh-CN" sz="2000" b="1" dirty="0">
                <a:latin typeface="+mn-ea"/>
              </a:rPr>
              <a:t>2</a:t>
            </a:r>
            <a:r>
              <a:rPr lang="en-US" altLang="zh-CN" sz="2000" b="1" baseline="30000" dirty="0">
                <a:latin typeface="+mn-ea"/>
              </a:rPr>
              <a:t>n</a:t>
            </a:r>
            <a:r>
              <a:rPr lang="en-US" altLang="zh-CN" sz="2000" b="1" dirty="0">
                <a:latin typeface="+mn-ea"/>
              </a:rPr>
              <a:t>-1</a:t>
            </a:r>
            <a:endParaRPr lang="en-US" altLang="zh-CN" sz="2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A53010"/>
              </a:buClr>
              <a:buSzPct val="103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有符号数</a:t>
            </a:r>
            <a:endParaRPr lang="en-US" altLang="zh-CN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2" algn="just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A53010"/>
              </a:buClr>
              <a:buSzPct val="103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+mn-ea"/>
              </a:rPr>
              <a:t>除数值位外，需留出位置存放</a:t>
            </a:r>
            <a:r>
              <a:rPr lang="zh-CN" altLang="en-US" sz="2000" b="1" dirty="0" smtClean="0">
                <a:latin typeface="+mn-ea"/>
              </a:rPr>
              <a:t>符号位</a:t>
            </a:r>
            <a:endParaRPr lang="en-US" altLang="zh-CN" sz="2000" b="1" dirty="0" smtClean="0">
              <a:latin typeface="+mn-ea"/>
            </a:endParaRPr>
          </a:p>
          <a:p>
            <a:pPr lvl="2" algn="just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A53010"/>
              </a:buClr>
              <a:buSzPct val="103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最高位为符号位，</a:t>
            </a:r>
            <a:r>
              <a:rPr lang="zh-CN" altLang="en-US" sz="2000" b="1" dirty="0">
                <a:solidFill>
                  <a:srgbClr val="0000FF"/>
                </a:solidFill>
              </a:rPr>
              <a:t>“</a:t>
            </a:r>
            <a:r>
              <a:rPr lang="en-US" altLang="zh-CN" sz="2000" b="1" dirty="0">
                <a:solidFill>
                  <a:srgbClr val="0000FF"/>
                </a:solidFill>
              </a:rPr>
              <a:t>0”</a:t>
            </a:r>
            <a:r>
              <a:rPr lang="zh-CN" altLang="en-US" sz="2000" b="1" dirty="0">
                <a:solidFill>
                  <a:srgbClr val="0000FF"/>
                </a:solidFill>
              </a:rPr>
              <a:t>表示正号“</a:t>
            </a:r>
            <a:r>
              <a:rPr lang="en-US" altLang="zh-CN" sz="2000" b="1" dirty="0">
                <a:solidFill>
                  <a:srgbClr val="0000FF"/>
                </a:solidFill>
              </a:rPr>
              <a:t>+”</a:t>
            </a:r>
            <a:r>
              <a:rPr lang="zh-CN" altLang="en-US" sz="2000" b="1" dirty="0">
                <a:solidFill>
                  <a:srgbClr val="0000FF"/>
                </a:solidFill>
              </a:rPr>
              <a:t>，“</a:t>
            </a:r>
            <a:r>
              <a:rPr lang="en-US" altLang="zh-CN" sz="2000" b="1" dirty="0">
                <a:solidFill>
                  <a:srgbClr val="0000FF"/>
                </a:solidFill>
              </a:rPr>
              <a:t>1”</a:t>
            </a:r>
            <a:r>
              <a:rPr lang="zh-CN" altLang="en-US" sz="2000" b="1" dirty="0">
                <a:solidFill>
                  <a:srgbClr val="0000FF"/>
                </a:solidFill>
              </a:rPr>
              <a:t>表示负号“</a:t>
            </a:r>
            <a:r>
              <a:rPr lang="en-US" altLang="zh-CN" sz="2000" b="1" dirty="0">
                <a:solidFill>
                  <a:srgbClr val="0000FF"/>
                </a:solidFill>
              </a:rPr>
              <a:t>-”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。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363681" y="3829057"/>
          <a:ext cx="210102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628"/>
                <a:gridCol w="262628"/>
                <a:gridCol w="262628"/>
                <a:gridCol w="262628"/>
                <a:gridCol w="262628"/>
                <a:gridCol w="262628"/>
                <a:gridCol w="262628"/>
                <a:gridCol w="262628"/>
              </a:tblGrid>
              <a:tr h="314107">
                <a:tc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marL="91435" marR="91435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974822" y="5953865"/>
            <a:ext cx="78581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/>
              <a:t>根据数值部分表示方式不同，分为原码、反码、补码表示。</a:t>
            </a:r>
            <a:endParaRPr lang="zh-CN" altLang="en-US" sz="2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60916" y="2613261"/>
            <a:ext cx="6699250" cy="8463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200" b="1" dirty="0">
                <a:latin typeface="+mn-ea"/>
              </a:rPr>
              <a:t> X=5=</a:t>
            </a:r>
            <a:r>
              <a:rPr lang="en-US" altLang="zh-CN" sz="2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lang="en-US" altLang="zh-CN" sz="2200" b="1" dirty="0">
                <a:latin typeface="+mn-ea"/>
              </a:rPr>
              <a:t>101               X=-5=</a:t>
            </a:r>
            <a:r>
              <a:rPr lang="en-US" altLang="zh-CN" sz="22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en-US" altLang="zh-CN" sz="2200" b="1" dirty="0">
                <a:latin typeface="+mn-ea"/>
              </a:rPr>
              <a:t>101 </a:t>
            </a:r>
            <a:endParaRPr lang="en-US" altLang="zh-CN" sz="2200" b="1" dirty="0">
              <a:latin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2200" b="1" dirty="0">
                <a:latin typeface="+mn-ea"/>
              </a:rPr>
              <a:t>[X]</a:t>
            </a:r>
            <a:r>
              <a:rPr lang="zh-CN" altLang="en-US" sz="2200" b="1" baseline="-25000" dirty="0">
                <a:latin typeface="+mn-ea"/>
              </a:rPr>
              <a:t>原 </a:t>
            </a:r>
            <a:r>
              <a:rPr lang="en-US" altLang="zh-CN" sz="2200" b="1" dirty="0">
                <a:latin typeface="+mn-ea"/>
              </a:rPr>
              <a:t>=</a:t>
            </a:r>
            <a:r>
              <a:rPr lang="en-US" altLang="zh-CN" sz="22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2200" b="1" dirty="0">
                <a:solidFill>
                  <a:srgbClr val="0033CC"/>
                </a:solidFill>
                <a:latin typeface="+mn-ea"/>
              </a:rPr>
              <a:t>0000</a:t>
            </a:r>
            <a:r>
              <a:rPr lang="en-US" altLang="zh-CN" sz="2200" b="1" dirty="0">
                <a:latin typeface="+mn-ea"/>
              </a:rPr>
              <a:t>101         [X]</a:t>
            </a:r>
            <a:r>
              <a:rPr lang="zh-CN" altLang="en-US" sz="2200" b="1" baseline="-25000" dirty="0">
                <a:latin typeface="+mn-ea"/>
              </a:rPr>
              <a:t>原 </a:t>
            </a:r>
            <a:r>
              <a:rPr lang="en-US" altLang="zh-CN" sz="2200" b="1" dirty="0">
                <a:latin typeface="+mn-ea"/>
              </a:rPr>
              <a:t>=</a:t>
            </a:r>
            <a:r>
              <a:rPr lang="en-US" altLang="zh-CN" sz="2200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en-US" altLang="zh-CN" sz="2200" b="1" dirty="0">
                <a:solidFill>
                  <a:srgbClr val="0033CC"/>
                </a:solidFill>
                <a:latin typeface="+mn-ea"/>
              </a:rPr>
              <a:t>0000</a:t>
            </a:r>
            <a:r>
              <a:rPr lang="en-US" altLang="zh-CN" sz="2200" b="1" dirty="0">
                <a:latin typeface="+mn-ea"/>
              </a:rPr>
              <a:t>101</a:t>
            </a:r>
            <a:endParaRPr lang="en-US" altLang="zh-CN" sz="2200" b="1" dirty="0">
              <a:latin typeface="+mn-ea"/>
            </a:endParaRPr>
          </a:p>
        </p:txBody>
      </p:sp>
      <p:sp>
        <p:nvSpPr>
          <p:cNvPr id="5" name="矩形 9"/>
          <p:cNvSpPr>
            <a:spLocks noChangeArrowheads="1"/>
          </p:cNvSpPr>
          <p:nvPr/>
        </p:nvSpPr>
        <p:spPr bwMode="auto">
          <a:xfrm>
            <a:off x="773124" y="1572995"/>
            <a:ext cx="7658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 b="1">
                <a:solidFill>
                  <a:srgbClr val="000099"/>
                </a:solidFill>
                <a:latin typeface="Century Gothic" panose="020B0502020202020204" pitchFamily="34" charset="0"/>
              </a:rPr>
              <a:t>1</a:t>
            </a:r>
            <a:r>
              <a:rPr lang="zh-CN" altLang="en-US" sz="2400" b="1">
                <a:solidFill>
                  <a:srgbClr val="000099"/>
                </a:solidFill>
                <a:latin typeface="Century Gothic" panose="020B0502020202020204" pitchFamily="34" charset="0"/>
              </a:rPr>
              <a:t>、原码</a:t>
            </a:r>
            <a:r>
              <a:rPr lang="zh-CN" altLang="en-US" sz="2400" b="1">
                <a:latin typeface="Century Gothic" panose="020B0502020202020204" pitchFamily="34" charset="0"/>
              </a:rPr>
              <a:t>：</a:t>
            </a:r>
            <a:r>
              <a:rPr lang="zh-CN" altLang="en-US" sz="2400" b="1"/>
              <a:t>最高位为符号位，</a:t>
            </a:r>
            <a:r>
              <a:rPr lang="zh-CN" altLang="en-US" sz="2400" b="1">
                <a:latin typeface="Century Gothic" panose="020B0502020202020204" pitchFamily="34" charset="0"/>
              </a:rPr>
              <a:t>数值位不变</a:t>
            </a:r>
            <a:endParaRPr lang="zh-CN" altLang="en-US" sz="2400" b="1">
              <a:latin typeface="Century Gothic" panose="020B0502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258800" y="3437549"/>
            <a:ext cx="586333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962762" y="3521311"/>
            <a:ext cx="21248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0000FF"/>
                </a:solidFill>
              </a:rPr>
              <a:t>不足八位，补</a:t>
            </a:r>
            <a:r>
              <a:rPr lang="en-US" altLang="zh-CN" sz="2200" b="1" dirty="0">
                <a:solidFill>
                  <a:srgbClr val="0000FF"/>
                </a:solidFill>
              </a:rPr>
              <a:t>0</a:t>
            </a:r>
            <a:endParaRPr lang="zh-CN" altLang="en-US" sz="2200" b="1" dirty="0">
              <a:solidFill>
                <a:srgbClr val="0000FF"/>
              </a:solidFill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247775" y="80963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b="1" dirty="0">
                <a:latin typeface="+mj-ea"/>
              </a:rPr>
              <a:t>定点数</a:t>
            </a:r>
            <a:r>
              <a:rPr lang="zh-CN" altLang="en-US" sz="3600" b="1" dirty="0">
                <a:latin typeface="+mj-ea"/>
                <a:ea typeface="+mj-ea"/>
              </a:rPr>
              <a:t>的编码 </a:t>
            </a:r>
            <a:endParaRPr lang="zh-CN" altLang="en-US" sz="36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68969" y="2742946"/>
            <a:ext cx="7378700" cy="9848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400" b="1" dirty="0">
                <a:latin typeface="+mn-lt"/>
              </a:rPr>
              <a:t>缺点：</a:t>
            </a:r>
            <a:endParaRPr lang="en-US" altLang="zh-CN" sz="2400" b="1" dirty="0">
              <a:latin typeface="+mn-lt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400" b="1" dirty="0">
                <a:latin typeface="+mn-lt"/>
              </a:rPr>
              <a:t>（</a:t>
            </a:r>
            <a:r>
              <a:rPr lang="en-US" altLang="zh-CN" sz="2400" b="1" dirty="0">
                <a:latin typeface="+mn-lt"/>
              </a:rPr>
              <a:t>1</a:t>
            </a:r>
            <a:r>
              <a:rPr lang="zh-CN" altLang="en-US" sz="2400" b="1" dirty="0">
                <a:latin typeface="+mn-lt"/>
              </a:rPr>
              <a:t>）</a:t>
            </a:r>
            <a:r>
              <a:rPr lang="en-US" altLang="zh-CN" sz="2400" b="1" dirty="0">
                <a:latin typeface="+mn-lt"/>
              </a:rPr>
              <a:t>0</a:t>
            </a:r>
            <a:r>
              <a:rPr lang="zh-CN" altLang="en-US" sz="2400" b="1" dirty="0">
                <a:latin typeface="+mn-lt"/>
              </a:rPr>
              <a:t>不唯一，</a:t>
            </a:r>
            <a:r>
              <a:rPr lang="en-US" altLang="zh-CN" sz="2400" b="1" dirty="0">
                <a:latin typeface="+mn-lt"/>
              </a:rPr>
              <a:t>[+0]</a:t>
            </a:r>
            <a:r>
              <a:rPr lang="zh-CN" altLang="en-US" sz="2400" b="1" baseline="-25000" dirty="0">
                <a:latin typeface="+mn-lt"/>
              </a:rPr>
              <a:t>原</a:t>
            </a:r>
            <a:r>
              <a:rPr lang="zh-CN" altLang="en-US" sz="2400" b="1" dirty="0">
                <a:latin typeface="+mn-lt"/>
              </a:rPr>
              <a:t>≠ </a:t>
            </a:r>
            <a:r>
              <a:rPr lang="en-US" altLang="zh-CN" sz="2400" b="1" dirty="0">
                <a:latin typeface="+mn-lt"/>
              </a:rPr>
              <a:t>[-0]</a:t>
            </a:r>
            <a:r>
              <a:rPr lang="zh-CN" altLang="en-US" sz="2400" b="1" baseline="-25000" dirty="0" smtClean="0">
                <a:latin typeface="+mn-lt"/>
              </a:rPr>
              <a:t>原</a:t>
            </a:r>
            <a:endParaRPr lang="en-US" altLang="zh-CN" sz="2400" b="1" baseline="-25000" dirty="0">
              <a:latin typeface="+mn-lt"/>
            </a:endParaRPr>
          </a:p>
        </p:txBody>
      </p:sp>
      <p:sp>
        <p:nvSpPr>
          <p:cNvPr id="69637" name="文本框 6"/>
          <p:cNvSpPr txBox="1">
            <a:spLocks noChangeArrowheads="1"/>
          </p:cNvSpPr>
          <p:nvPr/>
        </p:nvSpPr>
        <p:spPr bwMode="auto">
          <a:xfrm>
            <a:off x="768969" y="1407858"/>
            <a:ext cx="3009900" cy="522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800" b="1" dirty="0">
                <a:latin typeface="+mn-lt"/>
              </a:rPr>
              <a:t>1</a:t>
            </a:r>
            <a:r>
              <a:rPr lang="zh-CN" altLang="en-US" sz="2800" b="1" dirty="0">
                <a:latin typeface="+mn-lt"/>
              </a:rPr>
              <a:t>、原码</a:t>
            </a:r>
            <a:endParaRPr lang="zh-CN" altLang="en-US" sz="2800" b="1" dirty="0">
              <a:latin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68969" y="4081889"/>
            <a:ext cx="7000051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400" b="1" dirty="0">
                <a:latin typeface="+mn-lt"/>
              </a:rPr>
              <a:t>字长为</a:t>
            </a:r>
            <a:r>
              <a:rPr lang="en-US" altLang="zh-CN" sz="2400" b="1" dirty="0">
                <a:latin typeface="+mn-lt"/>
              </a:rPr>
              <a:t>8</a:t>
            </a:r>
            <a:r>
              <a:rPr lang="zh-CN" altLang="en-US" sz="2400" b="1" dirty="0">
                <a:latin typeface="+mn-lt"/>
              </a:rPr>
              <a:t>位的整数原码，表示范围为：</a:t>
            </a:r>
            <a:r>
              <a:rPr lang="en-US" altLang="zh-CN" sz="2400" b="1" dirty="0">
                <a:latin typeface="+mn-lt"/>
              </a:rPr>
              <a:t>-127</a:t>
            </a:r>
            <a:r>
              <a:rPr lang="zh-CN" altLang="en-US" sz="2400" b="1" dirty="0">
                <a:latin typeface="+mn-lt"/>
              </a:rPr>
              <a:t>～</a:t>
            </a:r>
            <a:r>
              <a:rPr lang="en-US" altLang="zh-CN" sz="2400" b="1" dirty="0">
                <a:latin typeface="+mn-lt"/>
              </a:rPr>
              <a:t>+127</a:t>
            </a:r>
            <a:endParaRPr lang="en-US" altLang="zh-CN" sz="2400" b="1" dirty="0">
              <a:latin typeface="+mn-lt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2400" b="1" dirty="0">
                <a:latin typeface="+mn-lt"/>
              </a:rPr>
              <a:t>[+127]</a:t>
            </a:r>
            <a:r>
              <a:rPr lang="zh-CN" altLang="en-US" sz="2400" b="1" baseline="-25000" dirty="0">
                <a:latin typeface="+mn-lt"/>
              </a:rPr>
              <a:t>原</a:t>
            </a:r>
            <a:r>
              <a:rPr lang="zh-CN" altLang="en-US" sz="2400" b="1" dirty="0">
                <a:latin typeface="+mn-lt"/>
              </a:rPr>
              <a:t> </a:t>
            </a:r>
            <a:r>
              <a:rPr lang="en-US" altLang="zh-CN" sz="2400" b="1" dirty="0">
                <a:latin typeface="+mn-lt"/>
              </a:rPr>
              <a:t>=0 1111111             [–127]</a:t>
            </a:r>
            <a:r>
              <a:rPr lang="zh-CN" altLang="en-US" sz="2400" b="1" baseline="-25000" dirty="0">
                <a:latin typeface="+mn-lt"/>
              </a:rPr>
              <a:t>原</a:t>
            </a:r>
            <a:r>
              <a:rPr lang="zh-CN" altLang="en-US" sz="2400" b="1" dirty="0">
                <a:latin typeface="+mn-lt"/>
              </a:rPr>
              <a:t> </a:t>
            </a:r>
            <a:r>
              <a:rPr lang="en-US" altLang="zh-CN" sz="2400" b="1" dirty="0">
                <a:latin typeface="+mn-lt"/>
              </a:rPr>
              <a:t>=1 1111111</a:t>
            </a:r>
            <a:endParaRPr lang="zh-CN" altLang="en-US" sz="2400" b="1" dirty="0">
              <a:latin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8969" y="2090483"/>
            <a:ext cx="7378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400" b="1" dirty="0">
                <a:latin typeface="+mn-lt"/>
              </a:rPr>
              <a:t>优点：数值部分等于真值的绝对值，比较直观。</a:t>
            </a:r>
            <a:endParaRPr lang="en-US" altLang="zh-CN" sz="2400" b="1" baseline="-25000" dirty="0">
              <a:latin typeface="+mn-lt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298624" y="106362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b="1" dirty="0">
                <a:latin typeface="+mj-ea"/>
              </a:rPr>
              <a:t>定点</a:t>
            </a:r>
            <a:r>
              <a:rPr lang="zh-CN" altLang="en-US" sz="3600" b="1" dirty="0">
                <a:latin typeface="+mj-ea"/>
                <a:ea typeface="+mj-ea"/>
              </a:rPr>
              <a:t>数的编码 </a:t>
            </a:r>
            <a:endParaRPr lang="zh-CN" altLang="en-US" sz="3600" b="1" dirty="0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92627" y="5493403"/>
            <a:ext cx="7387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）运算规则复杂，加减使符号位需要单独处理。</a:t>
            </a:r>
            <a:endParaRPr lang="en-US" altLang="zh-CN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2840" y="1327982"/>
            <a:ext cx="8229600" cy="5107725"/>
          </a:xfrm>
        </p:spPr>
        <p:txBody>
          <a:bodyPr/>
          <a:lstStyle/>
          <a:p>
            <a:r>
              <a:rPr lang="zh-CN" altLang="en-US" b="1" dirty="0"/>
              <a:t>原码的特点：简单、直观</a:t>
            </a:r>
            <a:endParaRPr lang="en-US" altLang="zh-CN" b="1" dirty="0"/>
          </a:p>
          <a:p>
            <a:r>
              <a:rPr lang="zh-CN" altLang="en-US" b="1" dirty="0"/>
              <a:t>但是用原码作加法时，会出现如下问题：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r>
              <a:rPr lang="zh-CN" altLang="en-US" b="1" dirty="0"/>
              <a:t>能否 只作加法 </a:t>
            </a:r>
            <a:r>
              <a:rPr lang="en-US" altLang="zh-CN" b="1" dirty="0"/>
              <a:t>?</a:t>
            </a:r>
            <a:endParaRPr lang="en-US" altLang="zh-CN" b="1" dirty="0"/>
          </a:p>
          <a:p>
            <a:r>
              <a:rPr lang="zh-CN" altLang="en-US" b="1" dirty="0">
                <a:solidFill>
                  <a:srgbClr val="0000FF"/>
                </a:solidFill>
              </a:rPr>
              <a:t>找到一个与负数等价的正数 来代替这个负数</a:t>
            </a:r>
            <a:endParaRPr lang="en-US" altLang="zh-CN" b="1" dirty="0">
              <a:solidFill>
                <a:srgbClr val="0000FF"/>
              </a:solidFill>
            </a:endParaRPr>
          </a:p>
          <a:p>
            <a:r>
              <a:rPr lang="zh-CN" altLang="en-US" b="1" dirty="0"/>
              <a:t>就可使    </a:t>
            </a:r>
            <a:r>
              <a:rPr lang="zh-CN" altLang="en-US" b="1" dirty="0">
                <a:solidFill>
                  <a:srgbClr val="C00000"/>
                </a:solidFill>
              </a:rPr>
              <a:t>减             加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58" y="2268045"/>
            <a:ext cx="5856348" cy="2439411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2652456" y="5975018"/>
            <a:ext cx="851581" cy="69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298624" y="106362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b="1" dirty="0">
                <a:latin typeface="+mj-ea"/>
              </a:rPr>
              <a:t>定点</a:t>
            </a:r>
            <a:r>
              <a:rPr lang="zh-CN" altLang="en-US" sz="3600" b="1" dirty="0">
                <a:latin typeface="+mj-ea"/>
                <a:ea typeface="+mj-ea"/>
              </a:rPr>
              <a:t>数的编码 </a:t>
            </a:r>
            <a:endParaRPr lang="zh-CN" altLang="en-US" sz="36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>
            <a:spLocks noChangeArrowheads="1"/>
          </p:cNvSpPr>
          <p:nvPr/>
        </p:nvSpPr>
        <p:spPr bwMode="auto">
          <a:xfrm>
            <a:off x="374020" y="1222473"/>
            <a:ext cx="3009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b="1" dirty="0">
                <a:latin typeface="+mn-ea"/>
                <a:ea typeface="+mn-ea"/>
              </a:rPr>
              <a:t>2.</a:t>
            </a:r>
            <a:r>
              <a:rPr lang="zh-CN" altLang="en-US" sz="2400" b="1" dirty="0">
                <a:latin typeface="+mn-ea"/>
                <a:ea typeface="+mn-ea"/>
              </a:rPr>
              <a:t>反码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24577" y="1835199"/>
            <a:ext cx="7804150" cy="936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正数</a:t>
            </a:r>
            <a:r>
              <a:rPr kumimoji="1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的反码表示与原码相同，最高位为符号位，用 </a:t>
            </a: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kumimoji="1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表示正，其余位是数值位。</a:t>
            </a:r>
            <a:endParaRPr kumimoji="1" lang="zh-CN" altLang="en-US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24577" y="3054399"/>
            <a:ext cx="8001000" cy="493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负数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的反码最高位是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，其余位是其原码的按位取反。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3" name="Text Box 2"/>
          <p:cNvSpPr txBox="1">
            <a:spLocks noChangeArrowheads="1"/>
          </p:cNvSpPr>
          <p:nvPr/>
        </p:nvSpPr>
        <p:spPr bwMode="auto">
          <a:xfrm>
            <a:off x="381000" y="4396458"/>
            <a:ext cx="8763000" cy="1446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例：一个数用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位二进制数表示，则</a:t>
            </a:r>
            <a:endParaRPr kumimoji="1"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1"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[X]</a:t>
            </a:r>
            <a:r>
              <a:rPr kumimoji="1" lang="zh-CN" altLang="en-US" sz="22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原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=0000, 1000                  [-X]</a:t>
            </a:r>
            <a:r>
              <a:rPr kumimoji="1" lang="zh-CN" altLang="en-US" sz="22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原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=1000, 1000 </a:t>
            </a:r>
            <a:endParaRPr kumimoji="1" lang="en-US" altLang="zh-CN" sz="2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1"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[X]</a:t>
            </a:r>
            <a:r>
              <a:rPr kumimoji="1" lang="zh-CN" altLang="en-US" sz="22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反</a:t>
            </a:r>
            <a:r>
              <a:rPr kumimoji="1" lang="en-US" altLang="zh-CN" sz="2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zh-CN" altLang="en-US" sz="2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0000, 1000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[-X]</a:t>
            </a:r>
            <a:r>
              <a:rPr kumimoji="1" lang="zh-CN" altLang="en-US" sz="22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反 </a:t>
            </a:r>
            <a:r>
              <a:rPr kumimoji="1" lang="en-US" altLang="zh-CN" sz="2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=1111, 0111</a:t>
            </a:r>
            <a:endParaRPr kumimoji="1" lang="en-US" altLang="zh-CN" sz="22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298624" y="106362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b="1" dirty="0">
                <a:latin typeface="+mj-ea"/>
              </a:rPr>
              <a:t>定点</a:t>
            </a:r>
            <a:r>
              <a:rPr lang="zh-CN" altLang="en-US" sz="3600" b="1" dirty="0">
                <a:latin typeface="+mj-ea"/>
                <a:ea typeface="+mj-ea"/>
              </a:rPr>
              <a:t>数的编码 </a:t>
            </a:r>
            <a:endParaRPr lang="zh-CN" altLang="en-US" sz="36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417185" y="2463994"/>
            <a:ext cx="8137525" cy="1015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在反码表示中，</a:t>
            </a: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kumimoji="1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有两种表示方法：</a:t>
            </a:r>
            <a:endParaRPr kumimoji="1" lang="zh-CN" altLang="en-US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[+0]</a:t>
            </a:r>
            <a:r>
              <a:rPr kumimoji="1" lang="zh-CN" altLang="en-US" sz="24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反</a:t>
            </a: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=0000, 0000         [-0 ]</a:t>
            </a:r>
            <a:r>
              <a:rPr kumimoji="1" lang="zh-CN" altLang="en-US" sz="24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反</a:t>
            </a: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=1111, 1111</a:t>
            </a:r>
            <a:endParaRPr kumimoji="1"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71160" y="3989582"/>
            <a:ext cx="8534400" cy="1569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字长</a:t>
            </a: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kumimoji="1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位数的反码表示范围：</a:t>
            </a:r>
            <a:endParaRPr kumimoji="1"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Wingdings 2" panose="05020102010507070707" pitchFamily="18" charset="2"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1000,0000   ~   0111,1111          (</a:t>
            </a:r>
            <a:r>
              <a:rPr kumimoji="1" lang="en-US" altLang="zh-CN" sz="2400" b="1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-127)</a:t>
            </a:r>
            <a:r>
              <a:rPr kumimoji="1" lang="en-US" altLang="zh-CN" sz="2400" b="1" baseline="-250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400" b="1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(127)</a:t>
            </a:r>
            <a:r>
              <a:rPr kumimoji="1" lang="en-US" altLang="zh-CN" sz="2400" b="1" baseline="-250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endParaRPr kumimoji="1"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1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字长</a:t>
            </a: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位数的反码表示范围：</a:t>
            </a: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- 2</a:t>
            </a:r>
            <a:r>
              <a:rPr kumimoji="1" lang="en-US" altLang="zh-CN" sz="2400" b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n-1</a:t>
            </a: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+1  ~  2</a:t>
            </a:r>
            <a:r>
              <a:rPr kumimoji="1" lang="en-US" altLang="zh-CN" sz="2400" b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n-1</a:t>
            </a: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endParaRPr kumimoji="1"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6"/>
          <p:cNvSpPr txBox="1">
            <a:spLocks noChangeArrowheads="1"/>
          </p:cNvSpPr>
          <p:nvPr/>
        </p:nvSpPr>
        <p:spPr bwMode="auto">
          <a:xfrm>
            <a:off x="471160" y="1492363"/>
            <a:ext cx="3009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b="1" dirty="0">
                <a:latin typeface="+mn-ea"/>
                <a:ea typeface="+mn-ea"/>
              </a:rPr>
              <a:t>2.</a:t>
            </a:r>
            <a:r>
              <a:rPr lang="zh-CN" altLang="en-US" sz="2400" b="1" dirty="0">
                <a:latin typeface="+mn-ea"/>
                <a:ea typeface="+mn-ea"/>
              </a:rPr>
              <a:t>反码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298624" y="106362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b="1" dirty="0">
                <a:latin typeface="+mj-ea"/>
              </a:rPr>
              <a:t>定点</a:t>
            </a:r>
            <a:r>
              <a:rPr lang="zh-CN" altLang="en-US" sz="3600" b="1" dirty="0">
                <a:latin typeface="+mj-ea"/>
                <a:ea typeface="+mj-ea"/>
              </a:rPr>
              <a:t>数的编码 </a:t>
            </a:r>
            <a:endParaRPr lang="zh-CN" altLang="en-US" sz="3600" b="1" dirty="0"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3055" y="546768"/>
            <a:ext cx="1716795" cy="1706890"/>
          </a:xfrm>
          <a:prstGeom prst="rect">
            <a:avLst/>
          </a:prstGeom>
        </p:spPr>
      </p:pic>
      <p:sp>
        <p:nvSpPr>
          <p:cNvPr id="289881" name="Text Box 89"/>
          <p:cNvSpPr txBox="1">
            <a:spLocks noChangeArrowheads="1"/>
          </p:cNvSpPr>
          <p:nvPr/>
        </p:nvSpPr>
        <p:spPr bwMode="auto">
          <a:xfrm>
            <a:off x="406400" y="1603849"/>
            <a:ext cx="8331200" cy="335343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+mn-lt"/>
                <a:ea typeface="+mn-ea"/>
                <a:cs typeface="+mn-ea"/>
                <a:sym typeface="+mn-lt"/>
              </a:rPr>
              <a:t>时钟是一种模</a:t>
            </a:r>
            <a:r>
              <a:rPr lang="en-US" altLang="zh-CN" sz="2000" b="1" dirty="0">
                <a:latin typeface="+mn-lt"/>
                <a:ea typeface="+mn-ea"/>
                <a:cs typeface="+mn-ea"/>
                <a:sym typeface="+mn-lt"/>
              </a:rPr>
              <a:t>12</a:t>
            </a:r>
            <a:r>
              <a:rPr lang="zh-CN" altLang="en-US" sz="2000" b="1" dirty="0">
                <a:latin typeface="+mn-lt"/>
                <a:ea typeface="+mn-ea"/>
                <a:cs typeface="+mn-ea"/>
                <a:sym typeface="+mn-lt"/>
              </a:rPr>
              <a:t>系统</a:t>
            </a:r>
            <a:endParaRPr lang="zh-CN" altLang="en-US" sz="2000" b="1" dirty="0">
              <a:latin typeface="+mn-lt"/>
              <a:ea typeface="+mn-ea"/>
              <a:cs typeface="+mn-ea"/>
              <a:sym typeface="+mn-lt"/>
            </a:endParaRPr>
          </a:p>
          <a:p>
            <a: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       假定钟表时针指向10点，要将它拨向</a:t>
            </a:r>
            <a:r>
              <a:rPr lang="en-US" altLang="zh-CN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点，  则有两种拨法：</a:t>
            </a:r>
            <a:endParaRPr lang="zh-CN" altLang="en-US" sz="2000" b="1" dirty="0">
              <a:solidFill>
                <a:srgbClr val="3333CC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spcBef>
                <a:spcPct val="20000"/>
              </a:spcBef>
            </a:pPr>
            <a:r>
              <a:rPr lang="zh-CN" altLang="en-US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        ① 倒拨4格：10- 4 = 6</a:t>
            </a:r>
            <a:endParaRPr lang="zh-CN" altLang="en-US" sz="2000" b="1" dirty="0">
              <a:solidFill>
                <a:srgbClr val="3333CC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spcBef>
                <a:spcPct val="20000"/>
              </a:spcBef>
            </a:pPr>
            <a:r>
              <a:rPr lang="zh-CN" altLang="en-US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        ② 顺拨8格：10+8 = 18 </a:t>
            </a:r>
            <a:r>
              <a:rPr lang="en-US" altLang="zh-CN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≡ </a:t>
            </a:r>
            <a:r>
              <a:rPr lang="zh-CN" altLang="en-US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6            (</a:t>
            </a:r>
            <a:r>
              <a:rPr lang="en-US" altLang="zh-CN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mod 12)</a:t>
            </a:r>
            <a:endParaRPr lang="en-US" altLang="zh-CN" sz="2000" b="1" dirty="0">
              <a:solidFill>
                <a:srgbClr val="3333CC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spcBef>
                <a:spcPct val="20000"/>
              </a:spcBef>
            </a:pPr>
            <a:r>
              <a:rPr lang="zh-CN" altLang="en-US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         模12系统中：      10- 4 </a:t>
            </a:r>
            <a:r>
              <a:rPr lang="en-US" altLang="zh-CN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≡</a:t>
            </a:r>
            <a:r>
              <a:rPr lang="zh-CN" altLang="en-US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 10+8     (</a:t>
            </a:r>
            <a:r>
              <a:rPr lang="en-US" altLang="zh-CN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mod 12) </a:t>
            </a:r>
            <a:endParaRPr lang="en-US" altLang="zh-CN" sz="2000" b="1" dirty="0">
              <a:solidFill>
                <a:srgbClr val="3333CC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spcBef>
                <a:spcPct val="20000"/>
              </a:spcBef>
            </a:pPr>
            <a:r>
              <a:rPr lang="zh-CN" altLang="en-US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                                         - 4 </a:t>
            </a:r>
            <a:r>
              <a:rPr lang="en-US" altLang="zh-CN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≡</a:t>
            </a:r>
            <a:r>
              <a:rPr lang="zh-CN" altLang="en-US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 8            (</a:t>
            </a:r>
            <a:r>
              <a:rPr lang="en-US" altLang="zh-CN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mod 12) </a:t>
            </a:r>
            <a:endParaRPr lang="en-US" altLang="zh-CN" sz="2000" b="1" dirty="0">
              <a:solidFill>
                <a:srgbClr val="3333CC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spcBef>
                <a:spcPct val="20000"/>
              </a:spcBef>
            </a:pPr>
            <a:r>
              <a:rPr lang="en-US" altLang="zh-CN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          </a:t>
            </a:r>
            <a:r>
              <a:rPr lang="zh-CN" altLang="en-US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则，称8是- 4对模12的补码 </a:t>
            </a:r>
            <a:r>
              <a:rPr lang="zh-CN" altLang="en-US" sz="20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（即：</a:t>
            </a:r>
            <a:r>
              <a:rPr lang="en-US" altLang="zh-CN" sz="20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- 4</a:t>
            </a:r>
            <a:r>
              <a:rPr lang="zh-CN" altLang="en-US" sz="20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的模</a:t>
            </a:r>
            <a:r>
              <a:rPr lang="en-US" altLang="zh-CN" sz="20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12</a:t>
            </a:r>
            <a:r>
              <a:rPr lang="zh-CN" altLang="en-US" sz="20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补码等于</a:t>
            </a:r>
            <a:r>
              <a:rPr lang="en-US" altLang="zh-CN" sz="20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8</a:t>
            </a:r>
            <a:r>
              <a:rPr lang="zh-CN" altLang="en-US" sz="20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）。</a:t>
            </a:r>
            <a:endParaRPr lang="zh-CN" altLang="en-US" sz="2000" b="1" dirty="0">
              <a:solidFill>
                <a:srgbClr val="CC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spcBef>
                <a:spcPct val="20000"/>
              </a:spcBef>
            </a:pPr>
            <a:r>
              <a:rPr lang="zh-CN" altLang="en-US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                           同样有 -3 </a:t>
            </a:r>
            <a:r>
              <a:rPr lang="en-US" altLang="zh-CN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≡</a:t>
            </a:r>
            <a:r>
              <a:rPr lang="zh-CN" altLang="en-US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 9        （</a:t>
            </a:r>
            <a:r>
              <a:rPr lang="en-US" altLang="zh-CN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mod 12）</a:t>
            </a:r>
            <a:endParaRPr lang="en-US" altLang="zh-CN" sz="2000" b="1" dirty="0">
              <a:solidFill>
                <a:srgbClr val="3333CC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spcBef>
                <a:spcPct val="20000"/>
              </a:spcBef>
            </a:pPr>
            <a:r>
              <a:rPr lang="en-US" altLang="zh-CN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                                       -5 ≡ 7        （mod 12）</a:t>
            </a:r>
            <a:r>
              <a:rPr lang="zh-CN" altLang="en-US" sz="2000" b="1" dirty="0">
                <a:solidFill>
                  <a:srgbClr val="3333CC"/>
                </a:solidFill>
                <a:latin typeface="+mn-lt"/>
                <a:ea typeface="+mn-ea"/>
                <a:cs typeface="+mn-ea"/>
                <a:sym typeface="+mn-lt"/>
              </a:rPr>
              <a:t>等</a:t>
            </a:r>
            <a:endParaRPr lang="en-US" altLang="zh-CN" sz="20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4520"/>
          </a:xfrm>
          <a:noFill/>
        </p:spPr>
        <p:txBody>
          <a:bodyPr lIns="63500" tIns="25400" rIns="63500" bIns="25400" anchor="t">
            <a:spAutoFit/>
          </a:bodyPr>
          <a:lstStyle/>
          <a:p>
            <a:r>
              <a:rPr lang="zh-CN" altLang="en-US" sz="3600" b="1" dirty="0">
                <a:latin typeface="+mn-lt"/>
                <a:ea typeface="+mn-ea"/>
                <a:cs typeface="+mn-ea"/>
                <a:sym typeface="+mn-lt"/>
              </a:rPr>
              <a:t>补码 </a:t>
            </a:r>
            <a:r>
              <a:rPr lang="en-US" altLang="zh-CN" sz="3600" b="1" dirty="0">
                <a:latin typeface="+mn-lt"/>
                <a:ea typeface="+mn-ea"/>
                <a:cs typeface="+mn-ea"/>
                <a:sym typeface="+mn-lt"/>
              </a:rPr>
              <a:t>- </a:t>
            </a:r>
            <a:r>
              <a:rPr lang="zh-CN" altLang="en-US" sz="3600" b="1" dirty="0">
                <a:latin typeface="+mn-lt"/>
                <a:ea typeface="+mn-ea"/>
                <a:cs typeface="+mn-ea"/>
                <a:sym typeface="+mn-lt"/>
              </a:rPr>
              <a:t>模运算（</a:t>
            </a:r>
            <a:r>
              <a:rPr lang="en-US" altLang="zh-CN" sz="3600" b="1" dirty="0">
                <a:latin typeface="+mn-lt"/>
                <a:ea typeface="+mn-ea"/>
                <a:cs typeface="+mn-ea"/>
                <a:sym typeface="+mn-lt"/>
              </a:rPr>
              <a:t>modular</a:t>
            </a:r>
            <a:r>
              <a:rPr lang="zh-CN" altLang="en-US" sz="3600" b="1" dirty="0">
                <a:latin typeface="+mn-lt"/>
                <a:ea typeface="+mn-ea"/>
                <a:cs typeface="+mn-ea"/>
                <a:sym typeface="+mn-lt"/>
              </a:rPr>
              <a:t>运算）</a:t>
            </a:r>
            <a:endParaRPr lang="zh-CN" altLang="en-US" sz="36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9883" name="Rectangle 91"/>
          <p:cNvSpPr>
            <a:spLocks noChangeArrowheads="1"/>
          </p:cNvSpPr>
          <p:nvPr/>
        </p:nvSpPr>
        <p:spPr bwMode="auto">
          <a:xfrm>
            <a:off x="545428" y="5603346"/>
            <a:ext cx="7823200" cy="70675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kumimoji="1" lang="zh-CN" altLang="en-US" sz="2000" b="1" dirty="0">
                <a:cs typeface="+mn-ea"/>
                <a:sym typeface="+mn-lt"/>
              </a:rPr>
              <a:t>结论</a:t>
            </a:r>
            <a:r>
              <a:rPr kumimoji="1" lang="en-US" altLang="zh-CN" sz="2000" b="1" dirty="0">
                <a:cs typeface="+mn-ea"/>
                <a:sym typeface="+mn-lt"/>
              </a:rPr>
              <a:t>3</a:t>
            </a:r>
            <a:r>
              <a:rPr kumimoji="1" lang="zh-CN" altLang="en-US" sz="2000" b="1" dirty="0">
                <a:cs typeface="+mn-ea"/>
                <a:sym typeface="+mn-lt"/>
              </a:rPr>
              <a:t>： </a:t>
            </a:r>
            <a:r>
              <a:rPr kumimoji="1" lang="zh-CN" altLang="en-US" sz="2000" b="1" dirty="0">
                <a:solidFill>
                  <a:srgbClr val="009900"/>
                </a:solidFill>
                <a:cs typeface="+mn-ea"/>
                <a:sym typeface="+mn-lt"/>
              </a:rPr>
              <a:t>对于某一确定的模，某数</a:t>
            </a:r>
            <a:r>
              <a:rPr kumimoji="1" lang="en-US" altLang="zh-CN" sz="2000" b="1" dirty="0">
                <a:solidFill>
                  <a:srgbClr val="009900"/>
                </a:solidFill>
                <a:cs typeface="+mn-ea"/>
                <a:sym typeface="+mn-lt"/>
              </a:rPr>
              <a:t>A</a:t>
            </a:r>
            <a:r>
              <a:rPr kumimoji="1" lang="zh-CN" altLang="en-US" sz="2000" b="1" dirty="0">
                <a:solidFill>
                  <a:srgbClr val="009900"/>
                </a:solidFill>
                <a:cs typeface="+mn-ea"/>
                <a:sym typeface="+mn-lt"/>
              </a:rPr>
              <a:t>减去小于模的另一数</a:t>
            </a:r>
            <a:r>
              <a:rPr kumimoji="1" lang="en-US" altLang="zh-CN" sz="2000" b="1" dirty="0">
                <a:solidFill>
                  <a:srgbClr val="009900"/>
                </a:solidFill>
                <a:cs typeface="+mn-ea"/>
                <a:sym typeface="+mn-lt"/>
              </a:rPr>
              <a:t>B</a:t>
            </a:r>
            <a:r>
              <a:rPr kumimoji="1" lang="zh-CN" altLang="en-US" sz="2000" b="1" dirty="0">
                <a:solidFill>
                  <a:srgbClr val="009900"/>
                </a:solidFill>
                <a:cs typeface="+mn-ea"/>
                <a:sym typeface="+mn-lt"/>
              </a:rPr>
              <a:t>，总可以用该数</a:t>
            </a:r>
            <a:r>
              <a:rPr kumimoji="1" lang="en-US" altLang="zh-CN" sz="2000" b="1" dirty="0">
                <a:solidFill>
                  <a:srgbClr val="009900"/>
                </a:solidFill>
                <a:cs typeface="+mn-ea"/>
                <a:sym typeface="+mn-lt"/>
              </a:rPr>
              <a:t>A</a:t>
            </a:r>
            <a:r>
              <a:rPr kumimoji="1" lang="zh-CN" altLang="en-US" sz="2000" b="1" dirty="0">
                <a:solidFill>
                  <a:srgbClr val="009900"/>
                </a:solidFill>
                <a:cs typeface="+mn-ea"/>
                <a:sym typeface="+mn-lt"/>
              </a:rPr>
              <a:t>加上另一数负数（</a:t>
            </a:r>
            <a:r>
              <a:rPr kumimoji="1" lang="en-US" altLang="zh-CN" sz="2000" b="1" dirty="0">
                <a:solidFill>
                  <a:srgbClr val="009900"/>
                </a:solidFill>
                <a:cs typeface="+mn-ea"/>
                <a:sym typeface="+mn-lt"/>
              </a:rPr>
              <a:t>-B</a:t>
            </a:r>
            <a:r>
              <a:rPr kumimoji="1" lang="zh-CN" altLang="en-US" sz="2000" b="1" dirty="0">
                <a:solidFill>
                  <a:srgbClr val="009900"/>
                </a:solidFill>
                <a:cs typeface="+mn-ea"/>
                <a:sym typeface="+mn-lt"/>
              </a:rPr>
              <a:t>）的补码来代替。</a:t>
            </a:r>
            <a:endParaRPr kumimoji="1" lang="zh-CN" altLang="en-US" sz="2000" b="1" dirty="0">
              <a:solidFill>
                <a:srgbClr val="009900"/>
              </a:solidFill>
              <a:cs typeface="+mn-ea"/>
              <a:sym typeface="+mn-lt"/>
            </a:endParaRPr>
          </a:p>
        </p:txBody>
      </p:sp>
      <p:sp>
        <p:nvSpPr>
          <p:cNvPr id="289884" name="Rectangle 92"/>
          <p:cNvSpPr>
            <a:spLocks noChangeArrowheads="1"/>
          </p:cNvSpPr>
          <p:nvPr/>
        </p:nvSpPr>
        <p:spPr bwMode="auto">
          <a:xfrm>
            <a:off x="6303958" y="6043202"/>
            <a:ext cx="1634490" cy="39878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+ </a:t>
            </a:r>
            <a:r>
              <a:rPr lang="zh-CN" altLang="en-US" sz="20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lang="en-US" altLang="zh-CN" sz="20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– </a:t>
            </a:r>
            <a:r>
              <a:rPr lang="zh-CN" altLang="en-US" sz="20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的统一</a:t>
            </a:r>
            <a:endParaRPr lang="zh-CN" altLang="en-US" sz="2000" b="1" dirty="0">
              <a:solidFill>
                <a:srgbClr val="CC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9919" name="Rectangle 127"/>
          <p:cNvSpPr>
            <a:spLocks noChangeArrowheads="1"/>
          </p:cNvSpPr>
          <p:nvPr/>
        </p:nvSpPr>
        <p:spPr bwMode="auto">
          <a:xfrm>
            <a:off x="545428" y="5250916"/>
            <a:ext cx="7823200" cy="39878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kumimoji="1" lang="zh-CN" altLang="en-US" sz="2000" b="1" dirty="0">
                <a:cs typeface="+mn-ea"/>
                <a:sym typeface="+mn-lt"/>
              </a:rPr>
              <a:t>结论</a:t>
            </a:r>
            <a:r>
              <a:rPr kumimoji="1" lang="en-US" altLang="zh-CN" sz="2000" b="1" dirty="0">
                <a:cs typeface="+mn-ea"/>
                <a:sym typeface="+mn-lt"/>
              </a:rPr>
              <a:t>2</a:t>
            </a:r>
            <a:r>
              <a:rPr kumimoji="1" lang="zh-CN" altLang="en-US" sz="2000" b="1" dirty="0">
                <a:cs typeface="+mn-ea"/>
                <a:sym typeface="+mn-lt"/>
              </a:rPr>
              <a:t>： </a:t>
            </a:r>
            <a:r>
              <a:rPr kumimoji="1" lang="zh-CN" altLang="en-US" sz="2000" b="1" dirty="0">
                <a:solidFill>
                  <a:srgbClr val="009900"/>
                </a:solidFill>
                <a:cs typeface="+mn-ea"/>
                <a:sym typeface="+mn-lt"/>
              </a:rPr>
              <a:t>一个负数的补码等于模减该负数的绝对值。</a:t>
            </a:r>
            <a:endParaRPr kumimoji="1" lang="zh-CN" altLang="en-US" sz="2000" b="1" dirty="0">
              <a:solidFill>
                <a:srgbClr val="009900"/>
              </a:solidFill>
              <a:cs typeface="+mn-ea"/>
              <a:sym typeface="+mn-lt"/>
            </a:endParaRPr>
          </a:p>
        </p:txBody>
      </p:sp>
      <p:sp>
        <p:nvSpPr>
          <p:cNvPr id="564232" name="Rectangle 8"/>
          <p:cNvSpPr>
            <a:spLocks noChangeArrowheads="1"/>
          </p:cNvSpPr>
          <p:nvPr/>
        </p:nvSpPr>
        <p:spPr bwMode="auto">
          <a:xfrm>
            <a:off x="406400" y="1206974"/>
            <a:ext cx="299085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cs typeface="+mn-ea"/>
                <a:sym typeface="+mn-lt"/>
              </a:rPr>
              <a:t>现实世界中的模运算系统</a:t>
            </a:r>
            <a:endParaRPr lang="zh-CN" altLang="en-US" sz="20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10" name="Rectangle 127"/>
          <p:cNvSpPr>
            <a:spLocks noChangeArrowheads="1"/>
          </p:cNvSpPr>
          <p:nvPr/>
        </p:nvSpPr>
        <p:spPr bwMode="auto">
          <a:xfrm>
            <a:off x="551455" y="4891245"/>
            <a:ext cx="7823200" cy="39878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kumimoji="1" lang="zh-CN" altLang="en-US" sz="2000" b="1" dirty="0">
                <a:cs typeface="+mn-ea"/>
                <a:sym typeface="+mn-lt"/>
              </a:rPr>
              <a:t>结论</a:t>
            </a:r>
            <a:r>
              <a:rPr kumimoji="1" lang="en-US" altLang="zh-CN" sz="2000" b="1" dirty="0">
                <a:cs typeface="+mn-ea"/>
                <a:sym typeface="+mn-lt"/>
              </a:rPr>
              <a:t>1</a:t>
            </a:r>
            <a:r>
              <a:rPr kumimoji="1" lang="zh-CN" altLang="en-US" sz="2000" b="1" dirty="0">
                <a:cs typeface="+mn-ea"/>
                <a:sym typeface="+mn-lt"/>
              </a:rPr>
              <a:t>： </a:t>
            </a:r>
            <a:r>
              <a:rPr kumimoji="1" lang="zh-CN" altLang="en-US" sz="2000" b="1" dirty="0">
                <a:solidFill>
                  <a:srgbClr val="009900"/>
                </a:solidFill>
                <a:cs typeface="+mn-ea"/>
                <a:sym typeface="+mn-lt"/>
              </a:rPr>
              <a:t>系统表示的数值范围有限，不超过模值。</a:t>
            </a:r>
            <a:endParaRPr kumimoji="1" lang="zh-CN" altLang="en-US" sz="2000" b="1" dirty="0">
              <a:solidFill>
                <a:srgbClr val="0099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4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4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9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9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98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98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98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98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98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98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98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98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98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98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98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98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98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98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98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98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9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89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9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89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9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89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83" grpId="0" bldLvl="0" animBg="1"/>
      <p:bldP spid="289884" grpId="0" bldLvl="0" animBg="1"/>
      <p:bldP spid="289919" grpId="0" bldLvl="0" animBg="1"/>
      <p:bldP spid="564232" grpId="0" bldLvl="0" animBg="1"/>
      <p:bldP spid="10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4520"/>
          </a:xfrm>
          <a:noFill/>
        </p:spPr>
        <p:txBody>
          <a:bodyPr lIns="63500" tIns="25400" rIns="63500" bIns="25400" anchor="t">
            <a:spAutoFit/>
          </a:bodyPr>
          <a:lstStyle/>
          <a:p>
            <a:r>
              <a:rPr lang="zh-CN" altLang="en-US" sz="3600" b="1" dirty="0">
                <a:latin typeface="+mn-lt"/>
                <a:ea typeface="+mn-ea"/>
                <a:cs typeface="+mn-ea"/>
                <a:sym typeface="+mn-lt"/>
              </a:rPr>
              <a:t>运算器适合用补码表示和运算</a:t>
            </a:r>
            <a:endParaRPr lang="zh-CN" altLang="en-US" sz="3600" b="1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5308600" y="2809127"/>
            <a:ext cx="3884753" cy="3295497"/>
            <a:chOff x="2946" y="1553"/>
            <a:chExt cx="2755" cy="2298"/>
          </a:xfrm>
        </p:grpSpPr>
        <p:sp>
          <p:nvSpPr>
            <p:cNvPr id="568324" name="Oval 6"/>
            <p:cNvSpPr>
              <a:spLocks noChangeArrowheads="1"/>
            </p:cNvSpPr>
            <p:nvPr/>
          </p:nvSpPr>
          <p:spPr bwMode="auto">
            <a:xfrm>
              <a:off x="3303" y="1769"/>
              <a:ext cx="1959" cy="1829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600" b="1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8325" name="Line 7"/>
            <p:cNvSpPr>
              <a:spLocks noChangeShapeType="1"/>
            </p:cNvSpPr>
            <p:nvPr/>
          </p:nvSpPr>
          <p:spPr bwMode="auto">
            <a:xfrm>
              <a:off x="3313" y="2688"/>
              <a:ext cx="1949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8326" name="Line 8"/>
            <p:cNvSpPr>
              <a:spLocks noChangeShapeType="1"/>
            </p:cNvSpPr>
            <p:nvPr/>
          </p:nvSpPr>
          <p:spPr bwMode="auto">
            <a:xfrm flipH="1">
              <a:off x="4270" y="1767"/>
              <a:ext cx="0" cy="18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8327" name="Text Box 9"/>
            <p:cNvSpPr txBox="1">
              <a:spLocks noChangeArrowheads="1"/>
            </p:cNvSpPr>
            <p:nvPr/>
          </p:nvSpPr>
          <p:spPr bwMode="auto">
            <a:xfrm>
              <a:off x="4095" y="1553"/>
              <a:ext cx="454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latin typeface="+mn-lt"/>
                  <a:ea typeface="+mn-ea"/>
                  <a:cs typeface="+mn-ea"/>
                  <a:sym typeface="+mn-lt"/>
                </a:rPr>
                <a:t>0000</a:t>
              </a:r>
              <a:endParaRPr lang="zh-CN" altLang="en-US" sz="1600" b="1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8328" name="Text Box 10"/>
            <p:cNvSpPr txBox="1">
              <a:spLocks noChangeArrowheads="1"/>
            </p:cNvSpPr>
            <p:nvPr/>
          </p:nvSpPr>
          <p:spPr bwMode="auto">
            <a:xfrm>
              <a:off x="4567" y="1621"/>
              <a:ext cx="454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latin typeface="+mn-lt"/>
                  <a:ea typeface="+mn-ea"/>
                  <a:cs typeface="+mn-ea"/>
                  <a:sym typeface="+mn-lt"/>
                </a:rPr>
                <a:t>0001</a:t>
              </a:r>
              <a:endParaRPr lang="zh-CN" altLang="en-US" sz="1600" b="1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8329" name="Text Box 11"/>
            <p:cNvSpPr txBox="1">
              <a:spLocks noChangeArrowheads="1"/>
            </p:cNvSpPr>
            <p:nvPr/>
          </p:nvSpPr>
          <p:spPr bwMode="auto">
            <a:xfrm>
              <a:off x="4032" y="3615"/>
              <a:ext cx="505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 dirty="0">
                  <a:latin typeface="+mn-lt"/>
                  <a:ea typeface="+mn-ea"/>
                  <a:cs typeface="+mn-ea"/>
                  <a:sym typeface="+mn-lt"/>
                </a:rPr>
                <a:t>1000</a:t>
              </a:r>
              <a:endParaRPr lang="zh-CN" altLang="en-US" sz="1600" b="1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8330" name="Text Box 12"/>
            <p:cNvSpPr txBox="1">
              <a:spLocks noChangeArrowheads="1"/>
            </p:cNvSpPr>
            <p:nvPr/>
          </p:nvSpPr>
          <p:spPr bwMode="auto">
            <a:xfrm>
              <a:off x="4977" y="1898"/>
              <a:ext cx="454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latin typeface="+mn-lt"/>
                  <a:ea typeface="+mn-ea"/>
                  <a:cs typeface="+mn-ea"/>
                  <a:sym typeface="+mn-lt"/>
                </a:rPr>
                <a:t>0010</a:t>
              </a:r>
              <a:endParaRPr lang="zh-CN" altLang="en-US" sz="1600" b="1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8331" name="Text Box 13"/>
            <p:cNvSpPr txBox="1">
              <a:spLocks noChangeArrowheads="1"/>
            </p:cNvSpPr>
            <p:nvPr/>
          </p:nvSpPr>
          <p:spPr bwMode="auto">
            <a:xfrm>
              <a:off x="5247" y="2571"/>
              <a:ext cx="454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latin typeface="+mn-lt"/>
                  <a:ea typeface="+mn-ea"/>
                  <a:cs typeface="+mn-ea"/>
                  <a:sym typeface="+mn-lt"/>
                </a:rPr>
                <a:t>0100</a:t>
              </a:r>
              <a:endParaRPr lang="zh-CN" altLang="en-US" sz="1600" b="1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8332" name="Text Box 14"/>
            <p:cNvSpPr txBox="1">
              <a:spLocks noChangeArrowheads="1"/>
            </p:cNvSpPr>
            <p:nvPr/>
          </p:nvSpPr>
          <p:spPr bwMode="auto">
            <a:xfrm>
              <a:off x="3330" y="1825"/>
              <a:ext cx="43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latin typeface="+mn-lt"/>
                  <a:ea typeface="+mn-ea"/>
                  <a:cs typeface="+mn-ea"/>
                  <a:sym typeface="+mn-lt"/>
                </a:rPr>
                <a:t>1110</a:t>
              </a:r>
              <a:endParaRPr lang="zh-CN" altLang="en-US" sz="1600" b="1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8333" name="Text Box 15"/>
            <p:cNvSpPr txBox="1">
              <a:spLocks noChangeArrowheads="1"/>
            </p:cNvSpPr>
            <p:nvPr/>
          </p:nvSpPr>
          <p:spPr bwMode="auto">
            <a:xfrm>
              <a:off x="3659" y="1624"/>
              <a:ext cx="430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latin typeface="+mn-lt"/>
                  <a:ea typeface="+mn-ea"/>
                  <a:cs typeface="+mn-ea"/>
                  <a:sym typeface="+mn-lt"/>
                </a:rPr>
                <a:t>1111</a:t>
              </a:r>
              <a:endParaRPr lang="zh-CN" altLang="en-US" sz="1600" b="1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8334" name="Text Box 16"/>
            <p:cNvSpPr txBox="1">
              <a:spLocks noChangeArrowheads="1"/>
            </p:cNvSpPr>
            <p:nvPr/>
          </p:nvSpPr>
          <p:spPr bwMode="auto">
            <a:xfrm>
              <a:off x="4542" y="3555"/>
              <a:ext cx="43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latin typeface="+mn-lt"/>
                  <a:ea typeface="+mn-ea"/>
                  <a:cs typeface="+mn-ea"/>
                  <a:sym typeface="+mn-lt"/>
                </a:rPr>
                <a:t>0111</a:t>
              </a:r>
              <a:endParaRPr lang="zh-CN" altLang="en-US" sz="1600" b="1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8335" name="Text Box 17"/>
            <p:cNvSpPr txBox="1">
              <a:spLocks noChangeArrowheads="1"/>
            </p:cNvSpPr>
            <p:nvPr/>
          </p:nvSpPr>
          <p:spPr bwMode="auto">
            <a:xfrm>
              <a:off x="5167" y="2960"/>
              <a:ext cx="454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latin typeface="+mn-lt"/>
                  <a:ea typeface="+mn-ea"/>
                  <a:cs typeface="+mn-ea"/>
                  <a:sym typeface="+mn-lt"/>
                </a:rPr>
                <a:t>0101</a:t>
              </a:r>
              <a:endParaRPr lang="zh-CN" altLang="en-US" sz="1600" b="1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8336" name="Text Box 18"/>
            <p:cNvSpPr txBox="1">
              <a:spLocks noChangeArrowheads="1"/>
            </p:cNvSpPr>
            <p:nvPr/>
          </p:nvSpPr>
          <p:spPr bwMode="auto">
            <a:xfrm>
              <a:off x="3315" y="3327"/>
              <a:ext cx="454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latin typeface="+mn-lt"/>
                  <a:ea typeface="+mn-ea"/>
                  <a:cs typeface="+mn-ea"/>
                  <a:sym typeface="+mn-lt"/>
                </a:rPr>
                <a:t>1010</a:t>
              </a:r>
              <a:endParaRPr lang="zh-CN" altLang="en-US" sz="1600" b="1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8337" name="Text Box 19"/>
            <p:cNvSpPr txBox="1">
              <a:spLocks noChangeArrowheads="1"/>
            </p:cNvSpPr>
            <p:nvPr/>
          </p:nvSpPr>
          <p:spPr bwMode="auto">
            <a:xfrm>
              <a:off x="3041" y="2950"/>
              <a:ext cx="446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latin typeface="+mn-lt"/>
                  <a:ea typeface="+mn-ea"/>
                  <a:cs typeface="+mn-ea"/>
                  <a:sym typeface="+mn-lt"/>
                </a:rPr>
                <a:t>1011</a:t>
              </a:r>
              <a:endParaRPr lang="zh-CN" altLang="en-US" sz="1600" b="1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8338" name="Text Box 20"/>
            <p:cNvSpPr txBox="1">
              <a:spLocks noChangeArrowheads="1"/>
            </p:cNvSpPr>
            <p:nvPr/>
          </p:nvSpPr>
          <p:spPr bwMode="auto">
            <a:xfrm>
              <a:off x="2946" y="2583"/>
              <a:ext cx="449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latin typeface="+mn-lt"/>
                  <a:ea typeface="+mn-ea"/>
                  <a:cs typeface="+mn-ea"/>
                  <a:sym typeface="+mn-lt"/>
                </a:rPr>
                <a:t>1100</a:t>
              </a:r>
              <a:endParaRPr lang="zh-CN" altLang="en-US" sz="1600" b="1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8339" name="Line 21"/>
            <p:cNvSpPr>
              <a:spLocks noChangeShapeType="1"/>
            </p:cNvSpPr>
            <p:nvPr/>
          </p:nvSpPr>
          <p:spPr bwMode="auto">
            <a:xfrm>
              <a:off x="3870" y="1847"/>
              <a:ext cx="57" cy="10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8340" name="Line 22"/>
            <p:cNvSpPr>
              <a:spLocks noChangeShapeType="1"/>
            </p:cNvSpPr>
            <p:nvPr/>
          </p:nvSpPr>
          <p:spPr bwMode="auto">
            <a:xfrm flipV="1">
              <a:off x="4610" y="1831"/>
              <a:ext cx="36" cy="12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8341" name="Line 23"/>
            <p:cNvSpPr>
              <a:spLocks noChangeShapeType="1"/>
            </p:cNvSpPr>
            <p:nvPr/>
          </p:nvSpPr>
          <p:spPr bwMode="auto">
            <a:xfrm flipV="1">
              <a:off x="5088" y="2360"/>
              <a:ext cx="127" cy="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8342" name="Line 24"/>
            <p:cNvSpPr>
              <a:spLocks noChangeShapeType="1"/>
            </p:cNvSpPr>
            <p:nvPr/>
          </p:nvSpPr>
          <p:spPr bwMode="auto">
            <a:xfrm>
              <a:off x="5100" y="2948"/>
              <a:ext cx="93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8343" name="Line 25"/>
            <p:cNvSpPr>
              <a:spLocks noChangeShapeType="1"/>
            </p:cNvSpPr>
            <p:nvPr/>
          </p:nvSpPr>
          <p:spPr bwMode="auto">
            <a:xfrm>
              <a:off x="4601" y="3414"/>
              <a:ext cx="69" cy="1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8344" name="Line 26"/>
            <p:cNvSpPr>
              <a:spLocks noChangeShapeType="1"/>
            </p:cNvSpPr>
            <p:nvPr/>
          </p:nvSpPr>
          <p:spPr bwMode="auto">
            <a:xfrm flipH="1">
              <a:off x="3573" y="3235"/>
              <a:ext cx="115" cy="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8345" name="Line 27"/>
            <p:cNvSpPr>
              <a:spLocks noChangeShapeType="1"/>
            </p:cNvSpPr>
            <p:nvPr/>
          </p:nvSpPr>
          <p:spPr bwMode="auto">
            <a:xfrm flipH="1">
              <a:off x="3348" y="2960"/>
              <a:ext cx="127" cy="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8346" name="Line 28"/>
            <p:cNvSpPr>
              <a:spLocks noChangeShapeType="1"/>
            </p:cNvSpPr>
            <p:nvPr/>
          </p:nvSpPr>
          <p:spPr bwMode="auto">
            <a:xfrm flipH="1" flipV="1">
              <a:off x="3359" y="2337"/>
              <a:ext cx="116" cy="5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8347" name="Line 29"/>
            <p:cNvSpPr>
              <a:spLocks noChangeShapeType="1"/>
            </p:cNvSpPr>
            <p:nvPr/>
          </p:nvSpPr>
          <p:spPr bwMode="auto">
            <a:xfrm flipV="1">
              <a:off x="3882" y="3413"/>
              <a:ext cx="56" cy="1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8348" name="Line 30"/>
            <p:cNvSpPr>
              <a:spLocks noChangeShapeType="1"/>
            </p:cNvSpPr>
            <p:nvPr/>
          </p:nvSpPr>
          <p:spPr bwMode="auto">
            <a:xfrm flipV="1">
              <a:off x="4910" y="2052"/>
              <a:ext cx="85" cy="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8349" name="Line 31"/>
            <p:cNvSpPr>
              <a:spLocks noChangeShapeType="1"/>
            </p:cNvSpPr>
            <p:nvPr/>
          </p:nvSpPr>
          <p:spPr bwMode="auto">
            <a:xfrm>
              <a:off x="4866" y="3258"/>
              <a:ext cx="92" cy="1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8350" name="Line 32"/>
            <p:cNvSpPr>
              <a:spLocks noChangeShapeType="1"/>
            </p:cNvSpPr>
            <p:nvPr/>
          </p:nvSpPr>
          <p:spPr bwMode="auto">
            <a:xfrm>
              <a:off x="3618" y="2003"/>
              <a:ext cx="68" cy="9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8351" name="Text Box 33"/>
            <p:cNvSpPr txBox="1">
              <a:spLocks noChangeArrowheads="1"/>
            </p:cNvSpPr>
            <p:nvPr/>
          </p:nvSpPr>
          <p:spPr bwMode="auto">
            <a:xfrm>
              <a:off x="3028" y="2198"/>
              <a:ext cx="446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latin typeface="+mn-lt"/>
                  <a:ea typeface="+mn-ea"/>
                  <a:cs typeface="+mn-ea"/>
                  <a:sym typeface="+mn-lt"/>
                </a:rPr>
                <a:t>1101</a:t>
              </a:r>
              <a:endParaRPr lang="zh-CN" altLang="en-US" sz="1600" b="1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8352" name="Text Box 34"/>
            <p:cNvSpPr txBox="1">
              <a:spLocks noChangeArrowheads="1"/>
            </p:cNvSpPr>
            <p:nvPr/>
          </p:nvSpPr>
          <p:spPr bwMode="auto">
            <a:xfrm>
              <a:off x="5241" y="2198"/>
              <a:ext cx="446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latin typeface="+mn-lt"/>
                  <a:ea typeface="+mn-ea"/>
                  <a:cs typeface="+mn-ea"/>
                  <a:sym typeface="+mn-lt"/>
                </a:rPr>
                <a:t>0011</a:t>
              </a:r>
              <a:endParaRPr lang="zh-CN" altLang="en-US" sz="1600" b="1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8353" name="Text Box 35"/>
            <p:cNvSpPr txBox="1">
              <a:spLocks noChangeArrowheads="1"/>
            </p:cNvSpPr>
            <p:nvPr/>
          </p:nvSpPr>
          <p:spPr bwMode="auto">
            <a:xfrm>
              <a:off x="4914" y="3333"/>
              <a:ext cx="446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latin typeface="+mn-lt"/>
                  <a:ea typeface="+mn-ea"/>
                  <a:cs typeface="+mn-ea"/>
                  <a:sym typeface="+mn-lt"/>
                </a:rPr>
                <a:t>0110</a:t>
              </a:r>
              <a:endParaRPr lang="zh-CN" altLang="en-US" sz="1600" b="1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8354" name="Text Box 36"/>
            <p:cNvSpPr txBox="1">
              <a:spLocks noChangeArrowheads="1"/>
            </p:cNvSpPr>
            <p:nvPr/>
          </p:nvSpPr>
          <p:spPr bwMode="auto">
            <a:xfrm>
              <a:off x="3661" y="3543"/>
              <a:ext cx="454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latin typeface="+mn-lt"/>
                  <a:ea typeface="+mn-ea"/>
                  <a:cs typeface="+mn-ea"/>
                  <a:sym typeface="+mn-lt"/>
                </a:rPr>
                <a:t>1001</a:t>
              </a:r>
              <a:endParaRPr lang="zh-CN" altLang="en-US" sz="1600" b="1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568355" name="Text Box 94"/>
          <p:cNvSpPr txBox="1">
            <a:spLocks noChangeArrowheads="1"/>
          </p:cNvSpPr>
          <p:nvPr/>
        </p:nvSpPr>
        <p:spPr bwMode="auto">
          <a:xfrm>
            <a:off x="292100" y="1345645"/>
            <a:ext cx="86455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       计算机的运算器只有有限位，假设为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位，则运算结果只能保留低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位，而且计算机是二进制表示的，其模为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lang="en-US" altLang="zh-CN" sz="2400" b="1" baseline="30000" dirty="0">
                <a:latin typeface="+mn-lt"/>
                <a:ea typeface="+mn-ea"/>
                <a:cs typeface="+mn-ea"/>
                <a:sym typeface="+mn-lt"/>
              </a:rPr>
              <a:t>n </a:t>
            </a: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。</a:t>
            </a:r>
            <a:endParaRPr lang="en-US" altLang="zh-CN" sz="2400" b="1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68356" name="Group 36"/>
          <p:cNvGrpSpPr/>
          <p:nvPr/>
        </p:nvGrpSpPr>
        <p:grpSpPr bwMode="auto">
          <a:xfrm>
            <a:off x="475783" y="3798446"/>
            <a:ext cx="4910138" cy="1938338"/>
            <a:chOff x="218" y="2758"/>
            <a:chExt cx="3093" cy="1221"/>
          </a:xfrm>
        </p:grpSpPr>
        <p:sp>
          <p:nvSpPr>
            <p:cNvPr id="568357" name="Text Box 95"/>
            <p:cNvSpPr txBox="1">
              <a:spLocks noChangeArrowheads="1"/>
            </p:cNvSpPr>
            <p:nvPr/>
          </p:nvSpPr>
          <p:spPr bwMode="auto">
            <a:xfrm>
              <a:off x="218" y="2758"/>
              <a:ext cx="2666" cy="1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45000"/>
                </a:spcBef>
              </a:pPr>
              <a:r>
                <a:rPr lang="zh-CN" altLang="en-US" sz="2400" b="1" dirty="0">
                  <a:solidFill>
                    <a:srgbClr val="3333FF"/>
                  </a:solidFill>
                  <a:latin typeface="+mn-lt"/>
                  <a:ea typeface="+mn-ea"/>
                  <a:cs typeface="+mn-ea"/>
                  <a:sym typeface="+mn-lt"/>
                </a:rPr>
                <a:t>当</a:t>
              </a:r>
              <a:r>
                <a:rPr lang="en-US" altLang="zh-CN" sz="2400" b="1" dirty="0">
                  <a:solidFill>
                    <a:srgbClr val="3333FF"/>
                  </a:solidFill>
                  <a:latin typeface="+mn-lt"/>
                  <a:ea typeface="+mn-ea"/>
                  <a:cs typeface="+mn-ea"/>
                  <a:sym typeface="+mn-lt"/>
                </a:rPr>
                <a:t>n=4</a:t>
              </a:r>
              <a:r>
                <a:rPr lang="zh-CN" altLang="en-US" sz="2400" b="1" dirty="0">
                  <a:solidFill>
                    <a:srgbClr val="3333FF"/>
                  </a:solidFill>
                  <a:latin typeface="+mn-lt"/>
                  <a:ea typeface="+mn-ea"/>
                  <a:cs typeface="+mn-ea"/>
                  <a:sym typeface="+mn-lt"/>
                </a:rPr>
                <a:t>时，共有</a:t>
              </a:r>
              <a:r>
                <a:rPr lang="en-US" altLang="zh-CN" sz="2400" b="1" dirty="0">
                  <a:solidFill>
                    <a:srgbClr val="3333FF"/>
                  </a:solidFill>
                  <a:latin typeface="+mn-lt"/>
                  <a:ea typeface="+mn-ea"/>
                  <a:cs typeface="+mn-ea"/>
                  <a:sym typeface="+mn-lt"/>
                </a:rPr>
                <a:t>16</a:t>
              </a:r>
              <a:r>
                <a:rPr lang="zh-CN" altLang="en-US" sz="2400" b="1" dirty="0">
                  <a:solidFill>
                    <a:srgbClr val="3333FF"/>
                  </a:solidFill>
                  <a:latin typeface="+mn-lt"/>
                  <a:ea typeface="+mn-ea"/>
                  <a:cs typeface="+mn-ea"/>
                  <a:sym typeface="+mn-lt"/>
                </a:rPr>
                <a:t>个机器数：</a:t>
              </a:r>
              <a:r>
                <a:rPr lang="en-US" altLang="zh-CN" sz="2400" b="1" dirty="0">
                  <a:solidFill>
                    <a:srgbClr val="3333FF"/>
                  </a:solidFill>
                  <a:latin typeface="+mn-lt"/>
                  <a:ea typeface="+mn-ea"/>
                  <a:cs typeface="+mn-ea"/>
                  <a:sym typeface="+mn-lt"/>
                </a:rPr>
                <a:t>0000 ~ 1111</a:t>
              </a:r>
              <a:r>
                <a:rPr lang="zh-CN" altLang="en-US" sz="2400" b="1" dirty="0">
                  <a:solidFill>
                    <a:srgbClr val="3333FF"/>
                  </a:solidFill>
                  <a:latin typeface="+mn-lt"/>
                  <a:ea typeface="+mn-ea"/>
                  <a:cs typeface="+mn-ea"/>
                  <a:sym typeface="+mn-lt"/>
                </a:rPr>
                <a:t>，可看成是模为</a:t>
              </a:r>
              <a:r>
                <a:rPr lang="en-US" altLang="zh-CN" sz="2400" b="1" dirty="0">
                  <a:solidFill>
                    <a:srgbClr val="3333FF"/>
                  </a:solidFill>
                  <a:latin typeface="+mn-lt"/>
                  <a:ea typeface="+mn-ea"/>
                  <a:cs typeface="+mn-ea"/>
                  <a:sym typeface="+mn-lt"/>
                </a:rPr>
                <a:t>2</a:t>
              </a:r>
              <a:r>
                <a:rPr lang="en-US" altLang="zh-CN" sz="2400" b="1" baseline="30000" dirty="0">
                  <a:solidFill>
                    <a:srgbClr val="3333FF"/>
                  </a:solidFill>
                  <a:latin typeface="+mn-lt"/>
                  <a:ea typeface="+mn-ea"/>
                  <a:cs typeface="+mn-ea"/>
                  <a:sym typeface="+mn-lt"/>
                </a:rPr>
                <a:t>4 </a:t>
              </a:r>
              <a:r>
                <a:rPr lang="zh-CN" altLang="en-US" sz="2400" b="1" dirty="0">
                  <a:solidFill>
                    <a:srgbClr val="3333FF"/>
                  </a:solidFill>
                  <a:latin typeface="+mn-lt"/>
                  <a:ea typeface="+mn-ea"/>
                  <a:cs typeface="+mn-ea"/>
                  <a:sym typeface="+mn-lt"/>
                </a:rPr>
                <a:t>的钟表系统。真值的范围为 </a:t>
              </a:r>
              <a:r>
                <a:rPr lang="en-US" altLang="zh-CN" sz="2800" b="1" dirty="0">
                  <a:solidFill>
                    <a:srgbClr val="3333FF"/>
                  </a:solidFill>
                  <a:latin typeface="+mn-lt"/>
                  <a:ea typeface="+mn-ea"/>
                  <a:cs typeface="+mn-ea"/>
                  <a:sym typeface="+mn-lt"/>
                </a:rPr>
                <a:t>-</a:t>
              </a:r>
              <a:r>
                <a:rPr lang="en-US" altLang="zh-CN" sz="2400" b="1" dirty="0">
                  <a:solidFill>
                    <a:srgbClr val="3333FF"/>
                  </a:solidFill>
                  <a:latin typeface="+mn-lt"/>
                  <a:ea typeface="+mn-ea"/>
                  <a:cs typeface="+mn-ea"/>
                  <a:sym typeface="+mn-lt"/>
                </a:rPr>
                <a:t>8 ~ +7</a:t>
              </a:r>
              <a:endParaRPr lang="en-US" altLang="zh-CN" sz="2400" b="1" dirty="0">
                <a:solidFill>
                  <a:srgbClr val="3333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8358" name="Line 96"/>
            <p:cNvSpPr>
              <a:spLocks noChangeShapeType="1"/>
            </p:cNvSpPr>
            <p:nvPr/>
          </p:nvSpPr>
          <p:spPr bwMode="auto">
            <a:xfrm flipV="1">
              <a:off x="2783" y="3296"/>
              <a:ext cx="528" cy="3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400484" name="Text Box 100"/>
          <p:cNvSpPr txBox="1">
            <a:spLocks noChangeArrowheads="1"/>
          </p:cNvSpPr>
          <p:nvPr/>
        </p:nvSpPr>
        <p:spPr bwMode="auto">
          <a:xfrm>
            <a:off x="745191" y="2176969"/>
            <a:ext cx="72707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补码的定义：假定补码有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位，则：</a:t>
            </a:r>
            <a:endParaRPr lang="zh-CN" altLang="en-US" sz="2400" b="1" dirty="0">
              <a:latin typeface="+mn-lt"/>
              <a:ea typeface="+mn-ea"/>
              <a:cs typeface="+mn-ea"/>
              <a:sym typeface="+mn-lt"/>
            </a:endParaRPr>
          </a:p>
          <a:p>
            <a:pPr>
              <a:spcBef>
                <a:spcPct val="25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[X]</a:t>
            </a:r>
            <a:r>
              <a:rPr lang="zh-CN" altLang="en-US" sz="2400" b="1" baseline="-25000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补</a:t>
            </a:r>
            <a:r>
              <a:rPr lang="en-US" altLang="zh-CN" sz="24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= 2</a:t>
            </a:r>
            <a:r>
              <a:rPr lang="en-US" altLang="zh-CN" sz="2400" b="1" baseline="30000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n </a:t>
            </a:r>
            <a:r>
              <a:rPr lang="en-US" altLang="zh-CN" sz="24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+ X   </a:t>
            </a:r>
            <a:r>
              <a:rPr lang="zh-CN" altLang="en-US" sz="24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lang="en-US" altLang="zh-CN" sz="24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-2</a:t>
            </a:r>
            <a:r>
              <a:rPr lang="en-US" altLang="zh-CN" sz="2400" b="1" baseline="30000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n-1</a:t>
            </a:r>
            <a:r>
              <a:rPr lang="en-US" altLang="zh-CN" sz="24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≤X</a:t>
            </a:r>
            <a:r>
              <a:rPr lang="zh-CN" altLang="en-US" sz="24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＜ </a:t>
            </a:r>
            <a:r>
              <a:rPr lang="en-US" altLang="zh-CN" sz="24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lang="en-US" altLang="zh-CN" sz="2400" b="1" baseline="30000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n-1</a:t>
            </a:r>
            <a:r>
              <a:rPr lang="en-US" altLang="zh-CN" sz="24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sz="24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mod 2</a:t>
            </a:r>
            <a:r>
              <a:rPr lang="en-US" altLang="zh-CN" sz="2400" b="1" baseline="30000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lang="zh-CN" altLang="en-US" sz="24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sz="2400" b="1" dirty="0">
              <a:solidFill>
                <a:srgbClr val="CC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Rectangle 4"/>
          <p:cNvSpPr>
            <a:spLocks noChangeArrowheads="1"/>
          </p:cNvSpPr>
          <p:nvPr/>
        </p:nvSpPr>
        <p:spPr bwMode="auto">
          <a:xfrm>
            <a:off x="520708" y="5280049"/>
            <a:ext cx="405746" cy="362821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600" b="1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Rectangle 4"/>
          <p:cNvSpPr>
            <a:spLocks noChangeArrowheads="1"/>
          </p:cNvSpPr>
          <p:nvPr/>
        </p:nvSpPr>
        <p:spPr bwMode="auto">
          <a:xfrm>
            <a:off x="6923786" y="5736784"/>
            <a:ext cx="491759" cy="362821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600" b="1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45191" y="3136857"/>
            <a:ext cx="34932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C0000"/>
                </a:solidFill>
                <a:cs typeface="+mn-ea"/>
                <a:sym typeface="+mn-lt"/>
              </a:rPr>
              <a:t>X</a:t>
            </a:r>
            <a:r>
              <a:rPr lang="zh-CN" altLang="en-US" b="1" dirty="0">
                <a:solidFill>
                  <a:srgbClr val="CC0000"/>
                </a:solidFill>
                <a:cs typeface="+mn-ea"/>
                <a:sym typeface="+mn-lt"/>
              </a:rPr>
              <a:t>表示真值，</a:t>
            </a:r>
            <a:r>
              <a:rPr lang="en-US" altLang="zh-CN" b="1" dirty="0">
                <a:solidFill>
                  <a:srgbClr val="CC0000"/>
                </a:solidFill>
                <a:cs typeface="+mn-ea"/>
                <a:sym typeface="+mn-lt"/>
              </a:rPr>
              <a:t>[X]</a:t>
            </a:r>
            <a:r>
              <a:rPr lang="zh-CN" altLang="en-US" b="1" baseline="-25000" dirty="0">
                <a:solidFill>
                  <a:srgbClr val="CC0000"/>
                </a:solidFill>
                <a:cs typeface="+mn-ea"/>
                <a:sym typeface="+mn-lt"/>
              </a:rPr>
              <a:t>补</a:t>
            </a:r>
            <a:r>
              <a:rPr lang="zh-CN" altLang="en-US" b="1" dirty="0">
                <a:solidFill>
                  <a:srgbClr val="CC0000"/>
                </a:solidFill>
                <a:cs typeface="+mn-ea"/>
                <a:sym typeface="+mn-lt"/>
              </a:rPr>
              <a:t>表示</a:t>
            </a:r>
            <a:r>
              <a:rPr lang="en-US" altLang="zh-CN" b="1" dirty="0">
                <a:solidFill>
                  <a:srgbClr val="CC0000"/>
                </a:solidFill>
                <a:cs typeface="+mn-ea"/>
                <a:sym typeface="+mn-lt"/>
              </a:rPr>
              <a:t>X</a:t>
            </a:r>
            <a:r>
              <a:rPr lang="zh-CN" altLang="en-US" b="1" dirty="0">
                <a:solidFill>
                  <a:srgbClr val="CC0000"/>
                </a:solidFill>
                <a:cs typeface="+mn-ea"/>
                <a:sym typeface="+mn-lt"/>
              </a:rPr>
              <a:t>的机器数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8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8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484" grpId="0"/>
      <p:bldP spid="41" grpId="0" bldLvl="0" animBg="1"/>
      <p:bldP spid="42" grpId="0" bldLvl="0" animBg="1"/>
      <p:bldP spid="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4294967295"/>
          </p:nvPr>
        </p:nvSpPr>
        <p:spPr>
          <a:xfrm>
            <a:off x="0" y="1825625"/>
            <a:ext cx="7886700" cy="4530725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000" b="1" dirty="0">
                <a:cs typeface="+mn-ea"/>
                <a:sym typeface="+mn-lt"/>
              </a:rPr>
              <a:t>为什么用补码表示带符号整数？</a:t>
            </a:r>
            <a:endParaRPr lang="zh-CN" altLang="en-US" sz="2000" b="1" dirty="0">
              <a:cs typeface="+mn-ea"/>
              <a:sym typeface="+mn-lt"/>
            </a:endParaRP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000" b="1" dirty="0">
                <a:cs typeface="+mn-ea"/>
                <a:sym typeface="+mn-lt"/>
              </a:rPr>
              <a:t>补码运算系统是模运算系统，加、减运算统一</a:t>
            </a:r>
            <a:endParaRPr lang="zh-CN" altLang="en-US" sz="2000" b="1" dirty="0">
              <a:cs typeface="+mn-ea"/>
              <a:sym typeface="+mn-lt"/>
            </a:endParaRP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000" b="1" dirty="0">
                <a:cs typeface="+mn-ea"/>
                <a:sym typeface="+mn-lt"/>
              </a:rPr>
              <a:t>数</a:t>
            </a:r>
            <a:r>
              <a:rPr lang="en-US" altLang="zh-CN" sz="2000" b="1" dirty="0">
                <a:cs typeface="+mn-ea"/>
                <a:sym typeface="+mn-lt"/>
              </a:rPr>
              <a:t>0</a:t>
            </a:r>
            <a:r>
              <a:rPr lang="zh-CN" altLang="en-US" sz="2000" b="1" dirty="0">
                <a:cs typeface="+mn-ea"/>
                <a:sym typeface="+mn-lt"/>
              </a:rPr>
              <a:t>的表示唯一，方便使用</a:t>
            </a:r>
            <a:endParaRPr lang="zh-CN" altLang="en-US" sz="2000" b="1" dirty="0">
              <a:cs typeface="+mn-ea"/>
              <a:sym typeface="+mn-lt"/>
            </a:endParaRP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000" b="1" dirty="0">
                <a:cs typeface="+mn-ea"/>
                <a:sym typeface="+mn-lt"/>
              </a:rPr>
              <a:t>比原码和反码多表示一个最小负数</a:t>
            </a:r>
            <a:endParaRPr lang="zh-CN" altLang="en-US" sz="2000" b="1" dirty="0">
              <a:cs typeface="+mn-ea"/>
              <a:sym typeface="+mn-lt"/>
            </a:endParaRPr>
          </a:p>
          <a:p>
            <a:endParaRPr lang="zh-CN" altLang="en-US" sz="2000" b="1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44245"/>
          </a:xfrm>
        </p:spPr>
        <p:txBody>
          <a:bodyPr/>
          <a:lstStyle/>
          <a:p>
            <a:r>
              <a:rPr lang="zh-CN" altLang="en-US" sz="3600" b="1" dirty="0">
                <a:cs typeface="+mn-ea"/>
                <a:sym typeface="+mn-lt"/>
              </a:rPr>
              <a:t>运算器适合用补码表示和运算</a:t>
            </a:r>
            <a:endParaRPr lang="zh-CN" altLang="en-US" sz="3600" b="1" dirty="0">
              <a:cs typeface="+mn-ea"/>
              <a:sym typeface="+mn-lt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08578" y="4976847"/>
            <a:ext cx="74006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5000"/>
              </a:spcBef>
            </a:pPr>
            <a:r>
              <a:rPr lang="zh-CN" altLang="en-US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② 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[-1]</a:t>
            </a:r>
            <a:r>
              <a:rPr lang="zh-CN" altLang="en-US" sz="2400" b="1" baseline="-25000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补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= 2</a:t>
            </a:r>
            <a:r>
              <a:rPr lang="en-US" altLang="zh-CN" sz="2400" b="1" baseline="30000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n 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- 0…01 = </a:t>
            </a:r>
            <a:r>
              <a:rPr lang="en-US" altLang="zh-CN" sz="2400" b="1" dirty="0">
                <a:solidFill>
                  <a:srgbClr val="3333FF"/>
                </a:solidFill>
                <a:latin typeface="+mn-lt"/>
                <a:ea typeface="+mn-ea"/>
                <a:cs typeface="+mn-ea"/>
                <a:sym typeface="+mn-lt"/>
              </a:rPr>
              <a:t>11…1</a:t>
            </a:r>
            <a:r>
              <a:rPr lang="zh-CN" altLang="en-US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lang="zh-CN" altLang="en-US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个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）    （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mod 2</a:t>
            </a:r>
            <a:r>
              <a:rPr lang="en-US" altLang="zh-CN" sz="2400" b="1" baseline="30000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lang="zh-CN" altLang="en-US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sz="2400" b="1" dirty="0">
              <a:solidFill>
                <a:srgbClr val="0099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508577" y="3924496"/>
            <a:ext cx="7501311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+mn-lt"/>
                <a:ea typeface="+mn-ea"/>
                <a:cs typeface="+mn-ea"/>
                <a:sym typeface="+mn-lt"/>
              </a:rPr>
              <a:t>特殊数的补码（假定机器数有</a:t>
            </a:r>
            <a:r>
              <a:rPr lang="en-US" altLang="zh-CN" sz="2800" b="1" dirty="0"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lang="zh-CN" altLang="en-US" sz="2800" b="1" dirty="0">
                <a:latin typeface="+mn-lt"/>
                <a:ea typeface="+mn-ea"/>
                <a:cs typeface="+mn-ea"/>
                <a:sym typeface="+mn-lt"/>
              </a:rPr>
              <a:t>位）</a:t>
            </a:r>
            <a:endParaRPr lang="en-US" altLang="zh-CN" sz="1000" b="1" dirty="0">
              <a:solidFill>
                <a:srgbClr val="0099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spcBef>
                <a:spcPct val="25000"/>
              </a:spcBef>
            </a:pPr>
            <a:r>
              <a:rPr lang="zh-CN" altLang="en-US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① 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[-2</a:t>
            </a:r>
            <a:r>
              <a:rPr lang="en-US" altLang="zh-CN" sz="2400" b="1" baseline="30000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n-1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]</a:t>
            </a:r>
            <a:r>
              <a:rPr lang="zh-CN" altLang="en-US" sz="2400" b="1" baseline="-25000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补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= 2</a:t>
            </a:r>
            <a:r>
              <a:rPr lang="en-US" altLang="zh-CN" sz="2400" b="1" baseline="30000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n 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- 2</a:t>
            </a:r>
            <a:r>
              <a:rPr lang="en-US" altLang="zh-CN" sz="2400" b="1" baseline="30000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n-1 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= 10…0</a:t>
            </a:r>
            <a:r>
              <a:rPr lang="zh-CN" altLang="en-US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n-1</a:t>
            </a:r>
            <a:r>
              <a:rPr lang="zh-CN" altLang="en-US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个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lang="zh-CN" altLang="en-US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） （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mod 2</a:t>
            </a:r>
            <a:r>
              <a:rPr lang="en-US" altLang="zh-CN" sz="2400" b="1" baseline="30000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lang="zh-CN" altLang="en-US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sz="2400" b="1" dirty="0">
              <a:solidFill>
                <a:srgbClr val="0099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508577" y="5573443"/>
            <a:ext cx="86354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5000"/>
              </a:spcBef>
            </a:pPr>
            <a:r>
              <a:rPr lang="zh-CN" altLang="en-US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③ 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[+0]</a:t>
            </a:r>
            <a:r>
              <a:rPr lang="zh-CN" altLang="en-US" sz="2400" b="1" baseline="-25000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补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= [-0]</a:t>
            </a:r>
            <a:r>
              <a:rPr lang="zh-CN" altLang="en-US" sz="2400" b="1" baseline="-25000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补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= </a:t>
            </a:r>
            <a:r>
              <a:rPr lang="en-US" altLang="zh-CN" sz="2400" b="1" dirty="0">
                <a:solidFill>
                  <a:srgbClr val="009900"/>
                </a:solidFill>
                <a:cs typeface="+mn-ea"/>
                <a:sym typeface="+mn-lt"/>
              </a:rPr>
              <a:t>2</a:t>
            </a:r>
            <a:r>
              <a:rPr lang="en-US" altLang="zh-CN" sz="2400" b="1" baseline="30000" dirty="0">
                <a:solidFill>
                  <a:srgbClr val="009900"/>
                </a:solidFill>
                <a:cs typeface="+mn-ea"/>
                <a:sym typeface="+mn-lt"/>
              </a:rPr>
              <a:t>n </a:t>
            </a:r>
            <a:r>
              <a:rPr lang="en-US" altLang="zh-CN" sz="2400" b="1" dirty="0">
                <a:solidFill>
                  <a:srgbClr val="009900"/>
                </a:solidFill>
                <a:cs typeface="+mn-ea"/>
                <a:sym typeface="+mn-lt"/>
              </a:rPr>
              <a:t>(+-) 0 =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 1 </a:t>
            </a:r>
            <a:r>
              <a:rPr lang="en-US" altLang="zh-CN" sz="2400" b="1" dirty="0">
                <a:solidFill>
                  <a:srgbClr val="009900"/>
                </a:solidFill>
                <a:cs typeface="+mn-ea"/>
                <a:sym typeface="+mn-lt"/>
              </a:rPr>
              <a:t>0…0(mod 2</a:t>
            </a:r>
            <a:r>
              <a:rPr lang="en-US" altLang="zh-CN" sz="2400" b="1" baseline="30000" dirty="0">
                <a:solidFill>
                  <a:srgbClr val="009900"/>
                </a:solidFill>
                <a:cs typeface="+mn-ea"/>
                <a:sym typeface="+mn-lt"/>
              </a:rPr>
              <a:t>n </a:t>
            </a:r>
            <a:r>
              <a:rPr lang="en-US" altLang="zh-CN" sz="2400" b="1" dirty="0">
                <a:solidFill>
                  <a:srgbClr val="009900"/>
                </a:solidFill>
                <a:cs typeface="+mn-ea"/>
                <a:sym typeface="+mn-lt"/>
              </a:rPr>
              <a:t>)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 = 00…0</a:t>
            </a:r>
            <a:r>
              <a:rPr lang="zh-CN" altLang="en-US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lang="zh-CN" altLang="en-US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个</a:t>
            </a:r>
            <a:r>
              <a:rPr lang="en-US" altLang="zh-CN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lang="zh-CN" altLang="en-US" sz="24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） </a:t>
            </a:r>
            <a:endParaRPr lang="zh-CN" altLang="en-US" sz="2400" b="1" dirty="0">
              <a:solidFill>
                <a:srgbClr val="0099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33740" y="4833944"/>
            <a:ext cx="3570224" cy="874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79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825625"/>
            <a:ext cx="7886700" cy="4530725"/>
          </a:xfrm>
        </p:spPr>
        <p:txBody>
          <a:bodyPr lIns="63500" tIns="25400" rIns="63500" bIns="25400">
            <a:spAutoFit/>
          </a:bodyPr>
          <a:lstStyle/>
          <a:p>
            <a:pPr marL="203200" indent="-203200">
              <a:buFontTx/>
              <a:buNone/>
            </a:pPr>
            <a:r>
              <a:rPr lang="zh-CN" altLang="en-US" sz="25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2500" dirty="0">
                <a:latin typeface="+mn-lt"/>
                <a:ea typeface="+mn-ea"/>
                <a:cs typeface="+mn-ea"/>
                <a:sym typeface="+mn-lt"/>
              </a:rPr>
              <a:t>: </a:t>
            </a:r>
            <a:r>
              <a:rPr lang="zh-CN" altLang="en-US" sz="2500" dirty="0">
                <a:latin typeface="+mn-lt"/>
                <a:ea typeface="+mn-ea"/>
                <a:cs typeface="+mn-ea"/>
                <a:sym typeface="+mn-lt"/>
              </a:rPr>
              <a:t>设机器数有</a:t>
            </a:r>
            <a:r>
              <a:rPr lang="en-US" altLang="zh-CN" sz="2500" dirty="0">
                <a:latin typeface="+mn-lt"/>
                <a:ea typeface="+mn-ea"/>
                <a:cs typeface="+mn-ea"/>
                <a:sym typeface="+mn-lt"/>
              </a:rPr>
              <a:t>8</a:t>
            </a:r>
            <a:r>
              <a:rPr lang="zh-CN" altLang="en-US" sz="2500" dirty="0">
                <a:latin typeface="+mn-lt"/>
                <a:ea typeface="+mn-ea"/>
                <a:cs typeface="+mn-ea"/>
                <a:sym typeface="+mn-lt"/>
              </a:rPr>
              <a:t>位，求</a:t>
            </a:r>
            <a:r>
              <a:rPr lang="en-US" altLang="zh-CN" sz="2500" dirty="0">
                <a:latin typeface="+mn-lt"/>
                <a:ea typeface="+mn-ea"/>
                <a:cs typeface="+mn-ea"/>
                <a:sym typeface="+mn-lt"/>
              </a:rPr>
              <a:t>123</a:t>
            </a:r>
            <a:r>
              <a:rPr lang="zh-CN" altLang="en-US" sz="2500" dirty="0"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lang="en-US" altLang="zh-CN" sz="2500" dirty="0">
                <a:latin typeface="+mn-lt"/>
                <a:ea typeface="+mn-ea"/>
                <a:cs typeface="+mn-ea"/>
                <a:sym typeface="+mn-lt"/>
              </a:rPr>
              <a:t>-123</a:t>
            </a:r>
            <a:r>
              <a:rPr lang="zh-CN" altLang="en-US" sz="2500" dirty="0">
                <a:latin typeface="+mn-lt"/>
                <a:ea typeface="+mn-ea"/>
                <a:cs typeface="+mn-ea"/>
                <a:sym typeface="+mn-lt"/>
              </a:rPr>
              <a:t>的补码表示。</a:t>
            </a:r>
            <a:endParaRPr lang="zh-CN" altLang="en-US" sz="25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827405"/>
          </a:xfrm>
        </p:spPr>
        <p:txBody>
          <a:bodyPr/>
          <a:lstStyle/>
          <a:p>
            <a:r>
              <a:rPr lang="zh-CN" altLang="en-US" sz="3600" b="1" dirty="0">
                <a:cs typeface="+mn-ea"/>
                <a:sym typeface="+mn-lt"/>
              </a:rPr>
              <a:t>真值转补码</a:t>
            </a:r>
            <a:endParaRPr lang="zh-CN" altLang="en-US" sz="3600" b="1" dirty="0">
              <a:cs typeface="+mn-ea"/>
              <a:sym typeface="+mn-lt"/>
            </a:endParaRPr>
          </a:p>
        </p:txBody>
      </p:sp>
      <p:sp>
        <p:nvSpPr>
          <p:cNvPr id="467972" name="Rectangle 4"/>
          <p:cNvSpPr>
            <a:spLocks noChangeArrowheads="1"/>
          </p:cNvSpPr>
          <p:nvPr/>
        </p:nvSpPr>
        <p:spPr bwMode="auto">
          <a:xfrm>
            <a:off x="419417" y="2202298"/>
            <a:ext cx="8435975" cy="4485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203200" indent="-203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解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: 123 = 127 – 4 = 01111111B 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–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 100B = 01111011B</a:t>
            </a:r>
            <a:endParaRPr lang="en-US" altLang="zh-CN" sz="2400" b="1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 –</a:t>
            </a:r>
            <a:r>
              <a:rPr lang="en-US" altLang="zh-CN" sz="1600" b="1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123= – 01111011B</a:t>
            </a:r>
            <a:endParaRPr lang="en-US" altLang="zh-CN" sz="2400" b="1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    [01111011]</a:t>
            </a:r>
            <a:r>
              <a:rPr lang="zh-CN" altLang="en-US" sz="2400" b="1" baseline="-25000" dirty="0">
                <a:latin typeface="+mn-lt"/>
                <a:ea typeface="+mn-ea"/>
                <a:cs typeface="+mn-ea"/>
                <a:sym typeface="+mn-lt"/>
              </a:rPr>
              <a:t>补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= 2</a:t>
            </a:r>
            <a:r>
              <a:rPr lang="en-US" altLang="zh-CN" sz="2400" b="1" baseline="30000" dirty="0">
                <a:latin typeface="+mn-lt"/>
                <a:ea typeface="+mn-ea"/>
                <a:cs typeface="+mn-ea"/>
                <a:sym typeface="+mn-lt"/>
              </a:rPr>
              <a:t>8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 + 01111011 = 100000000 + 01111011                    </a:t>
            </a:r>
            <a:endParaRPr lang="en-US" altLang="zh-CN" sz="2400" b="1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                         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= 01111011 (mod 2</a:t>
            </a:r>
            <a:r>
              <a:rPr lang="en-US" altLang="zh-CN" sz="2400" b="1" baseline="30000" dirty="0">
                <a:latin typeface="+mn-lt"/>
                <a:ea typeface="+mn-ea"/>
                <a:cs typeface="+mn-ea"/>
                <a:sym typeface="+mn-lt"/>
              </a:rPr>
              <a:t>8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)</a:t>
            </a: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，即 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7BH</a:t>
            </a: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。</a:t>
            </a:r>
            <a:endParaRPr lang="zh-CN" altLang="en-US" sz="2400" b="1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endParaRPr lang="zh-CN" altLang="en-US" sz="1200" b="1" baseline="-25000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1000" b="1" dirty="0"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  [–</a:t>
            </a:r>
            <a:r>
              <a:rPr lang="en-US" altLang="zh-CN" sz="1600" b="1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01111011]</a:t>
            </a:r>
            <a:r>
              <a:rPr lang="zh-CN" altLang="en-US" sz="2400" b="1" baseline="-25000" dirty="0">
                <a:latin typeface="+mn-lt"/>
                <a:ea typeface="+mn-ea"/>
                <a:cs typeface="+mn-ea"/>
                <a:sym typeface="+mn-lt"/>
              </a:rPr>
              <a:t>补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= </a:t>
            </a:r>
            <a:r>
              <a:rPr lang="en-US" altLang="zh-CN" sz="2400" b="1"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lang="en-US" altLang="zh-CN" sz="2400" b="1" baseline="30000">
                <a:latin typeface="+mn-lt"/>
                <a:ea typeface="+mn-ea"/>
                <a:cs typeface="+mn-ea"/>
                <a:sym typeface="+mn-lt"/>
              </a:rPr>
              <a:t>8</a:t>
            </a:r>
            <a:r>
              <a:rPr lang="en-US" altLang="zh-CN" sz="2400" b="1">
                <a:latin typeface="+mn-lt"/>
                <a:ea typeface="+mn-ea"/>
                <a:cs typeface="+mn-ea"/>
                <a:sym typeface="+mn-lt"/>
              </a:rPr>
              <a:t> +(– 01111011) </a:t>
            </a:r>
            <a:endParaRPr lang="en-US" altLang="zh-CN" sz="2400" b="1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>
                <a:latin typeface="+mn-lt"/>
                <a:ea typeface="+mn-ea"/>
                <a:cs typeface="+mn-ea"/>
                <a:sym typeface="+mn-lt"/>
              </a:rPr>
              <a:t>                           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= 10000 0000 – 01111011 </a:t>
            </a:r>
            <a:endParaRPr lang="en-US" altLang="zh-CN" sz="2400" b="1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                           = 1111 1111 – 0111 1011 +1</a:t>
            </a:r>
            <a:endParaRPr lang="en-US" altLang="zh-CN" sz="2400" b="1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                           = 1000 0100 +1 </a:t>
            </a:r>
            <a:endParaRPr lang="en-US" altLang="zh-CN" sz="2400" b="1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			     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= 1000 0101</a:t>
            </a: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，即 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85H</a:t>
            </a: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。</a:t>
            </a:r>
            <a:endParaRPr lang="zh-CN" altLang="en-US" sz="24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67973" name="Text Box 5"/>
          <p:cNvSpPr txBox="1">
            <a:spLocks noChangeArrowheads="1"/>
          </p:cNvSpPr>
          <p:nvPr/>
        </p:nvSpPr>
        <p:spPr bwMode="auto">
          <a:xfrm>
            <a:off x="606425" y="1446213"/>
            <a:ext cx="6230938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F0000"/>
                </a:solidFill>
                <a:cs typeface="+mn-ea"/>
                <a:sym typeface="+mn-lt"/>
              </a:rPr>
              <a:t>如何快速得到</a:t>
            </a:r>
            <a:r>
              <a:rPr lang="en-US" altLang="zh-CN" sz="2400" b="1" dirty="0">
                <a:solidFill>
                  <a:srgbClr val="FF0000"/>
                </a:solidFill>
                <a:cs typeface="+mn-ea"/>
                <a:sym typeface="+mn-lt"/>
              </a:rPr>
              <a:t>123</a:t>
            </a:r>
            <a:r>
              <a:rPr lang="zh-CN" altLang="en-US" sz="2400" b="1" dirty="0">
                <a:solidFill>
                  <a:srgbClr val="FF0000"/>
                </a:solidFill>
                <a:cs typeface="+mn-ea"/>
                <a:sym typeface="+mn-lt"/>
              </a:rPr>
              <a:t>的二进制表示？</a:t>
            </a:r>
            <a:endParaRPr lang="zh-CN" altLang="en-US" sz="24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6634105" y="4834547"/>
            <a:ext cx="2052702" cy="457200"/>
            <a:chOff x="3121" y="3221"/>
            <a:chExt cx="2519" cy="288"/>
          </a:xfrm>
        </p:grpSpPr>
        <p:sp>
          <p:nvSpPr>
            <p:cNvPr id="570375" name="Text Box 6"/>
            <p:cNvSpPr txBox="1">
              <a:spLocks noChangeArrowheads="1"/>
            </p:cNvSpPr>
            <p:nvPr/>
          </p:nvSpPr>
          <p:spPr bwMode="auto">
            <a:xfrm>
              <a:off x="3684" y="3221"/>
              <a:ext cx="19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CC0000"/>
                  </a:solidFill>
                  <a:latin typeface="+mn-lt"/>
                  <a:ea typeface="+mn-ea"/>
                  <a:cs typeface="+mn-ea"/>
                  <a:sym typeface="+mn-lt"/>
                </a:rPr>
                <a:t>各位取反，末位加</a:t>
              </a:r>
              <a:r>
                <a:rPr lang="en-US" altLang="zh-CN" sz="2400" b="1" dirty="0">
                  <a:solidFill>
                    <a:srgbClr val="CC0000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lang="en-US" altLang="zh-CN" sz="24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0376" name="Line 7"/>
            <p:cNvSpPr>
              <a:spLocks noChangeShapeType="1"/>
            </p:cNvSpPr>
            <p:nvPr/>
          </p:nvSpPr>
          <p:spPr bwMode="auto">
            <a:xfrm>
              <a:off x="3121" y="3369"/>
              <a:ext cx="590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7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7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7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7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679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679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679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679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679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79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679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679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679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679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67973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51180" y="2873375"/>
            <a:ext cx="7886700" cy="2944495"/>
          </a:xfrm>
        </p:spPr>
        <p:txBody>
          <a:bodyPr lIns="63500" tIns="25400" rIns="63500" bIns="25400">
            <a:spAutoFit/>
          </a:bodyPr>
          <a:lstStyle/>
          <a:p>
            <a:pPr algn="just">
              <a:buFontTx/>
              <a:buNone/>
            </a:pPr>
            <a:endParaRPr lang="en-US" altLang="zh-CN" sz="1000" dirty="0">
              <a:latin typeface="+mn-lt"/>
              <a:ea typeface="+mn-ea"/>
              <a:cs typeface="+mn-ea"/>
              <a:sym typeface="+mn-lt"/>
            </a:endParaRPr>
          </a:p>
          <a:p>
            <a:pPr algn="just"/>
            <a:r>
              <a:rPr lang="en-US" altLang="zh-CN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8</a:t>
            </a:r>
            <a:r>
              <a:rPr lang="zh-CN" altLang="en-US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位二进制加法器模运算系统 </a:t>
            </a:r>
            <a:endParaRPr lang="zh-CN" altLang="en-US" dirty="0">
              <a:solidFill>
                <a:srgbClr val="CC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just">
              <a:buFontTx/>
              <a:buNone/>
            </a:pPr>
            <a:r>
              <a:rPr lang="zh-CN" altLang="en-US" sz="24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  计算</a:t>
            </a:r>
            <a:r>
              <a:rPr lang="en-US" altLang="zh-CN" sz="2400" dirty="0">
                <a:solidFill>
                  <a:schemeClr val="accent2"/>
                </a:solidFill>
                <a:latin typeface="+mn-lt"/>
                <a:ea typeface="+mn-ea"/>
                <a:cs typeface="+mn-ea"/>
                <a:sym typeface="+mn-lt"/>
              </a:rPr>
              <a:t>0111 1111 - 0100 0000 = ?</a:t>
            </a:r>
            <a:endParaRPr lang="en-US" altLang="zh-CN" sz="2400" dirty="0">
              <a:solidFill>
                <a:schemeClr val="accent2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just">
              <a:buFontTx/>
              <a:buNone/>
            </a:pP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      0111 1111 - </a:t>
            </a:r>
            <a:r>
              <a:rPr lang="en-US" altLang="zh-CN" sz="2200" dirty="0">
                <a:solidFill>
                  <a:srgbClr val="FF3300"/>
                </a:solidFill>
                <a:latin typeface="+mn-lt"/>
                <a:ea typeface="+mn-ea"/>
                <a:cs typeface="+mn-ea"/>
                <a:sym typeface="+mn-lt"/>
              </a:rPr>
              <a:t>0100 0000</a:t>
            </a: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 </a:t>
            </a:r>
            <a:endParaRPr lang="en-US" altLang="zh-CN" sz="2200" dirty="0">
              <a:latin typeface="+mn-lt"/>
              <a:ea typeface="+mn-ea"/>
              <a:cs typeface="+mn-ea"/>
              <a:sym typeface="+mn-lt"/>
            </a:endParaRPr>
          </a:p>
          <a:p>
            <a:pPr algn="just">
              <a:buFontTx/>
              <a:buNone/>
            </a:pP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    =0111 1111 + </a:t>
            </a:r>
            <a:r>
              <a:rPr lang="en-US" altLang="zh-CN" sz="2200" dirty="0">
                <a:solidFill>
                  <a:srgbClr val="FF3300"/>
                </a:solidFill>
                <a:latin typeface="+mn-lt"/>
                <a:ea typeface="+mn-ea"/>
                <a:cs typeface="+mn-ea"/>
                <a:sym typeface="+mn-lt"/>
              </a:rPr>
              <a:t>1100 0000</a:t>
            </a: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 </a:t>
            </a:r>
            <a:endParaRPr lang="en-US" altLang="zh-CN" sz="2200" dirty="0">
              <a:latin typeface="+mn-lt"/>
              <a:ea typeface="+mn-ea"/>
              <a:cs typeface="+mn-ea"/>
              <a:sym typeface="+mn-lt"/>
            </a:endParaRPr>
          </a:p>
          <a:p>
            <a:pPr algn="just">
              <a:buFontTx/>
              <a:buNone/>
            </a:pP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    = 1 0011 1111 (mod 2</a:t>
            </a:r>
            <a:r>
              <a:rPr lang="en-US" altLang="zh-CN" sz="2200" baseline="30000" dirty="0">
                <a:latin typeface="+mn-lt"/>
                <a:ea typeface="+mn-ea"/>
                <a:cs typeface="+mn-ea"/>
                <a:sym typeface="+mn-lt"/>
              </a:rPr>
              <a:t>8</a:t>
            </a: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)</a:t>
            </a:r>
            <a:endParaRPr lang="en-US" altLang="zh-CN" sz="2200" dirty="0">
              <a:latin typeface="+mn-lt"/>
              <a:ea typeface="+mn-ea"/>
              <a:cs typeface="+mn-ea"/>
              <a:sym typeface="+mn-lt"/>
            </a:endParaRPr>
          </a:p>
          <a:p>
            <a:pPr algn="just">
              <a:buFontTx/>
              <a:buNone/>
            </a:pPr>
            <a:r>
              <a:rPr lang="zh-CN" altLang="en-US" sz="2200" dirty="0">
                <a:latin typeface="+mn-lt"/>
                <a:ea typeface="+mn-ea"/>
                <a:cs typeface="+mn-ea"/>
                <a:sym typeface="+mn-lt"/>
              </a:rPr>
              <a:t>	</a:t>
            </a:r>
            <a:r>
              <a:rPr lang="en-US" altLang="zh-CN" sz="2200" dirty="0">
                <a:latin typeface="+mn-lt"/>
                <a:ea typeface="+mn-ea"/>
                <a:cs typeface="+mn-ea"/>
                <a:sym typeface="+mn-lt"/>
              </a:rPr>
              <a:t>= 0011 1111</a:t>
            </a:r>
            <a:endParaRPr lang="en-US" altLang="zh-CN" sz="22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09955"/>
          </a:xfrm>
        </p:spPr>
        <p:txBody>
          <a:bodyPr/>
          <a:lstStyle/>
          <a:p>
            <a:r>
              <a:rPr lang="zh-CN" altLang="en-US" sz="3600" b="1" dirty="0">
                <a:cs typeface="+mn-ea"/>
                <a:sym typeface="+mn-lt"/>
              </a:rPr>
              <a:t>计算机中的运算器是模运算系统</a:t>
            </a:r>
            <a:endParaRPr lang="zh-CN" altLang="en-US" sz="3600" b="1" dirty="0">
              <a:cs typeface="+mn-ea"/>
              <a:sym typeface="+mn-lt"/>
            </a:endParaRPr>
          </a:p>
        </p:txBody>
      </p:sp>
      <p:grpSp>
        <p:nvGrpSpPr>
          <p:cNvPr id="573444" name="Group 4"/>
          <p:cNvGrpSpPr/>
          <p:nvPr/>
        </p:nvGrpSpPr>
        <p:grpSpPr bwMode="auto">
          <a:xfrm>
            <a:off x="1100848" y="4798236"/>
            <a:ext cx="3656012" cy="1231900"/>
            <a:chOff x="349" y="1692"/>
            <a:chExt cx="2303" cy="776"/>
          </a:xfrm>
        </p:grpSpPr>
        <p:sp>
          <p:nvSpPr>
            <p:cNvPr id="573445" name="Rectangle 4"/>
            <p:cNvSpPr>
              <a:spLocks noChangeArrowheads="1"/>
            </p:cNvSpPr>
            <p:nvPr/>
          </p:nvSpPr>
          <p:spPr bwMode="auto">
            <a:xfrm>
              <a:off x="349" y="1692"/>
              <a:ext cx="149" cy="235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600" b="1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3895" name="Text Box 7"/>
            <p:cNvSpPr txBox="1">
              <a:spLocks noChangeArrowheads="1"/>
            </p:cNvSpPr>
            <p:nvPr/>
          </p:nvSpPr>
          <p:spPr bwMode="auto">
            <a:xfrm>
              <a:off x="463" y="2180"/>
              <a:ext cx="21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CC0000"/>
                  </a:solidFill>
                  <a:latin typeface="+mn-lt"/>
                  <a:ea typeface="+mn-ea"/>
                  <a:cs typeface="+mn-ea"/>
                  <a:sym typeface="+mn-lt"/>
                </a:rPr>
                <a:t>只留余数，“</a:t>
              </a:r>
              <a:r>
                <a:rPr lang="en-US" altLang="zh-CN" sz="2400" b="1" dirty="0">
                  <a:solidFill>
                    <a:srgbClr val="CC0000"/>
                  </a:solidFill>
                  <a:latin typeface="+mn-lt"/>
                  <a:ea typeface="+mn-ea"/>
                  <a:cs typeface="+mn-ea"/>
                  <a:sym typeface="+mn-lt"/>
                </a:rPr>
                <a:t>1”</a:t>
              </a:r>
              <a:r>
                <a:rPr lang="zh-CN" altLang="en-US" sz="2400" b="1" dirty="0">
                  <a:solidFill>
                    <a:srgbClr val="CC0000"/>
                  </a:solidFill>
                  <a:latin typeface="+mn-lt"/>
                  <a:ea typeface="+mn-ea"/>
                  <a:cs typeface="+mn-ea"/>
                  <a:sym typeface="+mn-lt"/>
                </a:rPr>
                <a:t>被丢弃</a:t>
              </a:r>
              <a:endParaRPr lang="zh-CN" altLang="en-US" sz="2400" b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3447" name="Line 8"/>
            <p:cNvSpPr>
              <a:spLocks noChangeShapeType="1"/>
            </p:cNvSpPr>
            <p:nvPr/>
          </p:nvSpPr>
          <p:spPr bwMode="auto">
            <a:xfrm flipH="1" flipV="1">
              <a:off x="498" y="1927"/>
              <a:ext cx="1437" cy="23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89919" name="Rectangle 127"/>
          <p:cNvSpPr>
            <a:spLocks noChangeArrowheads="1"/>
          </p:cNvSpPr>
          <p:nvPr/>
        </p:nvSpPr>
        <p:spPr bwMode="auto">
          <a:xfrm>
            <a:off x="628650" y="1580689"/>
            <a:ext cx="7178114" cy="12915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5000"/>
              </a:spcBef>
            </a:pPr>
            <a:r>
              <a:rPr kumimoji="1" lang="zh-CN" altLang="en-US" sz="2600" b="1" dirty="0">
                <a:latin typeface="+mn-lt"/>
                <a:ea typeface="+mn-ea"/>
                <a:cs typeface="+mn-ea"/>
                <a:sym typeface="+mn-lt"/>
              </a:rPr>
              <a:t>结论</a:t>
            </a:r>
            <a:r>
              <a:rPr kumimoji="1" lang="en-US" altLang="zh-CN" sz="2600" b="1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1" lang="zh-CN" altLang="en-US" sz="2600" b="1" dirty="0">
                <a:latin typeface="+mn-lt"/>
                <a:ea typeface="+mn-ea"/>
                <a:cs typeface="+mn-ea"/>
                <a:sym typeface="+mn-lt"/>
              </a:rPr>
              <a:t>： </a:t>
            </a:r>
            <a:r>
              <a:rPr kumimoji="1" lang="zh-CN" altLang="en-US" sz="2600" b="1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正数的补码即为真值的二</a:t>
            </a:r>
            <a:r>
              <a:rPr kumimoji="1" lang="zh-CN" altLang="en-US" sz="2600" b="1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进制表示，</a:t>
            </a:r>
            <a:r>
              <a:rPr kumimoji="1" lang="zh-CN" altLang="en-US" sz="2600" b="1" dirty="0">
                <a:solidFill>
                  <a:srgbClr val="009900"/>
                </a:solidFill>
                <a:latin typeface="+mn-lt"/>
                <a:ea typeface="+mn-ea"/>
                <a:cs typeface="+mn-ea"/>
                <a:sym typeface="+mn-lt"/>
              </a:rPr>
              <a:t>负数的补码等于对应正数的补码“</a:t>
            </a:r>
            <a:r>
              <a:rPr kumimoji="1" lang="zh-CN" altLang="en-US" sz="2600" b="1" dirty="0">
                <a:solidFill>
                  <a:srgbClr val="FF3300"/>
                </a:solidFill>
                <a:latin typeface="+mn-lt"/>
                <a:ea typeface="+mn-ea"/>
                <a:cs typeface="+mn-ea"/>
                <a:sym typeface="+mn-lt"/>
              </a:rPr>
              <a:t>各位取反、末位加一</a:t>
            </a:r>
            <a:r>
              <a:rPr kumimoji="1" lang="zh-CN" altLang="en-US" sz="2600" b="1" dirty="0">
                <a:solidFill>
                  <a:srgbClr val="008000"/>
                </a:solidFill>
                <a:latin typeface="+mn-lt"/>
                <a:ea typeface="+mn-ea"/>
                <a:cs typeface="+mn-ea"/>
                <a:sym typeface="+mn-lt"/>
              </a:rPr>
              <a:t>”</a:t>
            </a:r>
            <a:endParaRPr kumimoji="1" lang="zh-CN" altLang="en-US" sz="2600" b="1" dirty="0">
              <a:solidFill>
                <a:srgbClr val="008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9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3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73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919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04875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cs typeface="+mn-ea"/>
                <a:sym typeface="+mn-lt"/>
              </a:rPr>
              <a:t>补码转真值</a:t>
            </a:r>
            <a:endParaRPr lang="zh-CN" altLang="en-US" sz="3600" b="1" dirty="0"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599" y="1690693"/>
            <a:ext cx="6590729" cy="21641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74236" y="3910896"/>
            <a:ext cx="614887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简便求法：</a:t>
            </a:r>
            <a:endParaRPr lang="en-US" altLang="zh-CN" b="1" dirty="0"/>
          </a:p>
          <a:p>
            <a:r>
              <a:rPr lang="zh-CN" altLang="en-US" b="1" dirty="0">
                <a:solidFill>
                  <a:srgbClr val="006600"/>
                </a:solidFill>
              </a:rPr>
              <a:t>符号位为</a:t>
            </a:r>
            <a:r>
              <a:rPr lang="en-US" altLang="zh-CN" b="1" dirty="0">
                <a:solidFill>
                  <a:srgbClr val="006600"/>
                </a:solidFill>
              </a:rPr>
              <a:t>0</a:t>
            </a:r>
            <a:r>
              <a:rPr lang="zh-CN" altLang="en-US" b="1" dirty="0">
                <a:solidFill>
                  <a:srgbClr val="006600"/>
                </a:solidFill>
              </a:rPr>
              <a:t>，则为正数，数值部分相同</a:t>
            </a:r>
            <a:endParaRPr lang="en-US" altLang="zh-CN" b="1" dirty="0">
              <a:solidFill>
                <a:srgbClr val="006600"/>
              </a:solidFill>
            </a:endParaRPr>
          </a:p>
          <a:p>
            <a:r>
              <a:rPr lang="zh-CN" altLang="en-US" b="1" dirty="0">
                <a:solidFill>
                  <a:srgbClr val="006600"/>
                </a:solidFill>
              </a:rPr>
              <a:t>符号位为</a:t>
            </a:r>
            <a:r>
              <a:rPr lang="en-US" altLang="zh-CN" b="1" dirty="0">
                <a:solidFill>
                  <a:srgbClr val="006600"/>
                </a:solidFill>
              </a:rPr>
              <a:t>1</a:t>
            </a:r>
            <a:r>
              <a:rPr lang="zh-CN" altLang="en-US" b="1" dirty="0">
                <a:solidFill>
                  <a:srgbClr val="006600"/>
                </a:solidFill>
              </a:rPr>
              <a:t>，则为负数，数值部分各位取反，末尾加</a:t>
            </a:r>
            <a:r>
              <a:rPr lang="en-US" altLang="zh-CN" b="1" dirty="0">
                <a:solidFill>
                  <a:srgbClr val="006600"/>
                </a:solidFill>
              </a:rPr>
              <a:t>1</a:t>
            </a:r>
            <a:endParaRPr lang="zh-CN" altLang="en-US" b="1" dirty="0">
              <a:solidFill>
                <a:srgbClr val="0066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751" y="4890309"/>
            <a:ext cx="4629640" cy="13853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06340" y="2073930"/>
          <a:ext cx="7745412" cy="1585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0229"/>
                <a:gridCol w="3530450"/>
                <a:gridCol w="3194733"/>
              </a:tblGrid>
              <a:tr h="396478"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91449" marR="91449"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正数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91449" marR="91449"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负数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91449" marR="91449" marT="45747" marB="45747"/>
                </a:tc>
              </a:tr>
              <a:tr h="396478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原码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91449" marR="91449"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符号位</a:t>
                      </a:r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=0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，数值部分</a:t>
                      </a:r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=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真值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91449" marR="91449" marT="45747" marB="45747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符号位</a:t>
                      </a:r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=1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，数值部分</a:t>
                      </a:r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=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真值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91449" marR="91449" marT="45747" marB="45747"/>
                </a:tc>
              </a:tr>
              <a:tr h="396478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反码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91449" marR="91449"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不变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91449" marR="91449"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符号位</a:t>
                      </a:r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=1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，数值位取反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91449" marR="91449" marT="45747" marB="45747"/>
                </a:tc>
              </a:tr>
              <a:tr h="396478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补码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91449" marR="91449"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不变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91449" marR="91449" marT="45747" marB="45747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符号位</a:t>
                      </a:r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=1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，数值位取反</a:t>
                      </a:r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+1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91449" marR="91449" marT="45747" marB="45747"/>
                </a:tc>
              </a:tr>
            </a:tbl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69988" y="69056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b="1" dirty="0">
                <a:latin typeface="+mj-ea"/>
              </a:rPr>
              <a:t>定点</a:t>
            </a:r>
            <a:r>
              <a:rPr lang="zh-CN" altLang="en-US" sz="3600" b="1" dirty="0">
                <a:latin typeface="+mj-ea"/>
                <a:ea typeface="+mj-ea"/>
              </a:rPr>
              <a:t>数的编码 </a:t>
            </a:r>
            <a:endParaRPr lang="zh-CN" altLang="en-US" sz="3600" b="1" dirty="0"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6340" y="1366355"/>
            <a:ext cx="3274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转换规则</a:t>
            </a:r>
            <a:endParaRPr lang="zh-CN" altLang="en-US" sz="2400" b="1" dirty="0"/>
          </a:p>
        </p:txBody>
      </p:sp>
      <p:sp>
        <p:nvSpPr>
          <p:cNvPr id="8" name="矩形 7"/>
          <p:cNvSpPr/>
          <p:nvPr/>
        </p:nvSpPr>
        <p:spPr>
          <a:xfrm>
            <a:off x="4295010" y="4039452"/>
            <a:ext cx="4572000" cy="167699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just" eaLnBrk="1" hangingPunct="1">
              <a:lnSpc>
                <a:spcPct val="120000"/>
              </a:lnSpc>
              <a:buFont typeface="Wingdings 3" panose="05040102010807070707" pitchFamily="18" charset="2"/>
              <a:buNone/>
              <a:defRPr/>
            </a:pPr>
            <a:r>
              <a:rPr lang="en-US" altLang="zh-CN" sz="2200" b="1" dirty="0">
                <a:latin typeface="+mn-ea"/>
              </a:rPr>
              <a:t> X=(-69)</a:t>
            </a:r>
            <a:r>
              <a:rPr lang="en-US" altLang="zh-CN" sz="2200" b="1" baseline="-25000" dirty="0">
                <a:latin typeface="+mn-ea"/>
              </a:rPr>
              <a:t>10</a:t>
            </a:r>
            <a:r>
              <a:rPr lang="en-US" altLang="zh-CN" sz="2200" b="1" dirty="0">
                <a:latin typeface="+mn-ea"/>
              </a:rPr>
              <a:t>=-1000101     </a:t>
            </a:r>
            <a:endParaRPr lang="en-US" altLang="zh-CN" sz="2200" b="1" dirty="0">
              <a:latin typeface="+mn-ea"/>
            </a:endParaRPr>
          </a:p>
          <a:p>
            <a:pPr marL="0" indent="0" algn="just" eaLnBrk="1" hangingPunct="1">
              <a:lnSpc>
                <a:spcPct val="120000"/>
              </a:lnSpc>
              <a:buFont typeface="Wingdings 3" panose="05040102010807070707" pitchFamily="18" charset="2"/>
              <a:buNone/>
              <a:defRPr/>
            </a:pPr>
            <a:r>
              <a:rPr lang="en-US" altLang="zh-CN" sz="2200" b="1" dirty="0">
                <a:latin typeface="+mn-ea"/>
              </a:rPr>
              <a:t>     [X]</a:t>
            </a:r>
            <a:r>
              <a:rPr lang="zh-CN" altLang="en-US" sz="2200" b="1" baseline="-25000" dirty="0">
                <a:latin typeface="+mn-ea"/>
              </a:rPr>
              <a:t>原</a:t>
            </a:r>
            <a:r>
              <a:rPr lang="en-US" altLang="zh-CN" sz="2200" b="1" dirty="0">
                <a:latin typeface="+mn-ea"/>
              </a:rPr>
              <a:t>=</a:t>
            </a:r>
            <a:r>
              <a:rPr lang="en-US" altLang="zh-CN" sz="2200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en-US" altLang="zh-CN" sz="2200" b="1" dirty="0">
                <a:latin typeface="+mn-ea"/>
              </a:rPr>
              <a:t>1000101   </a:t>
            </a:r>
            <a:endParaRPr lang="en-US" altLang="zh-CN" sz="2200" b="1" dirty="0">
              <a:latin typeface="+mn-ea"/>
            </a:endParaRPr>
          </a:p>
          <a:p>
            <a:pPr marL="0" indent="0" algn="just" eaLnBrk="1" hangingPunct="1">
              <a:lnSpc>
                <a:spcPct val="120000"/>
              </a:lnSpc>
              <a:buFont typeface="Wingdings 3" panose="05040102010807070707" pitchFamily="18" charset="2"/>
              <a:buNone/>
              <a:defRPr/>
            </a:pPr>
            <a:r>
              <a:rPr lang="en-US" altLang="zh-CN" sz="2200" b="1" dirty="0">
                <a:latin typeface="+mn-ea"/>
              </a:rPr>
              <a:t>     [X]</a:t>
            </a:r>
            <a:r>
              <a:rPr lang="zh-CN" altLang="en-US" sz="2200" b="1" baseline="-25000" dirty="0">
                <a:latin typeface="+mn-ea"/>
              </a:rPr>
              <a:t>反</a:t>
            </a:r>
            <a:r>
              <a:rPr lang="en-US" altLang="zh-CN" sz="2200" b="1" dirty="0">
                <a:latin typeface="+mn-ea"/>
              </a:rPr>
              <a:t>=</a:t>
            </a:r>
            <a:r>
              <a:rPr lang="en-US" altLang="zh-CN" sz="2200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en-US" altLang="zh-CN" sz="2200" b="1" dirty="0">
                <a:latin typeface="+mn-ea"/>
              </a:rPr>
              <a:t>0111010         </a:t>
            </a:r>
            <a:endParaRPr lang="en-US" altLang="zh-CN" sz="2200" b="1" dirty="0">
              <a:latin typeface="+mn-ea"/>
            </a:endParaRPr>
          </a:p>
          <a:p>
            <a:pPr marL="0" indent="0" algn="just" eaLnBrk="1" hangingPunct="1">
              <a:lnSpc>
                <a:spcPct val="120000"/>
              </a:lnSpc>
              <a:buFont typeface="Wingdings 3" panose="05040102010807070707" pitchFamily="18" charset="2"/>
              <a:buNone/>
              <a:defRPr/>
            </a:pPr>
            <a:r>
              <a:rPr lang="en-US" altLang="zh-CN" sz="2200" b="1" dirty="0">
                <a:latin typeface="+mn-ea"/>
              </a:rPr>
              <a:t>     [X]</a:t>
            </a:r>
            <a:r>
              <a:rPr lang="zh-CN" altLang="en-US" sz="2200" b="1" baseline="-25000" dirty="0">
                <a:latin typeface="+mn-ea"/>
              </a:rPr>
              <a:t>补</a:t>
            </a:r>
            <a:r>
              <a:rPr lang="en-US" altLang="zh-CN" sz="2200" b="1" dirty="0">
                <a:latin typeface="+mn-ea"/>
              </a:rPr>
              <a:t>=</a:t>
            </a:r>
            <a:r>
              <a:rPr lang="en-US" altLang="zh-CN" sz="2200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en-US" altLang="zh-CN" sz="2200" b="1" dirty="0">
                <a:latin typeface="+mn-ea"/>
              </a:rPr>
              <a:t>0111011</a:t>
            </a:r>
            <a:endParaRPr lang="zh-CN" altLang="en-US" sz="2200" dirty="0"/>
          </a:p>
        </p:txBody>
      </p:sp>
      <p:sp>
        <p:nvSpPr>
          <p:cNvPr id="9" name="矩形 8"/>
          <p:cNvSpPr/>
          <p:nvPr/>
        </p:nvSpPr>
        <p:spPr>
          <a:xfrm>
            <a:off x="463238" y="4039452"/>
            <a:ext cx="4572000" cy="171739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just" eaLnBrk="1" hangingPunct="1">
              <a:lnSpc>
                <a:spcPct val="120000"/>
              </a:lnSpc>
              <a:buFont typeface="Wingdings 3" panose="05040102010807070707" pitchFamily="18" charset="2"/>
              <a:buNone/>
              <a:defRPr/>
            </a:pPr>
            <a:r>
              <a:rPr lang="en-US" altLang="zh-CN" sz="2200" b="1" dirty="0">
                <a:latin typeface="+mn-ea"/>
              </a:rPr>
              <a:t> X</a:t>
            </a:r>
            <a:r>
              <a:rPr lang="en-US" altLang="zh-CN" sz="2200" b="1" dirty="0" smtClean="0">
                <a:latin typeface="+mn-ea"/>
              </a:rPr>
              <a:t>=(69)</a:t>
            </a:r>
            <a:r>
              <a:rPr lang="en-US" altLang="zh-CN" sz="2200" b="1" baseline="-25000" dirty="0" smtClean="0">
                <a:latin typeface="+mn-ea"/>
              </a:rPr>
              <a:t>10</a:t>
            </a:r>
            <a:r>
              <a:rPr lang="en-US" altLang="zh-CN" sz="2200" b="1" dirty="0" smtClean="0">
                <a:latin typeface="+mn-ea"/>
              </a:rPr>
              <a:t>=+1000101     </a:t>
            </a:r>
            <a:endParaRPr lang="en-US" altLang="zh-CN" sz="2200" b="1" dirty="0">
              <a:latin typeface="+mn-ea"/>
            </a:endParaRPr>
          </a:p>
          <a:p>
            <a:pPr marL="0" indent="0" algn="just" eaLnBrk="1" hangingPunct="1">
              <a:lnSpc>
                <a:spcPct val="120000"/>
              </a:lnSpc>
              <a:buFont typeface="Wingdings 3" panose="05040102010807070707" pitchFamily="18" charset="2"/>
              <a:buNone/>
              <a:defRPr/>
            </a:pPr>
            <a:r>
              <a:rPr lang="en-US" altLang="zh-CN" sz="2200" b="1" dirty="0">
                <a:latin typeface="+mn-ea"/>
              </a:rPr>
              <a:t>    </a:t>
            </a:r>
            <a:r>
              <a:rPr lang="en-US" altLang="zh-CN" sz="2200" b="1" dirty="0" smtClean="0">
                <a:latin typeface="+mn-ea"/>
              </a:rPr>
              <a:t>[</a:t>
            </a:r>
            <a:r>
              <a:rPr lang="en-US" altLang="zh-CN" sz="2200" b="1" dirty="0">
                <a:latin typeface="+mn-ea"/>
              </a:rPr>
              <a:t>X]</a:t>
            </a:r>
            <a:r>
              <a:rPr lang="zh-CN" altLang="en-US" sz="2200" b="1" baseline="-25000" dirty="0">
                <a:latin typeface="+mn-ea"/>
              </a:rPr>
              <a:t>原</a:t>
            </a:r>
            <a:r>
              <a:rPr lang="en-US" altLang="zh-CN" sz="2200" b="1" dirty="0" smtClean="0">
                <a:latin typeface="+mn-ea"/>
              </a:rPr>
              <a:t>=</a:t>
            </a:r>
            <a:r>
              <a:rPr lang="en-US" altLang="zh-CN" sz="2200" b="1" dirty="0" smtClean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2200" b="1" dirty="0" smtClean="0">
                <a:latin typeface="+mn-ea"/>
              </a:rPr>
              <a:t>1000101   </a:t>
            </a:r>
            <a:endParaRPr lang="en-US" altLang="zh-CN" sz="2200" b="1" dirty="0">
              <a:latin typeface="+mn-ea"/>
            </a:endParaRPr>
          </a:p>
          <a:p>
            <a:pPr marL="0" indent="0" algn="just" eaLnBrk="1" hangingPunct="1">
              <a:lnSpc>
                <a:spcPct val="120000"/>
              </a:lnSpc>
              <a:buFont typeface="Wingdings 3" panose="05040102010807070707" pitchFamily="18" charset="2"/>
              <a:buNone/>
              <a:defRPr/>
            </a:pPr>
            <a:r>
              <a:rPr lang="en-US" altLang="zh-CN" sz="2200" b="1" dirty="0">
                <a:latin typeface="+mn-ea"/>
              </a:rPr>
              <a:t>    </a:t>
            </a:r>
            <a:r>
              <a:rPr lang="en-US" altLang="zh-CN" sz="2200" b="1" dirty="0" smtClean="0">
                <a:latin typeface="+mn-ea"/>
              </a:rPr>
              <a:t>[</a:t>
            </a:r>
            <a:r>
              <a:rPr lang="en-US" altLang="zh-CN" sz="2200" b="1" dirty="0">
                <a:latin typeface="+mn-ea"/>
              </a:rPr>
              <a:t>X]</a:t>
            </a:r>
            <a:r>
              <a:rPr lang="zh-CN" altLang="en-US" sz="2200" b="1" baseline="-25000" dirty="0">
                <a:latin typeface="+mn-ea"/>
              </a:rPr>
              <a:t>反</a:t>
            </a:r>
            <a:r>
              <a:rPr lang="en-US" altLang="zh-CN" sz="2200" b="1" dirty="0" smtClean="0">
                <a:latin typeface="+mn-ea"/>
              </a:rPr>
              <a:t>=</a:t>
            </a:r>
            <a:r>
              <a:rPr lang="en-US" altLang="zh-CN" sz="2200" b="1" dirty="0" smtClean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2200" b="1" dirty="0" smtClean="0">
                <a:latin typeface="+mn-ea"/>
              </a:rPr>
              <a:t>1000101         </a:t>
            </a:r>
            <a:endParaRPr lang="en-US" altLang="zh-CN" sz="2200" b="1" dirty="0">
              <a:latin typeface="+mn-ea"/>
            </a:endParaRPr>
          </a:p>
          <a:p>
            <a:pPr marL="0" indent="0" algn="just" eaLnBrk="1" hangingPunct="1">
              <a:lnSpc>
                <a:spcPct val="120000"/>
              </a:lnSpc>
              <a:buFont typeface="Wingdings 3" panose="05040102010807070707" pitchFamily="18" charset="2"/>
              <a:buNone/>
              <a:defRPr/>
            </a:pPr>
            <a:r>
              <a:rPr lang="en-US" altLang="zh-CN" sz="2200" b="1" dirty="0">
                <a:latin typeface="+mn-ea"/>
              </a:rPr>
              <a:t>    </a:t>
            </a:r>
            <a:r>
              <a:rPr lang="en-US" altLang="zh-CN" sz="2200" b="1" dirty="0" smtClean="0">
                <a:latin typeface="+mn-ea"/>
              </a:rPr>
              <a:t>[</a:t>
            </a:r>
            <a:r>
              <a:rPr lang="en-US" altLang="zh-CN" sz="2200" b="1" dirty="0">
                <a:latin typeface="+mn-ea"/>
              </a:rPr>
              <a:t>X]</a:t>
            </a:r>
            <a:r>
              <a:rPr lang="zh-CN" altLang="en-US" sz="2200" b="1" baseline="-25000" dirty="0">
                <a:latin typeface="+mn-ea"/>
              </a:rPr>
              <a:t>补</a:t>
            </a:r>
            <a:r>
              <a:rPr lang="en-US" altLang="zh-CN" sz="2200" b="1" dirty="0" smtClean="0">
                <a:latin typeface="+mn-ea"/>
              </a:rPr>
              <a:t>=</a:t>
            </a:r>
            <a:r>
              <a:rPr lang="en-US" altLang="zh-CN" sz="2200" b="1" dirty="0" smtClean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2200" b="1" dirty="0" smtClean="0">
                <a:latin typeface="+mn-ea"/>
              </a:rPr>
              <a:t>1000101</a:t>
            </a:r>
            <a:endParaRPr lang="zh-CN" altLang="en-US" sz="2200" dirty="0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63238" y="6044088"/>
            <a:ext cx="8086061" cy="562098"/>
          </a:xfrm>
          <a:prstGeom prst="rect">
            <a:avLst/>
          </a:prstGeom>
          <a:solidFill>
            <a:srgbClr val="333399"/>
          </a:solidFill>
          <a:ln w="9525" algn="ctr">
            <a:solidFill>
              <a:srgbClr val="006699"/>
            </a:solidFill>
            <a:miter lim="800000"/>
          </a:ln>
          <a:effectLst>
            <a:outerShdw dist="107763" dir="18900000" algn="ctr" rotWithShape="0">
              <a:srgbClr val="808080">
                <a:alpha val="50000"/>
              </a:srgbClr>
            </a:outerShdw>
          </a:effectLst>
        </p:spPr>
        <p:txBody>
          <a:bodyPr anchor="ctr"/>
          <a:lstStyle>
            <a:lvl1pPr marL="838200" indent="-838200" algn="l"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38200" indent="-838200" algn="l"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38200" indent="-838200" algn="l"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838200" indent="-838200" algn="l"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838200" indent="-838200" algn="l"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295400" indent="-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752600" indent="-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209800" indent="-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667000" indent="-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1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微软雅黑" panose="020B0503020204020204" pitchFamily="34" charset="-122"/>
              </a:rPr>
              <a:t>整数在计算机中以</a:t>
            </a:r>
            <a:r>
              <a:rPr lang="zh-CN" alt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微软雅黑" panose="020B0503020204020204" pitchFamily="34" charset="-122"/>
              </a:rPr>
              <a:t>补码</a:t>
            </a:r>
            <a:r>
              <a:rPr lang="zh-CN" altLang="en-US" sz="21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微软雅黑" panose="020B0503020204020204" pitchFamily="34" charset="-122"/>
              </a:rPr>
              <a:t>形式存储</a:t>
            </a:r>
            <a:endParaRPr lang="zh-CN" altLang="en-US" sz="21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955"/>
            <a:ext cx="2947035" cy="843280"/>
          </a:xfrm>
        </p:spPr>
        <p:txBody>
          <a:bodyPr/>
          <a:lstStyle/>
          <a:p>
            <a:r>
              <a:rPr lang="zh-CN" altLang="en-US" sz="3600" b="1" dirty="0">
                <a:latin typeface="+mn-lt"/>
                <a:ea typeface="+mn-ea"/>
                <a:cs typeface="+mn-ea"/>
                <a:sym typeface="+mn-lt"/>
              </a:rPr>
              <a:t>练习</a:t>
            </a:r>
            <a:endParaRPr lang="zh-CN" altLang="en-US" sz="36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sz="1800" b="1" dirty="0"/>
              <a:t>1. </a:t>
            </a:r>
            <a:r>
              <a:rPr lang="zh-CN" altLang="en-US" sz="1800" b="1" dirty="0"/>
              <a:t>假定机器数为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位（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位符号，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位数值），写出下列各二进制数的补码表示。</a:t>
            </a:r>
            <a:endParaRPr lang="en-US" altLang="zh-CN" sz="18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1800" b="1" dirty="0"/>
              <a:t>+1000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-1001</a:t>
            </a:r>
            <a:r>
              <a:rPr lang="zh-CN" altLang="en-US" sz="1800" b="1" dirty="0"/>
              <a:t>， </a:t>
            </a:r>
            <a:r>
              <a:rPr lang="en-US" altLang="zh-CN" sz="1800" b="1" dirty="0"/>
              <a:t>+1</a:t>
            </a:r>
            <a:r>
              <a:rPr lang="zh-CN" altLang="en-US" sz="1800" b="1" dirty="0"/>
              <a:t>， </a:t>
            </a:r>
            <a:r>
              <a:rPr lang="en-US" altLang="zh-CN" sz="1800" b="1" dirty="0"/>
              <a:t>-1</a:t>
            </a:r>
            <a:r>
              <a:rPr lang="zh-CN" altLang="en-US" sz="1800" b="1" dirty="0"/>
              <a:t>， </a:t>
            </a:r>
            <a:r>
              <a:rPr lang="en-US" altLang="zh-CN" sz="1800" b="1" dirty="0"/>
              <a:t>+10100</a:t>
            </a:r>
            <a:r>
              <a:rPr lang="zh-CN" altLang="en-US" sz="1800" b="1" dirty="0"/>
              <a:t>， </a:t>
            </a:r>
            <a:r>
              <a:rPr lang="en-US" altLang="zh-CN" sz="1800" b="1" dirty="0"/>
              <a:t>-10010</a:t>
            </a:r>
            <a:r>
              <a:rPr lang="zh-CN" altLang="en-US" sz="1800" b="1" dirty="0"/>
              <a:t>， </a:t>
            </a:r>
            <a:r>
              <a:rPr lang="en-US" altLang="zh-CN" sz="1800" b="1" dirty="0"/>
              <a:t>+0</a:t>
            </a:r>
            <a:r>
              <a:rPr lang="zh-CN" altLang="en-US" sz="1800" b="1" dirty="0"/>
              <a:t>， </a:t>
            </a:r>
            <a:r>
              <a:rPr lang="en-US" altLang="zh-CN" sz="1800" b="1" dirty="0"/>
              <a:t>-0</a:t>
            </a:r>
            <a:endParaRPr lang="zh-CN" altLang="en-US" sz="18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t="32033"/>
          <a:stretch>
            <a:fillRect/>
          </a:stretch>
        </p:blipFill>
        <p:spPr>
          <a:xfrm>
            <a:off x="1117758" y="4348065"/>
            <a:ext cx="4747950" cy="764510"/>
          </a:xfrm>
          <a:prstGeom prst="rect">
            <a:avLst/>
          </a:prstGeom>
        </p:spPr>
      </p:pic>
      <p:sp>
        <p:nvSpPr>
          <p:cNvPr id="7" name="内容占位符 1"/>
          <p:cNvSpPr txBox="1"/>
          <p:nvPr/>
        </p:nvSpPr>
        <p:spPr>
          <a:xfrm>
            <a:off x="628650" y="3906350"/>
            <a:ext cx="7886700" cy="135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3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8829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800" dirty="0"/>
              <a:t>2. </a:t>
            </a:r>
            <a:r>
              <a:rPr lang="zh-CN" altLang="en-US" sz="1800" dirty="0"/>
              <a:t>已知</a:t>
            </a:r>
            <a:r>
              <a:rPr lang="en-US" altLang="zh-CN" sz="1800" dirty="0"/>
              <a:t>x</a:t>
            </a:r>
            <a:r>
              <a:rPr lang="zh-CN" altLang="en-US" sz="1800" dirty="0"/>
              <a:t>的补码（以下编码为</a:t>
            </a:r>
            <a:r>
              <a:rPr lang="zh-CN" altLang="en-US" sz="1800" dirty="0"/>
              <a:t>二进制），求</a:t>
            </a:r>
            <a:r>
              <a:rPr lang="en-US" altLang="zh-CN" sz="1800" dirty="0"/>
              <a:t>x</a:t>
            </a:r>
            <a:r>
              <a:rPr lang="zh-CN" altLang="en-US" sz="1800" dirty="0"/>
              <a:t>。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sz="1800" b="1" dirty="0"/>
              <a:t>1. </a:t>
            </a:r>
            <a:r>
              <a:rPr lang="zh-CN" altLang="en-US" sz="1800" b="1" dirty="0"/>
              <a:t>假定机器数为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位（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位符号，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位数值），写出下列各二进制数的补码表示。</a:t>
            </a:r>
            <a:endParaRPr lang="en-US" altLang="zh-CN" sz="18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1800" b="1" dirty="0"/>
              <a:t>+1000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-1001</a:t>
            </a:r>
            <a:r>
              <a:rPr lang="zh-CN" altLang="en-US" sz="1800" b="1" dirty="0"/>
              <a:t>， </a:t>
            </a:r>
            <a:r>
              <a:rPr lang="en-US" altLang="zh-CN" sz="1800" b="1" dirty="0"/>
              <a:t>+1</a:t>
            </a:r>
            <a:r>
              <a:rPr lang="zh-CN" altLang="en-US" sz="1800" b="1" dirty="0"/>
              <a:t>， </a:t>
            </a:r>
            <a:r>
              <a:rPr lang="en-US" altLang="zh-CN" sz="1800" b="1" dirty="0"/>
              <a:t>-1</a:t>
            </a:r>
            <a:r>
              <a:rPr lang="zh-CN" altLang="en-US" sz="1800" b="1" dirty="0"/>
              <a:t>， </a:t>
            </a:r>
            <a:r>
              <a:rPr lang="en-US" altLang="zh-CN" sz="1800" b="1" dirty="0"/>
              <a:t>+10100</a:t>
            </a:r>
            <a:r>
              <a:rPr lang="zh-CN" altLang="en-US" sz="1800" b="1" dirty="0"/>
              <a:t>， </a:t>
            </a:r>
            <a:r>
              <a:rPr lang="en-US" altLang="zh-CN" sz="1800" b="1" dirty="0"/>
              <a:t>-10010</a:t>
            </a:r>
            <a:r>
              <a:rPr lang="zh-CN" altLang="en-US" sz="1800" b="1" dirty="0"/>
              <a:t>， </a:t>
            </a:r>
            <a:r>
              <a:rPr lang="en-US" altLang="zh-CN" sz="1800" b="1" dirty="0"/>
              <a:t>+0</a:t>
            </a:r>
            <a:r>
              <a:rPr lang="zh-CN" altLang="en-US" sz="1800" b="1" dirty="0"/>
              <a:t>， </a:t>
            </a:r>
            <a:r>
              <a:rPr lang="en-US" altLang="zh-CN" sz="1800" b="1" dirty="0"/>
              <a:t>-0</a:t>
            </a:r>
            <a:endParaRPr lang="zh-CN" altLang="en-US" sz="18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t="32033"/>
          <a:stretch>
            <a:fillRect/>
          </a:stretch>
        </p:blipFill>
        <p:spPr>
          <a:xfrm>
            <a:off x="1117758" y="4348065"/>
            <a:ext cx="4747950" cy="764510"/>
          </a:xfrm>
          <a:prstGeom prst="rect">
            <a:avLst/>
          </a:prstGeom>
        </p:spPr>
      </p:pic>
      <p:sp>
        <p:nvSpPr>
          <p:cNvPr id="7" name="内容占位符 1"/>
          <p:cNvSpPr txBox="1"/>
          <p:nvPr/>
        </p:nvSpPr>
        <p:spPr>
          <a:xfrm>
            <a:off x="628650" y="3906350"/>
            <a:ext cx="7886700" cy="135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3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8829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800" dirty="0"/>
              <a:t>2. </a:t>
            </a:r>
            <a:r>
              <a:rPr lang="zh-CN" altLang="en-US" sz="1800" dirty="0"/>
              <a:t>已知</a:t>
            </a:r>
            <a:r>
              <a:rPr lang="en-US" altLang="zh-CN" sz="1800" dirty="0"/>
              <a:t>x</a:t>
            </a:r>
            <a:r>
              <a:rPr lang="zh-CN" altLang="en-US" sz="1800" dirty="0"/>
              <a:t>的补码</a:t>
            </a:r>
            <a:r>
              <a:rPr lang="zh-CN" altLang="en-US" sz="1800" dirty="0">
                <a:sym typeface="+mn-ea"/>
              </a:rPr>
              <a:t>（以下编码为二进制）</a:t>
            </a:r>
            <a:r>
              <a:rPr lang="zh-CN" altLang="en-US" sz="1800" dirty="0"/>
              <a:t>，求</a:t>
            </a:r>
            <a:r>
              <a:rPr lang="en-US" altLang="zh-CN" sz="1800" dirty="0"/>
              <a:t>x</a:t>
            </a:r>
            <a:r>
              <a:rPr lang="zh-CN" altLang="en-US" sz="1800" dirty="0"/>
              <a:t>。</a:t>
            </a:r>
            <a:endParaRPr lang="zh-CN" altLang="en-US" sz="1800" dirty="0"/>
          </a:p>
        </p:txBody>
      </p:sp>
      <p:sp>
        <p:nvSpPr>
          <p:cNvPr id="4" name="矩形 3"/>
          <p:cNvSpPr/>
          <p:nvPr/>
        </p:nvSpPr>
        <p:spPr>
          <a:xfrm>
            <a:off x="958472" y="5340745"/>
            <a:ext cx="50665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（</a:t>
            </a:r>
            <a:r>
              <a:rPr lang="en-US" altLang="zh-CN" b="1" dirty="0">
                <a:solidFill>
                  <a:srgbClr val="0000FF"/>
                </a:solidFill>
              </a:rPr>
              <a:t>1</a:t>
            </a:r>
            <a:r>
              <a:rPr lang="zh-CN" altLang="en-US" b="1" dirty="0">
                <a:solidFill>
                  <a:srgbClr val="0000FF"/>
                </a:solidFill>
              </a:rPr>
              <a:t>）</a:t>
            </a:r>
            <a:r>
              <a:rPr lang="en-US" altLang="zh-CN" b="1" dirty="0">
                <a:solidFill>
                  <a:srgbClr val="0000FF"/>
                </a:solidFill>
              </a:rPr>
              <a:t>x=- 001 1001=-25  (2) x=-1000 0000=-128</a:t>
            </a:r>
            <a:endParaRPr lang="en-US" altLang="zh-CN" b="1" dirty="0">
              <a:solidFill>
                <a:srgbClr val="0000FF"/>
              </a:solidFill>
            </a:endParaRPr>
          </a:p>
          <a:p>
            <a:r>
              <a:rPr lang="zh-CN" altLang="en-US" b="1" dirty="0">
                <a:solidFill>
                  <a:srgbClr val="0000FF"/>
                </a:solidFill>
              </a:rPr>
              <a:t>（</a:t>
            </a:r>
            <a:r>
              <a:rPr lang="en-US" altLang="zh-CN" b="1" dirty="0">
                <a:solidFill>
                  <a:srgbClr val="0000FF"/>
                </a:solidFill>
              </a:rPr>
              <a:t>3</a:t>
            </a:r>
            <a:r>
              <a:rPr lang="zh-CN" altLang="en-US" b="1" dirty="0">
                <a:solidFill>
                  <a:srgbClr val="0000FF"/>
                </a:solidFill>
              </a:rPr>
              <a:t>）</a:t>
            </a:r>
            <a:r>
              <a:rPr lang="en-US" altLang="zh-CN" b="1" dirty="0">
                <a:solidFill>
                  <a:srgbClr val="0000FF"/>
                </a:solidFill>
              </a:rPr>
              <a:t>x=+101 0010=82   (4) x=- 010 1101=-45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02286" y="2904649"/>
            <a:ext cx="70098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00001000</a:t>
            </a:r>
            <a:r>
              <a:rPr lang="zh-CN" altLang="en-US" b="1" dirty="0">
                <a:solidFill>
                  <a:srgbClr val="0000FF"/>
                </a:solidFill>
              </a:rPr>
              <a:t>，</a:t>
            </a:r>
            <a:r>
              <a:rPr lang="en-US" altLang="zh-CN" b="1" dirty="0">
                <a:solidFill>
                  <a:srgbClr val="0000FF"/>
                </a:solidFill>
              </a:rPr>
              <a:t>11110111</a:t>
            </a:r>
            <a:r>
              <a:rPr lang="zh-CN" altLang="en-US" b="1" dirty="0">
                <a:solidFill>
                  <a:srgbClr val="0000FF"/>
                </a:solidFill>
              </a:rPr>
              <a:t>， </a:t>
            </a:r>
            <a:r>
              <a:rPr lang="en-US" altLang="zh-CN" b="1" dirty="0">
                <a:solidFill>
                  <a:srgbClr val="0000FF"/>
                </a:solidFill>
              </a:rPr>
              <a:t>00000001</a:t>
            </a:r>
            <a:r>
              <a:rPr lang="zh-CN" altLang="en-US" b="1" dirty="0">
                <a:solidFill>
                  <a:srgbClr val="0000FF"/>
                </a:solidFill>
              </a:rPr>
              <a:t>， </a:t>
            </a:r>
            <a:r>
              <a:rPr lang="en-US" altLang="zh-CN" b="1" dirty="0">
                <a:solidFill>
                  <a:srgbClr val="0000FF"/>
                </a:solidFill>
              </a:rPr>
              <a:t>11111111</a:t>
            </a:r>
            <a:r>
              <a:rPr lang="zh-CN" altLang="en-US" b="1" dirty="0">
                <a:solidFill>
                  <a:srgbClr val="0000FF"/>
                </a:solidFill>
              </a:rPr>
              <a:t>， </a:t>
            </a:r>
            <a:endParaRPr lang="en-US" altLang="zh-CN" b="1" dirty="0">
              <a:solidFill>
                <a:srgbClr val="0000FF"/>
              </a:solidFill>
            </a:endParaRPr>
          </a:p>
          <a:p>
            <a:r>
              <a:rPr lang="en-US" altLang="zh-CN" b="1" dirty="0">
                <a:solidFill>
                  <a:srgbClr val="0000FF"/>
                </a:solidFill>
              </a:rPr>
              <a:t>00010100</a:t>
            </a:r>
            <a:r>
              <a:rPr lang="zh-CN" altLang="en-US" b="1" dirty="0">
                <a:solidFill>
                  <a:srgbClr val="0000FF"/>
                </a:solidFill>
              </a:rPr>
              <a:t>，</a:t>
            </a:r>
            <a:r>
              <a:rPr lang="en-US" altLang="zh-CN" b="1" dirty="0">
                <a:solidFill>
                  <a:srgbClr val="0000FF"/>
                </a:solidFill>
              </a:rPr>
              <a:t>11101110</a:t>
            </a:r>
            <a:r>
              <a:rPr lang="zh-CN" altLang="en-US" b="1" dirty="0">
                <a:solidFill>
                  <a:srgbClr val="0000FF"/>
                </a:solidFill>
              </a:rPr>
              <a:t>， </a:t>
            </a:r>
            <a:r>
              <a:rPr lang="en-US" altLang="zh-CN" b="1" dirty="0">
                <a:solidFill>
                  <a:srgbClr val="0000FF"/>
                </a:solidFill>
              </a:rPr>
              <a:t>00000000</a:t>
            </a:r>
            <a:r>
              <a:rPr lang="zh-CN" altLang="en-US" b="1" dirty="0">
                <a:solidFill>
                  <a:srgbClr val="0000FF"/>
                </a:solidFill>
              </a:rPr>
              <a:t>， </a:t>
            </a:r>
            <a:r>
              <a:rPr lang="en-US" altLang="zh-CN" b="1" dirty="0">
                <a:solidFill>
                  <a:srgbClr val="0000FF"/>
                </a:solidFill>
              </a:rPr>
              <a:t>0000000</a:t>
            </a:r>
            <a:endParaRPr lang="en-US" altLang="zh-CN" b="1" dirty="0">
              <a:solidFill>
                <a:srgbClr val="0000FF"/>
              </a:solidFill>
            </a:endParaRPr>
          </a:p>
          <a:p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9" name="标题 2"/>
          <p:cNvSpPr>
            <a:spLocks noGrp="1"/>
          </p:cNvSpPr>
          <p:nvPr/>
        </p:nvSpPr>
        <p:spPr>
          <a:xfrm>
            <a:off x="457200" y="274955"/>
            <a:ext cx="2947035" cy="843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>
                <a:latin typeface="+mn-lt"/>
                <a:ea typeface="+mn-ea"/>
                <a:cs typeface="+mn-ea"/>
                <a:sym typeface="+mn-lt"/>
              </a:rPr>
              <a:t>练习</a:t>
            </a:r>
            <a:endParaRPr lang="zh-CN" altLang="en-US" sz="3600" b="1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7040" y="1283335"/>
            <a:ext cx="750697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200" b="1" dirty="0">
                <a:latin typeface="+mn-ea"/>
              </a:rPr>
              <a:t>例：采用补码表示，计算</a:t>
            </a:r>
            <a:r>
              <a:rPr lang="en-US" altLang="zh-CN" sz="2200" b="1" dirty="0">
                <a:latin typeface="+mn-ea"/>
              </a:rPr>
              <a:t>68+12</a:t>
            </a:r>
            <a:r>
              <a:rPr lang="zh-CN" altLang="en-US" sz="2200" b="1" dirty="0">
                <a:latin typeface="+mn-ea"/>
              </a:rPr>
              <a:t>和</a:t>
            </a:r>
            <a:r>
              <a:rPr lang="en-US" altLang="zh-CN" sz="2200" b="1" dirty="0">
                <a:latin typeface="+mn-ea"/>
              </a:rPr>
              <a:t>68-12</a:t>
            </a:r>
            <a:r>
              <a:rPr lang="zh-CN" altLang="en-US" sz="2200" b="1" dirty="0">
                <a:latin typeface="+mn-ea"/>
              </a:rPr>
              <a:t>的值。（</a:t>
            </a:r>
            <a:r>
              <a:rPr lang="en-US" altLang="zh-CN" sz="2200" b="1" dirty="0">
                <a:latin typeface="+mn-ea"/>
              </a:rPr>
              <a:t>8</a:t>
            </a:r>
            <a:r>
              <a:rPr lang="zh-CN" altLang="en-US" sz="2200" b="1" dirty="0">
                <a:latin typeface="+mn-ea"/>
              </a:rPr>
              <a:t>位</a:t>
            </a:r>
            <a:r>
              <a:rPr lang="zh-CN" altLang="en-US" sz="2200" b="1" dirty="0">
                <a:latin typeface="+mn-ea"/>
              </a:rPr>
              <a:t>机）</a:t>
            </a:r>
            <a:endParaRPr lang="zh-CN" altLang="en-US" sz="2200" b="1" dirty="0"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6731" y="1817687"/>
            <a:ext cx="84163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latin typeface="+mn-ea"/>
                <a:ea typeface="+mn-ea"/>
              </a:rPr>
              <a:t>解：</a:t>
            </a:r>
            <a:r>
              <a:rPr lang="en-US" altLang="zh-CN" sz="2000" b="1" dirty="0">
                <a:latin typeface="+mn-ea"/>
                <a:ea typeface="+mn-ea"/>
              </a:rPr>
              <a:t>68=+1000100        </a:t>
            </a:r>
            <a:r>
              <a:rPr lang="en-US" altLang="zh-CN" sz="2000" b="1" dirty="0">
                <a:latin typeface="+mn-ea"/>
              </a:rPr>
              <a:t>12=+1100</a:t>
            </a:r>
            <a:r>
              <a:rPr lang="en-US" altLang="zh-CN" sz="2000" b="1" dirty="0">
                <a:latin typeface="+mn-ea"/>
                <a:ea typeface="+mn-ea"/>
              </a:rPr>
              <a:t>             </a:t>
            </a:r>
            <a:r>
              <a:rPr lang="en-US" altLang="zh-CN" sz="2000" b="1" dirty="0">
                <a:latin typeface="+mn-ea"/>
              </a:rPr>
              <a:t>-12=-1100 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000" b="1" dirty="0">
                <a:latin typeface="+mn-ea"/>
                <a:ea typeface="+mn-ea"/>
              </a:rPr>
              <a:t>[68]</a:t>
            </a:r>
            <a:r>
              <a:rPr lang="zh-CN" altLang="en-US" sz="2000" b="1" baseline="-25000" dirty="0">
                <a:latin typeface="+mn-ea"/>
                <a:ea typeface="+mn-ea"/>
              </a:rPr>
              <a:t>原</a:t>
            </a:r>
            <a:r>
              <a:rPr lang="en-US" altLang="zh-CN" sz="2000" b="1" dirty="0">
                <a:latin typeface="+mn-ea"/>
                <a:ea typeface="+mn-ea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r>
              <a:rPr lang="en-US" altLang="zh-CN" sz="2000" b="1" dirty="0">
                <a:latin typeface="+mn-ea"/>
                <a:ea typeface="+mn-ea"/>
              </a:rPr>
              <a:t>1000100     </a:t>
            </a:r>
            <a:r>
              <a:rPr lang="en-US" altLang="zh-CN" sz="2000" b="1" dirty="0">
                <a:latin typeface="+mn-ea"/>
              </a:rPr>
              <a:t>[12]</a:t>
            </a:r>
            <a:r>
              <a:rPr lang="zh-CN" altLang="en-US" sz="2000" b="1" baseline="-25000" dirty="0">
                <a:latin typeface="+mn-ea"/>
              </a:rPr>
              <a:t>原</a:t>
            </a:r>
            <a:r>
              <a:rPr lang="en-US" altLang="zh-CN" sz="2000" b="1" dirty="0">
                <a:latin typeface="+mn-ea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000</a:t>
            </a:r>
            <a:r>
              <a:rPr lang="en-US" altLang="zh-CN" sz="2000" b="1" dirty="0">
                <a:latin typeface="+mn-ea"/>
              </a:rPr>
              <a:t>1100</a:t>
            </a:r>
            <a:r>
              <a:rPr lang="en-US" altLang="zh-CN" sz="2000" b="1" dirty="0">
                <a:latin typeface="+mn-ea"/>
                <a:ea typeface="+mn-ea"/>
              </a:rPr>
              <a:t>       </a:t>
            </a:r>
            <a:r>
              <a:rPr lang="en-US" altLang="zh-CN" sz="2000" b="1" dirty="0">
                <a:latin typeface="+mn-ea"/>
              </a:rPr>
              <a:t>[-12]</a:t>
            </a:r>
            <a:r>
              <a:rPr lang="zh-CN" altLang="en-US" sz="2000" b="1" baseline="-25000" dirty="0">
                <a:latin typeface="+mn-ea"/>
              </a:rPr>
              <a:t>原</a:t>
            </a:r>
            <a:r>
              <a:rPr lang="en-US" altLang="zh-CN" sz="2000" b="1" dirty="0">
                <a:latin typeface="+mn-ea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000</a:t>
            </a:r>
            <a:r>
              <a:rPr lang="en-US" altLang="zh-CN" sz="2000" b="1" dirty="0">
                <a:latin typeface="+mn-ea"/>
              </a:rPr>
              <a:t>1100 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000" b="1" dirty="0">
                <a:latin typeface="+mn-ea"/>
                <a:ea typeface="+mn-ea"/>
              </a:rPr>
              <a:t>[68]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r>
              <a:rPr lang="en-US" altLang="zh-CN" sz="2000" b="1" dirty="0">
                <a:latin typeface="+mn-ea"/>
                <a:ea typeface="+mn-ea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r>
              <a:rPr lang="en-US" altLang="zh-CN" sz="2000" b="1" dirty="0">
                <a:latin typeface="+mn-ea"/>
                <a:ea typeface="+mn-ea"/>
              </a:rPr>
              <a:t>1000100 </a:t>
            </a:r>
            <a:r>
              <a:rPr lang="en-US" altLang="zh-CN" sz="2000" b="1" dirty="0">
                <a:latin typeface="+mn-ea"/>
              </a:rPr>
              <a:t>    [12]</a:t>
            </a:r>
            <a:r>
              <a:rPr lang="zh-CN" altLang="en-US" sz="2000" b="1" baseline="-25000" dirty="0">
                <a:latin typeface="+mn-ea"/>
              </a:rPr>
              <a:t>补</a:t>
            </a:r>
            <a:r>
              <a:rPr lang="en-US" altLang="zh-CN" sz="2000" b="1" dirty="0">
                <a:latin typeface="+mn-ea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2000" b="1" dirty="0">
                <a:latin typeface="+mn-ea"/>
              </a:rPr>
              <a:t>0001100</a:t>
            </a:r>
            <a:r>
              <a:rPr lang="en-US" altLang="zh-CN" sz="2000" b="1" dirty="0">
                <a:latin typeface="+mn-ea"/>
                <a:ea typeface="+mn-ea"/>
              </a:rPr>
              <a:t>       [-12]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r>
              <a:rPr lang="en-US" altLang="zh-CN" sz="2000" b="1" dirty="0">
                <a:latin typeface="+mn-ea"/>
                <a:ea typeface="+mn-ea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en-US" altLang="zh-CN" sz="2000" b="1" dirty="0">
                <a:latin typeface="+mn-ea"/>
                <a:ea typeface="+mn-ea"/>
              </a:rPr>
              <a:t>1110100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000" b="1" dirty="0">
                <a:latin typeface="+mn-ea"/>
                <a:ea typeface="+mn-ea"/>
              </a:rPr>
              <a:t>[68+12]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r>
              <a:rPr lang="en-US" altLang="zh-CN" sz="2000" b="1" dirty="0">
                <a:latin typeface="+mn-ea"/>
                <a:ea typeface="+mn-ea"/>
              </a:rPr>
              <a:t>=[68]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r>
              <a:rPr lang="en-US" altLang="zh-CN" sz="2000" b="1" dirty="0">
                <a:latin typeface="+mn-ea"/>
                <a:ea typeface="+mn-ea"/>
              </a:rPr>
              <a:t>+[12]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r>
              <a:rPr lang="zh-CN" altLang="en-US" sz="2000" b="1" dirty="0">
                <a:latin typeface="+mn-ea"/>
                <a:ea typeface="+mn-ea"/>
              </a:rPr>
              <a:t>       </a:t>
            </a:r>
            <a:r>
              <a:rPr lang="en-US" altLang="zh-CN" sz="2000" b="1" dirty="0">
                <a:latin typeface="+mn-ea"/>
                <a:ea typeface="+mn-ea"/>
              </a:rPr>
              <a:t>[68-12]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r>
              <a:rPr lang="en-US" altLang="zh-CN" sz="2000" b="1" dirty="0">
                <a:latin typeface="+mn-ea"/>
                <a:ea typeface="+mn-ea"/>
              </a:rPr>
              <a:t>=[68]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r>
              <a:rPr lang="en-US" altLang="zh-CN" sz="2000" b="1" dirty="0">
                <a:latin typeface="+mn-ea"/>
                <a:ea typeface="+mn-ea"/>
              </a:rPr>
              <a:t>+[-12]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endParaRPr lang="zh-CN" altLang="en-US" sz="2000" b="1" baseline="-25000" dirty="0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3268" y="3323968"/>
            <a:ext cx="3224213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+mn-ea"/>
                <a:ea typeface="+mn-ea"/>
              </a:rPr>
              <a:t>     01000100    [68]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endParaRPr lang="en-US" altLang="zh-CN" sz="2000" b="1" baseline="-2500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000" b="1" dirty="0">
                <a:latin typeface="+mn-ea"/>
                <a:ea typeface="+mn-ea"/>
              </a:rPr>
              <a:t> +   00001100    [12]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endParaRPr lang="en-US" altLang="zh-CN" sz="2000" b="1" baseline="-25000" dirty="0">
              <a:latin typeface="+mn-ea"/>
              <a:ea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57856" y="4120893"/>
            <a:ext cx="2836862" cy="47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29343" y="4144706"/>
            <a:ext cx="2746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+mn-ea"/>
                <a:ea typeface="+mn-ea"/>
              </a:rPr>
              <a:t>  01010000    [X]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endParaRPr lang="zh-CN" altLang="en-US" sz="2000" b="1" baseline="-25000" dirty="0">
              <a:latin typeface="+mn-ea"/>
              <a:ea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29806" y="3319206"/>
            <a:ext cx="3224212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+mn-ea"/>
                <a:ea typeface="+mn-ea"/>
              </a:rPr>
              <a:t>     01000100    [68]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endParaRPr lang="en-US" altLang="zh-CN" sz="2000" b="1" baseline="-2500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000" b="1" dirty="0">
                <a:latin typeface="+mn-ea"/>
                <a:ea typeface="+mn-ea"/>
              </a:rPr>
              <a:t> +   11110100    [-12]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endParaRPr lang="en-US" altLang="zh-CN" sz="2000" b="1" baseline="-25000" dirty="0">
              <a:latin typeface="+mn-ea"/>
              <a:ea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729806" y="4120893"/>
            <a:ext cx="27114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902843" y="4139943"/>
            <a:ext cx="2979738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+mn-ea"/>
                <a:ea typeface="+mn-ea"/>
              </a:rPr>
              <a:t> 1  00111000    [Y]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endParaRPr lang="zh-CN" altLang="en-US" sz="2000" b="1" baseline="-25000" dirty="0"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012658" y="4155818"/>
            <a:ext cx="266700" cy="4318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000">
              <a:latin typeface="+mn-ea"/>
            </a:endParaRPr>
          </a:p>
        </p:txBody>
      </p:sp>
      <p:sp>
        <p:nvSpPr>
          <p:cNvPr id="39947" name="矩形 11"/>
          <p:cNvSpPr>
            <a:spLocks noChangeArrowheads="1"/>
          </p:cNvSpPr>
          <p:nvPr/>
        </p:nvSpPr>
        <p:spPr bwMode="auto">
          <a:xfrm>
            <a:off x="557856" y="6010322"/>
            <a:ext cx="7781796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Clr>
                <a:srgbClr val="A53010"/>
              </a:buClr>
              <a:buFontTx/>
              <a:buNone/>
            </a:pPr>
            <a:r>
              <a:rPr lang="zh-CN" altLang="en-US" sz="2200" b="1" dirty="0">
                <a:solidFill>
                  <a:srgbClr val="0033CC"/>
                </a:solidFill>
              </a:rPr>
              <a:t>符号位可以作为数值参与运算，减法运算可以转换为加法运算，简化了硬件的逻辑电路。 </a:t>
            </a:r>
            <a:endParaRPr lang="zh-CN" altLang="en-US" sz="2200" b="1" dirty="0">
              <a:solidFill>
                <a:srgbClr val="0033CC"/>
              </a:solidFill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1182688" y="107156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None/>
              <a:defRPr/>
            </a:pPr>
            <a:r>
              <a:rPr lang="zh-CN" altLang="en-US" sz="3600" b="1" dirty="0">
                <a:latin typeface="+mj-ea"/>
                <a:ea typeface="+mj-ea"/>
              </a:rPr>
              <a:t>计算机中的运算</a:t>
            </a:r>
            <a:r>
              <a:rPr lang="en-US" altLang="zh-CN" sz="3600" b="1" dirty="0">
                <a:latin typeface="+mj-ea"/>
              </a:rPr>
              <a:t>-</a:t>
            </a:r>
            <a:r>
              <a:rPr lang="zh-CN" altLang="en-US" sz="3600" b="1" dirty="0">
                <a:latin typeface="+mj-ea"/>
              </a:rPr>
              <a:t>算术运算</a:t>
            </a:r>
            <a:endParaRPr lang="zh-CN" altLang="en-US" sz="3600" b="1" dirty="0">
              <a:latin typeface="+mj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7856" y="5623498"/>
            <a:ext cx="81114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+mn-ea"/>
              </a:rPr>
              <a:t>[68+12]</a:t>
            </a:r>
            <a:r>
              <a:rPr lang="zh-CN" altLang="en-US" sz="2000" b="1" baseline="-25000" dirty="0">
                <a:latin typeface="+mn-ea"/>
              </a:rPr>
              <a:t>补</a:t>
            </a:r>
            <a:r>
              <a:rPr lang="en-US" altLang="zh-CN" sz="2000" b="1" dirty="0">
                <a:latin typeface="+mn-ea"/>
              </a:rPr>
              <a:t>=[68]</a:t>
            </a:r>
            <a:r>
              <a:rPr lang="zh-CN" altLang="en-US" sz="2000" b="1" baseline="-25000" dirty="0">
                <a:latin typeface="+mn-ea"/>
              </a:rPr>
              <a:t>补</a:t>
            </a:r>
            <a:r>
              <a:rPr lang="en-US" altLang="zh-CN" sz="2000" b="1" dirty="0">
                <a:latin typeface="+mn-ea"/>
              </a:rPr>
              <a:t>+[12]</a:t>
            </a:r>
            <a:r>
              <a:rPr lang="zh-CN" altLang="en-US" sz="2000" b="1" baseline="-25000" dirty="0">
                <a:latin typeface="+mn-ea"/>
              </a:rPr>
              <a:t>补</a:t>
            </a:r>
            <a:r>
              <a:rPr lang="en-US" altLang="zh-CN" sz="2000" b="1" dirty="0">
                <a:latin typeface="+mn-ea"/>
              </a:rPr>
              <a:t>=[80]</a:t>
            </a:r>
            <a:r>
              <a:rPr lang="zh-CN" altLang="en-US" sz="2000" b="1" baseline="-25000" dirty="0">
                <a:latin typeface="+mn-ea"/>
              </a:rPr>
              <a:t>补       </a:t>
            </a:r>
            <a:r>
              <a:rPr lang="en-US" altLang="zh-CN" sz="2000" b="1" dirty="0">
                <a:latin typeface="+mn-ea"/>
              </a:rPr>
              <a:t>[68-12]</a:t>
            </a:r>
            <a:r>
              <a:rPr lang="zh-CN" altLang="en-US" sz="2000" b="1" baseline="-25000" dirty="0">
                <a:latin typeface="+mn-ea"/>
              </a:rPr>
              <a:t>补</a:t>
            </a:r>
            <a:r>
              <a:rPr lang="en-US" altLang="zh-CN" sz="2000" b="1" dirty="0">
                <a:latin typeface="+mn-ea"/>
              </a:rPr>
              <a:t>=[68]</a:t>
            </a:r>
            <a:r>
              <a:rPr lang="zh-CN" altLang="en-US" sz="2000" b="1" baseline="-25000" dirty="0">
                <a:latin typeface="+mn-ea"/>
              </a:rPr>
              <a:t>补</a:t>
            </a:r>
            <a:r>
              <a:rPr lang="en-US" altLang="zh-CN" sz="2000" b="1" dirty="0">
                <a:latin typeface="+mn-ea"/>
              </a:rPr>
              <a:t>+[-12]</a:t>
            </a:r>
            <a:r>
              <a:rPr lang="zh-CN" altLang="en-US" sz="2000" b="1" baseline="-25000" dirty="0">
                <a:latin typeface="+mn-ea"/>
              </a:rPr>
              <a:t>补</a:t>
            </a:r>
            <a:r>
              <a:rPr lang="en-US" altLang="zh-CN" sz="2000" b="1" dirty="0">
                <a:latin typeface="+mn-ea"/>
              </a:rPr>
              <a:t>=[56]</a:t>
            </a:r>
            <a:r>
              <a:rPr lang="zh-CN" altLang="en-US" sz="2000" b="1" baseline="-25000" dirty="0">
                <a:latin typeface="+mn-ea"/>
              </a:rPr>
              <a:t>补</a:t>
            </a:r>
            <a:endParaRPr lang="zh-CN" altLang="en-US" sz="2000" b="1" baseline="-25000" dirty="0">
              <a:latin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57856" y="4643730"/>
            <a:ext cx="32111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[X]</a:t>
            </a:r>
            <a:r>
              <a:rPr lang="zh-CN" altLang="en-US" sz="2000" b="1" baseline="-25000" dirty="0">
                <a:solidFill>
                  <a:prstClr val="black"/>
                </a:solidFill>
                <a:latin typeface="+mn-ea"/>
                <a:ea typeface="+mn-ea"/>
              </a:rPr>
              <a:t>补</a:t>
            </a: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=</a:t>
            </a:r>
            <a:r>
              <a:rPr lang="en-US" altLang="zh-CN" sz="2000" b="1" dirty="0">
                <a:latin typeface="+mn-ea"/>
              </a:rPr>
              <a:t>01010000</a:t>
            </a: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      X=</a:t>
            </a:r>
            <a:r>
              <a:rPr lang="zh-CN" altLang="en-US" sz="2000" b="1" dirty="0">
                <a:solidFill>
                  <a:prstClr val="black"/>
                </a:solidFill>
                <a:latin typeface="+mn-ea"/>
                <a:ea typeface="+mn-ea"/>
              </a:rPr>
              <a:t>？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037656" y="4643730"/>
            <a:ext cx="40334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[X]</a:t>
            </a:r>
            <a:r>
              <a:rPr lang="zh-CN" altLang="en-US" sz="2000" b="1" baseline="-25000" dirty="0">
                <a:solidFill>
                  <a:prstClr val="black"/>
                </a:solidFill>
                <a:latin typeface="+mn-ea"/>
                <a:ea typeface="+mn-ea"/>
              </a:rPr>
              <a:t>原</a:t>
            </a: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=[X]</a:t>
            </a:r>
            <a:r>
              <a:rPr lang="zh-CN" altLang="en-US" sz="2000" b="1" baseline="-25000" dirty="0">
                <a:solidFill>
                  <a:prstClr val="black"/>
                </a:solidFill>
                <a:latin typeface="+mn-ea"/>
                <a:ea typeface="+mn-ea"/>
              </a:rPr>
              <a:t>补</a:t>
            </a: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=</a:t>
            </a:r>
            <a:r>
              <a:rPr lang="en-US" altLang="zh-CN" sz="2000" b="1" dirty="0">
                <a:latin typeface="+mn-ea"/>
              </a:rPr>
              <a:t> 01010000</a:t>
            </a: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      X=80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65128" y="5099952"/>
            <a:ext cx="32111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[Y]</a:t>
            </a:r>
            <a:r>
              <a:rPr lang="zh-CN" altLang="en-US" sz="2000" b="1" baseline="-25000" dirty="0">
                <a:solidFill>
                  <a:prstClr val="black"/>
                </a:solidFill>
                <a:latin typeface="+mn-ea"/>
                <a:ea typeface="+mn-ea"/>
              </a:rPr>
              <a:t>补</a:t>
            </a: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=</a:t>
            </a:r>
            <a:r>
              <a:rPr lang="en-US" altLang="zh-CN" sz="2000" b="1" dirty="0">
                <a:latin typeface="+mn-ea"/>
              </a:rPr>
              <a:t>00111000</a:t>
            </a: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      </a:t>
            </a:r>
            <a:r>
              <a:rPr lang="en-US" altLang="zh-CN" sz="2000" b="1" dirty="0" smtClean="0">
                <a:solidFill>
                  <a:prstClr val="black"/>
                </a:solidFill>
                <a:latin typeface="+mn-ea"/>
                <a:ea typeface="+mn-ea"/>
              </a:rPr>
              <a:t>Y=</a:t>
            </a:r>
            <a:r>
              <a:rPr lang="zh-CN" altLang="en-US" sz="2000" b="1" dirty="0">
                <a:solidFill>
                  <a:prstClr val="black"/>
                </a:solidFill>
                <a:latin typeface="+mn-ea"/>
                <a:ea typeface="+mn-ea"/>
              </a:rPr>
              <a:t>？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044928" y="5099952"/>
            <a:ext cx="40334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 smtClean="0">
                <a:solidFill>
                  <a:prstClr val="black"/>
                </a:solidFill>
                <a:latin typeface="+mn-ea"/>
                <a:ea typeface="+mn-ea"/>
              </a:rPr>
              <a:t>[Y]</a:t>
            </a:r>
            <a:r>
              <a:rPr lang="zh-CN" altLang="en-US" sz="2000" b="1" baseline="-25000" dirty="0">
                <a:solidFill>
                  <a:prstClr val="black"/>
                </a:solidFill>
                <a:latin typeface="+mn-ea"/>
                <a:ea typeface="+mn-ea"/>
              </a:rPr>
              <a:t>原</a:t>
            </a:r>
            <a:r>
              <a:rPr lang="en-US" altLang="zh-CN" sz="2000" b="1" dirty="0" smtClean="0">
                <a:solidFill>
                  <a:prstClr val="black"/>
                </a:solidFill>
                <a:latin typeface="+mn-ea"/>
                <a:ea typeface="+mn-ea"/>
              </a:rPr>
              <a:t>=[Y]</a:t>
            </a:r>
            <a:r>
              <a:rPr lang="zh-CN" altLang="en-US" sz="2000" b="1" baseline="-25000" dirty="0">
                <a:solidFill>
                  <a:prstClr val="black"/>
                </a:solidFill>
                <a:latin typeface="+mn-ea"/>
                <a:ea typeface="+mn-ea"/>
              </a:rPr>
              <a:t>补</a:t>
            </a: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=</a:t>
            </a:r>
            <a:r>
              <a:rPr lang="en-US" altLang="zh-CN" sz="2000" b="1" dirty="0">
                <a:latin typeface="+mn-ea"/>
              </a:rPr>
              <a:t> 00111000</a:t>
            </a: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      </a:t>
            </a:r>
            <a:r>
              <a:rPr lang="en-US" altLang="zh-CN" sz="2000" b="1" dirty="0" smtClean="0">
                <a:solidFill>
                  <a:prstClr val="black"/>
                </a:solidFill>
                <a:latin typeface="+mn-ea"/>
                <a:ea typeface="+mn-ea"/>
              </a:rPr>
              <a:t>Y=56</a:t>
            </a:r>
            <a:endParaRPr lang="zh-CN" altLang="en-US" sz="20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13" grpId="0"/>
      <p:bldP spid="15" grpId="0"/>
      <p:bldP spid="9" grpId="0" animBg="1"/>
      <p:bldP spid="39947" grpId="0"/>
      <p:bldP spid="5" grpId="0"/>
      <p:bldP spid="16" grpId="0"/>
      <p:bldP spid="17" grpId="0"/>
      <p:bldP spid="18" grpId="0"/>
      <p:bldP spid="1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"/>
          <p:cNvSpPr>
            <a:spLocks noChangeArrowheads="1"/>
          </p:cNvSpPr>
          <p:nvPr/>
        </p:nvSpPr>
        <p:spPr bwMode="auto">
          <a:xfrm>
            <a:off x="741363" y="5504905"/>
            <a:ext cx="8145462" cy="769441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lang="zh-CN" altLang="en-US" sz="2200" b="1" dirty="0">
                <a:solidFill>
                  <a:srgbClr val="FF0000"/>
                </a:solidFill>
              </a:rPr>
              <a:t>溢出：</a:t>
            </a:r>
            <a:r>
              <a:rPr lang="zh-CN" altLang="en-US" sz="2200" b="1" dirty="0">
                <a:solidFill>
                  <a:srgbClr val="0000FF"/>
                </a:solidFill>
              </a:rPr>
              <a:t>真实</a:t>
            </a:r>
            <a:r>
              <a:rPr lang="zh-CN" altLang="en-US" sz="2200" b="1" dirty="0"/>
              <a:t>结果所要表示的值</a:t>
            </a:r>
            <a:r>
              <a:rPr lang="zh-CN" altLang="en-US" sz="2200" b="1" dirty="0">
                <a:solidFill>
                  <a:srgbClr val="0000FF"/>
                </a:solidFill>
              </a:rPr>
              <a:t>超过</a:t>
            </a:r>
            <a:r>
              <a:rPr lang="zh-CN" altLang="en-US" sz="2200" b="1" dirty="0"/>
              <a:t>了机器数能够表示的值的</a:t>
            </a:r>
            <a:r>
              <a:rPr lang="zh-CN" altLang="en-US" sz="2200" b="1" dirty="0">
                <a:solidFill>
                  <a:srgbClr val="0000FF"/>
                </a:solidFill>
              </a:rPr>
              <a:t>范围</a:t>
            </a:r>
            <a:r>
              <a:rPr lang="zh-CN" altLang="en-US" sz="2200" b="1" dirty="0"/>
              <a:t>，</a:t>
            </a:r>
            <a:r>
              <a:rPr lang="zh-CN" altLang="en-US" sz="2200" b="1" dirty="0">
                <a:cs typeface="Times New Roman" panose="02020603050405020304" pitchFamily="18" charset="0"/>
              </a:rPr>
              <a:t>在有溢出的情况下，用一般的补码加法无法得到正确结果。</a:t>
            </a:r>
            <a:endParaRPr lang="zh-CN" altLang="en-US" sz="22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14253" y="1262856"/>
            <a:ext cx="6921500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200" b="1" dirty="0">
                <a:latin typeface="+mn-ea"/>
              </a:rPr>
              <a:t>例：计算</a:t>
            </a:r>
            <a:r>
              <a:rPr lang="en-US" altLang="zh-CN" sz="2200" b="1" dirty="0">
                <a:latin typeface="+mn-ea"/>
              </a:rPr>
              <a:t>68+61</a:t>
            </a:r>
            <a:r>
              <a:rPr lang="zh-CN" altLang="en-US" sz="2200" b="1" dirty="0">
                <a:latin typeface="+mn-ea"/>
              </a:rPr>
              <a:t>的值。</a:t>
            </a:r>
            <a:endParaRPr lang="en-US" altLang="zh-CN" sz="2200" b="1" dirty="0">
              <a:latin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4253" y="1726406"/>
            <a:ext cx="8272572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latin typeface="+mn-ea"/>
                <a:ea typeface="+mn-ea"/>
              </a:rPr>
              <a:t>解：</a:t>
            </a:r>
            <a:r>
              <a:rPr lang="en-US" altLang="zh-CN" sz="2000" b="1" dirty="0">
                <a:latin typeface="+mn-ea"/>
                <a:ea typeface="+mn-ea"/>
              </a:rPr>
              <a:t>68=+1000100        [68]</a:t>
            </a:r>
            <a:r>
              <a:rPr lang="zh-CN" altLang="en-US" sz="2000" b="1" baseline="-25000" dirty="0">
                <a:latin typeface="+mn-ea"/>
                <a:ea typeface="+mn-ea"/>
              </a:rPr>
              <a:t>原</a:t>
            </a:r>
            <a:r>
              <a:rPr lang="zh-CN" altLang="en-US" sz="2000" b="1" dirty="0">
                <a:latin typeface="+mn-ea"/>
                <a:ea typeface="+mn-ea"/>
              </a:rPr>
              <a:t> </a:t>
            </a:r>
            <a:r>
              <a:rPr lang="en-US" altLang="zh-CN" sz="2000" b="1" dirty="0">
                <a:latin typeface="+mn-ea"/>
                <a:ea typeface="+mn-ea"/>
              </a:rPr>
              <a:t>=01000100        [68]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r>
              <a:rPr lang="zh-CN" altLang="en-US" sz="2000" b="1" dirty="0">
                <a:latin typeface="+mn-ea"/>
                <a:ea typeface="+mn-ea"/>
              </a:rPr>
              <a:t> </a:t>
            </a:r>
            <a:r>
              <a:rPr lang="en-US" altLang="zh-CN" sz="2000" b="1" dirty="0">
                <a:latin typeface="+mn-ea"/>
                <a:ea typeface="+mn-ea"/>
              </a:rPr>
              <a:t>=01000100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000" b="1" dirty="0">
                <a:latin typeface="+mn-ea"/>
                <a:ea typeface="+mn-ea"/>
              </a:rPr>
              <a:t>    61=+0111101        [61]</a:t>
            </a:r>
            <a:r>
              <a:rPr lang="zh-CN" altLang="en-US" sz="2000" b="1" baseline="-25000" dirty="0">
                <a:latin typeface="+mn-ea"/>
                <a:ea typeface="+mn-ea"/>
              </a:rPr>
              <a:t>原</a:t>
            </a:r>
            <a:r>
              <a:rPr lang="zh-CN" altLang="en-US" sz="2000" b="1" dirty="0">
                <a:latin typeface="+mn-ea"/>
                <a:ea typeface="+mn-ea"/>
              </a:rPr>
              <a:t> </a:t>
            </a:r>
            <a:r>
              <a:rPr lang="en-US" altLang="zh-CN" sz="2000" b="1" dirty="0">
                <a:latin typeface="+mn-ea"/>
                <a:ea typeface="+mn-ea"/>
              </a:rPr>
              <a:t>=00111101        [61]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r>
              <a:rPr lang="zh-CN" altLang="en-US" sz="2000" b="1" dirty="0">
                <a:latin typeface="+mn-ea"/>
                <a:ea typeface="+mn-ea"/>
              </a:rPr>
              <a:t> </a:t>
            </a:r>
            <a:r>
              <a:rPr lang="en-US" altLang="zh-CN" sz="2000" b="1" dirty="0">
                <a:latin typeface="+mn-ea"/>
                <a:ea typeface="+mn-ea"/>
              </a:rPr>
              <a:t>=00111101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000" b="1" dirty="0">
                <a:latin typeface="+mn-ea"/>
              </a:rPr>
              <a:t>    [68+61]</a:t>
            </a:r>
            <a:r>
              <a:rPr lang="zh-CN" altLang="en-US" sz="2000" b="1" baseline="-25000" dirty="0">
                <a:latin typeface="+mn-ea"/>
              </a:rPr>
              <a:t>补</a:t>
            </a:r>
            <a:r>
              <a:rPr lang="en-US" altLang="zh-CN" sz="2000" b="1" dirty="0">
                <a:latin typeface="+mn-ea"/>
              </a:rPr>
              <a:t>=[68]</a:t>
            </a:r>
            <a:r>
              <a:rPr lang="zh-CN" altLang="en-US" sz="2000" b="1" baseline="-25000" dirty="0">
                <a:latin typeface="+mn-ea"/>
              </a:rPr>
              <a:t>补</a:t>
            </a:r>
            <a:r>
              <a:rPr lang="en-US" altLang="zh-CN" sz="2000" b="1" dirty="0">
                <a:latin typeface="+mn-ea"/>
              </a:rPr>
              <a:t>+[61]</a:t>
            </a:r>
            <a:r>
              <a:rPr lang="zh-CN" altLang="en-US" sz="2000" b="1" baseline="-25000" dirty="0">
                <a:latin typeface="+mn-ea"/>
              </a:rPr>
              <a:t>补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18520" y="2832563"/>
            <a:ext cx="3595688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+mn-ea"/>
                <a:ea typeface="+mn-ea"/>
              </a:rPr>
              <a:t>      01000100      [68]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endParaRPr lang="en-US" altLang="zh-CN" sz="2000" b="1" baseline="-2500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000" b="1" dirty="0">
                <a:latin typeface="+mn-ea"/>
                <a:ea typeface="+mn-ea"/>
              </a:rPr>
              <a:t> +    00111101      [61]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endParaRPr lang="en-US" altLang="zh-CN" sz="2000" b="1" baseline="-25000" dirty="0">
              <a:latin typeface="+mn-ea"/>
              <a:ea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13732" y="3602525"/>
            <a:ext cx="40014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+mn-ea"/>
                <a:ea typeface="+mn-ea"/>
              </a:rPr>
              <a:t>        10000001      [X]</a:t>
            </a:r>
            <a:r>
              <a:rPr lang="zh-CN" altLang="en-US" sz="2000" b="1" baseline="-25000" dirty="0">
                <a:latin typeface="+mn-ea"/>
                <a:ea typeface="+mn-ea"/>
              </a:rPr>
              <a:t>补</a:t>
            </a:r>
            <a:endParaRPr lang="zh-CN" altLang="en-US" sz="2000" b="1" baseline="-25000" dirty="0">
              <a:latin typeface="+mn-ea"/>
              <a:ea typeface="+mn-ea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783680" y="3595545"/>
            <a:ext cx="32480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728257" y="4049632"/>
            <a:ext cx="32111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[X]</a:t>
            </a:r>
            <a:r>
              <a:rPr lang="zh-CN" altLang="en-US" sz="2000" b="1" baseline="-25000" dirty="0">
                <a:solidFill>
                  <a:prstClr val="black"/>
                </a:solidFill>
                <a:latin typeface="+mn-ea"/>
                <a:ea typeface="+mn-ea"/>
              </a:rPr>
              <a:t>补</a:t>
            </a: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=10000001      X=</a:t>
            </a:r>
            <a:r>
              <a:rPr lang="zh-CN" altLang="en-US" sz="2000" b="1" dirty="0">
                <a:solidFill>
                  <a:prstClr val="black"/>
                </a:solidFill>
                <a:latin typeface="+mn-ea"/>
                <a:ea typeface="+mn-ea"/>
              </a:rPr>
              <a:t>？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208057" y="4049632"/>
            <a:ext cx="45945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[X]</a:t>
            </a:r>
            <a:r>
              <a:rPr lang="zh-CN" altLang="en-US" sz="2000" b="1" baseline="-25000" dirty="0">
                <a:solidFill>
                  <a:prstClr val="black"/>
                </a:solidFill>
                <a:latin typeface="+mn-ea"/>
                <a:ea typeface="+mn-ea"/>
              </a:rPr>
              <a:t>原</a:t>
            </a: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=[[X]</a:t>
            </a:r>
            <a:r>
              <a:rPr lang="zh-CN" altLang="en-US" sz="2000" b="1" baseline="-25000" dirty="0">
                <a:solidFill>
                  <a:prstClr val="black"/>
                </a:solidFill>
                <a:latin typeface="+mn-ea"/>
                <a:ea typeface="+mn-ea"/>
              </a:rPr>
              <a:t>补</a:t>
            </a: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]</a:t>
            </a:r>
            <a:r>
              <a:rPr lang="zh-CN" altLang="en-US" sz="2000" b="1" baseline="-25000" dirty="0">
                <a:solidFill>
                  <a:prstClr val="black"/>
                </a:solidFill>
                <a:latin typeface="+mn-ea"/>
                <a:ea typeface="+mn-ea"/>
              </a:rPr>
              <a:t>补</a:t>
            </a:r>
            <a:r>
              <a:rPr lang="en-US" altLang="zh-CN" sz="2000" b="1" dirty="0">
                <a:solidFill>
                  <a:prstClr val="black"/>
                </a:solidFill>
                <a:latin typeface="+mn-ea"/>
                <a:ea typeface="+mn-ea"/>
              </a:rPr>
              <a:t>=11111111      X=-127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28257" y="4673387"/>
            <a:ext cx="39869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+mn-ea"/>
              </a:rPr>
              <a:t>[68+61]</a:t>
            </a:r>
            <a:r>
              <a:rPr lang="zh-CN" altLang="en-US" sz="2000" b="1" baseline="-25000" dirty="0">
                <a:latin typeface="+mn-ea"/>
              </a:rPr>
              <a:t>补</a:t>
            </a:r>
            <a:r>
              <a:rPr lang="en-US" altLang="zh-CN" sz="2000" b="1" dirty="0">
                <a:latin typeface="+mn-ea"/>
              </a:rPr>
              <a:t>=[68]</a:t>
            </a:r>
            <a:r>
              <a:rPr lang="zh-CN" altLang="en-US" sz="2000" b="1" baseline="-25000" dirty="0">
                <a:latin typeface="+mn-ea"/>
              </a:rPr>
              <a:t>补</a:t>
            </a:r>
            <a:r>
              <a:rPr lang="en-US" altLang="zh-CN" sz="2000" b="1" dirty="0">
                <a:latin typeface="+mn-ea"/>
              </a:rPr>
              <a:t>+[61]</a:t>
            </a:r>
            <a:r>
              <a:rPr lang="zh-CN" altLang="en-US" sz="2000" b="1" baseline="-25000" dirty="0">
                <a:latin typeface="+mn-ea"/>
              </a:rPr>
              <a:t>补</a:t>
            </a:r>
            <a:r>
              <a:rPr lang="en-US" altLang="zh-CN" sz="2000" b="1" dirty="0">
                <a:latin typeface="+mn-ea"/>
              </a:rPr>
              <a:t>=[-127]</a:t>
            </a:r>
            <a:r>
              <a:rPr lang="zh-CN" altLang="en-US" sz="2000" b="1" baseline="-25000" dirty="0">
                <a:latin typeface="+mn-ea"/>
              </a:rPr>
              <a:t>补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1182688" y="107156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None/>
              <a:defRPr/>
            </a:pPr>
            <a:r>
              <a:rPr lang="zh-CN" altLang="en-US" sz="3600" b="1" dirty="0">
                <a:latin typeface="+mj-ea"/>
                <a:ea typeface="+mj-ea"/>
              </a:rPr>
              <a:t>计算机中的运算</a:t>
            </a:r>
            <a:r>
              <a:rPr lang="en-US" altLang="zh-CN" sz="3600" b="1" dirty="0">
                <a:latin typeface="+mj-ea"/>
              </a:rPr>
              <a:t>-</a:t>
            </a:r>
            <a:r>
              <a:rPr lang="zh-CN" altLang="en-US" sz="3600" b="1" dirty="0">
                <a:latin typeface="+mj-ea"/>
              </a:rPr>
              <a:t>算术运算</a:t>
            </a:r>
            <a:endParaRPr lang="zh-CN" altLang="en-US" sz="3600" b="1" dirty="0">
              <a:latin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nimBg="1"/>
      <p:bldP spid="8" grpId="0"/>
      <p:bldP spid="9" grpId="0"/>
      <p:bldP spid="10" grpId="0"/>
      <p:bldP spid="4" grpId="0"/>
      <p:bldP spid="13" grpId="0"/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内容占位符 2"/>
          <p:cNvSpPr>
            <a:spLocks noGrp="1" noChangeArrowheads="1"/>
          </p:cNvSpPr>
          <p:nvPr>
            <p:ph idx="1"/>
          </p:nvPr>
        </p:nvSpPr>
        <p:spPr>
          <a:xfrm>
            <a:off x="617537" y="1309688"/>
            <a:ext cx="7908925" cy="15509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zh-CN" altLang="en-US" sz="2400" b="1" dirty="0"/>
              <a:t>溢出的判断：</a:t>
            </a:r>
            <a:endParaRPr lang="en-US" altLang="zh-CN" sz="24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符号相反的两个补码相加，不会产生溢出。</a:t>
            </a:r>
            <a:endParaRPr lang="en-US" altLang="zh-CN" sz="24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符号相同的两个补码相加，</a:t>
            </a:r>
            <a:r>
              <a:rPr lang="zh-CN" altLang="en-US" sz="2400" b="1" dirty="0">
                <a:solidFill>
                  <a:srgbClr val="0000FF"/>
                </a:solidFill>
              </a:rPr>
              <a:t>可能</a:t>
            </a:r>
            <a:r>
              <a:rPr lang="zh-CN" altLang="en-US" sz="2400" b="1" dirty="0"/>
              <a:t>产生溢出。</a:t>
            </a:r>
            <a:endParaRPr lang="zh-CN" altLang="en-US" sz="24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949325" y="3420379"/>
            <a:ext cx="749617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+mn-ea"/>
              </a:rPr>
              <a:t>（</a:t>
            </a:r>
            <a:r>
              <a:rPr lang="en-US" altLang="zh-CN" sz="2400" b="1" dirty="0">
                <a:latin typeface="+mn-ea"/>
              </a:rPr>
              <a:t>1</a:t>
            </a:r>
            <a:r>
              <a:rPr lang="zh-CN" altLang="en-US" sz="2400" b="1" dirty="0">
                <a:latin typeface="+mn-ea"/>
              </a:rPr>
              <a:t>）正确结果超出能够表示的整数范围；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17537" y="2846812"/>
            <a:ext cx="6715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Century Gothic" panose="020B0502020202020204" pitchFamily="34" charset="0"/>
              </a:rPr>
              <a:t>前提：符号相同的两个补码相加</a:t>
            </a:r>
            <a:endParaRPr lang="zh-CN" altLang="en-US" sz="2400" dirty="0">
              <a:latin typeface="Century Gothic" panose="020B0502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85950" y="5172075"/>
            <a:ext cx="5962650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/>
              <a:t>     </a:t>
            </a:r>
            <a:r>
              <a:rPr lang="en-US" altLang="zh-CN" sz="2400" b="1" dirty="0">
                <a:latin typeface="+mn-ea"/>
              </a:rPr>
              <a:t>1010         -6        </a:t>
            </a:r>
            <a:r>
              <a:rPr lang="en-US" altLang="zh-CN" sz="2400" b="1" dirty="0">
                <a:solidFill>
                  <a:srgbClr val="000099"/>
                </a:solidFill>
                <a:latin typeface="+mn-ea"/>
              </a:rPr>
              <a:t>-6</a:t>
            </a:r>
            <a:r>
              <a:rPr lang="en-US" altLang="zh-CN" sz="2400" b="1" dirty="0">
                <a:latin typeface="+mn-ea"/>
              </a:rPr>
              <a:t> </a:t>
            </a:r>
            <a:endParaRPr lang="en-US" altLang="zh-CN" sz="2400" b="1" dirty="0">
              <a:latin typeface="+mn-ea"/>
            </a:endParaRPr>
          </a:p>
          <a:p>
            <a:pPr>
              <a:defRPr/>
            </a:pPr>
            <a:r>
              <a:rPr lang="en-US" altLang="zh-CN" sz="2400" b="1" dirty="0">
                <a:latin typeface="+mn-ea"/>
              </a:rPr>
              <a:t>+ 1100         -4        </a:t>
            </a:r>
            <a:r>
              <a:rPr lang="en-US" altLang="zh-CN" sz="2400" b="1" dirty="0">
                <a:solidFill>
                  <a:srgbClr val="000099"/>
                </a:solidFill>
                <a:latin typeface="+mn-ea"/>
              </a:rPr>
              <a:t>-4</a:t>
            </a:r>
            <a:endParaRPr lang="en-US" altLang="zh-CN" sz="2400" b="1" dirty="0">
              <a:solidFill>
                <a:srgbClr val="000099"/>
              </a:solidFill>
              <a:latin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18400" y="3567113"/>
            <a:ext cx="25908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+mn-lt"/>
              </a:rPr>
              <a:t>-2</a:t>
            </a:r>
            <a:r>
              <a:rPr lang="en-US" altLang="zh-CN" sz="2400" b="1" baseline="30000" dirty="0">
                <a:latin typeface="+mn-lt"/>
              </a:rPr>
              <a:t>3</a:t>
            </a:r>
            <a:r>
              <a:rPr lang="en-US" altLang="zh-CN" sz="2400" b="1" dirty="0">
                <a:latin typeface="+mn-lt"/>
              </a:rPr>
              <a:t>~2</a:t>
            </a:r>
            <a:r>
              <a:rPr lang="en-US" altLang="zh-CN" sz="2400" b="1" baseline="30000" dirty="0">
                <a:latin typeface="+mn-lt"/>
              </a:rPr>
              <a:t>3</a:t>
            </a:r>
            <a:r>
              <a:rPr lang="en-US" altLang="zh-CN" sz="2400" b="1" dirty="0">
                <a:latin typeface="+mn-lt"/>
              </a:rPr>
              <a:t>-1</a:t>
            </a:r>
            <a:endParaRPr lang="zh-CN" altLang="en-US" sz="2400" b="1" dirty="0">
              <a:latin typeface="+mn-lt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2192338" y="6042025"/>
            <a:ext cx="56562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0110          6        </a:t>
            </a:r>
            <a:r>
              <a:rPr lang="en-US" altLang="zh-CN" sz="2400" b="1">
                <a:solidFill>
                  <a:srgbClr val="000099"/>
                </a:solidFill>
                <a:latin typeface="宋体" panose="02010600030101010101" pitchFamily="2" charset="-122"/>
              </a:rPr>
              <a:t>-10</a:t>
            </a:r>
            <a:endParaRPr lang="zh-CN" altLang="en-US" sz="2400" b="1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339850" y="6042025"/>
            <a:ext cx="568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987550" y="6059488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endParaRPr lang="zh-CN" altLang="en-US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文本框 18"/>
          <p:cNvSpPr txBox="1">
            <a:spLocks noChangeArrowheads="1"/>
          </p:cNvSpPr>
          <p:nvPr/>
        </p:nvSpPr>
        <p:spPr bwMode="auto">
          <a:xfrm>
            <a:off x="5276850" y="4724400"/>
            <a:ext cx="2152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99"/>
                </a:solidFill>
                <a:latin typeface="Century Gothic" panose="020B0502020202020204" pitchFamily="34" charset="0"/>
              </a:rPr>
              <a:t>正确结果</a:t>
            </a:r>
            <a:endParaRPr lang="zh-CN" altLang="en-US" sz="2400" b="1">
              <a:solidFill>
                <a:srgbClr val="000099"/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945462" y="4017963"/>
            <a:ext cx="6734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）补码和的符号位≠（被）加数的符号位；</a:t>
            </a:r>
            <a:endParaRPr lang="en-US" altLang="zh-CN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270125" y="5172075"/>
            <a:ext cx="187325" cy="134937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111250" y="116020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b="1" dirty="0">
                <a:latin typeface="+mj-ea"/>
                <a:ea typeface="+mj-ea"/>
              </a:rPr>
              <a:t>计算机中的运算</a:t>
            </a:r>
            <a:r>
              <a:rPr lang="en-US" altLang="zh-CN" sz="3600" b="1" dirty="0">
                <a:latin typeface="+mj-ea"/>
                <a:ea typeface="+mj-ea"/>
              </a:rPr>
              <a:t>-</a:t>
            </a:r>
            <a:r>
              <a:rPr lang="zh-CN" altLang="en-US" sz="3600" b="1" dirty="0">
                <a:latin typeface="+mj-ea"/>
                <a:ea typeface="+mj-ea"/>
              </a:rPr>
              <a:t>算术运算</a:t>
            </a:r>
            <a:endParaRPr lang="zh-CN" altLang="en-US" sz="3600" b="1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  <p:bldP spid="12" grpId="0"/>
      <p:bldP spid="16" grpId="0"/>
      <p:bldP spid="19" grpId="0"/>
      <p:bldP spid="21" grpId="0"/>
      <p:bldP spid="24" grpId="0" animBg="1"/>
      <p:bldP spid="24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0039" y="1454503"/>
            <a:ext cx="8583931" cy="1080129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b="1" dirty="0"/>
              <a:t>逻辑运算是一种二值逻辑，结果只有真和假。在计算机中，真采用</a:t>
            </a:r>
            <a:r>
              <a:rPr lang="en-US" altLang="zh-CN" b="1" dirty="0"/>
              <a:t>1</a:t>
            </a:r>
            <a:r>
              <a:rPr lang="zh-CN" altLang="en-US" b="1" dirty="0"/>
              <a:t>表示，假采用</a:t>
            </a:r>
            <a:r>
              <a:rPr lang="en-US" altLang="zh-CN" b="1" dirty="0"/>
              <a:t>0</a:t>
            </a:r>
            <a:r>
              <a:rPr lang="zh-CN" altLang="en-US" b="1" dirty="0"/>
              <a:t>表示。逻辑运算有与、或、非三种。</a:t>
            </a:r>
            <a:endParaRPr lang="zh-CN" altLang="en-US" b="1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182688" y="107156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b="1" dirty="0">
                <a:latin typeface="+mj-ea"/>
                <a:ea typeface="+mj-ea"/>
              </a:rPr>
              <a:t>计算机中的运算</a:t>
            </a:r>
            <a:r>
              <a:rPr lang="en-US" altLang="zh-CN" sz="3600" b="1" dirty="0">
                <a:latin typeface="+mj-ea"/>
                <a:ea typeface="+mj-ea"/>
              </a:rPr>
              <a:t>-</a:t>
            </a:r>
            <a:r>
              <a:rPr lang="zh-CN" altLang="en-US" sz="3600" b="1" dirty="0">
                <a:latin typeface="+mj-ea"/>
                <a:ea typeface="+mj-ea"/>
              </a:rPr>
              <a:t>逻辑运算</a:t>
            </a:r>
            <a:endParaRPr lang="zh-CN" altLang="en-US" sz="3600" b="1" dirty="0">
              <a:latin typeface="+mj-ea"/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74294" y="3277582"/>
            <a:ext cx="7486726" cy="20867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buClrTx/>
              <a:buFontTx/>
              <a:buNone/>
            </a:pPr>
            <a:r>
              <a:rPr lang="en-US" altLang="zh-CN" sz="2400" b="1" i="1" dirty="0"/>
              <a:t>A</a:t>
            </a:r>
            <a:r>
              <a:rPr lang="zh-CN" altLang="en-US" sz="2400" b="1" dirty="0"/>
              <a:t>：姚大龙擅长</a:t>
            </a:r>
            <a:r>
              <a:rPr lang="zh-CN" altLang="en-US" sz="2400" b="1" dirty="0" smtClean="0"/>
              <a:t>书法                   </a:t>
            </a:r>
            <a:r>
              <a:rPr lang="en-US" altLang="zh-CN" sz="2400" b="1" i="1" dirty="0" smtClean="0"/>
              <a:t>B</a:t>
            </a:r>
            <a:r>
              <a:rPr lang="zh-CN" altLang="en-US" sz="2400" b="1" dirty="0"/>
              <a:t>：姚大龙擅长绘画</a:t>
            </a:r>
            <a:endParaRPr lang="zh-CN" altLang="en-US" sz="2400" b="1" dirty="0"/>
          </a:p>
          <a:p>
            <a:pPr algn="just">
              <a:lnSpc>
                <a:spcPct val="120000"/>
              </a:lnSpc>
              <a:spcBef>
                <a:spcPts val="600"/>
              </a:spcBef>
              <a:buClrTx/>
              <a:buFontTx/>
              <a:buNone/>
            </a:pPr>
            <a:r>
              <a:rPr lang="en-US" altLang="zh-CN" sz="2400" b="1" i="1" dirty="0"/>
              <a:t>A</a:t>
            </a:r>
            <a:r>
              <a:rPr lang="zh-CN" altLang="en-US" sz="2400" b="1" dirty="0"/>
              <a:t>与</a:t>
            </a:r>
            <a:r>
              <a:rPr lang="en-US" altLang="zh-CN" sz="2400" b="1" i="1" dirty="0"/>
              <a:t>B</a:t>
            </a:r>
            <a:r>
              <a:rPr lang="zh-CN" altLang="en-US" sz="2400" b="1" dirty="0"/>
              <a:t>：姚大龙既擅长书法又擅长绘画</a:t>
            </a:r>
            <a:endParaRPr lang="en-US" altLang="zh-CN" sz="2400" b="1" dirty="0"/>
          </a:p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en-US" altLang="zh-CN" sz="2400" b="1" i="1" dirty="0"/>
              <a:t>A</a:t>
            </a:r>
            <a:r>
              <a:rPr lang="zh-CN" altLang="en-US" sz="2400" b="1" dirty="0"/>
              <a:t>或</a:t>
            </a:r>
            <a:r>
              <a:rPr lang="en-US" altLang="zh-CN" sz="2400" b="1" i="1" dirty="0"/>
              <a:t>B</a:t>
            </a:r>
            <a:r>
              <a:rPr lang="zh-CN" altLang="en-US" sz="2400" b="1" dirty="0"/>
              <a:t>：姚大龙擅长书法或擅长</a:t>
            </a:r>
            <a:r>
              <a:rPr lang="zh-CN" altLang="en-US" sz="2400" b="1" dirty="0" smtClean="0"/>
              <a:t>绘画</a:t>
            </a:r>
            <a:endParaRPr lang="en-US" altLang="zh-CN" sz="2400" b="1" dirty="0" smtClean="0"/>
          </a:p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1" dirty="0" smtClean="0"/>
              <a:t>非</a:t>
            </a:r>
            <a:r>
              <a:rPr lang="en-US" altLang="zh-CN" sz="2400" b="1" dirty="0" smtClean="0"/>
              <a:t>A</a:t>
            </a:r>
            <a:r>
              <a:rPr lang="zh-CN" altLang="en-US" sz="2400" b="1" dirty="0" smtClean="0"/>
              <a:t>：姚大龙不擅长</a:t>
            </a:r>
            <a:r>
              <a:rPr lang="zh-CN" altLang="en-US" sz="2400" b="1" dirty="0"/>
              <a:t>书法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51801" y="2812561"/>
          <a:ext cx="7581012" cy="2907774"/>
        </p:xfrm>
        <a:graphic>
          <a:graphicData uri="http://schemas.openxmlformats.org/drawingml/2006/table">
            <a:tbl>
              <a:tblPr/>
              <a:tblGrid>
                <a:gridCol w="1904305"/>
                <a:gridCol w="1915147"/>
                <a:gridCol w="1880780"/>
                <a:gridCol w="1880780"/>
              </a:tblGrid>
              <a:tr h="396290">
                <a:tc gridSpan="4">
                  <a:txBody>
                    <a:bodyPr/>
                    <a:lstStyle>
                      <a:lvl1pPr marL="342900" indent="-342900">
                        <a:spcBef>
                          <a:spcPts val="1000"/>
                        </a:spcBef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ts val="1000"/>
                        </a:spcBef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ts val="1000"/>
                        </a:spcBef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ts val="1000"/>
                        </a:spcBef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ts val="1000"/>
                        </a:spcBef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ts val="1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ts val="1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ts val="1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ts val="1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逻辑位运算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27" marR="91427" marT="45717" marB="45717" anchor="ctr" horzOverflow="overflow">
                    <a:lnL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1427" marR="91427" marT="45717" marB="45717" anchor="ctr" horzOverflow="overflow">
                    <a:lnL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0">
                <a:tc>
                  <a:txBody>
                    <a:bodyPr/>
                    <a:lstStyle>
                      <a:lvl1pPr marL="342900" indent="-342900">
                        <a:spcBef>
                          <a:spcPts val="1000"/>
                        </a:spcBef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ts val="1000"/>
                        </a:spcBef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ts val="1000"/>
                        </a:spcBef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ts val="1000"/>
                        </a:spcBef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ts val="1000"/>
                        </a:spcBef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ts val="1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ts val="1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ts val="1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ts val="1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27" marR="91427" marT="45717" marB="45717" anchor="ctr" horzOverflow="overflow">
                    <a:lnL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27" marR="91427" marT="45717" marB="45717" anchor="ctr" horzOverflow="overflow">
                    <a:lnL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非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27" marR="91427" marT="45717" marB="45717" anchor="ctr" horzOverflow="overflow">
                    <a:lnL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异或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27" marR="91427" marT="45717" marB="45717" anchor="ctr" horzOverflow="overflow">
                    <a:lnL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0858">
                <a:tc>
                  <a:txBody>
                    <a:bodyPr/>
                    <a:lstStyle>
                      <a:lvl1pPr marL="342900" indent="-342900">
                        <a:spcBef>
                          <a:spcPts val="1000"/>
                        </a:spcBef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ts val="1000"/>
                        </a:spcBef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ts val="1000"/>
                        </a:spcBef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ts val="1000"/>
                        </a:spcBef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ts val="1000"/>
                        </a:spcBef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ts val="1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ts val="1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ts val="1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ts val="1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3" panose="05040102010807070707" pitchFamily="18" charset="2"/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0·0=0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·1=0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1·0=0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1·1=1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27" marR="91427" marT="45717" marB="45717" anchor="ctr" horzOverflow="overflow">
                    <a:lnL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0=0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1=1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0=1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1=1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27" marR="91427" marT="45717" marB="45717" anchor="ctr" horzOverflow="overflow">
                    <a:lnL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非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0=1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非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1=0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27" marR="91427" marT="45717" marB="45717" anchor="ctr" horzOverflow="overflow">
                    <a:lnL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异或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0=0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异或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1=1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异或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0=1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异或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1=0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27" marR="91427" marT="45717" marB="45717" anchor="ctr" horzOverflow="overflow">
                    <a:lnL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182688" y="107156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b="1" dirty="0">
                <a:latin typeface="+mj-ea"/>
                <a:ea typeface="+mj-ea"/>
              </a:rPr>
              <a:t>计算机中的运算</a:t>
            </a:r>
            <a:r>
              <a:rPr lang="en-US" altLang="zh-CN" sz="3600" b="1" dirty="0">
                <a:latin typeface="+mj-ea"/>
                <a:ea typeface="+mj-ea"/>
              </a:rPr>
              <a:t>-</a:t>
            </a:r>
            <a:r>
              <a:rPr lang="zh-CN" altLang="en-US" sz="3600" b="1" dirty="0">
                <a:latin typeface="+mj-ea"/>
                <a:ea typeface="+mj-ea"/>
              </a:rPr>
              <a:t>逻辑运算</a:t>
            </a:r>
            <a:endParaRPr lang="zh-CN" altLang="en-US" sz="3600" b="1" dirty="0"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2910" y="1299174"/>
            <a:ext cx="8109903" cy="1420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逻辑位运算</a:t>
            </a:r>
            <a:r>
              <a:rPr lang="zh-CN" altLang="en-US" sz="2400" b="1" dirty="0"/>
              <a:t>是指将数据中每个二进制位上的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或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看作逻辑值，</a:t>
            </a:r>
            <a:r>
              <a:rPr lang="zh-CN" altLang="en-US" sz="2400" b="1" dirty="0">
                <a:solidFill>
                  <a:srgbClr val="FF0000"/>
                </a:solidFill>
              </a:rPr>
              <a:t>逐位进行运算</a:t>
            </a:r>
            <a:r>
              <a:rPr lang="zh-CN" altLang="en-US" sz="2400" b="1" dirty="0"/>
              <a:t>。每位之间相对独立，不存在进位和借位等问题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6639501" y="5687888"/>
            <a:ext cx="1360967" cy="934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相同为</a:t>
            </a:r>
            <a:r>
              <a:rPr lang="en-US" altLang="zh-CN" sz="2400" b="1" dirty="0">
                <a:solidFill>
                  <a:srgbClr val="0000FF"/>
                </a:solidFill>
              </a:rPr>
              <a:t>0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不同为</a:t>
            </a:r>
            <a:r>
              <a:rPr lang="en-US" altLang="zh-CN" sz="2400" b="1" dirty="0">
                <a:solidFill>
                  <a:srgbClr val="0000FF"/>
                </a:solidFill>
              </a:rPr>
              <a:t>1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8903" y="1159060"/>
            <a:ext cx="6201562" cy="736600"/>
          </a:xfrm>
        </p:spPr>
        <p:txBody>
          <a:bodyPr/>
          <a:lstStyle/>
          <a:p>
            <a:pPr algn="l">
              <a:defRPr/>
            </a:pPr>
            <a:r>
              <a:rPr lang="zh-CN" altLang="en-US" sz="2600" b="1" dirty="0">
                <a:latin typeface="+mj-ea"/>
                <a:ea typeface="+mj-ea"/>
              </a:rPr>
              <a:t>算术运算 </a:t>
            </a:r>
            <a:r>
              <a:rPr lang="en-US" altLang="zh-CN" sz="2600" b="1" dirty="0">
                <a:latin typeface="+mj-ea"/>
                <a:ea typeface="+mj-ea"/>
              </a:rPr>
              <a:t>VS </a:t>
            </a:r>
            <a:r>
              <a:rPr lang="zh-CN" altLang="en-US" sz="2600" b="1" dirty="0">
                <a:latin typeface="+mj-ea"/>
                <a:ea typeface="+mj-ea"/>
              </a:rPr>
              <a:t>逻辑运算</a:t>
            </a:r>
            <a:endParaRPr lang="zh-CN" altLang="en-US" sz="2600" b="1" dirty="0">
              <a:latin typeface="+mj-ea"/>
              <a:ea typeface="+mj-ea"/>
            </a:endParaRPr>
          </a:p>
        </p:txBody>
      </p:sp>
      <p:sp>
        <p:nvSpPr>
          <p:cNvPr id="118787" name="内容占位符 2"/>
          <p:cNvSpPr>
            <a:spLocks noGrp="1" noChangeArrowheads="1"/>
          </p:cNvSpPr>
          <p:nvPr>
            <p:ph idx="1"/>
          </p:nvPr>
        </p:nvSpPr>
        <p:spPr>
          <a:xfrm>
            <a:off x="786034" y="1955010"/>
            <a:ext cx="7866062" cy="476250"/>
          </a:xfrm>
        </p:spPr>
        <p:txBody>
          <a:bodyPr/>
          <a:lstStyle/>
          <a:p>
            <a:r>
              <a:rPr lang="zh-CN" altLang="en-US" sz="2400" b="1">
                <a:solidFill>
                  <a:srgbClr val="FF0000"/>
                </a:solidFill>
              </a:rPr>
              <a:t>算术运算</a:t>
            </a:r>
            <a:r>
              <a:rPr lang="zh-CN" altLang="en-US" sz="2400" b="1"/>
              <a:t>规则：逢</a:t>
            </a:r>
            <a:r>
              <a:rPr lang="en-US" altLang="zh-CN" sz="2400" b="1"/>
              <a:t>2</a:t>
            </a:r>
            <a:r>
              <a:rPr lang="zh-CN" altLang="en-US" sz="2400" b="1"/>
              <a:t>进</a:t>
            </a:r>
            <a:r>
              <a:rPr lang="en-US" altLang="zh-CN" sz="2400" b="1"/>
              <a:t>1</a:t>
            </a:r>
            <a:r>
              <a:rPr lang="zh-CN" altLang="en-US" sz="2400" b="1"/>
              <a:t>，借</a:t>
            </a:r>
            <a:r>
              <a:rPr lang="en-US" altLang="zh-CN" sz="2400" b="1"/>
              <a:t>1</a:t>
            </a:r>
            <a:r>
              <a:rPr lang="zh-CN" altLang="en-US" sz="2400" b="1"/>
              <a:t>当</a:t>
            </a:r>
            <a:r>
              <a:rPr lang="en-US" altLang="zh-CN" sz="2400" b="1"/>
              <a:t>2</a:t>
            </a:r>
            <a:endParaRPr lang="zh-CN" altLang="en-US" sz="2400" b="1"/>
          </a:p>
        </p:txBody>
      </p:sp>
      <p:sp>
        <p:nvSpPr>
          <p:cNvPr id="4" name="文本框 3"/>
          <p:cNvSpPr txBox="1"/>
          <p:nvPr/>
        </p:nvSpPr>
        <p:spPr>
          <a:xfrm>
            <a:off x="1081309" y="2575723"/>
            <a:ext cx="363696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400" b="1" dirty="0">
                <a:latin typeface="+mn-lt"/>
              </a:rPr>
              <a:t>例：</a:t>
            </a:r>
            <a:r>
              <a:rPr lang="en-US" altLang="zh-CN" sz="2400" b="1" dirty="0">
                <a:latin typeface="+mn-lt"/>
              </a:rPr>
              <a:t>1101+1001</a:t>
            </a:r>
            <a:endParaRPr lang="en-US" altLang="zh-CN" sz="2400" b="1" dirty="0">
              <a:latin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40309" y="2575723"/>
            <a:ext cx="457200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+mn-lt"/>
              </a:rPr>
              <a:t>=10110</a:t>
            </a:r>
            <a:endParaRPr lang="en-US" altLang="zh-CN" sz="24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23171" y="2575723"/>
            <a:ext cx="2414588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+mn-lt"/>
              </a:rPr>
              <a:t>    1101</a:t>
            </a:r>
            <a:endParaRPr lang="en-US" altLang="zh-CN" sz="2400" b="1" dirty="0">
              <a:latin typeface="+mn-lt"/>
            </a:endParaRPr>
          </a:p>
          <a:p>
            <a:pPr>
              <a:defRPr/>
            </a:pPr>
            <a:r>
              <a:rPr lang="en-US" altLang="zh-CN" sz="2400" b="1" dirty="0">
                <a:latin typeface="+mn-lt"/>
              </a:rPr>
              <a:t>+  1001</a:t>
            </a:r>
            <a:endParaRPr lang="zh-CN" altLang="en-US" sz="2400" b="1" dirty="0">
              <a:latin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39046" y="3407573"/>
            <a:ext cx="2414588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+mn-lt"/>
              </a:rPr>
              <a:t>  10110</a:t>
            </a:r>
            <a:endParaRPr lang="zh-CN" altLang="en-US" sz="2400" b="1" dirty="0">
              <a:latin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543771" y="3407573"/>
            <a:ext cx="16224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731449" y="5056985"/>
            <a:ext cx="2413000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+mn-lt"/>
              </a:rPr>
              <a:t>     </a:t>
            </a:r>
            <a:r>
              <a:rPr lang="en-US" altLang="zh-CN" sz="2400" b="1" dirty="0" smtClean="0">
                <a:latin typeface="+mn-lt"/>
              </a:rPr>
              <a:t> 1101</a:t>
            </a:r>
            <a:endParaRPr lang="en-US" altLang="zh-CN" sz="2400" b="1" dirty="0">
              <a:latin typeface="+mn-lt"/>
            </a:endParaRPr>
          </a:p>
          <a:p>
            <a:pPr>
              <a:defRPr/>
            </a:pPr>
            <a:r>
              <a:rPr lang="zh-CN" altLang="en-US" sz="2400" b="1" dirty="0">
                <a:latin typeface="+mn-lt"/>
              </a:rPr>
              <a:t>或</a:t>
            </a:r>
            <a:r>
              <a:rPr lang="en-US" altLang="zh-CN" sz="2400" b="1" dirty="0">
                <a:latin typeface="+mn-lt"/>
              </a:rPr>
              <a:t>  1001</a:t>
            </a:r>
            <a:endParaRPr lang="zh-CN" altLang="en-US" sz="2400" b="1" dirty="0">
              <a:latin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747324" y="5888835"/>
            <a:ext cx="24130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+mn-lt"/>
              </a:rPr>
              <a:t>     1101</a:t>
            </a:r>
            <a:endParaRPr lang="zh-CN" altLang="en-US" sz="2400" b="1" dirty="0">
              <a:latin typeface="+mn-lt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5452049" y="5888835"/>
            <a:ext cx="16224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797" name="内容占位符 2"/>
          <p:cNvSpPr txBox="1"/>
          <p:nvPr/>
        </p:nvSpPr>
        <p:spPr bwMode="auto">
          <a:xfrm>
            <a:off x="746346" y="4304510"/>
            <a:ext cx="78660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</a:rPr>
              <a:t>逻辑运算</a:t>
            </a:r>
            <a:r>
              <a:rPr lang="zh-CN" altLang="en-US" sz="2400" b="1" dirty="0"/>
              <a:t>按位进行运算，不存在进位和借位等问题。</a:t>
            </a:r>
            <a:endParaRPr lang="zh-CN" altLang="en-US" sz="2400" b="1" dirty="0"/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182688" y="107156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b="1" dirty="0">
                <a:latin typeface="+mj-ea"/>
                <a:ea typeface="+mj-ea"/>
              </a:rPr>
              <a:t>计算机中的运算</a:t>
            </a:r>
            <a:r>
              <a:rPr lang="en-US" altLang="zh-CN" sz="3600" b="1" dirty="0">
                <a:latin typeface="+mj-ea"/>
                <a:ea typeface="+mj-ea"/>
              </a:rPr>
              <a:t>-</a:t>
            </a:r>
            <a:r>
              <a:rPr lang="zh-CN" altLang="en-US" sz="3600" b="1" dirty="0">
                <a:latin typeface="+mj-ea"/>
                <a:ea typeface="+mj-ea"/>
              </a:rPr>
              <a:t>逻辑运算</a:t>
            </a:r>
            <a:endParaRPr lang="zh-CN" altLang="en-US" sz="36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3" grpId="0"/>
      <p:bldP spid="1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57"/>
          <p:cNvSpPr>
            <a:spLocks noChangeArrowheads="1"/>
          </p:cNvSpPr>
          <p:nvPr/>
        </p:nvSpPr>
        <p:spPr bwMode="auto">
          <a:xfrm>
            <a:off x="705661" y="3015598"/>
            <a:ext cx="800240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半加器</a:t>
            </a:r>
            <a:r>
              <a:rPr lang="zh-CN" altLang="en-US" sz="2200" b="1" dirty="0">
                <a:latin typeface="Century Gothic" panose="020B0502020202020204" pitchFamily="34" charset="0"/>
              </a:rPr>
              <a:t>：计算两个一位二进制数的和并生成正确进位的电路。</a:t>
            </a:r>
            <a:endParaRPr lang="zh-CN" altLang="en-US" sz="2200" b="1" dirty="0">
              <a:latin typeface="Century Gothic" panose="020B0502020202020204" pitchFamily="34" charset="0"/>
            </a:endParaRPr>
          </a:p>
        </p:txBody>
      </p:sp>
      <p:pic>
        <p:nvPicPr>
          <p:cNvPr id="150531" name="Picture 6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73" y="3638442"/>
            <a:ext cx="4497387" cy="234156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78" name="Picture 6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260" y="4998929"/>
            <a:ext cx="2800350" cy="149860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5760260" y="3638442"/>
            <a:ext cx="2614613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200" b="1" dirty="0">
                <a:latin typeface="+mn-lt"/>
              </a:rPr>
              <a:t>和</a:t>
            </a:r>
            <a:r>
              <a:rPr lang="en-US" altLang="zh-CN" sz="2200" b="1" dirty="0">
                <a:latin typeface="+mn-lt"/>
              </a:rPr>
              <a:t>=A</a:t>
            </a:r>
            <a:r>
              <a:rPr lang="zh-CN" altLang="en-US" sz="2200" b="1" dirty="0">
                <a:solidFill>
                  <a:srgbClr val="333333"/>
                </a:solidFill>
                <a:latin typeface="+mn-lt"/>
              </a:rPr>
              <a:t> 异或 </a:t>
            </a:r>
            <a:r>
              <a:rPr lang="en-US" altLang="zh-CN" sz="2200" b="1" dirty="0">
                <a:latin typeface="+mn-lt"/>
              </a:rPr>
              <a:t>B</a:t>
            </a:r>
            <a:endParaRPr lang="en-US" altLang="zh-CN" sz="2200" b="1" dirty="0">
              <a:latin typeface="+mn-lt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200" b="1" dirty="0">
                <a:latin typeface="+mn-lt"/>
              </a:rPr>
              <a:t>进位</a:t>
            </a:r>
            <a:r>
              <a:rPr lang="en-US" altLang="zh-CN" sz="2200" b="1" dirty="0">
                <a:latin typeface="+mn-lt"/>
              </a:rPr>
              <a:t>=A </a:t>
            </a:r>
            <a:r>
              <a:rPr lang="zh-CN" altLang="en-US" sz="2200" b="1" dirty="0">
                <a:latin typeface="+mn-lt"/>
              </a:rPr>
              <a:t>与 </a:t>
            </a:r>
            <a:r>
              <a:rPr lang="en-US" altLang="zh-CN" sz="2200" b="1" dirty="0">
                <a:latin typeface="+mn-lt"/>
              </a:rPr>
              <a:t>B</a:t>
            </a:r>
            <a:endParaRPr lang="zh-CN" altLang="en-US" sz="2200" b="1" dirty="0">
              <a:latin typeface="+mn-lt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182688" y="107156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b="1" dirty="0">
                <a:latin typeface="+mj-ea"/>
                <a:ea typeface="+mj-ea"/>
              </a:rPr>
              <a:t>计算机中的运算</a:t>
            </a:r>
            <a:r>
              <a:rPr lang="en-US" altLang="zh-CN" sz="3600" b="1" dirty="0">
                <a:latin typeface="+mj-ea"/>
                <a:ea typeface="+mj-ea"/>
              </a:rPr>
              <a:t>-</a:t>
            </a:r>
            <a:r>
              <a:rPr lang="zh-CN" altLang="en-US" sz="3600" b="1" dirty="0">
                <a:latin typeface="+mj-ea"/>
                <a:ea typeface="+mj-ea"/>
              </a:rPr>
              <a:t>逻辑运算</a:t>
            </a:r>
            <a:endParaRPr lang="zh-CN" altLang="en-US" sz="3600" b="1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9173" y="1291715"/>
            <a:ext cx="712651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 b="1" dirty="0"/>
              <a:t>算术运算、逻辑运算关系</a:t>
            </a:r>
            <a:endParaRPr lang="en-US" altLang="zh-CN" sz="2400" b="1" dirty="0"/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2400" b="1" dirty="0"/>
              <a:t>算术运算可以转换成逻辑运算；</a:t>
            </a:r>
            <a:endParaRPr lang="en-US" altLang="zh-CN" sz="2400" b="1" dirty="0"/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2400" b="1" dirty="0"/>
              <a:t>反之亦然，两者实质上等价。</a:t>
            </a:r>
            <a:endParaRPr lang="zh-CN" altLang="en-US" sz="2400" b="1" dirty="0"/>
          </a:p>
        </p:txBody>
      </p:sp>
      <p:sp>
        <p:nvSpPr>
          <p:cNvPr id="4" name="矩形 3"/>
          <p:cNvSpPr/>
          <p:nvPr/>
        </p:nvSpPr>
        <p:spPr>
          <a:xfrm>
            <a:off x="3322320" y="4030980"/>
            <a:ext cx="769620" cy="194902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43270" y="4024417"/>
            <a:ext cx="769620" cy="194902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0" grpId="0"/>
      <p:bldP spid="4" grpId="0" animBg="1"/>
      <p:bldP spid="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150" y="33133"/>
            <a:ext cx="5231091" cy="1143000"/>
          </a:xfrm>
        </p:spPr>
        <p:txBody>
          <a:bodyPr/>
          <a:lstStyle/>
          <a:p>
            <a:r>
              <a:rPr lang="zh-CN" altLang="en-US" sz="3600" b="1" dirty="0">
                <a:latin typeface="+mj-ea"/>
                <a:ea typeface="+mj-ea"/>
              </a:rPr>
              <a:t>计算机中的运算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593850" y="1316038"/>
            <a:ext cx="4876800" cy="585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9" name="文本框 1"/>
          <p:cNvSpPr txBox="1">
            <a:spLocks noChangeArrowheads="1"/>
          </p:cNvSpPr>
          <p:nvPr/>
        </p:nvSpPr>
        <p:spPr bwMode="auto">
          <a:xfrm>
            <a:off x="1630363" y="1430999"/>
            <a:ext cx="4840287" cy="40011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/>
              <a:t>各种数据：</a:t>
            </a:r>
            <a:r>
              <a:rPr lang="en-US" altLang="zh-CN" sz="2000" b="1" dirty="0"/>
              <a:t>123+321</a:t>
            </a:r>
            <a:endParaRPr lang="zh-CN" altLang="en-US" sz="2000" b="1" dirty="0"/>
          </a:p>
        </p:txBody>
      </p:sp>
      <p:grpSp>
        <p:nvGrpSpPr>
          <p:cNvPr id="24" name="组合 23"/>
          <p:cNvGrpSpPr/>
          <p:nvPr/>
        </p:nvGrpSpPr>
        <p:grpSpPr>
          <a:xfrm>
            <a:off x="1602267" y="2066697"/>
            <a:ext cx="7329081" cy="804873"/>
            <a:chOff x="1602267" y="2066697"/>
            <a:chExt cx="7329081" cy="804873"/>
          </a:xfrm>
        </p:grpSpPr>
        <p:grpSp>
          <p:nvGrpSpPr>
            <p:cNvPr id="4" name="组合 3"/>
            <p:cNvGrpSpPr/>
            <p:nvPr/>
          </p:nvGrpSpPr>
          <p:grpSpPr>
            <a:xfrm>
              <a:off x="1602267" y="2066697"/>
              <a:ext cx="4857750" cy="804873"/>
              <a:chOff x="1612900" y="2311251"/>
              <a:chExt cx="4857750" cy="804873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1612900" y="2311251"/>
                <a:ext cx="4857750" cy="8048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" name="文本框 4"/>
              <p:cNvSpPr txBox="1">
                <a:spLocks noChangeArrowheads="1"/>
              </p:cNvSpPr>
              <p:nvPr/>
            </p:nvSpPr>
            <p:spPr bwMode="auto">
              <a:xfrm>
                <a:off x="1647825" y="2374900"/>
                <a:ext cx="4822825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b="1" dirty="0"/>
                  <a:t>  二进制数据：  </a:t>
                </a:r>
                <a:r>
                  <a:rPr lang="en-US" altLang="zh-CN" sz="2000" b="1" dirty="0"/>
                  <a:t>11110111</a:t>
                </a:r>
                <a:endParaRPr lang="en-US" altLang="zh-CN" sz="2000" b="1" dirty="0"/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1" dirty="0"/>
                  <a:t>		+10100001  </a:t>
                </a:r>
                <a:endParaRPr lang="zh-CN" altLang="en-US" sz="2000" b="1" dirty="0"/>
              </a:p>
            </p:txBody>
          </p:sp>
        </p:grpSp>
        <p:sp>
          <p:nvSpPr>
            <p:cNvPr id="17" name="文本框 15"/>
            <p:cNvSpPr txBox="1">
              <a:spLocks noChangeArrowheads="1"/>
            </p:cNvSpPr>
            <p:nvPr/>
          </p:nvSpPr>
          <p:spPr bwMode="auto">
            <a:xfrm>
              <a:off x="6657697" y="2199877"/>
              <a:ext cx="227365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>
                  <a:latin typeface="Century Gothic" panose="020B0502020202020204" pitchFamily="34" charset="0"/>
                </a:rPr>
                <a:t>用二进制表示数据</a:t>
              </a:r>
              <a:endParaRPr lang="zh-CN" altLang="en-US" sz="2000" b="1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593850" y="3186361"/>
            <a:ext cx="7443824" cy="965200"/>
            <a:chOff x="1593850" y="3313956"/>
            <a:chExt cx="7443824" cy="965200"/>
          </a:xfrm>
        </p:grpSpPr>
        <p:grpSp>
          <p:nvGrpSpPr>
            <p:cNvPr id="23" name="组合 22"/>
            <p:cNvGrpSpPr/>
            <p:nvPr/>
          </p:nvGrpSpPr>
          <p:grpSpPr>
            <a:xfrm>
              <a:off x="1593850" y="3313956"/>
              <a:ext cx="4876800" cy="965200"/>
              <a:chOff x="1593850" y="3473450"/>
              <a:chExt cx="4876800" cy="965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593850" y="3473450"/>
                <a:ext cx="4876800" cy="965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3" name="文本框 5"/>
              <p:cNvSpPr txBox="1">
                <a:spLocks noChangeArrowheads="1"/>
              </p:cNvSpPr>
              <p:nvPr/>
            </p:nvSpPr>
            <p:spPr bwMode="auto">
              <a:xfrm>
                <a:off x="1593850" y="3608388"/>
                <a:ext cx="4876800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4572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anose="05040102010807070707" pitchFamily="18" charset="2"/>
                  <a:buChar char="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b="1" dirty="0"/>
                  <a:t>基本逻辑运算：与、或、非</a:t>
                </a:r>
                <a:endParaRPr lang="en-US" altLang="zh-CN" sz="2000" b="1" dirty="0"/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b="1" dirty="0"/>
                  <a:t>复合逻辑运算：与非、或非、异或</a:t>
                </a:r>
                <a:endParaRPr lang="en-US" altLang="zh-CN" sz="2000" b="1" dirty="0"/>
              </a:p>
            </p:txBody>
          </p:sp>
        </p:grpSp>
        <p:sp>
          <p:nvSpPr>
            <p:cNvPr id="18" name="文本框 20"/>
            <p:cNvSpPr txBox="1">
              <a:spLocks noChangeArrowheads="1"/>
            </p:cNvSpPr>
            <p:nvPr/>
          </p:nvSpPr>
          <p:spPr bwMode="auto">
            <a:xfrm>
              <a:off x="6607211" y="3448894"/>
              <a:ext cx="2430463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>
                  <a:latin typeface="Century Gothic" panose="020B0502020202020204" pitchFamily="34" charset="0"/>
                </a:rPr>
                <a:t>用逻辑代数进行逻辑运算、算术运算</a:t>
              </a:r>
              <a:endParaRPr lang="zh-CN" altLang="en-US" sz="2000" b="1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593850" y="4305807"/>
            <a:ext cx="7337498" cy="1704975"/>
            <a:chOff x="1593850" y="4879975"/>
            <a:chExt cx="7337498" cy="1704975"/>
          </a:xfrm>
        </p:grpSpPr>
        <p:sp>
          <p:nvSpPr>
            <p:cNvPr id="5" name="矩形 4"/>
            <p:cNvSpPr/>
            <p:nvPr/>
          </p:nvSpPr>
          <p:spPr>
            <a:xfrm>
              <a:off x="1593850" y="4879975"/>
              <a:ext cx="4876800" cy="17049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6" name="图片 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5613" y="4964113"/>
              <a:ext cx="1484312" cy="1090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1063" y="4964113"/>
              <a:ext cx="1574800" cy="10906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文本框 9"/>
            <p:cNvSpPr txBox="1">
              <a:spLocks noChangeArrowheads="1"/>
            </p:cNvSpPr>
            <p:nvPr/>
          </p:nvSpPr>
          <p:spPr bwMode="auto">
            <a:xfrm>
              <a:off x="1914525" y="6124575"/>
              <a:ext cx="1249363" cy="40011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/>
                <a:t>与门</a:t>
              </a:r>
              <a:endParaRPr lang="zh-CN" altLang="en-US" sz="2000" b="1"/>
            </a:p>
          </p:txBody>
        </p:sp>
        <p:sp>
          <p:nvSpPr>
            <p:cNvPr id="15" name="文本框 16"/>
            <p:cNvSpPr txBox="1">
              <a:spLocks noChangeArrowheads="1"/>
            </p:cNvSpPr>
            <p:nvPr/>
          </p:nvSpPr>
          <p:spPr bwMode="auto">
            <a:xfrm>
              <a:off x="3741738" y="6149975"/>
              <a:ext cx="1249362" cy="40011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/>
                <a:t>或门</a:t>
              </a:r>
              <a:endParaRPr lang="zh-CN" altLang="en-US" sz="2000" b="1"/>
            </a:p>
          </p:txBody>
        </p:sp>
        <p:sp>
          <p:nvSpPr>
            <p:cNvPr id="16" name="文本框 17"/>
            <p:cNvSpPr txBox="1">
              <a:spLocks noChangeArrowheads="1"/>
            </p:cNvSpPr>
            <p:nvPr/>
          </p:nvSpPr>
          <p:spPr bwMode="auto">
            <a:xfrm>
              <a:off x="5419725" y="6151563"/>
              <a:ext cx="1050925" cy="40011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/>
                <a:t>非门</a:t>
              </a:r>
              <a:endParaRPr lang="zh-CN" altLang="en-US" sz="2000" b="1"/>
            </a:p>
          </p:txBody>
        </p:sp>
        <p:sp>
          <p:nvSpPr>
            <p:cNvPr id="19" name="文本框 21"/>
            <p:cNvSpPr txBox="1">
              <a:spLocks noChangeArrowheads="1"/>
            </p:cNvSpPr>
            <p:nvPr/>
          </p:nvSpPr>
          <p:spPr bwMode="auto">
            <a:xfrm>
              <a:off x="6713538" y="5222875"/>
              <a:ext cx="2217810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ts val="1000"/>
                </a:spcBef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anose="05040102010807070707" pitchFamily="18" charset="2"/>
                <a:buChar char="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>
                  <a:latin typeface="Century Gothic" panose="020B0502020202020204" pitchFamily="34" charset="0"/>
                </a:rPr>
                <a:t>用电路实现逻辑代数</a:t>
              </a:r>
              <a:endParaRPr lang="zh-CN" altLang="en-US" sz="2000" b="1" dirty="0">
                <a:latin typeface="Century Gothic" panose="020B0502020202020204" pitchFamily="34" charset="0"/>
              </a:endParaRPr>
            </a:p>
          </p:txBody>
        </p:sp>
        <p:pic>
          <p:nvPicPr>
            <p:cNvPr id="20" name="图片 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636" t="2837"/>
            <a:stretch>
              <a:fillRect/>
            </a:stretch>
          </p:blipFill>
          <p:spPr bwMode="auto">
            <a:xfrm>
              <a:off x="5399088" y="4964113"/>
              <a:ext cx="860425" cy="11541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" name="文本框 1"/>
          <p:cNvSpPr txBox="1">
            <a:spLocks noChangeArrowheads="1"/>
          </p:cNvSpPr>
          <p:nvPr/>
        </p:nvSpPr>
        <p:spPr bwMode="auto">
          <a:xfrm>
            <a:off x="579353" y="1608931"/>
            <a:ext cx="82558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3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数据表示</a:t>
            </a:r>
            <a:endParaRPr lang="zh-CN" altLang="en-US" sz="23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22" name="文本框 19"/>
          <p:cNvSpPr txBox="1">
            <a:spLocks noChangeArrowheads="1"/>
          </p:cNvSpPr>
          <p:nvPr/>
        </p:nvSpPr>
        <p:spPr bwMode="auto">
          <a:xfrm>
            <a:off x="579353" y="3934240"/>
            <a:ext cx="858922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3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数据运算</a:t>
            </a:r>
            <a:endParaRPr lang="zh-CN" altLang="en-US" sz="23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05985" y="6165028"/>
            <a:ext cx="4274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计算机能够通过电路进行构建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94379" y="1256094"/>
            <a:ext cx="8428534" cy="2230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2.13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：假设有一个手机号码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18082286080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需要进行</a:t>
            </a:r>
            <a:r>
              <a:rPr lang="zh-CN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加密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传送</a:t>
            </a:r>
            <a:r>
              <a:rPr lang="zh-CN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设计一个简单的加密算法。</a:t>
            </a:r>
            <a:endParaRPr lang="en-US" altLang="zh-CN" sz="22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zh-CN" sz="22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思路</a:t>
            </a:r>
            <a:r>
              <a:rPr lang="zh-CN" altLang="en-US" sz="22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设计一个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位二进制数的加密密码（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1011</a:t>
            </a:r>
            <a:r>
              <a:rPr lang="zh-CN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），然后将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手机的每位数字转换为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位二进制数，并和加密密码进行异或运算，运算结果所对应的十六进制数为加密后的数字。</a:t>
            </a:r>
            <a:endParaRPr lang="zh-CN" altLang="en-US" sz="2200" b="1" dirty="0">
              <a:latin typeface="+mn-ea"/>
              <a:ea typeface="+mn-ea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61748" y="93196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b="1" dirty="0">
                <a:latin typeface="+mj-ea"/>
                <a:ea typeface="+mj-ea"/>
              </a:rPr>
              <a:t>计算机中的运算</a:t>
            </a:r>
            <a:r>
              <a:rPr lang="en-US" altLang="zh-CN" sz="3600" b="1" dirty="0">
                <a:latin typeface="+mj-ea"/>
                <a:ea typeface="+mj-ea"/>
              </a:rPr>
              <a:t>-</a:t>
            </a:r>
            <a:r>
              <a:rPr lang="zh-CN" altLang="en-US" sz="3600" b="1" dirty="0">
                <a:latin typeface="+mj-ea"/>
                <a:ea typeface="+mj-ea"/>
              </a:rPr>
              <a:t>逻辑运算</a:t>
            </a:r>
            <a:endParaRPr lang="zh-CN" altLang="en-US" sz="3600" b="1" dirty="0"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6136" y="3765177"/>
            <a:ext cx="8585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1      8    0    8    2   2     8   6    0    8    0      </a:t>
            </a:r>
            <a:r>
              <a:rPr lang="zh-CN" altLang="en-US" b="1" dirty="0">
                <a:latin typeface="+mn-ea"/>
                <a:ea typeface="+mn-ea"/>
              </a:rPr>
              <a:t>电话号码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0001 1000 0000 1000 0010 0010 1000 0110 0000 1000 0000   </a:t>
            </a:r>
            <a:r>
              <a:rPr lang="zh-CN" altLang="en-US" b="1" dirty="0">
                <a:latin typeface="+mn-ea"/>
                <a:ea typeface="+mn-ea"/>
              </a:rPr>
              <a:t>二进制序列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1011 1011 1011 1011 1011 1011 1011 1011 1011 1011 1011    </a:t>
            </a:r>
            <a:r>
              <a:rPr lang="zh-CN" altLang="en-US" b="1" dirty="0">
                <a:latin typeface="+mn-ea"/>
                <a:ea typeface="+mn-ea"/>
              </a:rPr>
              <a:t>加密密码</a:t>
            </a:r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9603" y="4042176"/>
            <a:ext cx="509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异或</a:t>
            </a:r>
            <a:endParaRPr lang="zh-CN" altLang="en-US" b="1" dirty="0">
              <a:latin typeface="+mn-ea"/>
              <a:ea typeface="+mn-ea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44307" y="4688507"/>
            <a:ext cx="84669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656136" y="4688507"/>
            <a:ext cx="858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1010 0011 1011 0011 1001 1001 0011 1101 1011 0011 1011    </a:t>
            </a:r>
            <a:r>
              <a:rPr lang="zh-CN" altLang="en-US" b="1" dirty="0">
                <a:latin typeface="+mn-ea"/>
                <a:ea typeface="+mn-ea"/>
              </a:rPr>
              <a:t>二进制序列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 A    3    B    3     9   9    3     D    B    3    B      </a:t>
            </a:r>
            <a:r>
              <a:rPr lang="zh-CN" altLang="en-US" b="1" dirty="0">
                <a:latin typeface="+mn-ea"/>
                <a:ea typeface="+mn-ea"/>
              </a:rPr>
              <a:t>密文号码</a:t>
            </a:r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18956" y="5521301"/>
            <a:ext cx="4841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得到的密文为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A3B3993DB3B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53858" y="1972833"/>
            <a:ext cx="8585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 A    3    B    3     9   9    3     D    B    3    B     </a:t>
            </a:r>
            <a:r>
              <a:rPr lang="zh-CN" altLang="en-US" b="1" dirty="0">
                <a:latin typeface="+mn-ea"/>
              </a:rPr>
              <a:t>密文号码</a:t>
            </a:r>
            <a:endParaRPr lang="zh-CN" altLang="en-US" b="1" dirty="0">
              <a:latin typeface="+mn-ea"/>
            </a:endParaRPr>
          </a:p>
          <a:p>
            <a:r>
              <a:rPr lang="en-US" altLang="zh-CN" b="1" dirty="0">
                <a:latin typeface="+mn-ea"/>
              </a:rPr>
              <a:t>1010 0011 1011 0011 1001 1001 0011 1101 1011 0011 1011    </a:t>
            </a:r>
            <a:r>
              <a:rPr lang="zh-CN" altLang="en-US" b="1" dirty="0">
                <a:latin typeface="+mn-ea"/>
              </a:rPr>
              <a:t>二进制序列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1011 1011 1011 1011 1011 1011 1011 1011 1011 1011 1011    </a:t>
            </a:r>
            <a:r>
              <a:rPr lang="zh-CN" altLang="en-US" b="1" dirty="0">
                <a:latin typeface="+mn-ea"/>
                <a:ea typeface="+mn-ea"/>
              </a:rPr>
              <a:t>加密密码</a:t>
            </a:r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4307" y="2249833"/>
            <a:ext cx="509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异或</a:t>
            </a:r>
            <a:endParaRPr lang="zh-CN" altLang="en-US" b="1" dirty="0">
              <a:latin typeface="+mn-ea"/>
              <a:ea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49011" y="2896164"/>
            <a:ext cx="84669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60840" y="2896164"/>
            <a:ext cx="858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</a:rPr>
              <a:t>0001 1000 0000 1000 0010 0010 1000 0110 0000 1000 0000    </a:t>
            </a:r>
            <a:r>
              <a:rPr lang="zh-CN" altLang="en-US" b="1" dirty="0">
                <a:latin typeface="+mn-ea"/>
              </a:rPr>
              <a:t>二进制序列</a:t>
            </a:r>
            <a:endParaRPr lang="en-US" altLang="zh-CN" b="1" dirty="0">
              <a:latin typeface="+mn-ea"/>
            </a:endParaRPr>
          </a:p>
          <a:p>
            <a:r>
              <a:rPr lang="en-US" altLang="zh-CN" b="1" dirty="0">
                <a:latin typeface="+mn-ea"/>
              </a:rPr>
              <a:t> 1    8    0    8    2    2    8    6    0    8    0      </a:t>
            </a:r>
            <a:r>
              <a:rPr lang="zh-CN" altLang="en-US" b="1" dirty="0">
                <a:latin typeface="+mn-ea"/>
              </a:rPr>
              <a:t>电话号码</a:t>
            </a:r>
            <a:endParaRPr lang="en-US" altLang="zh-CN" b="1" dirty="0">
              <a:latin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5518" y="3676903"/>
            <a:ext cx="5605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得到的原文为</a:t>
            </a:r>
            <a:r>
              <a:rPr lang="en-US" altLang="zh-CN" sz="2400" b="1" dirty="0">
                <a:latin typeface="+mn-ea"/>
                <a:ea typeface="+mn-ea"/>
              </a:rPr>
              <a:t>18082286080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4307" y="1479792"/>
            <a:ext cx="8466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接收方得到密文后，用同样的方法进行解密：</a:t>
            </a:r>
            <a:endParaRPr lang="zh-CN" altLang="en-US" sz="2400" b="1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161748" y="93196"/>
            <a:ext cx="7350125" cy="84296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b="1" dirty="0">
                <a:latin typeface="+mj-ea"/>
                <a:ea typeface="+mj-ea"/>
              </a:rPr>
              <a:t>计算机中的运算</a:t>
            </a:r>
            <a:r>
              <a:rPr lang="en-US" altLang="zh-CN" sz="3600" b="1" dirty="0">
                <a:latin typeface="+mj-ea"/>
                <a:ea typeface="+mj-ea"/>
              </a:rPr>
              <a:t>-</a:t>
            </a:r>
            <a:r>
              <a:rPr lang="zh-CN" altLang="en-US" sz="3600" b="1" dirty="0">
                <a:latin typeface="+mj-ea"/>
                <a:ea typeface="+mj-ea"/>
              </a:rPr>
              <a:t>逻辑运算</a:t>
            </a:r>
            <a:endParaRPr lang="zh-CN" altLang="en-US" sz="3600" b="1" dirty="0"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5518" y="4395595"/>
            <a:ext cx="8798482" cy="2025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 smtClean="0">
                <a:latin typeface="+mn-ea"/>
                <a:ea typeface="+mn-ea"/>
              </a:rPr>
              <a:t>      密文 </a:t>
            </a:r>
            <a:r>
              <a:rPr lang="en-US" altLang="zh-CN" sz="2400" b="1" dirty="0">
                <a:latin typeface="+mn-ea"/>
                <a:ea typeface="+mn-ea"/>
              </a:rPr>
              <a:t>= </a:t>
            </a:r>
            <a:r>
              <a:rPr lang="zh-CN" altLang="en-US" sz="2400" b="1" dirty="0">
                <a:latin typeface="+mn-ea"/>
                <a:ea typeface="+mn-ea"/>
              </a:rPr>
              <a:t>原文</a:t>
            </a:r>
            <a:r>
              <a:rPr lang="en-US" altLang="zh-CN" sz="2400" b="1" dirty="0">
                <a:latin typeface="+mn-ea"/>
                <a:ea typeface="+mn-ea"/>
              </a:rPr>
              <a:t>A </a:t>
            </a:r>
            <a:r>
              <a:rPr lang="zh-CN" altLang="en-US" sz="2400" b="1" dirty="0">
                <a:latin typeface="+mn-ea"/>
                <a:ea typeface="+mn-ea"/>
              </a:rPr>
              <a:t>异或 密码</a:t>
            </a:r>
            <a:r>
              <a:rPr lang="en-US" altLang="zh-CN" sz="2400" b="1" dirty="0">
                <a:latin typeface="+mn-ea"/>
                <a:ea typeface="+mn-ea"/>
              </a:rPr>
              <a:t>B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</a:t>
            </a:r>
            <a:r>
              <a:rPr lang="zh-CN" altLang="en-US" sz="2400" b="1" dirty="0">
                <a:latin typeface="+mn-ea"/>
                <a:ea typeface="+mn-ea"/>
              </a:rPr>
              <a:t>原文 </a:t>
            </a:r>
            <a:r>
              <a:rPr lang="en-US" altLang="zh-CN" sz="2400" b="1" dirty="0">
                <a:latin typeface="+mn-ea"/>
                <a:ea typeface="+mn-ea"/>
              </a:rPr>
              <a:t>= </a:t>
            </a:r>
            <a:r>
              <a:rPr lang="zh-CN" altLang="en-US" sz="2400" b="1" dirty="0">
                <a:latin typeface="+mn-ea"/>
                <a:ea typeface="+mn-ea"/>
              </a:rPr>
              <a:t>密文  异或 密码</a:t>
            </a:r>
            <a:r>
              <a:rPr lang="en-US" altLang="zh-CN" sz="2400" b="1" dirty="0">
                <a:latin typeface="+mn-ea"/>
                <a:ea typeface="+mn-ea"/>
              </a:rPr>
              <a:t>B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zh-CN" altLang="en-US" sz="2400" b="1" dirty="0" smtClean="0">
                <a:latin typeface="+mn-ea"/>
                <a:ea typeface="+mn-ea"/>
              </a:rPr>
              <a:t>原文 </a:t>
            </a:r>
            <a:r>
              <a:rPr lang="en-US" altLang="zh-CN" sz="2400" b="1" dirty="0" smtClean="0">
                <a:latin typeface="+mn-ea"/>
                <a:ea typeface="+mn-ea"/>
              </a:rPr>
              <a:t>= </a:t>
            </a:r>
            <a:r>
              <a:rPr lang="zh-CN" altLang="en-US" sz="2400" b="1" dirty="0" smtClean="0">
                <a:latin typeface="+mn-ea"/>
                <a:ea typeface="+mn-ea"/>
              </a:rPr>
              <a:t>密文 </a:t>
            </a:r>
            <a:r>
              <a:rPr lang="zh-CN" altLang="en-US" sz="2400" b="1" dirty="0">
                <a:latin typeface="+mn-ea"/>
                <a:ea typeface="+mn-ea"/>
              </a:rPr>
              <a:t>异或 </a:t>
            </a:r>
            <a:r>
              <a:rPr lang="en-US" altLang="zh-CN" sz="2400" b="1" dirty="0">
                <a:latin typeface="+mn-ea"/>
                <a:ea typeface="+mn-ea"/>
              </a:rPr>
              <a:t>B =</a:t>
            </a:r>
            <a:r>
              <a:rPr lang="zh-CN" altLang="en-US" sz="2400" b="1" dirty="0">
                <a:latin typeface="+mn-ea"/>
                <a:ea typeface="+mn-ea"/>
              </a:rPr>
              <a:t>（</a:t>
            </a:r>
            <a:r>
              <a:rPr lang="en-US" altLang="zh-CN" sz="2400" b="1" dirty="0">
                <a:latin typeface="+mn-ea"/>
                <a:ea typeface="+mn-ea"/>
              </a:rPr>
              <a:t>A</a:t>
            </a:r>
            <a:r>
              <a:rPr lang="zh-CN" altLang="en-US" sz="2400" b="1" dirty="0">
                <a:latin typeface="+mn-ea"/>
                <a:ea typeface="+mn-ea"/>
              </a:rPr>
              <a:t>异或</a:t>
            </a:r>
            <a:r>
              <a:rPr lang="en-US" altLang="zh-CN" sz="2400" b="1" dirty="0">
                <a:latin typeface="+mn-ea"/>
                <a:ea typeface="+mn-ea"/>
              </a:rPr>
              <a:t>B</a:t>
            </a:r>
            <a:r>
              <a:rPr lang="zh-CN" altLang="en-US" sz="2400" b="1" dirty="0">
                <a:latin typeface="+mn-ea"/>
                <a:ea typeface="+mn-ea"/>
              </a:rPr>
              <a:t>）异或</a:t>
            </a:r>
            <a:r>
              <a:rPr lang="en-US" altLang="zh-CN" sz="2400" b="1" dirty="0">
                <a:latin typeface="+mn-ea"/>
                <a:ea typeface="+mn-ea"/>
              </a:rPr>
              <a:t>B = A</a:t>
            </a:r>
            <a:r>
              <a:rPr lang="zh-CN" altLang="en-US" sz="2400" b="1" dirty="0">
                <a:latin typeface="+mn-ea"/>
                <a:ea typeface="+mn-ea"/>
              </a:rPr>
              <a:t>异或（</a:t>
            </a:r>
            <a:r>
              <a:rPr lang="en-US" altLang="zh-CN" sz="2400" b="1" dirty="0">
                <a:latin typeface="+mn-ea"/>
                <a:ea typeface="+mn-ea"/>
              </a:rPr>
              <a:t>B</a:t>
            </a:r>
            <a:r>
              <a:rPr lang="zh-CN" altLang="en-US" sz="2400" b="1" dirty="0">
                <a:latin typeface="+mn-ea"/>
                <a:ea typeface="+mn-ea"/>
              </a:rPr>
              <a:t>异或</a:t>
            </a:r>
            <a:r>
              <a:rPr lang="en-US" altLang="zh-CN" sz="2400" b="1" dirty="0">
                <a:latin typeface="+mn-ea"/>
                <a:ea typeface="+mn-ea"/>
              </a:rPr>
              <a:t>B</a:t>
            </a:r>
            <a:r>
              <a:rPr lang="zh-CN" altLang="en-US" sz="2400" b="1" dirty="0" smtClean="0">
                <a:latin typeface="+mn-ea"/>
                <a:ea typeface="+mn-ea"/>
              </a:rPr>
              <a:t>）</a:t>
            </a:r>
            <a:endParaRPr lang="en-US" altLang="zh-CN" sz="2400" b="1" dirty="0" smtClean="0">
              <a:latin typeface="+mn-ea"/>
              <a:ea typeface="+mn-ea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sz="2400" b="1" dirty="0" smtClean="0">
                <a:latin typeface="+mn-ea"/>
                <a:ea typeface="+mn-ea"/>
              </a:rPr>
              <a:t>= </a:t>
            </a:r>
            <a:r>
              <a:rPr lang="en-US" altLang="zh-CN" sz="2400" b="1" dirty="0">
                <a:latin typeface="+mn-ea"/>
                <a:ea typeface="+mn-ea"/>
              </a:rPr>
              <a:t>A</a:t>
            </a:r>
            <a:r>
              <a:rPr lang="zh-CN" altLang="en-US" sz="2400" b="1" dirty="0">
                <a:latin typeface="+mn-ea"/>
                <a:ea typeface="+mn-ea"/>
              </a:rPr>
              <a:t>异或</a:t>
            </a:r>
            <a:r>
              <a:rPr lang="en-US" altLang="zh-CN" sz="2400" b="1" dirty="0">
                <a:latin typeface="+mn-ea"/>
                <a:ea typeface="+mn-ea"/>
              </a:rPr>
              <a:t>0 = A = </a:t>
            </a:r>
            <a:r>
              <a:rPr lang="zh-CN" altLang="en-US" sz="2400" b="1" dirty="0">
                <a:latin typeface="+mn-ea"/>
                <a:ea typeface="+mn-ea"/>
              </a:rPr>
              <a:t>原文，</a:t>
            </a:r>
            <a:r>
              <a:rPr lang="zh-CN" altLang="en-US" sz="2400" b="1" dirty="0" smtClean="0">
                <a:latin typeface="+mn-ea"/>
                <a:ea typeface="+mn-ea"/>
              </a:rPr>
              <a:t>因此</a:t>
            </a:r>
            <a:r>
              <a:rPr lang="zh-CN" altLang="en-US" sz="2400" b="1" dirty="0">
                <a:latin typeface="+mn-ea"/>
                <a:ea typeface="+mn-ea"/>
              </a:rPr>
              <a:t>异</a:t>
            </a:r>
            <a:r>
              <a:rPr lang="zh-CN" altLang="en-US" sz="2400" b="1" dirty="0" smtClean="0">
                <a:latin typeface="+mn-ea"/>
                <a:ea typeface="+mn-ea"/>
              </a:rPr>
              <a:t>或操作可以设计对称</a:t>
            </a:r>
            <a:r>
              <a:rPr lang="zh-CN" altLang="en-US" sz="2400" b="1" dirty="0">
                <a:latin typeface="+mn-ea"/>
                <a:ea typeface="+mn-ea"/>
              </a:rPr>
              <a:t>加密算法。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419872" y="2852936"/>
            <a:ext cx="3224118" cy="110799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6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谢谢！</a:t>
            </a:r>
            <a:endParaRPr lang="zh-CN" altLang="en-US" sz="6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主题1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12193</Words>
  <Application>WPS 演示</Application>
  <PresentationFormat>全屏显示(4:3)</PresentationFormat>
  <Paragraphs>984</Paragraphs>
  <Slides>61</Slides>
  <Notes>30</Notes>
  <HiddenSlides>15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61</vt:i4>
      </vt:variant>
    </vt:vector>
  </HeadingPairs>
  <TitlesOfParts>
    <vt:vector size="87" baseType="lpstr">
      <vt:lpstr>Arial</vt:lpstr>
      <vt:lpstr>宋体</vt:lpstr>
      <vt:lpstr>Wingdings</vt:lpstr>
      <vt:lpstr>微软雅黑</vt:lpstr>
      <vt:lpstr>华文楷体</vt:lpstr>
      <vt:lpstr>等线</vt:lpstr>
      <vt:lpstr>黑体</vt:lpstr>
      <vt:lpstr>Times New Roman</vt:lpstr>
      <vt:lpstr>Wingdings 3</vt:lpstr>
      <vt:lpstr>Century Gothic</vt:lpstr>
      <vt:lpstr>Wingdings 2</vt:lpstr>
      <vt:lpstr>Franklin Gothic Book</vt:lpstr>
      <vt:lpstr>Arial Unicode MS</vt:lpstr>
      <vt:lpstr>Tahoma</vt:lpstr>
      <vt:lpstr>华文新魏</vt:lpstr>
      <vt:lpstr>Verdana</vt:lpstr>
      <vt:lpstr>仿宋_GB2312</vt:lpstr>
      <vt:lpstr>仿宋</vt:lpstr>
      <vt:lpstr>主题1</vt:lpstr>
      <vt:lpstr>1_默认设计模板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进制间的转换</vt:lpstr>
      <vt:lpstr>PowerPoint 演示文稿</vt:lpstr>
      <vt:lpstr>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</vt:lpstr>
      <vt:lpstr>练习</vt:lpstr>
      <vt:lpstr>二、二进制与八进制间转换</vt:lpstr>
      <vt:lpstr>二进制 转 八进制（3位归并）</vt:lpstr>
      <vt:lpstr>八进制 转 二进制（1位分3位）</vt:lpstr>
      <vt:lpstr>二进制 转 十六进制</vt:lpstr>
      <vt:lpstr>二进制 转 十六进制（4位归并）</vt:lpstr>
      <vt:lpstr>十六进制 转 二进制（1位分4位）</vt:lpstr>
      <vt:lpstr>PowerPoint 演示文稿</vt:lpstr>
      <vt:lpstr>练习</vt:lpstr>
      <vt:lpstr>练习</vt:lpstr>
      <vt:lpstr>进制之间的转换 </vt:lpstr>
      <vt:lpstr>PowerPoint 演示文稿</vt:lpstr>
      <vt:lpstr>PowerPoint 演示文稿</vt:lpstr>
      <vt:lpstr>带小数点的数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补码 - 模运算（modular运算）</vt:lpstr>
      <vt:lpstr>运算器适合用补码表示和运算</vt:lpstr>
      <vt:lpstr>运算器适合用补码表示和运算</vt:lpstr>
      <vt:lpstr>真值转补码</vt:lpstr>
      <vt:lpstr>计算机中的运算器是模运算系统</vt:lpstr>
      <vt:lpstr>补码转真值</vt:lpstr>
      <vt:lpstr>PowerPoint 演示文稿</vt:lpstr>
      <vt:lpstr>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算术运算 VS 逻辑运算</vt:lpstr>
      <vt:lpstr>PowerPoint 演示文稿</vt:lpstr>
      <vt:lpstr>计算机中的运算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 WJ</dc:creator>
  <cp:lastModifiedBy>勇</cp:lastModifiedBy>
  <cp:revision>306</cp:revision>
  <dcterms:created xsi:type="dcterms:W3CDTF">2018-05-27T02:36:00Z</dcterms:created>
  <dcterms:modified xsi:type="dcterms:W3CDTF">2025-10-30T06:14:47Z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DF14A821E85D44C186DF4F0477294DB6_13</vt:lpwstr>
  </property>
  <property fmtid="{D5CDD505-2E9C-101B-9397-08002B2CF9AE}" pid="3" name="KSOProductBuildVer">
    <vt:lpwstr>2052-12.1.0.23125</vt:lpwstr>
  </property>
</Properties>
</file>